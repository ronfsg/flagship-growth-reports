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presProps" Target="presProps.xml"/><Relationship Id="rId25" Type="http://schemas.openxmlformats.org/officeDocument/2006/relationships/viewProps" Target="viewProps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pic>
        <p:nvPicPr>
          <p:cNvPr id="4" name="Shape 4" descr="logo_dark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77240"/>
            <a:ext cx="2560320" cy="312928"/>
          </a:xfrm>
          <a:prstGeom prst="rect">
            <a:avLst/>
          </a:prstGeom>
        </p:spPr>
      </p:pic>
      <p:sp>
        <p:nvSpPr>
          <p:cNvPr id="5" name="Shape 5"/>
          <p:cNvSpPr txBox="1"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1">
                <a:solidFill>
                  <a:srgbClr val="7EB8F7"/>
                </a:solidFill>
                <a:latin typeface="Space Grotesk"/>
              </a:rPr>
              <a:t>WEEKLY PERFORMANCE &amp; GROWTH REVIEW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822960" y="2560320"/>
            <a:ext cx="1005840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Space Grotesk"/>
              </a:rPr>
              <a:t>Dormeo US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822960" y="3703320"/>
            <a:ext cx="10058400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pace Grotesk"/>
              </a:rPr>
              <a:t>Amazon Business Review · Week 43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822960" y="4297680"/>
            <a:ext cx="100584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400" b="0">
                <a:solidFill>
                  <a:srgbClr val="7EB8F7"/>
                </a:solidFill>
                <a:latin typeface="Inter"/>
              </a:rPr>
              <a:t>Week ending Sunday, October 25, 2026  ·  Oct 19–25,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TODAY'S AGENDA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What we'll cover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2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60020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77240" y="1783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01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77240" y="24688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Sales overview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7240" y="2880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Four-week channel performance, price and refunds</a:t>
            </a:r>
          </a:p>
        </p:txBody>
      </p:sp>
      <p:sp>
        <p:nvSpPr>
          <p:cNvPr id="14" name="Shape 14"/>
          <p:cNvSpPr/>
          <p:nvPr/>
        </p:nvSpPr>
        <p:spPr>
          <a:xfrm>
            <a:off x="4279392" y="160020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4507992" y="1783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02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4507992" y="24688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Sales pacing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507992" y="2880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October month to date vs last month and last year</a:t>
            </a:r>
          </a:p>
        </p:txBody>
      </p:sp>
      <p:sp>
        <p:nvSpPr>
          <p:cNvPr id="18" name="Shape 18"/>
          <p:cNvSpPr/>
          <p:nvPr/>
        </p:nvSpPr>
        <p:spPr>
          <a:xfrm>
            <a:off x="8010144" y="160020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8238744" y="178308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03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238744" y="246888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Amazon Ads results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8238744" y="288036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Spend, efficiency, brand vs category, keywords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384048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777240" y="402336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04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Marketing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777240" y="51206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Coupons, promotions and upcoming events</a:t>
            </a:r>
          </a:p>
        </p:txBody>
      </p:sp>
      <p:sp>
        <p:nvSpPr>
          <p:cNvPr id="26" name="Shape 26"/>
          <p:cNvSpPr/>
          <p:nvPr/>
        </p:nvSpPr>
        <p:spPr>
          <a:xfrm>
            <a:off x="4279392" y="384048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4507992" y="402336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05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4507992" y="47091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Inventory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4507992" y="51206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Stock position, weeks of supply, restock risk</a:t>
            </a:r>
          </a:p>
        </p:txBody>
      </p:sp>
      <p:sp>
        <p:nvSpPr>
          <p:cNvPr id="30" name="Shape 30"/>
          <p:cNvSpPr/>
          <p:nvPr/>
        </p:nvSpPr>
        <p:spPr>
          <a:xfrm>
            <a:off x="8010144" y="3840480"/>
            <a:ext cx="3566160" cy="20116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8238744" y="4023360"/>
            <a:ext cx="13716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3000" b="1">
                <a:solidFill>
                  <a:srgbClr val="2447FF"/>
                </a:solidFill>
                <a:latin typeface="Space Grotesk"/>
              </a:rPr>
              <a:t>06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8238744" y="4709160"/>
            <a:ext cx="310896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F172A"/>
                </a:solidFill>
                <a:latin typeface="Space Grotesk"/>
              </a:rPr>
              <a:t>Reviews &amp; account health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8238744" y="5120640"/>
            <a:ext cx="3108960" cy="6400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558"/>
                </a:solidFill>
                <a:latin typeface="Inter"/>
              </a:rPr>
              <a:t>Ratings, alerts and Buy 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SALES OVERVIEW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Amazon channel performance — last 4 weeks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3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417320"/>
          <a:ext cx="1109167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011680"/>
                <a:gridCol w="1371600"/>
                <a:gridCol w="1280160"/>
                <a:gridCol w="1737360"/>
                <a:gridCol w="1371600"/>
                <a:gridCol w="139903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Ordered product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Units ordered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ASP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Ad impressions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Units refunded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Refund rate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Sep 28 – Oct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$90,098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240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1,004,153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13.19%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 5 – 11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$180,974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558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$324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1,139,006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4.04%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 12 – 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$77,688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$347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837,676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39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17.57%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Oct 19 – 25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$57,736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160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$361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629,651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DC2626"/>
                          </a:solidFill>
                          <a:latin typeface="Inter"/>
                        </a:rPr>
                        <a:t>26.11%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4-week total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$406,496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1,182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$344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3,610,486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133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1">
                          <a:solidFill>
                            <a:srgbClr val="0F172A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/>
          <p:nvPr/>
        </p:nvSpPr>
        <p:spPr>
          <a:xfrm>
            <a:off x="548640" y="3886200"/>
            <a:ext cx="5440680" cy="23317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731520" y="4023360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What happened this week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31520" y="4343400"/>
            <a:ext cx="5074920" cy="17830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Sales were $57,736, -26% vs the prior week ($77,688), on 160 units (-29%).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Revenue fell to $57.7K (-26%) almost entirely on Octaspring Queen: 8 units vs 65 the week before, with 0 available at FBA and 400 inbound.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The in-stock toppers grew: Full +55%, Cal/Split/RV +52%, Twin &amp; XL +23%, King +2%.</a:t>
            </a:r>
          </a:p>
        </p:txBody>
      </p:sp>
      <p:sp>
        <p:nvSpPr>
          <p:cNvPr id="14" name="Shape 14"/>
          <p:cNvSpPr/>
          <p:nvPr/>
        </p:nvSpPr>
        <p:spPr>
          <a:xfrm>
            <a:off x="6199632" y="3886200"/>
            <a:ext cx="5440680" cy="23317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382512" y="4023360"/>
            <a:ext cx="50749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Refunds are still climbing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382512" y="4343400"/>
            <a:ext cx="5074920" cy="17830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41 units were refunded this week (26.1% refund rate), vs 39 (17.6%) the week before.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Refunds were $12.1K, 26.1% of revenue, up from 17.6% last week. Part of this is Prime Big Deal Days orders coming back, but the rate has now risen two weeks in a row.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SALES PACING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October month to date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4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REVENUE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$371.0K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Oct 1–25 · 1,069 orders</a:t>
            </a:r>
          </a:p>
        </p:txBody>
      </p:sp>
      <p:sp>
        <p:nvSpPr>
          <p:cNvPr id="14" name="Shape 14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AD SPEND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$34.0K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29584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ACoS 18.7%</a:t>
            </a:r>
          </a:p>
        </p:txBody>
      </p:sp>
      <p:sp>
        <p:nvSpPr>
          <p:cNvPr id="18" name="Shape 18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TACOS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9.2%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345936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ad spend ÷ total sales</a:t>
            </a:r>
          </a:p>
        </p:txBody>
      </p:sp>
      <p:sp>
        <p:nvSpPr>
          <p:cNvPr id="22" name="Shape 22"/>
          <p:cNvSpPr/>
          <p:nvPr/>
        </p:nvSpPr>
        <p:spPr>
          <a:xfrm>
            <a:off x="8997696" y="1417320"/>
            <a:ext cx="2642616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162288" y="154533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VS LAST YEAR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162288" y="180136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Space Grotesk"/>
              </a:rPr>
              <a:t>+51%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62288" y="2560320"/>
            <a:ext cx="23682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Oct 1–25, 2025: $245.7K</a:t>
            </a:r>
          </a:p>
        </p:txBody>
      </p:sp>
      <p:sp>
        <p:nvSpPr>
          <p:cNvPr id="26" name="Shape 26"/>
          <p:cNvSpPr/>
          <p:nvPr/>
        </p:nvSpPr>
        <p:spPr>
          <a:xfrm>
            <a:off x="807872" y="4366846"/>
            <a:ext cx="921715" cy="1576753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7" name="Shape 27"/>
          <p:cNvSpPr txBox="1"/>
          <p:nvPr/>
        </p:nvSpPr>
        <p:spPr>
          <a:xfrm>
            <a:off x="548640" y="4092526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$298.3K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548640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2025</a:t>
            </a:r>
          </a:p>
        </p:txBody>
      </p:sp>
      <p:sp>
        <p:nvSpPr>
          <p:cNvPr id="29" name="Shape 29"/>
          <p:cNvSpPr/>
          <p:nvPr/>
        </p:nvSpPr>
        <p:spPr>
          <a:xfrm>
            <a:off x="2248052" y="3474720"/>
            <a:ext cx="921715" cy="2468879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0" name="Shape 30"/>
          <p:cNvSpPr txBox="1"/>
          <p:nvPr/>
        </p:nvSpPr>
        <p:spPr>
          <a:xfrm>
            <a:off x="1988819" y="3200400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$467.0K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1988819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Sep 2026</a:t>
            </a:r>
          </a:p>
        </p:txBody>
      </p:sp>
      <p:sp>
        <p:nvSpPr>
          <p:cNvPr id="32" name="Shape 32"/>
          <p:cNvSpPr/>
          <p:nvPr/>
        </p:nvSpPr>
        <p:spPr>
          <a:xfrm>
            <a:off x="3688232" y="3982090"/>
            <a:ext cx="921715" cy="1961509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3" name="Shape 33"/>
          <p:cNvSpPr txBox="1"/>
          <p:nvPr/>
        </p:nvSpPr>
        <p:spPr>
          <a:xfrm>
            <a:off x="3429000" y="3707770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$371.0K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3429000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MTD</a:t>
            </a:r>
          </a:p>
        </p:txBody>
      </p:sp>
      <p:sp>
        <p:nvSpPr>
          <p:cNvPr id="35" name="Shape 35"/>
          <p:cNvSpPr/>
          <p:nvPr/>
        </p:nvSpPr>
        <p:spPr>
          <a:xfrm>
            <a:off x="5128412" y="3632310"/>
            <a:ext cx="921715" cy="231128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6" name="Shape 36"/>
          <p:cNvSpPr txBox="1"/>
          <p:nvPr/>
        </p:nvSpPr>
        <p:spPr>
          <a:xfrm>
            <a:off x="4869179" y="3357990"/>
            <a:ext cx="1440180" cy="237744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0F172A"/>
                </a:solidFill>
                <a:latin typeface="Inter"/>
              </a:rPr>
              <a:t>$437.2K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4869179" y="5961888"/>
            <a:ext cx="144018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pace</a:t>
            </a:r>
          </a:p>
        </p:txBody>
      </p:sp>
      <p:sp>
        <p:nvSpPr>
          <p:cNvPr id="38" name="Shape 38"/>
          <p:cNvSpPr/>
          <p:nvPr/>
        </p:nvSpPr>
        <p:spPr>
          <a:xfrm>
            <a:off x="548640" y="5943600"/>
            <a:ext cx="5760720" cy="9144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39" name="Shape 39"/>
          <p:cNvSpPr/>
          <p:nvPr/>
        </p:nvSpPr>
        <p:spPr>
          <a:xfrm>
            <a:off x="6583680" y="3200400"/>
            <a:ext cx="5056632" cy="13258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40" name="Shape 40"/>
          <p:cNvSpPr txBox="1"/>
          <p:nvPr/>
        </p:nvSpPr>
        <p:spPr>
          <a:xfrm>
            <a:off x="6766560" y="3337560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Full-month pace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6766560" y="3657600"/>
            <a:ext cx="4690872" cy="777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October is pacing to about $437.2K: $371.0K so far plus 6 days at $11.0K/day (the October daily average without the 2 event days).</a:t>
            </a:r>
          </a:p>
        </p:txBody>
      </p:sp>
      <p:sp>
        <p:nvSpPr>
          <p:cNvPr id="42" name="Shape 42"/>
          <p:cNvSpPr/>
          <p:nvPr/>
        </p:nvSpPr>
        <p:spPr>
          <a:xfrm>
            <a:off x="6583680" y="4663440"/>
            <a:ext cx="5056632" cy="1554480"/>
          </a:xfrm>
          <a:prstGeom prst="roundRect">
            <a:avLst>
              <a:gd name="" fmla="val 6000"/>
            </a:avLst>
          </a:prstGeom>
          <a:solidFill>
            <a:srgbClr val="FEF2F2"/>
          </a:solidFill>
          <a:ln>
            <a:noFill/>
          </a:ln>
        </p:spPr>
      </p:sp>
      <p:sp>
        <p:nvSpPr>
          <p:cNvPr id="43" name="Shape 43"/>
          <p:cNvSpPr txBox="1"/>
          <p:nvPr/>
        </p:nvSpPr>
        <p:spPr>
          <a:xfrm>
            <a:off x="6766560" y="4773168"/>
            <a:ext cx="475488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DC2626"/>
                </a:solidFill>
                <a:latin typeface="Space Grotesk"/>
              </a:rPr>
              <a:t>Recommendation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6766560" y="5074920"/>
            <a:ext cx="4754880" cy="10972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0">
                <a:solidFill>
                  <a:srgbClr val="334155"/>
                </a:solidFill>
                <a:latin typeface="Inter"/>
              </a:rPr>
              <a:t>Pace is -6% vs Sep. Getting the Queen topper checked in at FBA is still the biggest lever: it was the top seller before the stock-out and is now under 6% of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SALES PACING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Ad spend pacing — month to date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5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AD SPEND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$34.0K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$1.4K per day</a:t>
            </a:r>
          </a:p>
        </p:txBody>
      </p:sp>
      <p:sp>
        <p:nvSpPr>
          <p:cNvPr id="14" name="Shape 14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PROJECTED SPEND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$42.2K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29584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if the daily rate holds to Oct 31</a:t>
            </a:r>
          </a:p>
        </p:txBody>
      </p:sp>
      <p:sp>
        <p:nvSpPr>
          <p:cNvPr id="18" name="Shape 18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TACOS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9.2%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345936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this week 11.7%</a:t>
            </a:r>
          </a:p>
        </p:txBody>
      </p:sp>
      <p:sp>
        <p:nvSpPr>
          <p:cNvPr id="22" name="Shape 22"/>
          <p:cNvSpPr/>
          <p:nvPr/>
        </p:nvSpPr>
        <p:spPr>
          <a:xfrm>
            <a:off x="8997696" y="1417320"/>
            <a:ext cx="2642616" cy="155448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162288" y="154533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ACOS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162288" y="180136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18.7%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62288" y="2560320"/>
            <a:ext cx="23682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this week 23.7%</a:t>
            </a:r>
          </a:p>
        </p:txBody>
      </p:sp>
      <p:sp>
        <p:nvSpPr>
          <p:cNvPr id="26" name="Shape 26"/>
          <p:cNvSpPr/>
          <p:nvPr/>
        </p:nvSpPr>
        <p:spPr>
          <a:xfrm>
            <a:off x="548640" y="3200400"/>
            <a:ext cx="3611880" cy="3017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7" name="Shape 27"/>
          <p:cNvSpPr txBox="1"/>
          <p:nvPr/>
        </p:nvSpPr>
        <p:spPr>
          <a:xfrm>
            <a:off x="731520" y="3337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MTD performance</a:t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731520" y="3657600"/>
            <a:ext cx="3246120" cy="2468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$182.0K in ad sales on $34.0K spend, a 5.4x return.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Ads drove 49% of October sales.</a:t>
            </a:r>
          </a:p>
        </p:txBody>
      </p:sp>
      <p:sp>
        <p:nvSpPr>
          <p:cNvPr id="29" name="Shape 29"/>
          <p:cNvSpPr/>
          <p:nvPr/>
        </p:nvSpPr>
        <p:spPr>
          <a:xfrm>
            <a:off x="4288536" y="3200400"/>
            <a:ext cx="3611880" cy="3017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30" name="Shape 30"/>
          <p:cNvSpPr txBox="1"/>
          <p:nvPr/>
        </p:nvSpPr>
        <p:spPr>
          <a:xfrm>
            <a:off x="4471416" y="3337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Context</a:t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4471416" y="3657600"/>
            <a:ext cx="3246120" cy="2468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Ad spend came down 30% to $6.7K while ACoS held at 23.7% (23.9% last week).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TACoS was 11.7%; ads drove 49% of revenue this week.</a:t>
            </a:r>
          </a:p>
        </p:txBody>
      </p:sp>
      <p:sp>
        <p:nvSpPr>
          <p:cNvPr id="32" name="Shape 32"/>
          <p:cNvSpPr/>
          <p:nvPr/>
        </p:nvSpPr>
        <p:spPr>
          <a:xfrm>
            <a:off x="8028431" y="3200400"/>
            <a:ext cx="3611880" cy="3017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33" name="Shape 33"/>
          <p:cNvSpPr txBox="1"/>
          <p:nvPr/>
        </p:nvSpPr>
        <p:spPr>
          <a:xfrm>
            <a:off x="8211311" y="3337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This week's efficiency</a:t>
            </a:r>
          </a:p>
        </p:txBody>
      </p:sp>
      <p:sp>
        <p:nvSpPr>
          <p:cNvPr id="34" name="Shape 34"/>
          <p:cNvSpPr txBox="1"/>
          <p:nvPr/>
        </p:nvSpPr>
        <p:spPr>
          <a:xfrm>
            <a:off x="8211311" y="3657600"/>
            <a:ext cx="3246120" cy="2468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Spend $6,741 (-30%), ad sales $28,425 (-29%).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ACoS 23.7% (-0.2 pts); TACoS 11.7% (-0.7 pts).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CPC $2.00, 85 ad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Brand vs. category spend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6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417320"/>
          <a:ext cx="676656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914400"/>
                <a:gridCol w="914400"/>
                <a:gridCol w="731520"/>
                <a:gridCol w="777240"/>
                <a:gridCol w="7772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Strategy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Ad 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Ad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ROAS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Branded keywords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$3,198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$19,768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6.18x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16.2%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63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Category keywords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$1,512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$4,094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2.71x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DC2626"/>
                          </a:solidFill>
                          <a:latin typeface="Inter"/>
                        </a:rPr>
                        <a:t>36.9%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Audience / category display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$1,075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$495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0.46x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DC2626"/>
                          </a:solidFill>
                          <a:latin typeface="Inter"/>
                        </a:rPr>
                        <a:t>217.1%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Auto targeting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$763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$3,089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4.05x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24.7%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Competitor targeting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$98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0.00x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Brand defense (product targets)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$82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$392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4.77x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21.0%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All campaigns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$6,741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$28,425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4.22x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23.7%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50" b="1">
                          <a:solidFill>
                            <a:srgbClr val="0F172A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/>
          <p:nvPr/>
        </p:nvSpPr>
        <p:spPr>
          <a:xfrm>
            <a:off x="7543800" y="1417320"/>
            <a:ext cx="4096512" cy="24688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2" name="Shape 12"/>
          <p:cNvSpPr txBox="1"/>
          <p:nvPr/>
        </p:nvSpPr>
        <p:spPr>
          <a:xfrm>
            <a:off x="7726679" y="1554480"/>
            <a:ext cx="373075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What it says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26679" y="1874519"/>
            <a:ext cx="3730752" cy="19202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Branded keywords returned $19.8K on $3.2K (16.2% ACoS) and brought 63 of 85 ad orders.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Category keywords cost $1.5K for $4.1K in sales (36.9% ACoS); spend there was cut 51% vs last week.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Streaming TV spent $1.1K for one $495 sale.</a:t>
            </a:r>
          </a:p>
        </p:txBody>
      </p:sp>
      <p:sp>
        <p:nvSpPr>
          <p:cNvPr id="14" name="Shape 14"/>
          <p:cNvSpPr/>
          <p:nvPr/>
        </p:nvSpPr>
        <p:spPr>
          <a:xfrm>
            <a:off x="7543800" y="4023360"/>
            <a:ext cx="4096512" cy="219456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7726679" y="4160520"/>
            <a:ext cx="373075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Coverage note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726679" y="4480560"/>
            <a:ext cx="3730752" cy="164591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Inter"/>
              </a:rPr>
              <a:t>Strategy is read from the campaign names (Brand / Category / Auto / Audience).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334155"/>
                </a:solidFill>
                <a:latin typeface="Inter"/>
              </a:rPr>
              <a:t>Campaign totals come from the campaign report and can differ slightly from account totals.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Bid optimization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7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2651760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TARGETS TRACKED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483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4688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keywords and product targets</a:t>
            </a:r>
          </a:p>
        </p:txBody>
      </p:sp>
      <p:sp>
        <p:nvSpPr>
          <p:cNvPr id="14" name="Shape 14"/>
          <p:cNvSpPr/>
          <p:nvPr/>
        </p:nvSpPr>
        <p:spPr>
          <a:xfrm>
            <a:off x="3364992" y="1417320"/>
            <a:ext cx="2651760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WINNERS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16A34A"/>
                </a:solidFill>
                <a:latin typeface="Space Grotesk"/>
              </a:rPr>
              <a:t>26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3529584" y="24688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converting at or under 35% ACoS</a:t>
            </a:r>
          </a:p>
        </p:txBody>
      </p:sp>
      <p:sp>
        <p:nvSpPr>
          <p:cNvPr id="18" name="Shape 18"/>
          <p:cNvSpPr/>
          <p:nvPr/>
        </p:nvSpPr>
        <p:spPr>
          <a:xfrm>
            <a:off x="6181344" y="1417320"/>
            <a:ext cx="2651760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NEED ATTENTION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41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345936" y="246888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5 high ACoS · 10 no sales</a:t>
            </a:r>
          </a:p>
        </p:txBody>
      </p:sp>
      <p:sp>
        <p:nvSpPr>
          <p:cNvPr id="22" name="Shape 22"/>
          <p:cNvSpPr/>
          <p:nvPr/>
        </p:nvSpPr>
        <p:spPr>
          <a:xfrm>
            <a:off x="8997696" y="1417320"/>
            <a:ext cx="2642616" cy="14630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9162288" y="154533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LOW CLICK RATE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9162288" y="180136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Space Grotesk"/>
              </a:rPr>
              <a:t>14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62288" y="2468880"/>
            <a:ext cx="2368296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seen but rarely clicked</a:t>
            </a:r>
          </a:p>
        </p:txBody>
      </p:sp>
      <p:graphicFrame>
        <p:nvGraphicFramePr>
          <p:cNvPr id="26" name="Shape 26"/>
          <p:cNvGraphicFramePr>
            <a:graphicFrameLocks noGrp="1"/>
          </p:cNvGraphicFramePr>
          <p:nvPr/>
        </p:nvGraphicFramePr>
        <p:xfrm>
          <a:off x="548640" y="3063240"/>
          <a:ext cx="722376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731520"/>
                <a:gridCol w="822960"/>
                <a:gridCol w="822960"/>
                <a:gridCol w="822960"/>
                <a:gridCol w="822960"/>
                <a:gridCol w="640080"/>
                <a:gridCol w="6400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Match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Type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Clicks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0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mattress +topper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Phrase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$1,003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$1,313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76.4%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392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dormeo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Phrase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Brand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$661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$1,144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57.8%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453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dormeo topper queen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Broad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Brand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$416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$1,895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21.9%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213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full size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Exact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Brand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$258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$2,558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10.1%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240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Mattress Toppers category (SD)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Category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$226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$1,588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DC2626"/>
                          </a:solidFill>
                          <a:latin typeface="Inter"/>
                        </a:rPr>
                        <a:t>14.2%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103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0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 27"/>
          <p:cNvSpPr/>
          <p:nvPr/>
        </p:nvSpPr>
        <p:spPr>
          <a:xfrm>
            <a:off x="8001000" y="3063240"/>
            <a:ext cx="3639312" cy="31546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8" name="Shape 28"/>
          <p:cNvSpPr txBox="1"/>
          <p:nvPr/>
        </p:nvSpPr>
        <p:spPr>
          <a:xfrm>
            <a:off x="8183879" y="3200400"/>
            <a:ext cx="327355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Next moves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183879" y="3520440"/>
            <a:ext cx="3273552" cy="2606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Lower the bid on “mattress +topper” (phrase): $1,003 spent for 4 orders (76% ACoS).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Cut or pause the 97 campaigns that spent $792 this week with no sales; the top five are each $40–60.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Impression share and bid-change history are not in the Sellerise report, so they aren't tracked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Brand keywords — top customer searches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8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63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 king” · SP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$2,481</a:t>
            </a:r>
            <a:r>
              <a:rPr sz="1000" b="0">
                <a:solidFill>
                  <a:srgbClr val="6B6558"/>
                </a:solidFill>
                <a:latin typeface="Inter"/>
              </a:rPr>
              <a:t>   87 clicks · 6 orders · CVR 6.9%</a:t>
            </a:r>
          </a:p>
        </p:txBody>
      </p:sp>
      <p:sp>
        <p:nvSpPr>
          <p:cNvPr id="13" name="Shape 13"/>
          <p:cNvSpPr/>
          <p:nvPr/>
        </p:nvSpPr>
        <p:spPr>
          <a:xfrm>
            <a:off x="4279392" y="1371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4443983" y="1463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 full size” · SP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4443983" y="1755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$2,260</a:t>
            </a:r>
            <a:r>
              <a:rPr sz="1000" b="0">
                <a:solidFill>
                  <a:srgbClr val="6B6558"/>
                </a:solidFill>
                <a:latin typeface="Inter"/>
              </a:rPr>
              <a:t>   236 clicks · 6 orders · CVR 2.5%</a:t>
            </a:r>
          </a:p>
        </p:txBody>
      </p:sp>
      <p:sp>
        <p:nvSpPr>
          <p:cNvPr id="16" name="Shape 16"/>
          <p:cNvSpPr/>
          <p:nvPr/>
        </p:nvSpPr>
        <p:spPr>
          <a:xfrm>
            <a:off x="8010144" y="1371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8174736" y="1463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topper” · SB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174736" y="1755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$2,172</a:t>
            </a:r>
            <a:r>
              <a:rPr sz="1000" b="0">
                <a:solidFill>
                  <a:srgbClr val="6B6558"/>
                </a:solidFill>
                <a:latin typeface="Inter"/>
              </a:rPr>
              <a:t>   141 clicks · 7 orders · CVR 5.0%</a:t>
            </a:r>
          </a:p>
        </p:txBody>
      </p:sp>
      <p:sp>
        <p:nvSpPr>
          <p:cNvPr id="19" name="Shape 19"/>
          <p:cNvSpPr/>
          <p:nvPr/>
        </p:nvSpPr>
        <p:spPr>
          <a:xfrm>
            <a:off x="548640" y="2514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713232" y="2606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3" premium mattress topper” · SP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13232" y="2898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$1,374</a:t>
            </a:r>
            <a:r>
              <a:rPr sz="1000" b="0">
                <a:solidFill>
                  <a:srgbClr val="6B6558"/>
                </a:solidFill>
                <a:latin typeface="Inter"/>
              </a:rPr>
              <a:t>   8 clicks · 3 orders · CVR 37.5%</a:t>
            </a:r>
          </a:p>
        </p:txBody>
      </p:sp>
      <p:sp>
        <p:nvSpPr>
          <p:cNvPr id="22" name="Shape 22"/>
          <p:cNvSpPr/>
          <p:nvPr/>
        </p:nvSpPr>
        <p:spPr>
          <a:xfrm>
            <a:off x="4279392" y="2514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3" name="Shape 23"/>
          <p:cNvSpPr txBox="1"/>
          <p:nvPr/>
        </p:nvSpPr>
        <p:spPr>
          <a:xfrm>
            <a:off x="4443983" y="2606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 queen” · SP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4443983" y="2898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$1,074</a:t>
            </a:r>
            <a:r>
              <a:rPr sz="1000" b="0">
                <a:solidFill>
                  <a:srgbClr val="6B6558"/>
                </a:solidFill>
                <a:latin typeface="Inter"/>
              </a:rPr>
              <a:t>   169 clicks · 5 orders · CVR 3.0%</a:t>
            </a:r>
          </a:p>
        </p:txBody>
      </p:sp>
      <p:sp>
        <p:nvSpPr>
          <p:cNvPr id="25" name="Shape 25"/>
          <p:cNvSpPr/>
          <p:nvPr/>
        </p:nvSpPr>
        <p:spPr>
          <a:xfrm>
            <a:off x="8010144" y="2514600"/>
            <a:ext cx="3566160" cy="100584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6" name="Shape 26"/>
          <p:cNvSpPr txBox="1"/>
          <p:nvPr/>
        </p:nvSpPr>
        <p:spPr>
          <a:xfrm>
            <a:off x="8174736" y="2606040"/>
            <a:ext cx="32918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50" b="1">
                <a:solidFill>
                  <a:srgbClr val="0F172A"/>
                </a:solidFill>
                <a:latin typeface="Inter"/>
              </a:rPr>
              <a:t>“dormeo mattress topper” · SP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8174736" y="2898648"/>
            <a:ext cx="32918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000" b="1">
                <a:solidFill>
                  <a:srgbClr val="2447FF"/>
                </a:solidFill>
                <a:latin typeface="Space Grotesk"/>
              </a:rPr>
              <a:t>$972</a:t>
            </a:r>
            <a:r>
              <a:rPr sz="1000" b="0">
                <a:solidFill>
                  <a:srgbClr val="6B6558"/>
                </a:solidFill>
                <a:latin typeface="Inter"/>
              </a:rPr>
              <a:t>   391 clicks · 6 orders · CVR 1.5%</a:t>
            </a:r>
          </a:p>
        </p:txBody>
      </p:sp>
      <p:graphicFrame>
        <p:nvGraphicFramePr>
          <p:cNvPr id="28" name="Shape 28"/>
          <p:cNvGraphicFramePr>
            <a:graphicFrameLocks noGrp="1"/>
          </p:cNvGraphicFramePr>
          <p:nvPr/>
        </p:nvGraphicFramePr>
        <p:xfrm>
          <a:off x="548640" y="3749039"/>
          <a:ext cx="11091672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548640"/>
                <a:gridCol w="1143000"/>
                <a:gridCol w="822960"/>
                <a:gridCol w="822960"/>
                <a:gridCol w="822960"/>
                <a:gridCol w="1188720"/>
                <a:gridCol w="1188720"/>
                <a:gridCol w="1261872"/>
              </a:tblGrid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Search term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Ad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Impressions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Clicks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CVR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7,893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87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$206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$2,481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8.3%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full size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11,776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236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$258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$2,260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3,974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$237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$2,172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10.9%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3" premium mattress topper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121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37.5%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$13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$1,374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0.9%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 queen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6,690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169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$295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$1,074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27.5%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topper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9,825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391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$545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$972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DC2626"/>
                          </a:solidFill>
                          <a:latin typeface="Inter"/>
                        </a:rPr>
                        <a:t>56.1%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1,214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6.7%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$82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$884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dormeo mattress pad queen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174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100.0%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$791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950" b="0">
                          <a:solidFill>
                            <a:srgbClr val="0F172A"/>
                          </a:solidFill>
                          <a:latin typeface="Inter"/>
                        </a:rPr>
                        <a:t>0.5%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Category keywords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9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417320"/>
          <a:ext cx="11091672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5112"/>
                <a:gridCol w="914400"/>
                <a:gridCol w="1463040"/>
                <a:gridCol w="1097280"/>
                <a:gridCol w="1097280"/>
                <a:gridCol w="1097280"/>
                <a:gridCol w="109728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Search term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Impressions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Clicks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split king mattress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776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$495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domeo mattress topper king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$495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short king mattress topper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44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$495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mattress topper queen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SB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$399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best mattress topper firm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$399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 txBox="1"/>
          <p:nvPr/>
        </p:nvSpPr>
        <p:spPr>
          <a:xfrm>
            <a:off x="548640" y="3858768"/>
            <a:ext cx="11091672" cy="45720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Top category searches by ad sales, Oct 19–25, 2026 (Sponsored Products and Brands search-term report; only searches with at least one click are reported).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Advertising performance — daily, last 2 weeks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10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325880"/>
          <a:ext cx="10360152" cy="4197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548640"/>
                <a:gridCol w="1051560"/>
                <a:gridCol w="960120"/>
                <a:gridCol w="960120"/>
                <a:gridCol w="731520"/>
                <a:gridCol w="731520"/>
                <a:gridCol w="731520"/>
                <a:gridCol w="731520"/>
                <a:gridCol w="822960"/>
                <a:gridCol w="1097280"/>
                <a:gridCol w="758952"/>
              </a:tblGrid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Day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Total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PPC spend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PPC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ROAS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TACoS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Ad orders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Organic sales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750" b="1">
                          <a:solidFill>
                            <a:srgbClr val="FFFFFF"/>
                          </a:solidFill>
                          <a:latin typeface="Inter"/>
                        </a:rPr>
                        <a:t>Ad sales %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Mon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$11,725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$1,342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$8,431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6.28x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$3,294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Tue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$10,907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$1,255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$6,217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4.95x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20.2%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$4,690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Wed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$9,267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$1,103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$4,001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3.63x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27.6%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$5,266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Thu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$9,621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$1,245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$6,146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4.94x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20.3%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12.9%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$3,475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Fri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$12,668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$1,704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$7,159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4.20x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23.8%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$5,509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Sat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$10,477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$1,625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$3,610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2.22x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DC2626"/>
                          </a:solidFill>
                          <a:latin typeface="Inter"/>
                        </a:rPr>
                        <a:t>45.0%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$6,867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34%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$13,022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$1,315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$4,502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3.42x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29.2%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$8,520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Week Oct 12 – 18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$77,688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$9,590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$40,065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4.18x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23.9%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12.3%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222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134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$37,623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52%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19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Mon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$10,204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$949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$5,455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5.75x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9.3%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$4,750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53%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Tue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$8,027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$1,021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$5,187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5.08x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19.7%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12.7%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$2,840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65%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Wed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$9,338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$950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$3,514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3.70x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$5,824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22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Thu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$5,560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$938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$2,001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2.13x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DC2626"/>
                          </a:solidFill>
                          <a:latin typeface="Inter"/>
                        </a:rPr>
                        <a:t>46.9%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16.9%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$3,559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36%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Fri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$6,075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$890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$3,584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4.03x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24.8%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14.7%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$2,491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Sat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$10,523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$1,071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$5,479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5.12x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19.5%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10.2%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29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18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$5,044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52%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Oct 25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Sun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$8,009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$922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$3,205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3.48x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28.8%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24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12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$4,804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0">
                          <a:solidFill>
                            <a:srgbClr val="0F172A"/>
                          </a:solidFill>
                          <a:latin typeface="Inter"/>
                        </a:rPr>
                        <a:t>40%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 wrap="square"/>
                    <a:lstStyle/>
                    <a:p>
                      <a:pPr algn="l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Week Oct 19 – 25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$57,736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$6,741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$28,425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4.22x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23.7%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11.7%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157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85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$29,311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850" b="1">
                          <a:solidFill>
                            <a:srgbClr val="0F172A"/>
                          </a:solidFill>
                          <a:latin typeface="Inter"/>
                        </a:rPr>
                        <a:t>49%</a:t>
                      </a:r>
                    </a:p>
                  </a:txBody>
                  <a:tcPr marL="54864" marR="54864" marT="27432" marB="27432" anchor="ctr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11" name="Shape 11"/>
          <p:cNvSpPr txBox="1"/>
          <p:nvPr/>
        </p:nvSpPr>
        <p:spPr>
          <a:xfrm>
            <a:off x="548640" y="5943600"/>
            <a:ext cx="11091672" cy="41148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Organic sales = total sales minus ad-attributed sales (floored at $0). Daily clicks and impressions aren't in the Sellerise daily feed; weekly totals: 3,375 clicks / 629,651 impressions this week vs 4,647 / 837,676.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MARKETING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Coupons, promotions &amp; upcoming events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11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11091672" cy="502920"/>
          </a:xfrm>
          <a:prstGeom prst="roundRect">
            <a:avLst>
              <a:gd name="" fmla="val 6000"/>
            </a:avLst>
          </a:prstGeom>
          <a:solidFill>
            <a:srgbClr val="EEF2FF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31520" y="1371600"/>
            <a:ext cx="10789920" cy="50292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50" b="0">
                <a:solidFill>
                  <a:srgbClr val="2447FF"/>
                </a:solidFill>
                <a:latin typeface="Inter"/>
              </a:rPr>
              <a:t>Data source: Sellerise promotion totals. Coupon and deal names aren't in the feed, so set-up details come from the account team.</a:t>
            </a:r>
          </a:p>
        </p:txBody>
      </p:sp>
      <p:sp>
        <p:nvSpPr>
          <p:cNvPr id="12" name="Shape 12"/>
          <p:cNvSpPr/>
          <p:nvPr/>
        </p:nvSpPr>
        <p:spPr>
          <a:xfrm>
            <a:off x="548640" y="2057400"/>
            <a:ext cx="3611880" cy="4160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3" name="Shape 13"/>
          <p:cNvSpPr txBox="1"/>
          <p:nvPr/>
        </p:nvSpPr>
        <p:spPr>
          <a:xfrm>
            <a:off x="731520" y="2194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Coupons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731520" y="2514600"/>
            <a:ext cx="3246120" cy="3611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This week: no coupon redemptions.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Last week: no coupon redemptions.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October to date: 127 coupon redemptions, all before Oct 12.</a:t>
            </a:r>
          </a:p>
        </p:txBody>
      </p:sp>
      <p:sp>
        <p:nvSpPr>
          <p:cNvPr id="15" name="Shape 15"/>
          <p:cNvSpPr/>
          <p:nvPr/>
        </p:nvSpPr>
        <p:spPr>
          <a:xfrm>
            <a:off x="4288536" y="2057400"/>
            <a:ext cx="3611880" cy="4160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6" name="Shape 16"/>
          <p:cNvSpPr txBox="1"/>
          <p:nvPr/>
        </p:nvSpPr>
        <p:spPr>
          <a:xfrm>
            <a:off x="4471416" y="2194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Promotions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471416" y="2514600"/>
            <a:ext cx="3246120" cy="3611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This week: 8 promotion orders, $258 in promotional discounts (vs 27 orders and $631 last week).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Discounting keeps stepping down, which protects margin while the Queen is out of stock.</a:t>
            </a:r>
          </a:p>
        </p:txBody>
      </p:sp>
      <p:sp>
        <p:nvSpPr>
          <p:cNvPr id="18" name="Shape 18"/>
          <p:cNvSpPr/>
          <p:nvPr/>
        </p:nvSpPr>
        <p:spPr>
          <a:xfrm>
            <a:off x="8028431" y="2057400"/>
            <a:ext cx="3611880" cy="41605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9" name="Shape 19"/>
          <p:cNvSpPr txBox="1"/>
          <p:nvPr/>
        </p:nvSpPr>
        <p:spPr>
          <a:xfrm>
            <a:off x="8211311" y="21945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Upcoming events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8211311" y="2514600"/>
            <a:ext cx="3246120" cy="36118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Black Friday / Cyber Monday: Nov 27 – Nov 30.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Deal and coupon set-up deadlines: to confirm with the account team.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Priority: Queen and King toppers in stock at FBA before Nov 20 so BF/CM traffic converts.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INVENTORY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Stock position — week 44 inventory update (10/26/2026)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12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OUT OF STOCK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4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377439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of 17 selling SKUs, 0 at FBA</a:t>
            </a:r>
          </a:p>
        </p:txBody>
      </p:sp>
      <p:sp>
        <p:nvSpPr>
          <p:cNvPr id="14" name="Shape 14"/>
          <p:cNvSpPr/>
          <p:nvPr/>
        </p:nvSpPr>
        <p:spPr>
          <a:xfrm>
            <a:off x="548640" y="292608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713232" y="305409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LOW STOCK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13232" y="331012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Space Grotesk"/>
              </a:rPr>
              <a:t>3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13232" y="39319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4 weeks of stock or less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4480560"/>
            <a:ext cx="2651760" cy="173736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713232" y="460857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UNITS INBOUND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13232" y="486460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1,187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13232" y="580644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on the way to FBA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429000" y="1371600"/>
            <a:ext cx="821131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Weeks of supply at FBA (available ÷ weekly sales)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429000" y="169164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Queen</a:t>
            </a:r>
          </a:p>
        </p:txBody>
      </p:sp>
      <p:sp>
        <p:nvSpPr>
          <p:cNvPr id="24" name="Shape 24"/>
          <p:cNvSpPr/>
          <p:nvPr/>
        </p:nvSpPr>
        <p:spPr>
          <a:xfrm>
            <a:off x="5257800" y="1814855"/>
            <a:ext cx="27432" cy="31363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5340096" y="169164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0.0 wk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429000" y="225171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King</a:t>
            </a:r>
          </a:p>
        </p:txBody>
      </p:sp>
      <p:sp>
        <p:nvSpPr>
          <p:cNvPr id="27" name="Shape 27"/>
          <p:cNvSpPr/>
          <p:nvPr/>
        </p:nvSpPr>
        <p:spPr>
          <a:xfrm>
            <a:off x="5257800" y="2374925"/>
            <a:ext cx="297180" cy="313639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5609844" y="225171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0.7 wk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3429000" y="281178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Full</a:t>
            </a:r>
          </a:p>
        </p:txBody>
      </p:sp>
      <p:sp>
        <p:nvSpPr>
          <p:cNvPr id="30" name="Shape 30"/>
          <p:cNvSpPr/>
          <p:nvPr/>
        </p:nvSpPr>
        <p:spPr>
          <a:xfrm>
            <a:off x="5257800" y="2934995"/>
            <a:ext cx="1149096" cy="313639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461760" y="281178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2.5 wk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3429000" y="337185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Twin &amp; XL</a:t>
            </a:r>
          </a:p>
        </p:txBody>
      </p:sp>
      <p:sp>
        <p:nvSpPr>
          <p:cNvPr id="33" name="Shape 33"/>
          <p:cNvSpPr/>
          <p:nvPr/>
        </p:nvSpPr>
        <p:spPr>
          <a:xfrm>
            <a:off x="5257800" y="3495065"/>
            <a:ext cx="2561213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4" name="Shape 34"/>
          <p:cNvSpPr txBox="1"/>
          <p:nvPr/>
        </p:nvSpPr>
        <p:spPr>
          <a:xfrm>
            <a:off x="7873877" y="337185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5.6 wk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429000" y="393192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Octaspring Cal/Split/RV</a:t>
            </a:r>
          </a:p>
        </p:txBody>
      </p:sp>
      <p:sp>
        <p:nvSpPr>
          <p:cNvPr id="36" name="Shape 36"/>
          <p:cNvSpPr/>
          <p:nvPr/>
        </p:nvSpPr>
        <p:spPr>
          <a:xfrm>
            <a:off x="5257800" y="4055135"/>
            <a:ext cx="1106641" cy="313639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7" name="Shape 37"/>
          <p:cNvSpPr txBox="1"/>
          <p:nvPr/>
        </p:nvSpPr>
        <p:spPr>
          <a:xfrm>
            <a:off x="6419305" y="393192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2.4 wk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3429000" y="449199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SnowTek &amp; Essentials</a:t>
            </a:r>
          </a:p>
        </p:txBody>
      </p:sp>
      <p:sp>
        <p:nvSpPr>
          <p:cNvPr id="39" name="Shape 39"/>
          <p:cNvSpPr/>
          <p:nvPr/>
        </p:nvSpPr>
        <p:spPr>
          <a:xfrm>
            <a:off x="5257800" y="4615205"/>
            <a:ext cx="1367028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0" name="Shape 40"/>
          <p:cNvSpPr txBox="1"/>
          <p:nvPr/>
        </p:nvSpPr>
        <p:spPr>
          <a:xfrm>
            <a:off x="6679692" y="449199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3.0 wk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3429000" y="505206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Pillows</a:t>
            </a:r>
          </a:p>
        </p:txBody>
      </p:sp>
      <p:sp>
        <p:nvSpPr>
          <p:cNvPr id="42" name="Shape 42"/>
          <p:cNvSpPr/>
          <p:nvPr/>
        </p:nvSpPr>
        <p:spPr>
          <a:xfrm>
            <a:off x="5257800" y="5175275"/>
            <a:ext cx="777329" cy="313639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3" name="Shape 43"/>
          <p:cNvSpPr txBox="1"/>
          <p:nvPr/>
        </p:nvSpPr>
        <p:spPr>
          <a:xfrm>
            <a:off x="6089993" y="505206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1.7 wk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3429000" y="5612130"/>
            <a:ext cx="18288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Protectors &amp; Sheets</a:t>
            </a:r>
          </a:p>
        </p:txBody>
      </p:sp>
      <p:sp>
        <p:nvSpPr>
          <p:cNvPr id="45" name="Shape 45"/>
          <p:cNvSpPr/>
          <p:nvPr/>
        </p:nvSpPr>
        <p:spPr>
          <a:xfrm>
            <a:off x="5257800" y="5735345"/>
            <a:ext cx="5468112" cy="3136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6" name="Shape 46"/>
          <p:cNvSpPr txBox="1"/>
          <p:nvPr/>
        </p:nvSpPr>
        <p:spPr>
          <a:xfrm>
            <a:off x="10780776" y="5612130"/>
            <a:ext cx="914400" cy="560070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12+ wk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REVIEWS &amp; ACCOUNT HEALTH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Rating &amp; review trend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13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417320"/>
            <a:ext cx="5486400" cy="480060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77240" y="1645920"/>
            <a:ext cx="5029200" cy="3657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D97706"/>
                </a:solidFill>
                <a:latin typeface="Inter"/>
              </a:rPr>
              <a:t>LAST 90 DAYS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77240" y="2011680"/>
            <a:ext cx="5029200" cy="7315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F172A"/>
                </a:solidFill>
                <a:latin typeface="Space Grotesk"/>
              </a:rPr>
              <a:t>No review data in Sellerise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77240" y="2926080"/>
            <a:ext cx="5029200" cy="3108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Inter"/>
              </a:rPr>
              <a:t>Sellerise returned no review records for Dormeo US over the last 90 days.</a:t>
            </a:r>
          </a:p>
          <a:p>
            <a:pPr algn="l">
              <a:spcAft>
                <a:spcPts val="800"/>
              </a:spcAft>
            </a:pPr>
            <a:r>
              <a:rPr sz="1150" b="0">
                <a:solidFill>
                  <a:srgbClr val="334155"/>
                </a:solidFill>
                <a:latin typeface="Inter"/>
              </a:rPr>
              <a:t>That means review tracking isn't pulling for this account, not that there were no reviews.</a:t>
            </a:r>
          </a:p>
        </p:txBody>
      </p:sp>
      <p:sp>
        <p:nvSpPr>
          <p:cNvPr id="14" name="Shape 14"/>
          <p:cNvSpPr/>
          <p:nvPr/>
        </p:nvSpPr>
        <p:spPr>
          <a:xfrm>
            <a:off x="6263640" y="1417320"/>
            <a:ext cx="5376672" cy="480060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15" name="Shape 15"/>
          <p:cNvSpPr txBox="1"/>
          <p:nvPr/>
        </p:nvSpPr>
        <p:spPr>
          <a:xfrm>
            <a:off x="6446520" y="1554480"/>
            <a:ext cx="501091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Recommendation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446520" y="1874519"/>
            <a:ext cx="5010912" cy="425196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Turn on review tracking for Dormeo US in Sellerise (or pull Amazon's Customer Reviews report) so the deck can show star rating and review count per line.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Inter"/>
              </a:rPr>
              <a:t>With refunds at 26.1%, reading the newest 1–3 star reviews on the King and Full toppers is the quickest way to see whether returns share a cause.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REVIEWS &amp; ACCOUNT HEALTH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Alerts &amp; Buy Box — last 30 days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14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TOTAL ALERTS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262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713232" y="2377439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open, incl. log events</a:t>
            </a:r>
          </a:p>
        </p:txBody>
      </p:sp>
      <p:sp>
        <p:nvSpPr>
          <p:cNvPr id="14" name="Shape 14"/>
          <p:cNvSpPr/>
          <p:nvPr/>
        </p:nvSpPr>
        <p:spPr>
          <a:xfrm>
            <a:off x="548640" y="292608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5" name="Shape 15"/>
          <p:cNvSpPr txBox="1"/>
          <p:nvPr/>
        </p:nvSpPr>
        <p:spPr>
          <a:xfrm>
            <a:off x="713232" y="305409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ACTIONABLE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713232" y="331012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97706"/>
                </a:solidFill>
                <a:latin typeface="Space Grotesk"/>
              </a:rPr>
              <a:t>40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713232" y="39319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warnings + critical</a:t>
            </a:r>
          </a:p>
        </p:txBody>
      </p:sp>
      <p:sp>
        <p:nvSpPr>
          <p:cNvPr id="18" name="Shape 18"/>
          <p:cNvSpPr/>
          <p:nvPr/>
        </p:nvSpPr>
        <p:spPr>
          <a:xfrm>
            <a:off x="548640" y="4480560"/>
            <a:ext cx="2651760" cy="173736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9" name="Shape 19"/>
          <p:cNvSpPr txBox="1"/>
          <p:nvPr/>
        </p:nvSpPr>
        <p:spPr>
          <a:xfrm>
            <a:off x="713232" y="460857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CRITICAL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713232" y="486460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DC2626"/>
                </a:solidFill>
                <a:latin typeface="Space Grotesk"/>
              </a:rPr>
              <a:t>25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13232" y="580644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6B6558"/>
                </a:solidFill>
                <a:latin typeface="Inter"/>
              </a:rPr>
              <a:t>Buy Box, stock, inactive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3429000" y="1371600"/>
            <a:ext cx="821131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  <a:latin typeface="Inter"/>
              </a:rPr>
              <a:t>Alerts by type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3429000" y="1691640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Listing images</a:t>
            </a:r>
          </a:p>
        </p:txBody>
      </p:sp>
      <p:sp>
        <p:nvSpPr>
          <p:cNvPr id="24" name="Shape 24"/>
          <p:cNvSpPr/>
          <p:nvPr/>
        </p:nvSpPr>
        <p:spPr>
          <a:xfrm>
            <a:off x="5257800" y="1790212"/>
            <a:ext cx="5468112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10780776" y="1691640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118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3429000" y="2139696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Listing price</a:t>
            </a:r>
          </a:p>
        </p:txBody>
      </p:sp>
      <p:sp>
        <p:nvSpPr>
          <p:cNvPr id="27" name="Shape 27"/>
          <p:cNvSpPr/>
          <p:nvPr/>
        </p:nvSpPr>
        <p:spPr>
          <a:xfrm>
            <a:off x="5257800" y="2238268"/>
            <a:ext cx="2038957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7351621" y="2139696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44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3429000" y="2587752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Title</a:t>
            </a:r>
          </a:p>
        </p:txBody>
      </p:sp>
      <p:sp>
        <p:nvSpPr>
          <p:cNvPr id="30" name="Shape 30"/>
          <p:cNvSpPr/>
          <p:nvPr/>
        </p:nvSpPr>
        <p:spPr>
          <a:xfrm>
            <a:off x="5257800" y="2686324"/>
            <a:ext cx="1112158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1" name="Shape 31"/>
          <p:cNvSpPr txBox="1"/>
          <p:nvPr/>
        </p:nvSpPr>
        <p:spPr>
          <a:xfrm>
            <a:off x="6424822" y="2587752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24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3429000" y="3035808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Inactive</a:t>
            </a:r>
          </a:p>
        </p:txBody>
      </p:sp>
      <p:sp>
        <p:nvSpPr>
          <p:cNvPr id="33" name="Shape 33"/>
          <p:cNvSpPr/>
          <p:nvPr/>
        </p:nvSpPr>
        <p:spPr>
          <a:xfrm>
            <a:off x="5257800" y="3134380"/>
            <a:ext cx="509739" cy="250911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4" name="Shape 34"/>
          <p:cNvSpPr txBox="1"/>
          <p:nvPr/>
        </p:nvSpPr>
        <p:spPr>
          <a:xfrm>
            <a:off x="5822403" y="3035808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11</a:t>
            </a:r>
          </a:p>
        </p:txBody>
      </p:sp>
      <p:sp>
        <p:nvSpPr>
          <p:cNvPr id="35" name="Shape 35"/>
          <p:cNvSpPr txBox="1"/>
          <p:nvPr/>
        </p:nvSpPr>
        <p:spPr>
          <a:xfrm>
            <a:off x="3429000" y="3483864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Buy Box lost</a:t>
            </a:r>
          </a:p>
        </p:txBody>
      </p:sp>
      <p:sp>
        <p:nvSpPr>
          <p:cNvPr id="36" name="Shape 36"/>
          <p:cNvSpPr/>
          <p:nvPr/>
        </p:nvSpPr>
        <p:spPr>
          <a:xfrm>
            <a:off x="5257800" y="3582436"/>
            <a:ext cx="463399" cy="250911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37" name="Shape 37"/>
          <p:cNvSpPr txBox="1"/>
          <p:nvPr/>
        </p:nvSpPr>
        <p:spPr>
          <a:xfrm>
            <a:off x="5776063" y="3483864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10</a:t>
            </a:r>
          </a:p>
        </p:txBody>
      </p:sp>
      <p:sp>
        <p:nvSpPr>
          <p:cNvPr id="38" name="Shape 38"/>
          <p:cNvSpPr txBox="1"/>
          <p:nvPr/>
        </p:nvSpPr>
        <p:spPr>
          <a:xfrm>
            <a:off x="3429000" y="3931920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Buy Box gained</a:t>
            </a:r>
          </a:p>
        </p:txBody>
      </p:sp>
      <p:sp>
        <p:nvSpPr>
          <p:cNvPr id="39" name="Shape 39"/>
          <p:cNvSpPr/>
          <p:nvPr/>
        </p:nvSpPr>
        <p:spPr>
          <a:xfrm>
            <a:off x="5257800" y="4030492"/>
            <a:ext cx="463399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0" name="Shape 40"/>
          <p:cNvSpPr txBox="1"/>
          <p:nvPr/>
        </p:nvSpPr>
        <p:spPr>
          <a:xfrm>
            <a:off x="5776063" y="3931920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10</a:t>
            </a:r>
          </a:p>
        </p:txBody>
      </p:sp>
      <p:sp>
        <p:nvSpPr>
          <p:cNvPr id="41" name="Shape 41"/>
          <p:cNvSpPr txBox="1"/>
          <p:nvPr/>
        </p:nvSpPr>
        <p:spPr>
          <a:xfrm>
            <a:off x="3429000" y="4379976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Low inventory fee</a:t>
            </a:r>
          </a:p>
        </p:txBody>
      </p:sp>
      <p:sp>
        <p:nvSpPr>
          <p:cNvPr id="42" name="Shape 42"/>
          <p:cNvSpPr/>
          <p:nvPr/>
        </p:nvSpPr>
        <p:spPr>
          <a:xfrm>
            <a:off x="5257800" y="4478548"/>
            <a:ext cx="417059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3" name="Shape 43"/>
          <p:cNvSpPr txBox="1"/>
          <p:nvPr/>
        </p:nvSpPr>
        <p:spPr>
          <a:xfrm>
            <a:off x="5729723" y="4379976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9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3429000" y="4828032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Reimbursable units</a:t>
            </a:r>
          </a:p>
        </p:txBody>
      </p:sp>
      <p:sp>
        <p:nvSpPr>
          <p:cNvPr id="45" name="Shape 45"/>
          <p:cNvSpPr/>
          <p:nvPr/>
        </p:nvSpPr>
        <p:spPr>
          <a:xfrm>
            <a:off x="5257800" y="4926604"/>
            <a:ext cx="370719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6" name="Shape 46"/>
          <p:cNvSpPr txBox="1"/>
          <p:nvPr/>
        </p:nvSpPr>
        <p:spPr>
          <a:xfrm>
            <a:off x="5683383" y="4828032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8</a:t>
            </a:r>
          </a:p>
        </p:txBody>
      </p:sp>
      <p:sp>
        <p:nvSpPr>
          <p:cNvPr id="47" name="Shape 47"/>
          <p:cNvSpPr txBox="1"/>
          <p:nvPr/>
        </p:nvSpPr>
        <p:spPr>
          <a:xfrm>
            <a:off x="3429000" y="5276088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Low stock</a:t>
            </a:r>
          </a:p>
        </p:txBody>
      </p:sp>
      <p:sp>
        <p:nvSpPr>
          <p:cNvPr id="48" name="Shape 48"/>
          <p:cNvSpPr/>
          <p:nvPr/>
        </p:nvSpPr>
        <p:spPr>
          <a:xfrm>
            <a:off x="5257800" y="5374660"/>
            <a:ext cx="231699" cy="250911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9" name="Shape 49"/>
          <p:cNvSpPr txBox="1"/>
          <p:nvPr/>
        </p:nvSpPr>
        <p:spPr>
          <a:xfrm>
            <a:off x="5544363" y="5276088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5</a:t>
            </a:r>
          </a:p>
        </p:txBody>
      </p:sp>
      <p:sp>
        <p:nvSpPr>
          <p:cNvPr id="50" name="Shape 50"/>
          <p:cNvSpPr txBox="1"/>
          <p:nvPr/>
        </p:nvSpPr>
        <p:spPr>
          <a:xfrm>
            <a:off x="3429000" y="5724144"/>
            <a:ext cx="18288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  <a:latin typeface="Inter"/>
              </a:rPr>
              <a:t>Out of stock</a:t>
            </a:r>
          </a:p>
        </p:txBody>
      </p:sp>
      <p:sp>
        <p:nvSpPr>
          <p:cNvPr id="51" name="Shape 51"/>
          <p:cNvSpPr/>
          <p:nvPr/>
        </p:nvSpPr>
        <p:spPr>
          <a:xfrm>
            <a:off x="5257800" y="5822716"/>
            <a:ext cx="231699" cy="250911"/>
          </a:xfrm>
          <a:prstGeom prst="rect">
            <a:avLst/>
          </a:prstGeom>
          <a:solidFill>
            <a:srgbClr val="DC2626"/>
          </a:solidFill>
          <a:ln>
            <a:noFill/>
          </a:ln>
        </p:spPr>
      </p:sp>
      <p:sp>
        <p:nvSpPr>
          <p:cNvPr id="52" name="Shape 52"/>
          <p:cNvSpPr txBox="1"/>
          <p:nvPr/>
        </p:nvSpPr>
        <p:spPr>
          <a:xfrm>
            <a:off x="5544363" y="5724144"/>
            <a:ext cx="914400" cy="448056"/>
          </a:xfrm>
          <a:prstGeom prst="rect">
            <a:avLst/>
          </a:prstGeom>
          <a:noFill/>
        </p:spPr>
        <p:txBody>
          <a:bodyPr wrap="square" lIns="36576" rIns="36576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NEXT STEPS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This week's recommendations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15 / 17</a:t>
            </a:r>
          </a:p>
        </p:txBody>
      </p:sp>
      <p:graphicFrame>
        <p:nvGraphicFramePr>
          <p:cNvPr id="10" name="Shape 10"/>
          <p:cNvGraphicFramePr>
            <a:graphicFrameLocks noGrp="1"/>
          </p:cNvGraphicFramePr>
          <p:nvPr/>
        </p:nvGraphicFramePr>
        <p:xfrm>
          <a:off x="548640" y="1371600"/>
          <a:ext cx="1109167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7068312"/>
                <a:gridCol w="1371600"/>
                <a:gridCol w="1188720"/>
              </a:tblGrid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Recommendation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F172A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Inventory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Confirm the ETA for the 400 inbound Queen toppers and chase any receiving delay at FBA.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Inventory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Send King (1.6 weeks available) and Cal/Split/RV (2.7 weeks) replenishment so neither runs out before BF/CM.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By Nov 6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Lower the bid on “mattress +topper” (phrase) and review the $1.1K Streaming TV spend that returned one sale.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Pause or cut the 97 campaigns with spend and no sales ($792 this week).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Add the 3 converting searches as exact keywords; negate the 17 no-sale search terms after review.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This week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Keep Queen budget shifted to King and Full while Queen is out; both grew this week.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Ads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Until restock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Marketing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Plan BF/CM coupons and deals for the toppers (Nov 27–30) and confirm submission deadlines.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By Nov 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384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health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Turn on review tracking and look into the return reasons behind the 26% refund rate.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Account team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0F172A"/>
                          </a:solidFill>
                          <a:latin typeface="Inter"/>
                        </a:rPr>
                        <a:t>Next week</a:t>
                      </a:r>
                    </a:p>
                  </a:txBody>
                  <a:tcPr marL="54864" marR="54864" marT="27432" marB="27432" anchor="ctr">
                    <a:solidFill>
                      <a:srgbClr val="FBFA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C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AMAZON ADS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Ad spend performance — this week vs last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713232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AD SPEND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13232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$6,741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713232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-30% vs $9,590</a:t>
            </a:r>
          </a:p>
        </p:txBody>
      </p:sp>
      <p:sp>
        <p:nvSpPr>
          <p:cNvPr id="11" name="Shape 11"/>
          <p:cNvSpPr/>
          <p:nvPr/>
        </p:nvSpPr>
        <p:spPr>
          <a:xfrm>
            <a:off x="3364992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2" name="Shape 12"/>
          <p:cNvSpPr txBox="1"/>
          <p:nvPr/>
        </p:nvSpPr>
        <p:spPr>
          <a:xfrm>
            <a:off x="3529584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AD SALES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3529584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$28,425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3529584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DC2626"/>
                </a:solidFill>
                <a:latin typeface="Inter"/>
              </a:rPr>
              <a:t>-29% vs $40,065</a:t>
            </a:r>
          </a:p>
        </p:txBody>
      </p:sp>
      <p:sp>
        <p:nvSpPr>
          <p:cNvPr id="15" name="Shape 15"/>
          <p:cNvSpPr/>
          <p:nvPr/>
        </p:nvSpPr>
        <p:spPr>
          <a:xfrm>
            <a:off x="6181344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16" name="Shape 16"/>
          <p:cNvSpPr txBox="1"/>
          <p:nvPr/>
        </p:nvSpPr>
        <p:spPr>
          <a:xfrm>
            <a:off x="6345936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ACOS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345936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23.7%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345936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-0.2 pts vs 23.9%</a:t>
            </a:r>
          </a:p>
        </p:txBody>
      </p:sp>
      <p:sp>
        <p:nvSpPr>
          <p:cNvPr id="19" name="Shape 19"/>
          <p:cNvSpPr/>
          <p:nvPr/>
        </p:nvSpPr>
        <p:spPr>
          <a:xfrm>
            <a:off x="8997696" y="1417320"/>
            <a:ext cx="2651760" cy="155448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9162288" y="154533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TACOS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62288" y="180136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11.7%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9162288" y="2560320"/>
            <a:ext cx="2377440" cy="3200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0">
                <a:solidFill>
                  <a:srgbClr val="16A34A"/>
                </a:solidFill>
                <a:latin typeface="Inter"/>
              </a:rPr>
              <a:t>-0.7 pts vs 12.3%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48640" y="3154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Ad spend</a:t>
            </a:r>
          </a:p>
        </p:txBody>
      </p:sp>
      <p:sp>
        <p:nvSpPr>
          <p:cNvPr id="24" name="Shape 24"/>
          <p:cNvSpPr/>
          <p:nvPr/>
        </p:nvSpPr>
        <p:spPr>
          <a:xfrm>
            <a:off x="914400" y="3840479"/>
            <a:ext cx="1005840" cy="2148840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25" name="Shape 25"/>
          <p:cNvSpPr txBox="1"/>
          <p:nvPr/>
        </p:nvSpPr>
        <p:spPr>
          <a:xfrm>
            <a:off x="731520" y="3566159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$9.6K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73152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12 – 18</a:t>
            </a:r>
          </a:p>
        </p:txBody>
      </p:sp>
      <p:sp>
        <p:nvSpPr>
          <p:cNvPr id="27" name="Shape 27"/>
          <p:cNvSpPr/>
          <p:nvPr/>
        </p:nvSpPr>
        <p:spPr>
          <a:xfrm>
            <a:off x="2286000" y="4478780"/>
            <a:ext cx="1005840" cy="1510539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28" name="Shape 28"/>
          <p:cNvSpPr txBox="1"/>
          <p:nvPr/>
        </p:nvSpPr>
        <p:spPr>
          <a:xfrm>
            <a:off x="2103120" y="420446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$6.7K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210312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19 – 25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4297679" y="3154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Ad sales</a:t>
            </a:r>
          </a:p>
        </p:txBody>
      </p:sp>
      <p:sp>
        <p:nvSpPr>
          <p:cNvPr id="31" name="Shape 31"/>
          <p:cNvSpPr/>
          <p:nvPr/>
        </p:nvSpPr>
        <p:spPr>
          <a:xfrm>
            <a:off x="4663440" y="3840479"/>
            <a:ext cx="1005840" cy="2148840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2" name="Shape 32"/>
          <p:cNvSpPr txBox="1"/>
          <p:nvPr/>
        </p:nvSpPr>
        <p:spPr>
          <a:xfrm>
            <a:off x="4480559" y="3566159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$40.1K</a:t>
            </a:r>
          </a:p>
        </p:txBody>
      </p:sp>
      <p:sp>
        <p:nvSpPr>
          <p:cNvPr id="33" name="Shape 33"/>
          <p:cNvSpPr txBox="1"/>
          <p:nvPr/>
        </p:nvSpPr>
        <p:spPr>
          <a:xfrm>
            <a:off x="4480559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12 – 18</a:t>
            </a:r>
          </a:p>
        </p:txBody>
      </p:sp>
      <p:sp>
        <p:nvSpPr>
          <p:cNvPr id="34" name="Shape 34"/>
          <p:cNvSpPr/>
          <p:nvPr/>
        </p:nvSpPr>
        <p:spPr>
          <a:xfrm>
            <a:off x="6035040" y="4464785"/>
            <a:ext cx="1005840" cy="1524534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35" name="Shape 35"/>
          <p:cNvSpPr txBox="1"/>
          <p:nvPr/>
        </p:nvSpPr>
        <p:spPr>
          <a:xfrm>
            <a:off x="5852159" y="4190465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$28.4K</a:t>
            </a:r>
          </a:p>
        </p:txBody>
      </p:sp>
      <p:sp>
        <p:nvSpPr>
          <p:cNvPr id="36" name="Shape 36"/>
          <p:cNvSpPr txBox="1"/>
          <p:nvPr/>
        </p:nvSpPr>
        <p:spPr>
          <a:xfrm>
            <a:off x="5852159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19 – 25</a:t>
            </a:r>
          </a:p>
        </p:txBody>
      </p:sp>
      <p:sp>
        <p:nvSpPr>
          <p:cNvPr id="37" name="Shape 37"/>
          <p:cNvSpPr txBox="1"/>
          <p:nvPr/>
        </p:nvSpPr>
        <p:spPr>
          <a:xfrm>
            <a:off x="8046719" y="3154680"/>
            <a:ext cx="34747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Total sales</a:t>
            </a:r>
          </a:p>
        </p:txBody>
      </p:sp>
      <p:sp>
        <p:nvSpPr>
          <p:cNvPr id="38" name="Shape 38"/>
          <p:cNvSpPr/>
          <p:nvPr/>
        </p:nvSpPr>
        <p:spPr>
          <a:xfrm>
            <a:off x="8412480" y="3840479"/>
            <a:ext cx="1005840" cy="2148840"/>
          </a:xfrm>
          <a:prstGeom prst="rect">
            <a:avLst/>
          </a:prstGeom>
          <a:solidFill>
            <a:srgbClr val="C7D2FE"/>
          </a:solidFill>
          <a:ln>
            <a:noFill/>
          </a:ln>
        </p:spPr>
      </p:sp>
      <p:sp>
        <p:nvSpPr>
          <p:cNvPr id="39" name="Shape 39"/>
          <p:cNvSpPr txBox="1"/>
          <p:nvPr/>
        </p:nvSpPr>
        <p:spPr>
          <a:xfrm>
            <a:off x="8229600" y="3566159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$77.7K</a:t>
            </a:r>
          </a:p>
        </p:txBody>
      </p:sp>
      <p:sp>
        <p:nvSpPr>
          <p:cNvPr id="40" name="Shape 40"/>
          <p:cNvSpPr txBox="1"/>
          <p:nvPr/>
        </p:nvSpPr>
        <p:spPr>
          <a:xfrm>
            <a:off x="822960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12 – 18</a:t>
            </a:r>
          </a:p>
        </p:txBody>
      </p:sp>
      <p:sp>
        <p:nvSpPr>
          <p:cNvPr id="41" name="Shape 41"/>
          <p:cNvSpPr/>
          <p:nvPr/>
        </p:nvSpPr>
        <p:spPr>
          <a:xfrm>
            <a:off x="9784080" y="4392336"/>
            <a:ext cx="1005840" cy="1596983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2" name="Shape 42"/>
          <p:cNvSpPr txBox="1"/>
          <p:nvPr/>
        </p:nvSpPr>
        <p:spPr>
          <a:xfrm>
            <a:off x="9601200" y="4118016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1000" b="1">
                <a:solidFill>
                  <a:srgbClr val="0F172A"/>
                </a:solidFill>
                <a:latin typeface="Inter"/>
              </a:rPr>
              <a:t>$57.7K</a:t>
            </a:r>
          </a:p>
        </p:txBody>
      </p:sp>
      <p:sp>
        <p:nvSpPr>
          <p:cNvPr id="43" name="Shape 43"/>
          <p:cNvSpPr txBox="1"/>
          <p:nvPr/>
        </p:nvSpPr>
        <p:spPr>
          <a:xfrm>
            <a:off x="9601200" y="6035040"/>
            <a:ext cx="1371600" cy="256032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ctr"/>
            <a:r>
              <a:rPr sz="900" b="0">
                <a:solidFill>
                  <a:srgbClr val="6B6558"/>
                </a:solidFill>
                <a:latin typeface="Inter"/>
              </a:rPr>
              <a:t>Oct 19 – 25</a:t>
            </a:r>
          </a:p>
        </p:txBody>
      </p:sp>
      <p:sp>
        <p:nvSpPr>
          <p:cNvPr id="44" name="Shape 44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45" name="Shape 45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Shape 1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Shape 3"/>
          <p:cNvSpPr/>
          <p:nvPr/>
        </p:nvSpPr>
        <p:spPr>
          <a:xfrm>
            <a:off x="548640" y="502920"/>
            <a:ext cx="73152" cy="566928"/>
          </a:xfrm>
          <a:prstGeom prst="rect">
            <a:avLst/>
          </a:prstGeom>
          <a:solidFill>
            <a:srgbClr val="2447FF"/>
          </a:solidFill>
          <a:ln>
            <a:noFill/>
          </a:ln>
        </p:spPr>
      </p:sp>
      <p:sp>
        <p:nvSpPr>
          <p:cNvPr id="4" name="Shape 4"/>
          <p:cNvSpPr txBox="1"/>
          <p:nvPr/>
        </p:nvSpPr>
        <p:spPr>
          <a:xfrm>
            <a:off x="731520" y="384048"/>
            <a:ext cx="86868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000" b="1">
                <a:solidFill>
                  <a:srgbClr val="2447FF"/>
                </a:solidFill>
                <a:latin typeface="Space Grotesk"/>
              </a:rPr>
              <a:t>PATH FORWARD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731520" y="603504"/>
            <a:ext cx="960120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Space Grotesk"/>
              </a:rPr>
              <a:t>Where we stand and what's next</a:t>
            </a:r>
          </a:p>
        </p:txBody>
      </p:sp>
      <p:pic>
        <p:nvPicPr>
          <p:cNvPr id="6" name="Shape 6" descr="logo_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457200"/>
            <a:ext cx="1463040" cy="256032"/>
          </a:xfrm>
          <a:prstGeom prst="rect">
            <a:avLst/>
          </a:prstGeom>
        </p:spPr>
      </p:pic>
      <p:sp>
        <p:nvSpPr>
          <p:cNvPr id="7" name="Shape 7"/>
          <p:cNvSpPr/>
          <p:nvPr/>
        </p:nvSpPr>
        <p:spPr>
          <a:xfrm>
            <a:off x="548640" y="6400800"/>
            <a:ext cx="11091672" cy="10972"/>
          </a:xfrm>
          <a:prstGeom prst="rect">
            <a:avLst/>
          </a:prstGeom>
          <a:solidFill>
            <a:srgbClr val="E5E0D6"/>
          </a:solidFill>
          <a:ln>
            <a:noFill/>
          </a:ln>
        </p:spPr>
      </p:sp>
      <p:sp>
        <p:nvSpPr>
          <p:cNvPr id="8" name="Shape 8"/>
          <p:cNvSpPr txBox="1"/>
          <p:nvPr/>
        </p:nvSpPr>
        <p:spPr>
          <a:xfrm>
            <a:off x="548640" y="6455664"/>
            <a:ext cx="822960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0">
                <a:solidFill>
                  <a:srgbClr val="6B6558"/>
                </a:solidFill>
                <a:latin typeface="Inter"/>
              </a:rPr>
              <a:t>Dormeo US · Weekly Business Review · Week 43 (Oct 19–25, 2026)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10241280" y="6455664"/>
            <a:ext cx="1399032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r"/>
            <a:r>
              <a:rPr sz="900" b="0">
                <a:solidFill>
                  <a:srgbClr val="6B6558"/>
                </a:solidFill>
                <a:latin typeface="Inter"/>
              </a:rPr>
              <a:t>17 / 17</a:t>
            </a:r>
          </a:p>
        </p:txBody>
      </p:sp>
      <p:sp>
        <p:nvSpPr>
          <p:cNvPr id="10" name="Shape 10"/>
          <p:cNvSpPr/>
          <p:nvPr/>
        </p:nvSpPr>
        <p:spPr>
          <a:xfrm>
            <a:off x="548640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1" name="Shape 11"/>
          <p:cNvSpPr txBox="1"/>
          <p:nvPr/>
        </p:nvSpPr>
        <p:spPr>
          <a:xfrm>
            <a:off x="713232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AD SPEND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13232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$34.0K</a:t>
            </a:r>
          </a:p>
        </p:txBody>
      </p:sp>
      <p:sp>
        <p:nvSpPr>
          <p:cNvPr id="13" name="Shape 13"/>
          <p:cNvSpPr/>
          <p:nvPr/>
        </p:nvSpPr>
        <p:spPr>
          <a:xfrm>
            <a:off x="3364992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4" name="Shape 14"/>
          <p:cNvSpPr txBox="1"/>
          <p:nvPr/>
        </p:nvSpPr>
        <p:spPr>
          <a:xfrm>
            <a:off x="3529584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PROJECTED SPEND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3529584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$42.2K</a:t>
            </a:r>
          </a:p>
        </p:txBody>
      </p:sp>
      <p:sp>
        <p:nvSpPr>
          <p:cNvPr id="16" name="Shape 16"/>
          <p:cNvSpPr/>
          <p:nvPr/>
        </p:nvSpPr>
        <p:spPr>
          <a:xfrm>
            <a:off x="6181344" y="1371600"/>
            <a:ext cx="2651760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17" name="Shape 17"/>
          <p:cNvSpPr txBox="1"/>
          <p:nvPr/>
        </p:nvSpPr>
        <p:spPr>
          <a:xfrm>
            <a:off x="6345936" y="1499616"/>
            <a:ext cx="237744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MTD ACOS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345936" y="1755648"/>
            <a:ext cx="2377440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18.7%</a:t>
            </a:r>
          </a:p>
        </p:txBody>
      </p:sp>
      <p:sp>
        <p:nvSpPr>
          <p:cNvPr id="19" name="Shape 19"/>
          <p:cNvSpPr/>
          <p:nvPr/>
        </p:nvSpPr>
        <p:spPr>
          <a:xfrm>
            <a:off x="8997696" y="1371600"/>
            <a:ext cx="2642616" cy="1417320"/>
          </a:xfrm>
          <a:prstGeom prst="roundRect">
            <a:avLst>
              <a:gd name="" fmla="val 6000"/>
            </a:avLst>
          </a:prstGeom>
          <a:solidFill>
            <a:srgbClr val="F6F3EC"/>
          </a:solidFill>
          <a:ln>
            <a:noFill/>
          </a:ln>
        </p:spPr>
      </p:sp>
      <p:sp>
        <p:nvSpPr>
          <p:cNvPr id="20" name="Shape 20"/>
          <p:cNvSpPr txBox="1"/>
          <p:nvPr/>
        </p:nvSpPr>
        <p:spPr>
          <a:xfrm>
            <a:off x="9162288" y="1499616"/>
            <a:ext cx="2368296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900" b="1">
                <a:solidFill>
                  <a:srgbClr val="6B6558"/>
                </a:solidFill>
                <a:latin typeface="Inter"/>
              </a:rPr>
              <a:t>DAYS LEFT IN OCT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9162288" y="1755648"/>
            <a:ext cx="2368296" cy="54864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2600" b="1">
                <a:solidFill>
                  <a:srgbClr val="2447FF"/>
                </a:solidFill>
                <a:latin typeface="Space Grotesk"/>
              </a:rPr>
              <a:t>6</a:t>
            </a:r>
          </a:p>
        </p:txBody>
      </p:sp>
      <p:sp>
        <p:nvSpPr>
          <p:cNvPr id="22" name="Shape 22"/>
          <p:cNvSpPr/>
          <p:nvPr/>
        </p:nvSpPr>
        <p:spPr>
          <a:xfrm>
            <a:off x="548640" y="2971800"/>
            <a:ext cx="3611880" cy="32461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3" name="Shape 23"/>
          <p:cNvSpPr txBox="1"/>
          <p:nvPr/>
        </p:nvSpPr>
        <p:spPr>
          <a:xfrm>
            <a:off x="731520" y="31089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Position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31520" y="3429000"/>
            <a:ext cx="3246120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October is +51% ahead of last year to date and pacing to about $437.2K.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This week slowed to $57.7K because the Queen topper, the top seller, was out of stock all week.</a:t>
            </a:r>
          </a:p>
        </p:txBody>
      </p:sp>
      <p:sp>
        <p:nvSpPr>
          <p:cNvPr id="25" name="Shape 25"/>
          <p:cNvSpPr/>
          <p:nvPr/>
        </p:nvSpPr>
        <p:spPr>
          <a:xfrm>
            <a:off x="4288536" y="2971800"/>
            <a:ext cx="3611880" cy="32461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6" name="Shape 26"/>
          <p:cNvSpPr txBox="1"/>
          <p:nvPr/>
        </p:nvSpPr>
        <p:spPr>
          <a:xfrm>
            <a:off x="4471416" y="31089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Next steps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4471416" y="3429000"/>
            <a:ext cx="3246120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1. Restock Queen at FBA; protect King and Cal/Split/RV.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2. Trim spend on no-sale campaigns and generic targets.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3. Lock BF/CM coupons and deals.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4. Look into the refund rise.</a:t>
            </a:r>
          </a:p>
        </p:txBody>
      </p:sp>
      <p:sp>
        <p:nvSpPr>
          <p:cNvPr id="28" name="Shape 28"/>
          <p:cNvSpPr/>
          <p:nvPr/>
        </p:nvSpPr>
        <p:spPr>
          <a:xfrm>
            <a:off x="8028431" y="2971800"/>
            <a:ext cx="3611880" cy="3246120"/>
          </a:xfrm>
          <a:prstGeom prst="roundRect">
            <a:avLst>
              <a:gd name="" fmla="val 6000"/>
            </a:avLst>
          </a:prstGeom>
          <a:solidFill>
            <a:srgbClr val="FFFFFF"/>
          </a:solidFill>
          <a:ln w="9525">
            <a:solidFill>
              <a:srgbClr val="E5E0D6"/>
            </a:solidFill>
          </a:ln>
        </p:spPr>
      </p:sp>
      <p:sp>
        <p:nvSpPr>
          <p:cNvPr id="29" name="Shape 29"/>
          <p:cNvSpPr txBox="1"/>
          <p:nvPr/>
        </p:nvSpPr>
        <p:spPr>
          <a:xfrm>
            <a:off x="8211311" y="3108960"/>
            <a:ext cx="3246120" cy="274320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Space Grotesk"/>
              </a:rPr>
              <a:t>Data ask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8211311" y="3429000"/>
            <a:ext cx="3246120" cy="2697479"/>
          </a:xfrm>
          <a:prstGeom prst="rect">
            <a:avLst/>
          </a:prstGeom>
          <a:noFill/>
        </p:spPr>
        <p:txBody>
          <a:bodyPr wrap="square" lIns="36576" rIns="36576" tIns="18288" bIns="18288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Queen inbound ETA and PO dates.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BF/CM deal and coupon plan.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Review tracking turned on in Sellerise.</a:t>
            </a:r>
          </a:p>
          <a:p>
            <a:pPr algn="l">
              <a:spcAft>
                <a:spcPts val="500"/>
              </a:spcAft>
            </a:pPr>
            <a:r>
              <a:rPr sz="1050" b="0">
                <a:solidFill>
                  <a:srgbClr val="334155"/>
                </a:solidFill>
                <a:latin typeface="Inter"/>
              </a:rPr>
              <a:t>Category / brand impression share (Brand Analytics).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