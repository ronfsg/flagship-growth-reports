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presProps" Target="presProps.xml"/><Relationship Id="rId25" Type="http://schemas.openxmlformats.org/officeDocument/2006/relationships/viewProps" Target="viewProps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Shape 1"/>
        <p:cNvGrpSpPr/>
        <p:nvPr/>
      </p:nvGrpSpPr>
      <p:grpSpPr/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447FF"/>
          </a:solidFill>
          <a:ln>
            <a:noFill/>
          </a:ln>
        </p:spPr>
      </p:sp>
      <p:pic>
        <p:nvPicPr>
          <p:cNvPr id="4" name="Shape 4" descr="logo_dark_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77240"/>
            <a:ext cx="2560320" cy="312928"/>
          </a:xfrm>
          <a:prstGeom prst="rect">
            <a:avLst/>
          </a:prstGeom>
        </p:spPr>
      </p:pic>
      <p:sp>
        <p:nvSpPr>
          <p:cNvPr id="5" name="Shape 5"/>
          <p:cNvSpPr txBox="1"/>
          <p:nvPr/>
        </p:nvSpPr>
        <p:spPr>
          <a:xfrm>
            <a:off x="822960" y="2148840"/>
            <a:ext cx="100584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>
                <a:solidFill>
                  <a:srgbClr val="7EB8F7"/>
                </a:solidFill>
                <a:latin typeface="Space Grotesk"/>
              </a:rPr>
              <a:t>WEEKLY PERFORMANCE &amp; GROWTH REVIEW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822960" y="2560320"/>
            <a:ext cx="10058400" cy="10972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Space Grotesk"/>
              </a:rPr>
              <a:t>Dormeo US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822960" y="3703320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Space Grotesk"/>
              </a:rPr>
              <a:t>Amazon Business Review · Week 43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22960" y="4297680"/>
            <a:ext cx="100584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0">
                <a:solidFill>
                  <a:srgbClr val="7EB8F7"/>
                </a:solidFill>
                <a:latin typeface="Inter"/>
              </a:rPr>
              <a:t>Week ending Sunday, October 25, 2026  ·  Oct 19–25,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Shape 1"/>
        <p:cNvGrpSpPr/>
        <p:nvPr/>
      </p:nvGrpSpPr>
      <p:grpSpPr/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548640" y="502920"/>
            <a:ext cx="73152" cy="566928"/>
          </a:xfrm>
          <a:prstGeom prst="rect">
            <a:avLst/>
          </a:prstGeom>
          <a:solidFill>
            <a:srgbClr val="2447FF"/>
          </a:solidFill>
          <a:ln>
            <a:noFill/>
          </a:ln>
        </p:spPr>
      </p:sp>
      <p:sp>
        <p:nvSpPr>
          <p:cNvPr id="4" name="Shape 4"/>
          <p:cNvSpPr txBox="1"/>
          <p:nvPr/>
        </p:nvSpPr>
        <p:spPr>
          <a:xfrm>
            <a:off x="731520" y="384048"/>
            <a:ext cx="8686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447FF"/>
                </a:solidFill>
                <a:latin typeface="Space Grotesk"/>
              </a:rPr>
              <a:t>TODAY'S AGENDA</a:t>
            </a:r>
          </a:p>
        </p:txBody>
      </p:sp>
      <p:sp>
        <p:nvSpPr>
          <p:cNvPr id="5" name="Shape 5"/>
          <p:cNvSpPr txBox="1"/>
          <p:nvPr/>
        </p:nvSpPr>
        <p:spPr>
          <a:xfrm>
            <a:off x="731520" y="603504"/>
            <a:ext cx="960120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Space Grotesk"/>
              </a:rPr>
              <a:t>What we'll cover</a:t>
            </a:r>
          </a:p>
        </p:txBody>
      </p:sp>
      <p:pic>
        <p:nvPicPr>
          <p:cNvPr id="6" name="Shape 6" descr="logo_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560" y="457200"/>
            <a:ext cx="1463040" cy="256032"/>
          </a:xfrm>
          <a:prstGeom prst="rect">
            <a:avLst/>
          </a:prstGeom>
        </p:spPr>
      </p:pic>
      <p:sp>
        <p:nvSpPr>
          <p:cNvPr id="7" name="Shape 7"/>
          <p:cNvSpPr/>
          <p:nvPr/>
        </p:nvSpPr>
        <p:spPr>
          <a:xfrm>
            <a:off x="548640" y="6400800"/>
            <a:ext cx="11091672" cy="10972"/>
          </a:xfrm>
          <a:prstGeom prst="rect">
            <a:avLst/>
          </a:prstGeom>
          <a:solidFill>
            <a:srgbClr val="E5E0D6"/>
          </a:solidFill>
          <a:ln>
            <a:noFill/>
          </a:ln>
        </p:spPr>
      </p:sp>
      <p:sp>
        <p:nvSpPr>
          <p:cNvPr id="8" name="Shape 8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>
                <a:solidFill>
                  <a:srgbClr val="6B6558"/>
                </a:solidFill>
                <a:latin typeface="Inter"/>
              </a:rPr>
              <a:t>Dormeo US · Weekly Business Review · Week 43 (Oct 19–25, 2026)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10241280" y="6455664"/>
            <a:ext cx="1399032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>
                <a:solidFill>
                  <a:srgbClr val="6B6558"/>
                </a:solidFill>
                <a:latin typeface="Inter"/>
              </a:rPr>
              <a:t>2 / 17</a:t>
            </a:r>
          </a:p>
        </p:txBody>
      </p:sp>
      <p:sp>
        <p:nvSpPr>
          <p:cNvPr id="10" name="Shape 10"/>
          <p:cNvSpPr/>
          <p:nvPr/>
        </p:nvSpPr>
        <p:spPr>
          <a:xfrm>
            <a:off x="548640" y="1600200"/>
            <a:ext cx="3566160" cy="2011680"/>
          </a:xfrm>
          <a:prstGeom prst="roundRect">
            <a:avLst>
              <a:gd name="" fmla="val 6000"/>
            </a:avLst>
          </a:prstGeom>
          <a:solidFill>
            <a:srgbClr val="F6F3EC"/>
          </a:solidFill>
          <a:ln>
            <a:noFill/>
          </a:ln>
        </p:spPr>
      </p:sp>
      <p:sp>
        <p:nvSpPr>
          <p:cNvPr id="11" name="Shape 11"/>
          <p:cNvSpPr txBox="1"/>
          <p:nvPr/>
        </p:nvSpPr>
        <p:spPr>
          <a:xfrm>
            <a:off x="777240" y="1783080"/>
            <a:ext cx="137160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000" b="1">
                <a:solidFill>
                  <a:srgbClr val="2447FF"/>
                </a:solidFill>
                <a:latin typeface="Space Grotesk"/>
              </a:rPr>
              <a:t>01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777240" y="246888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Space Grotesk"/>
              </a:rPr>
              <a:t>Sales overview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777240" y="2880360"/>
            <a:ext cx="310896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B6558"/>
                </a:solidFill>
                <a:latin typeface="Inter"/>
              </a:rPr>
              <a:t>Four-week channel performance, price and refunds</a:t>
            </a:r>
          </a:p>
        </p:txBody>
      </p:sp>
      <p:sp>
        <p:nvSpPr>
          <p:cNvPr id="14" name="Shape 14"/>
          <p:cNvSpPr/>
          <p:nvPr/>
        </p:nvSpPr>
        <p:spPr>
          <a:xfrm>
            <a:off x="4279392" y="1600200"/>
            <a:ext cx="3566160" cy="2011680"/>
          </a:xfrm>
          <a:prstGeom prst="roundRect">
            <a:avLst>
              <a:gd name="" fmla="val 6000"/>
            </a:avLst>
          </a:prstGeom>
          <a:solidFill>
            <a:srgbClr val="F6F3EC"/>
          </a:solidFill>
          <a:ln>
            <a:noFill/>
          </a:ln>
        </p:spPr>
      </p:sp>
      <p:sp>
        <p:nvSpPr>
          <p:cNvPr id="15" name="Shape 15"/>
          <p:cNvSpPr txBox="1"/>
          <p:nvPr/>
        </p:nvSpPr>
        <p:spPr>
          <a:xfrm>
            <a:off x="4507992" y="1783080"/>
            <a:ext cx="137160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000" b="1">
                <a:solidFill>
                  <a:srgbClr val="2447FF"/>
                </a:solidFill>
                <a:latin typeface="Space Grotesk"/>
              </a:rPr>
              <a:t>02</a:t>
            </a:r>
          </a:p>
        </p:txBody>
      </p:sp>
      <p:sp>
        <p:nvSpPr>
          <p:cNvPr id="16" name="Shape 16"/>
          <p:cNvSpPr txBox="1"/>
          <p:nvPr/>
        </p:nvSpPr>
        <p:spPr>
          <a:xfrm>
            <a:off x="4507992" y="246888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Space Grotesk"/>
              </a:rPr>
              <a:t>Sales pacing</a:t>
            </a:r>
          </a:p>
        </p:txBody>
      </p:sp>
      <p:sp>
        <p:nvSpPr>
          <p:cNvPr id="17" name="Shape 17"/>
          <p:cNvSpPr txBox="1"/>
          <p:nvPr/>
        </p:nvSpPr>
        <p:spPr>
          <a:xfrm>
            <a:off x="4507992" y="2880360"/>
            <a:ext cx="310896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B6558"/>
                </a:solidFill>
                <a:latin typeface="Inter"/>
              </a:rPr>
              <a:t>October month to date vs last month and last year</a:t>
            </a:r>
          </a:p>
        </p:txBody>
      </p:sp>
      <p:sp>
        <p:nvSpPr>
          <p:cNvPr id="18" name="Shape 18"/>
          <p:cNvSpPr/>
          <p:nvPr/>
        </p:nvSpPr>
        <p:spPr>
          <a:xfrm>
            <a:off x="8010144" y="1600200"/>
            <a:ext cx="3566160" cy="2011680"/>
          </a:xfrm>
          <a:prstGeom prst="roundRect">
            <a:avLst>
              <a:gd name="" fmla="val 6000"/>
            </a:avLst>
          </a:prstGeom>
          <a:solidFill>
            <a:srgbClr val="F6F3EC"/>
          </a:solidFill>
          <a:ln>
            <a:noFill/>
          </a:ln>
        </p:spPr>
      </p:sp>
      <p:sp>
        <p:nvSpPr>
          <p:cNvPr id="19" name="Shape 19"/>
          <p:cNvSpPr txBox="1"/>
          <p:nvPr/>
        </p:nvSpPr>
        <p:spPr>
          <a:xfrm>
            <a:off x="8238744" y="1783080"/>
            <a:ext cx="137160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000" b="1">
                <a:solidFill>
                  <a:srgbClr val="2447FF"/>
                </a:solidFill>
                <a:latin typeface="Space Grotesk"/>
              </a:rPr>
              <a:t>03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8238744" y="246888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Space Grotesk"/>
              </a:rPr>
              <a:t>Amazon Ads results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8238744" y="2880360"/>
            <a:ext cx="310896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B6558"/>
                </a:solidFill>
                <a:latin typeface="Inter"/>
              </a:rPr>
              <a:t>Spend, efficiency, brand vs category, keywords</a:t>
            </a:r>
          </a:p>
        </p:txBody>
      </p:sp>
      <p:sp>
        <p:nvSpPr>
          <p:cNvPr id="22" name="Shape 22"/>
          <p:cNvSpPr/>
          <p:nvPr/>
        </p:nvSpPr>
        <p:spPr>
          <a:xfrm>
            <a:off x="548640" y="3840480"/>
            <a:ext cx="3566160" cy="2011680"/>
          </a:xfrm>
          <a:prstGeom prst="roundRect">
            <a:avLst>
              <a:gd name="" fmla="val 6000"/>
            </a:avLst>
          </a:prstGeom>
          <a:solidFill>
            <a:srgbClr val="F6F3EC"/>
          </a:solidFill>
          <a:ln>
            <a:noFill/>
          </a:ln>
        </p:spPr>
      </p:sp>
      <p:sp>
        <p:nvSpPr>
          <p:cNvPr id="23" name="Shape 23"/>
          <p:cNvSpPr txBox="1"/>
          <p:nvPr/>
        </p:nvSpPr>
        <p:spPr>
          <a:xfrm>
            <a:off x="777240" y="4023360"/>
            <a:ext cx="137160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000" b="1">
                <a:solidFill>
                  <a:srgbClr val="2447FF"/>
                </a:solidFill>
                <a:latin typeface="Space Grotesk"/>
              </a:rPr>
              <a:t>04</a:t>
            </a:r>
          </a:p>
        </p:txBody>
      </p:sp>
      <p:sp>
        <p:nvSpPr>
          <p:cNvPr id="24" name="Shape 24"/>
          <p:cNvSpPr txBox="1"/>
          <p:nvPr/>
        </p:nvSpPr>
        <p:spPr>
          <a:xfrm>
            <a:off x="777240" y="470916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Space Grotesk"/>
              </a:rPr>
              <a:t>Marketing</a:t>
            </a:r>
          </a:p>
        </p:txBody>
      </p:sp>
      <p:sp>
        <p:nvSpPr>
          <p:cNvPr id="25" name="Shape 25"/>
          <p:cNvSpPr txBox="1"/>
          <p:nvPr/>
        </p:nvSpPr>
        <p:spPr>
          <a:xfrm>
            <a:off x="777240" y="5120640"/>
            <a:ext cx="310896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B6558"/>
                </a:solidFill>
                <a:latin typeface="Inter"/>
              </a:rPr>
              <a:t>Coupons, promotions and upcoming events</a:t>
            </a:r>
          </a:p>
        </p:txBody>
      </p:sp>
      <p:sp>
        <p:nvSpPr>
          <p:cNvPr id="26" name="Shape 26"/>
          <p:cNvSpPr/>
          <p:nvPr/>
        </p:nvSpPr>
        <p:spPr>
          <a:xfrm>
            <a:off x="4279392" y="3840480"/>
            <a:ext cx="3566160" cy="2011680"/>
          </a:xfrm>
          <a:prstGeom prst="roundRect">
            <a:avLst>
              <a:gd name="" fmla="val 6000"/>
            </a:avLst>
          </a:prstGeom>
          <a:solidFill>
            <a:srgbClr val="F6F3EC"/>
          </a:solidFill>
          <a:ln>
            <a:noFill/>
          </a:ln>
        </p:spPr>
      </p:sp>
      <p:sp>
        <p:nvSpPr>
          <p:cNvPr id="27" name="Shape 27"/>
          <p:cNvSpPr txBox="1"/>
          <p:nvPr/>
        </p:nvSpPr>
        <p:spPr>
          <a:xfrm>
            <a:off x="4507992" y="4023360"/>
            <a:ext cx="137160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000" b="1">
                <a:solidFill>
                  <a:srgbClr val="2447FF"/>
                </a:solidFill>
                <a:latin typeface="Space Grotesk"/>
              </a:rPr>
              <a:t>05</a:t>
            </a:r>
          </a:p>
        </p:txBody>
      </p:sp>
      <p:sp>
        <p:nvSpPr>
          <p:cNvPr id="28" name="Shape 28"/>
          <p:cNvSpPr txBox="1"/>
          <p:nvPr/>
        </p:nvSpPr>
        <p:spPr>
          <a:xfrm>
            <a:off x="4507992" y="470916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Space Grotesk"/>
              </a:rPr>
              <a:t>Inventory</a:t>
            </a:r>
          </a:p>
        </p:txBody>
      </p:sp>
      <p:sp>
        <p:nvSpPr>
          <p:cNvPr id="29" name="Shape 29"/>
          <p:cNvSpPr txBox="1"/>
          <p:nvPr/>
        </p:nvSpPr>
        <p:spPr>
          <a:xfrm>
            <a:off x="4507992" y="5120640"/>
            <a:ext cx="310896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B6558"/>
                </a:solidFill>
                <a:latin typeface="Inter"/>
              </a:rPr>
              <a:t>Stock position, weeks of supply, restock risk</a:t>
            </a:r>
          </a:p>
        </p:txBody>
      </p:sp>
      <p:sp>
        <p:nvSpPr>
          <p:cNvPr id="30" name="Shape 30"/>
          <p:cNvSpPr/>
          <p:nvPr/>
        </p:nvSpPr>
        <p:spPr>
          <a:xfrm>
            <a:off x="8010144" y="3840480"/>
            <a:ext cx="3566160" cy="2011680"/>
          </a:xfrm>
          <a:prstGeom prst="roundRect">
            <a:avLst>
              <a:gd name="" fmla="val 6000"/>
            </a:avLst>
          </a:prstGeom>
          <a:solidFill>
            <a:srgbClr val="F6F3EC"/>
          </a:solidFill>
          <a:ln>
            <a:noFill/>
          </a:ln>
        </p:spPr>
      </p:sp>
      <p:sp>
        <p:nvSpPr>
          <p:cNvPr id="31" name="Shape 31"/>
          <p:cNvSpPr txBox="1"/>
          <p:nvPr/>
        </p:nvSpPr>
        <p:spPr>
          <a:xfrm>
            <a:off x="8238744" y="4023360"/>
            <a:ext cx="137160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000" b="1">
                <a:solidFill>
                  <a:srgbClr val="2447FF"/>
                </a:solidFill>
                <a:latin typeface="Space Grotesk"/>
              </a:rPr>
              <a:t>06</a:t>
            </a:r>
          </a:p>
        </p:txBody>
      </p:sp>
      <p:sp>
        <p:nvSpPr>
          <p:cNvPr id="32" name="Shape 32"/>
          <p:cNvSpPr txBox="1"/>
          <p:nvPr/>
        </p:nvSpPr>
        <p:spPr>
          <a:xfrm>
            <a:off x="8238744" y="470916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Space Grotesk"/>
              </a:rPr>
              <a:t>Reviews &amp; account health</a:t>
            </a:r>
          </a:p>
        </p:txBody>
      </p:sp>
      <p:sp>
        <p:nvSpPr>
          <p:cNvPr id="33" name="Shape 33"/>
          <p:cNvSpPr txBox="1"/>
          <p:nvPr/>
        </p:nvSpPr>
        <p:spPr>
          <a:xfrm>
            <a:off x="8238744" y="5120640"/>
            <a:ext cx="310896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B6558"/>
                </a:solidFill>
                <a:latin typeface="Inter"/>
              </a:rPr>
              <a:t>Ratings, alerts and Buy Box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Shape 1"/>
        <p:cNvGrpSpPr/>
        <p:nvPr/>
      </p:nvGrpSpPr>
      <p:grpSpPr/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548640" y="502920"/>
            <a:ext cx="73152" cy="566928"/>
          </a:xfrm>
          <a:prstGeom prst="rect">
            <a:avLst/>
          </a:prstGeom>
          <a:solidFill>
            <a:srgbClr val="2447FF"/>
          </a:solidFill>
          <a:ln>
            <a:noFill/>
          </a:ln>
        </p:spPr>
      </p:sp>
      <p:sp>
        <p:nvSpPr>
          <p:cNvPr id="4" name="Shape 4"/>
          <p:cNvSpPr txBox="1"/>
          <p:nvPr/>
        </p:nvSpPr>
        <p:spPr>
          <a:xfrm>
            <a:off x="731520" y="384048"/>
            <a:ext cx="8686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447FF"/>
                </a:solidFill>
                <a:latin typeface="Space Grotesk"/>
              </a:rPr>
              <a:t>SALES OVERVIEW</a:t>
            </a:r>
          </a:p>
        </p:txBody>
      </p:sp>
      <p:sp>
        <p:nvSpPr>
          <p:cNvPr id="5" name="Shape 5"/>
          <p:cNvSpPr txBox="1"/>
          <p:nvPr/>
        </p:nvSpPr>
        <p:spPr>
          <a:xfrm>
            <a:off x="731520" y="603504"/>
            <a:ext cx="960120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Space Grotesk"/>
              </a:rPr>
              <a:t>Amazon channel performance — last 4 weeks</a:t>
            </a:r>
          </a:p>
        </p:txBody>
      </p:sp>
      <p:pic>
        <p:nvPicPr>
          <p:cNvPr id="6" name="Shape 6" descr="logo_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560" y="457200"/>
            <a:ext cx="1463040" cy="256032"/>
          </a:xfrm>
          <a:prstGeom prst="rect">
            <a:avLst/>
          </a:prstGeom>
        </p:spPr>
      </p:pic>
      <p:sp>
        <p:nvSpPr>
          <p:cNvPr id="7" name="Shape 7"/>
          <p:cNvSpPr/>
          <p:nvPr/>
        </p:nvSpPr>
        <p:spPr>
          <a:xfrm>
            <a:off x="548640" y="6400800"/>
            <a:ext cx="11091672" cy="10972"/>
          </a:xfrm>
          <a:prstGeom prst="rect">
            <a:avLst/>
          </a:prstGeom>
          <a:solidFill>
            <a:srgbClr val="E5E0D6"/>
          </a:solidFill>
          <a:ln>
            <a:noFill/>
          </a:ln>
        </p:spPr>
      </p:sp>
      <p:sp>
        <p:nvSpPr>
          <p:cNvPr id="8" name="Shape 8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>
                <a:solidFill>
                  <a:srgbClr val="6B6558"/>
                </a:solidFill>
                <a:latin typeface="Inter"/>
              </a:rPr>
              <a:t>Dormeo US · Weekly Business Review · Week 43 (Oct 19–25, 2026)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10241280" y="6455664"/>
            <a:ext cx="1399032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>
                <a:solidFill>
                  <a:srgbClr val="6B6558"/>
                </a:solidFill>
                <a:latin typeface="Inter"/>
              </a:rPr>
              <a:t>3 / 17</a:t>
            </a:r>
          </a:p>
        </p:txBody>
      </p:sp>
      <p:graphicFrame>
        <p:nvGraphicFramePr>
          <p:cNvPr id="10" name="Shape 10"/>
          <p:cNvGraphicFramePr>
            <a:graphicFrameLocks noGrp="1"/>
          </p:cNvGraphicFramePr>
          <p:nvPr/>
        </p:nvGraphicFramePr>
        <p:xfrm>
          <a:off x="548640" y="1417320"/>
          <a:ext cx="11091672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2011680"/>
                <a:gridCol w="1371600"/>
                <a:gridCol w="1280160"/>
                <a:gridCol w="1737360"/>
                <a:gridCol w="1371600"/>
                <a:gridCol w="1399032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Inter"/>
                        </a:rPr>
                        <a:t>Week</a:t>
                      </a:r>
                    </a:p>
                  </a:txBody>
                  <a:tcPr marL="54864" marR="54864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Inter"/>
                        </a:rPr>
                        <a:t>Ordered product sales</a:t>
                      </a:r>
                    </a:p>
                  </a:txBody>
                  <a:tcPr marL="54864" marR="54864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Inter"/>
                        </a:rPr>
                        <a:t>Units ordered</a:t>
                      </a:r>
                    </a:p>
                  </a:txBody>
                  <a:tcPr marL="54864" marR="54864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Inter"/>
                        </a:rPr>
                        <a:t>ASP</a:t>
                      </a:r>
                    </a:p>
                  </a:txBody>
                  <a:tcPr marL="54864" marR="54864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Inter"/>
                        </a:rPr>
                        <a:t>Ad impressions</a:t>
                      </a:r>
                    </a:p>
                  </a:txBody>
                  <a:tcPr marL="54864" marR="54864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Inter"/>
                        </a:rPr>
                        <a:t>Units refunded</a:t>
                      </a:r>
                    </a:p>
                  </a:txBody>
                  <a:tcPr marL="54864" marR="54864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Inter"/>
                        </a:rPr>
                        <a:t>Refund rate</a:t>
                      </a:r>
                    </a:p>
                  </a:txBody>
                  <a:tcPr marL="54864" marR="54864" marT="27432" marB="27432" anchor="ctr"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Sep 28 – Oct 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$90,098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240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$375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1,004,153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13.19%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Oct 5 – 11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$180,974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558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$324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1,139,006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22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4.04%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Oct 12 – 18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$77,688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224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$347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837,676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39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17.57%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Oct 19 – 25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$57,736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160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$361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629,651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41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DC2626"/>
                          </a:solidFill>
                          <a:latin typeface="Inter"/>
                        </a:rPr>
                        <a:t>26.11%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Inter"/>
                        </a:rPr>
                        <a:t>4-week total</a:t>
                      </a:r>
                    </a:p>
                  </a:txBody>
                  <a:tcPr marL="54864" marR="54864" marT="27432" marB="27432" anchor="ctr">
                    <a:solidFill>
                      <a:srgbClr val="F6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0F172A"/>
                          </a:solidFill>
                          <a:latin typeface="Inter"/>
                        </a:rPr>
                        <a:t>$406,496</a:t>
                      </a:r>
                    </a:p>
                  </a:txBody>
                  <a:tcPr marL="54864" marR="54864" marT="27432" marB="27432" anchor="ctr">
                    <a:solidFill>
                      <a:srgbClr val="F6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0F172A"/>
                          </a:solidFill>
                          <a:latin typeface="Inter"/>
                        </a:rPr>
                        <a:t>1,182</a:t>
                      </a:r>
                    </a:p>
                  </a:txBody>
                  <a:tcPr marL="54864" marR="54864" marT="27432" marB="27432" anchor="ctr">
                    <a:solidFill>
                      <a:srgbClr val="F6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0F172A"/>
                          </a:solidFill>
                          <a:latin typeface="Inter"/>
                        </a:rPr>
                        <a:t>$344</a:t>
                      </a:r>
                    </a:p>
                  </a:txBody>
                  <a:tcPr marL="54864" marR="54864" marT="27432" marB="27432" anchor="ctr">
                    <a:solidFill>
                      <a:srgbClr val="F6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0F172A"/>
                          </a:solidFill>
                          <a:latin typeface="Inter"/>
                        </a:rPr>
                        <a:t>3,610,486</a:t>
                      </a:r>
                    </a:p>
                  </a:txBody>
                  <a:tcPr marL="54864" marR="54864" marT="27432" marB="27432" anchor="ctr">
                    <a:solidFill>
                      <a:srgbClr val="F6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0F172A"/>
                          </a:solidFill>
                          <a:latin typeface="Inter"/>
                        </a:rPr>
                        <a:t>133</a:t>
                      </a:r>
                    </a:p>
                  </a:txBody>
                  <a:tcPr marL="54864" marR="54864" marT="27432" marB="27432" anchor="ctr">
                    <a:solidFill>
                      <a:srgbClr val="F6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0F172A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6F3EC"/>
                    </a:solidFill>
                  </a:tcPr>
                </a:tc>
              </a:tr>
            </a:tbl>
          </a:graphicData>
        </a:graphic>
      </p:graphicFrame>
      <p:sp>
        <p:nvSpPr>
          <p:cNvPr id="11" name="Shape 11"/>
          <p:cNvSpPr/>
          <p:nvPr/>
        </p:nvSpPr>
        <p:spPr>
          <a:xfrm>
            <a:off x="548640" y="3886200"/>
            <a:ext cx="5440680" cy="2331720"/>
          </a:xfrm>
          <a:prstGeom prst="roundRect">
            <a:avLst>
              <a:gd name="" fmla="val 6000"/>
            </a:avLst>
          </a:prstGeom>
          <a:solidFill>
            <a:srgbClr val="FFFFFF"/>
          </a:solidFill>
          <a:ln w="9525">
            <a:solidFill>
              <a:srgbClr val="E5E0D6"/>
            </a:solidFill>
          </a:ln>
        </p:spPr>
      </p:sp>
      <p:sp>
        <p:nvSpPr>
          <p:cNvPr id="12" name="Shape 12"/>
          <p:cNvSpPr txBox="1"/>
          <p:nvPr/>
        </p:nvSpPr>
        <p:spPr>
          <a:xfrm>
            <a:off x="731520" y="4023360"/>
            <a:ext cx="5074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Space Grotesk"/>
              </a:rPr>
              <a:t>What happened this week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731520" y="4343400"/>
            <a:ext cx="5074920" cy="1783079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334155"/>
                </a:solidFill>
                <a:latin typeface="Inter"/>
              </a:rPr>
              <a:t>Sales were $57,736, -26% vs the prior week ($77,688), on 160 units (-29%).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334155"/>
                </a:solidFill>
                <a:latin typeface="Inter"/>
              </a:rPr>
              <a:t>Revenue fell to $57.7K (-26%) almost entirely on Octaspring Queen: 8 units vs 65 the week before, with 0 available at FBA and 400 inbound.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334155"/>
                </a:solidFill>
                <a:latin typeface="Inter"/>
              </a:rPr>
              <a:t>The in-stock toppers grew: Full +55%, Cal/Split/RV +52%, Twin &amp; XL +23%, King +2%.</a:t>
            </a:r>
          </a:p>
        </p:txBody>
      </p:sp>
      <p:sp>
        <p:nvSpPr>
          <p:cNvPr id="14" name="Shape 14"/>
          <p:cNvSpPr/>
          <p:nvPr/>
        </p:nvSpPr>
        <p:spPr>
          <a:xfrm>
            <a:off x="6199632" y="3886200"/>
            <a:ext cx="5440680" cy="2331720"/>
          </a:xfrm>
          <a:prstGeom prst="roundRect">
            <a:avLst>
              <a:gd name="" fmla="val 6000"/>
            </a:avLst>
          </a:prstGeom>
          <a:solidFill>
            <a:srgbClr val="FFFFFF"/>
          </a:solidFill>
          <a:ln w="9525">
            <a:solidFill>
              <a:srgbClr val="E5E0D6"/>
            </a:solidFill>
          </a:ln>
        </p:spPr>
      </p:sp>
      <p:sp>
        <p:nvSpPr>
          <p:cNvPr id="15" name="Shape 15"/>
          <p:cNvSpPr txBox="1"/>
          <p:nvPr/>
        </p:nvSpPr>
        <p:spPr>
          <a:xfrm>
            <a:off x="6382512" y="4023360"/>
            <a:ext cx="5074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Space Grotesk"/>
              </a:rPr>
              <a:t>Refunds are still climbing</a:t>
            </a:r>
          </a:p>
        </p:txBody>
      </p:sp>
      <p:sp>
        <p:nvSpPr>
          <p:cNvPr id="16" name="Shape 16"/>
          <p:cNvSpPr txBox="1"/>
          <p:nvPr/>
        </p:nvSpPr>
        <p:spPr>
          <a:xfrm>
            <a:off x="6382512" y="4343400"/>
            <a:ext cx="5074920" cy="1783079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334155"/>
                </a:solidFill>
                <a:latin typeface="Inter"/>
              </a:rPr>
              <a:t>41 units were refunded this week (26.1% refund rate), vs 39 (17.6%) the week before.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334155"/>
                </a:solidFill>
                <a:latin typeface="Inter"/>
              </a:rPr>
              <a:t>Refunds were $12.1K, 26.1% of revenue, up from 17.6% last week. Part of this is Prime Big Deal Days orders coming back, but the rate has now risen two weeks in a row.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Shape 1"/>
        <p:cNvGrpSpPr/>
        <p:nvPr/>
      </p:nvGrpSpPr>
      <p:grpSpPr/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548640" y="502920"/>
            <a:ext cx="73152" cy="566928"/>
          </a:xfrm>
          <a:prstGeom prst="rect">
            <a:avLst/>
          </a:prstGeom>
          <a:solidFill>
            <a:srgbClr val="2447FF"/>
          </a:solidFill>
          <a:ln>
            <a:noFill/>
          </a:ln>
        </p:spPr>
      </p:sp>
      <p:sp>
        <p:nvSpPr>
          <p:cNvPr id="4" name="Shape 4"/>
          <p:cNvSpPr txBox="1"/>
          <p:nvPr/>
        </p:nvSpPr>
        <p:spPr>
          <a:xfrm>
            <a:off x="731520" y="384048"/>
            <a:ext cx="8686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447FF"/>
                </a:solidFill>
                <a:latin typeface="Space Grotesk"/>
              </a:rPr>
              <a:t>SALES PACING</a:t>
            </a:r>
          </a:p>
        </p:txBody>
      </p:sp>
      <p:sp>
        <p:nvSpPr>
          <p:cNvPr id="5" name="Shape 5"/>
          <p:cNvSpPr txBox="1"/>
          <p:nvPr/>
        </p:nvSpPr>
        <p:spPr>
          <a:xfrm>
            <a:off x="731520" y="603504"/>
            <a:ext cx="960120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Space Grotesk"/>
              </a:rPr>
              <a:t>October month to date</a:t>
            </a:r>
          </a:p>
        </p:txBody>
      </p:sp>
      <p:pic>
        <p:nvPicPr>
          <p:cNvPr id="6" name="Shape 6" descr="logo_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560" y="457200"/>
            <a:ext cx="1463040" cy="256032"/>
          </a:xfrm>
          <a:prstGeom prst="rect">
            <a:avLst/>
          </a:prstGeom>
        </p:spPr>
      </p:pic>
      <p:sp>
        <p:nvSpPr>
          <p:cNvPr id="7" name="Shape 7"/>
          <p:cNvSpPr/>
          <p:nvPr/>
        </p:nvSpPr>
        <p:spPr>
          <a:xfrm>
            <a:off x="548640" y="6400800"/>
            <a:ext cx="11091672" cy="10972"/>
          </a:xfrm>
          <a:prstGeom prst="rect">
            <a:avLst/>
          </a:prstGeom>
          <a:solidFill>
            <a:srgbClr val="E5E0D6"/>
          </a:solidFill>
          <a:ln>
            <a:noFill/>
          </a:ln>
        </p:spPr>
      </p:sp>
      <p:sp>
        <p:nvSpPr>
          <p:cNvPr id="8" name="Shape 8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>
                <a:solidFill>
                  <a:srgbClr val="6B6558"/>
                </a:solidFill>
                <a:latin typeface="Inter"/>
              </a:rPr>
              <a:t>Dormeo US · Weekly Business Review · Week 43 (Oct 19–25, 2026)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10241280" y="6455664"/>
            <a:ext cx="1399032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>
                <a:solidFill>
                  <a:srgbClr val="6B6558"/>
                </a:solidFill>
                <a:latin typeface="Inter"/>
              </a:rPr>
              <a:t>4 / 17</a:t>
            </a:r>
          </a:p>
        </p:txBody>
      </p:sp>
      <p:sp>
        <p:nvSpPr>
          <p:cNvPr id="10" name="Shape 10"/>
          <p:cNvSpPr/>
          <p:nvPr/>
        </p:nvSpPr>
        <p:spPr>
          <a:xfrm>
            <a:off x="548640" y="1417320"/>
            <a:ext cx="2651760" cy="1554480"/>
          </a:xfrm>
          <a:prstGeom prst="roundRect">
            <a:avLst>
              <a:gd name="" fmla="val 6000"/>
            </a:avLst>
          </a:prstGeom>
          <a:solidFill>
            <a:srgbClr val="F6F3EC"/>
          </a:solidFill>
          <a:ln>
            <a:noFill/>
          </a:ln>
        </p:spPr>
      </p:sp>
      <p:sp>
        <p:nvSpPr>
          <p:cNvPr id="11" name="Shape 11"/>
          <p:cNvSpPr txBox="1"/>
          <p:nvPr/>
        </p:nvSpPr>
        <p:spPr>
          <a:xfrm>
            <a:off x="713232" y="1545336"/>
            <a:ext cx="23774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>
                <a:solidFill>
                  <a:srgbClr val="6B6558"/>
                </a:solidFill>
                <a:latin typeface="Inter"/>
              </a:rPr>
              <a:t>MTD REVENUE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713232" y="1801368"/>
            <a:ext cx="23774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>
                <a:solidFill>
                  <a:srgbClr val="2447FF"/>
                </a:solidFill>
                <a:latin typeface="Space Grotesk"/>
              </a:rPr>
              <a:t>$371.0K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713232" y="2560320"/>
            <a:ext cx="237744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B6558"/>
                </a:solidFill>
                <a:latin typeface="Inter"/>
              </a:rPr>
              <a:t>Oct 1–25 · 1,069 orders</a:t>
            </a:r>
          </a:p>
        </p:txBody>
      </p:sp>
      <p:sp>
        <p:nvSpPr>
          <p:cNvPr id="14" name="Shape 14"/>
          <p:cNvSpPr/>
          <p:nvPr/>
        </p:nvSpPr>
        <p:spPr>
          <a:xfrm>
            <a:off x="3364992" y="1417320"/>
            <a:ext cx="2651760" cy="1554480"/>
          </a:xfrm>
          <a:prstGeom prst="roundRect">
            <a:avLst>
              <a:gd name="" fmla="val 6000"/>
            </a:avLst>
          </a:prstGeom>
          <a:solidFill>
            <a:srgbClr val="F6F3EC"/>
          </a:solidFill>
          <a:ln>
            <a:noFill/>
          </a:ln>
        </p:spPr>
      </p:sp>
      <p:sp>
        <p:nvSpPr>
          <p:cNvPr id="15" name="Shape 15"/>
          <p:cNvSpPr txBox="1"/>
          <p:nvPr/>
        </p:nvSpPr>
        <p:spPr>
          <a:xfrm>
            <a:off x="3529584" y="1545336"/>
            <a:ext cx="23774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>
                <a:solidFill>
                  <a:srgbClr val="6B6558"/>
                </a:solidFill>
                <a:latin typeface="Inter"/>
              </a:rPr>
              <a:t>MTD AD SPEND</a:t>
            </a:r>
          </a:p>
        </p:txBody>
      </p:sp>
      <p:sp>
        <p:nvSpPr>
          <p:cNvPr id="16" name="Shape 16"/>
          <p:cNvSpPr txBox="1"/>
          <p:nvPr/>
        </p:nvSpPr>
        <p:spPr>
          <a:xfrm>
            <a:off x="3529584" y="1801368"/>
            <a:ext cx="23774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>
                <a:solidFill>
                  <a:srgbClr val="2447FF"/>
                </a:solidFill>
                <a:latin typeface="Space Grotesk"/>
              </a:rPr>
              <a:t>$34.0K</a:t>
            </a:r>
          </a:p>
        </p:txBody>
      </p:sp>
      <p:sp>
        <p:nvSpPr>
          <p:cNvPr id="17" name="Shape 17"/>
          <p:cNvSpPr txBox="1"/>
          <p:nvPr/>
        </p:nvSpPr>
        <p:spPr>
          <a:xfrm>
            <a:off x="3529584" y="2560320"/>
            <a:ext cx="237744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B6558"/>
                </a:solidFill>
                <a:latin typeface="Inter"/>
              </a:rPr>
              <a:t>ACoS 18.7%</a:t>
            </a:r>
          </a:p>
        </p:txBody>
      </p:sp>
      <p:sp>
        <p:nvSpPr>
          <p:cNvPr id="18" name="Shape 18"/>
          <p:cNvSpPr/>
          <p:nvPr/>
        </p:nvSpPr>
        <p:spPr>
          <a:xfrm>
            <a:off x="6181344" y="1417320"/>
            <a:ext cx="2651760" cy="1554480"/>
          </a:xfrm>
          <a:prstGeom prst="roundRect">
            <a:avLst>
              <a:gd name="" fmla="val 6000"/>
            </a:avLst>
          </a:prstGeom>
          <a:solidFill>
            <a:srgbClr val="F6F3EC"/>
          </a:solidFill>
          <a:ln>
            <a:noFill/>
          </a:ln>
        </p:spPr>
      </p:sp>
      <p:sp>
        <p:nvSpPr>
          <p:cNvPr id="19" name="Shape 19"/>
          <p:cNvSpPr txBox="1"/>
          <p:nvPr/>
        </p:nvSpPr>
        <p:spPr>
          <a:xfrm>
            <a:off x="6345936" y="1545336"/>
            <a:ext cx="23774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>
                <a:solidFill>
                  <a:srgbClr val="6B6558"/>
                </a:solidFill>
                <a:latin typeface="Inter"/>
              </a:rPr>
              <a:t>MTD TACOS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345936" y="1801368"/>
            <a:ext cx="23774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>
                <a:solidFill>
                  <a:srgbClr val="2447FF"/>
                </a:solidFill>
                <a:latin typeface="Space Grotesk"/>
              </a:rPr>
              <a:t>9.2%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6345936" y="2560320"/>
            <a:ext cx="237744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B6558"/>
                </a:solidFill>
                <a:latin typeface="Inter"/>
              </a:rPr>
              <a:t>ad spend ÷ total sales</a:t>
            </a:r>
          </a:p>
        </p:txBody>
      </p:sp>
      <p:sp>
        <p:nvSpPr>
          <p:cNvPr id="22" name="Shape 22"/>
          <p:cNvSpPr/>
          <p:nvPr/>
        </p:nvSpPr>
        <p:spPr>
          <a:xfrm>
            <a:off x="8997696" y="1417320"/>
            <a:ext cx="2642616" cy="1554480"/>
          </a:xfrm>
          <a:prstGeom prst="roundRect">
            <a:avLst>
              <a:gd name="" fmla="val 6000"/>
            </a:avLst>
          </a:prstGeom>
          <a:solidFill>
            <a:srgbClr val="F6F3EC"/>
          </a:solidFill>
          <a:ln>
            <a:noFill/>
          </a:ln>
        </p:spPr>
      </p:sp>
      <p:sp>
        <p:nvSpPr>
          <p:cNvPr id="23" name="Shape 23"/>
          <p:cNvSpPr txBox="1"/>
          <p:nvPr/>
        </p:nvSpPr>
        <p:spPr>
          <a:xfrm>
            <a:off x="9162288" y="1545336"/>
            <a:ext cx="2368296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>
                <a:solidFill>
                  <a:srgbClr val="6B6558"/>
                </a:solidFill>
                <a:latin typeface="Inter"/>
              </a:rPr>
              <a:t>VS LAST YEAR</a:t>
            </a:r>
          </a:p>
        </p:txBody>
      </p:sp>
      <p:sp>
        <p:nvSpPr>
          <p:cNvPr id="24" name="Shape 24"/>
          <p:cNvSpPr txBox="1"/>
          <p:nvPr/>
        </p:nvSpPr>
        <p:spPr>
          <a:xfrm>
            <a:off x="9162288" y="1801368"/>
            <a:ext cx="2368296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>
                <a:solidFill>
                  <a:srgbClr val="16A34A"/>
                </a:solidFill>
                <a:latin typeface="Space Grotesk"/>
              </a:rPr>
              <a:t>+51%</a:t>
            </a:r>
          </a:p>
        </p:txBody>
      </p:sp>
      <p:sp>
        <p:nvSpPr>
          <p:cNvPr id="25" name="Shape 25"/>
          <p:cNvSpPr txBox="1"/>
          <p:nvPr/>
        </p:nvSpPr>
        <p:spPr>
          <a:xfrm>
            <a:off x="9162288" y="2560320"/>
            <a:ext cx="2368296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16A34A"/>
                </a:solidFill>
                <a:latin typeface="Inter"/>
              </a:rPr>
              <a:t>Oct 1–25, 2025: $245.7K</a:t>
            </a:r>
          </a:p>
        </p:txBody>
      </p:sp>
      <p:sp>
        <p:nvSpPr>
          <p:cNvPr id="26" name="Shape 26"/>
          <p:cNvSpPr/>
          <p:nvPr/>
        </p:nvSpPr>
        <p:spPr>
          <a:xfrm>
            <a:off x="807872" y="4366846"/>
            <a:ext cx="921715" cy="1576753"/>
          </a:xfrm>
          <a:prstGeom prst="rect">
            <a:avLst/>
          </a:prstGeom>
          <a:solidFill>
            <a:srgbClr val="C7D2FE"/>
          </a:solidFill>
          <a:ln>
            <a:noFill/>
          </a:ln>
        </p:spPr>
      </p:sp>
      <p:sp>
        <p:nvSpPr>
          <p:cNvPr id="27" name="Shape 27"/>
          <p:cNvSpPr txBox="1"/>
          <p:nvPr/>
        </p:nvSpPr>
        <p:spPr>
          <a:xfrm>
            <a:off x="548640" y="4092526"/>
            <a:ext cx="14401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00" b="1">
                <a:solidFill>
                  <a:srgbClr val="0F172A"/>
                </a:solidFill>
                <a:latin typeface="Inter"/>
              </a:rPr>
              <a:t>$298.3K</a:t>
            </a:r>
          </a:p>
        </p:txBody>
      </p:sp>
      <p:sp>
        <p:nvSpPr>
          <p:cNvPr id="28" name="Shape 28"/>
          <p:cNvSpPr txBox="1"/>
          <p:nvPr/>
        </p:nvSpPr>
        <p:spPr>
          <a:xfrm>
            <a:off x="548640" y="5961888"/>
            <a:ext cx="144018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6B6558"/>
                </a:solidFill>
                <a:latin typeface="Inter"/>
              </a:rPr>
              <a:t>Oct 2025</a:t>
            </a:r>
          </a:p>
        </p:txBody>
      </p:sp>
      <p:sp>
        <p:nvSpPr>
          <p:cNvPr id="29" name="Shape 29"/>
          <p:cNvSpPr/>
          <p:nvPr/>
        </p:nvSpPr>
        <p:spPr>
          <a:xfrm>
            <a:off x="2248052" y="3474720"/>
            <a:ext cx="921715" cy="2468879"/>
          </a:xfrm>
          <a:prstGeom prst="rect">
            <a:avLst/>
          </a:prstGeom>
          <a:solidFill>
            <a:srgbClr val="C7D2FE"/>
          </a:solidFill>
          <a:ln>
            <a:noFill/>
          </a:ln>
        </p:spPr>
      </p:sp>
      <p:sp>
        <p:nvSpPr>
          <p:cNvPr id="30" name="Shape 30"/>
          <p:cNvSpPr txBox="1"/>
          <p:nvPr/>
        </p:nvSpPr>
        <p:spPr>
          <a:xfrm>
            <a:off x="1988819" y="3200400"/>
            <a:ext cx="14401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00" b="1">
                <a:solidFill>
                  <a:srgbClr val="0F172A"/>
                </a:solidFill>
                <a:latin typeface="Inter"/>
              </a:rPr>
              <a:t>$467.0K</a:t>
            </a:r>
          </a:p>
        </p:txBody>
      </p:sp>
      <p:sp>
        <p:nvSpPr>
          <p:cNvPr id="31" name="Shape 31"/>
          <p:cNvSpPr txBox="1"/>
          <p:nvPr/>
        </p:nvSpPr>
        <p:spPr>
          <a:xfrm>
            <a:off x="1988819" y="5961888"/>
            <a:ext cx="144018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6B6558"/>
                </a:solidFill>
                <a:latin typeface="Inter"/>
              </a:rPr>
              <a:t>Sep 2026</a:t>
            </a:r>
          </a:p>
        </p:txBody>
      </p:sp>
      <p:sp>
        <p:nvSpPr>
          <p:cNvPr id="32" name="Shape 32"/>
          <p:cNvSpPr/>
          <p:nvPr/>
        </p:nvSpPr>
        <p:spPr>
          <a:xfrm>
            <a:off x="3688232" y="3982090"/>
            <a:ext cx="921715" cy="1961509"/>
          </a:xfrm>
          <a:prstGeom prst="rect">
            <a:avLst/>
          </a:prstGeom>
          <a:solidFill>
            <a:srgbClr val="C7D2FE"/>
          </a:solidFill>
          <a:ln>
            <a:noFill/>
          </a:ln>
        </p:spPr>
      </p:sp>
      <p:sp>
        <p:nvSpPr>
          <p:cNvPr id="33" name="Shape 33"/>
          <p:cNvSpPr txBox="1"/>
          <p:nvPr/>
        </p:nvSpPr>
        <p:spPr>
          <a:xfrm>
            <a:off x="3429000" y="3707770"/>
            <a:ext cx="14401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00" b="1">
                <a:solidFill>
                  <a:srgbClr val="0F172A"/>
                </a:solidFill>
                <a:latin typeface="Inter"/>
              </a:rPr>
              <a:t>$371.0K</a:t>
            </a:r>
          </a:p>
        </p:txBody>
      </p:sp>
      <p:sp>
        <p:nvSpPr>
          <p:cNvPr id="34" name="Shape 34"/>
          <p:cNvSpPr txBox="1"/>
          <p:nvPr/>
        </p:nvSpPr>
        <p:spPr>
          <a:xfrm>
            <a:off x="3429000" y="5961888"/>
            <a:ext cx="144018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6B6558"/>
                </a:solidFill>
                <a:latin typeface="Inter"/>
              </a:rPr>
              <a:t>Oct MTD</a:t>
            </a:r>
          </a:p>
        </p:txBody>
      </p:sp>
      <p:sp>
        <p:nvSpPr>
          <p:cNvPr id="35" name="Shape 35"/>
          <p:cNvSpPr/>
          <p:nvPr/>
        </p:nvSpPr>
        <p:spPr>
          <a:xfrm>
            <a:off x="5128412" y="3632310"/>
            <a:ext cx="921715" cy="2311289"/>
          </a:xfrm>
          <a:prstGeom prst="rect">
            <a:avLst/>
          </a:prstGeom>
          <a:solidFill>
            <a:srgbClr val="2447FF"/>
          </a:solidFill>
          <a:ln>
            <a:noFill/>
          </a:ln>
        </p:spPr>
      </p:sp>
      <p:sp>
        <p:nvSpPr>
          <p:cNvPr id="36" name="Shape 36"/>
          <p:cNvSpPr txBox="1"/>
          <p:nvPr/>
        </p:nvSpPr>
        <p:spPr>
          <a:xfrm>
            <a:off x="4869179" y="3357990"/>
            <a:ext cx="14401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00" b="1">
                <a:solidFill>
                  <a:srgbClr val="0F172A"/>
                </a:solidFill>
                <a:latin typeface="Inter"/>
              </a:rPr>
              <a:t>$437.2K</a:t>
            </a:r>
          </a:p>
        </p:txBody>
      </p:sp>
      <p:sp>
        <p:nvSpPr>
          <p:cNvPr id="37" name="Shape 37"/>
          <p:cNvSpPr txBox="1"/>
          <p:nvPr/>
        </p:nvSpPr>
        <p:spPr>
          <a:xfrm>
            <a:off x="4869179" y="5961888"/>
            <a:ext cx="144018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6B6558"/>
                </a:solidFill>
                <a:latin typeface="Inter"/>
              </a:rPr>
              <a:t>Oct pace</a:t>
            </a:r>
          </a:p>
        </p:txBody>
      </p:sp>
      <p:sp>
        <p:nvSpPr>
          <p:cNvPr id="38" name="Shape 38"/>
          <p:cNvSpPr/>
          <p:nvPr/>
        </p:nvSpPr>
        <p:spPr>
          <a:xfrm>
            <a:off x="548640" y="5943600"/>
            <a:ext cx="5760720" cy="9144"/>
          </a:xfrm>
          <a:prstGeom prst="rect">
            <a:avLst/>
          </a:prstGeom>
          <a:solidFill>
            <a:srgbClr val="E5E0D6"/>
          </a:solidFill>
          <a:ln>
            <a:noFill/>
          </a:ln>
        </p:spPr>
      </p:sp>
      <p:sp>
        <p:nvSpPr>
          <p:cNvPr id="39" name="Shape 39"/>
          <p:cNvSpPr/>
          <p:nvPr/>
        </p:nvSpPr>
        <p:spPr>
          <a:xfrm>
            <a:off x="6583680" y="3200400"/>
            <a:ext cx="5056632" cy="1325880"/>
          </a:xfrm>
          <a:prstGeom prst="roundRect">
            <a:avLst>
              <a:gd name="" fmla="val 6000"/>
            </a:avLst>
          </a:prstGeom>
          <a:solidFill>
            <a:srgbClr val="FFFFFF"/>
          </a:solidFill>
          <a:ln w="9525">
            <a:solidFill>
              <a:srgbClr val="E5E0D6"/>
            </a:solidFill>
          </a:ln>
        </p:spPr>
      </p:sp>
      <p:sp>
        <p:nvSpPr>
          <p:cNvPr id="40" name="Shape 40"/>
          <p:cNvSpPr txBox="1"/>
          <p:nvPr/>
        </p:nvSpPr>
        <p:spPr>
          <a:xfrm>
            <a:off x="6766560" y="3337560"/>
            <a:ext cx="4690872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Space Grotesk"/>
              </a:rPr>
              <a:t>Full-month pace</a:t>
            </a:r>
          </a:p>
        </p:txBody>
      </p:sp>
      <p:sp>
        <p:nvSpPr>
          <p:cNvPr id="41" name="Shape 41"/>
          <p:cNvSpPr txBox="1"/>
          <p:nvPr/>
        </p:nvSpPr>
        <p:spPr>
          <a:xfrm>
            <a:off x="6766560" y="3657600"/>
            <a:ext cx="4690872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334155"/>
                </a:solidFill>
                <a:latin typeface="Inter"/>
              </a:rPr>
              <a:t>October is pacing to about $437.2K: $371.0K so far plus 6 days at $11.0K/day (the October daily average without the 2 event days).</a:t>
            </a:r>
          </a:p>
        </p:txBody>
      </p:sp>
      <p:sp>
        <p:nvSpPr>
          <p:cNvPr id="42" name="Shape 42"/>
          <p:cNvSpPr/>
          <p:nvPr/>
        </p:nvSpPr>
        <p:spPr>
          <a:xfrm>
            <a:off x="6583680" y="4663440"/>
            <a:ext cx="5056632" cy="1554480"/>
          </a:xfrm>
          <a:prstGeom prst="roundRect">
            <a:avLst>
              <a:gd name="" fmla="val 6000"/>
            </a:avLst>
          </a:prstGeom>
          <a:solidFill>
            <a:srgbClr val="FEF2F2"/>
          </a:solidFill>
          <a:ln>
            <a:noFill/>
          </a:ln>
        </p:spPr>
      </p:sp>
      <p:sp>
        <p:nvSpPr>
          <p:cNvPr id="43" name="Shape 43"/>
          <p:cNvSpPr txBox="1"/>
          <p:nvPr/>
        </p:nvSpPr>
        <p:spPr>
          <a:xfrm>
            <a:off x="6766560" y="4773168"/>
            <a:ext cx="47548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>
                <a:solidFill>
                  <a:srgbClr val="DC2626"/>
                </a:solidFill>
                <a:latin typeface="Space Grotesk"/>
              </a:rPr>
              <a:t>Recommendation</a:t>
            </a:r>
          </a:p>
        </p:txBody>
      </p:sp>
      <p:sp>
        <p:nvSpPr>
          <p:cNvPr id="44" name="Shape 44"/>
          <p:cNvSpPr txBox="1"/>
          <p:nvPr/>
        </p:nvSpPr>
        <p:spPr>
          <a:xfrm>
            <a:off x="6766560" y="5074920"/>
            <a:ext cx="4754880" cy="10972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Inter"/>
              </a:rPr>
              <a:t>Pace is -6% vs Sep. Getting the Queen topper checked in at FBA is still the biggest lever: it was the top seller before the stock-out and is now under 6% of sales.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Shape 1"/>
        <p:cNvGrpSpPr/>
        <p:nvPr/>
      </p:nvGrpSpPr>
      <p:grpSpPr/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548640" y="502920"/>
            <a:ext cx="73152" cy="566928"/>
          </a:xfrm>
          <a:prstGeom prst="rect">
            <a:avLst/>
          </a:prstGeom>
          <a:solidFill>
            <a:srgbClr val="2447FF"/>
          </a:solidFill>
          <a:ln>
            <a:noFill/>
          </a:ln>
        </p:spPr>
      </p:sp>
      <p:sp>
        <p:nvSpPr>
          <p:cNvPr id="4" name="Shape 4"/>
          <p:cNvSpPr txBox="1"/>
          <p:nvPr/>
        </p:nvSpPr>
        <p:spPr>
          <a:xfrm>
            <a:off x="731520" y="384048"/>
            <a:ext cx="8686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447FF"/>
                </a:solidFill>
                <a:latin typeface="Space Grotesk"/>
              </a:rPr>
              <a:t>SALES PACING</a:t>
            </a:r>
          </a:p>
        </p:txBody>
      </p:sp>
      <p:sp>
        <p:nvSpPr>
          <p:cNvPr id="5" name="Shape 5"/>
          <p:cNvSpPr txBox="1"/>
          <p:nvPr/>
        </p:nvSpPr>
        <p:spPr>
          <a:xfrm>
            <a:off x="731520" y="603504"/>
            <a:ext cx="960120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Space Grotesk"/>
              </a:rPr>
              <a:t>Ad spend pacing — month to date</a:t>
            </a:r>
          </a:p>
        </p:txBody>
      </p:sp>
      <p:pic>
        <p:nvPicPr>
          <p:cNvPr id="6" name="Shape 6" descr="logo_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560" y="457200"/>
            <a:ext cx="1463040" cy="256032"/>
          </a:xfrm>
          <a:prstGeom prst="rect">
            <a:avLst/>
          </a:prstGeom>
        </p:spPr>
      </p:pic>
      <p:sp>
        <p:nvSpPr>
          <p:cNvPr id="7" name="Shape 7"/>
          <p:cNvSpPr/>
          <p:nvPr/>
        </p:nvSpPr>
        <p:spPr>
          <a:xfrm>
            <a:off x="548640" y="6400800"/>
            <a:ext cx="11091672" cy="10972"/>
          </a:xfrm>
          <a:prstGeom prst="rect">
            <a:avLst/>
          </a:prstGeom>
          <a:solidFill>
            <a:srgbClr val="E5E0D6"/>
          </a:solidFill>
          <a:ln>
            <a:noFill/>
          </a:ln>
        </p:spPr>
      </p:sp>
      <p:sp>
        <p:nvSpPr>
          <p:cNvPr id="8" name="Shape 8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>
                <a:solidFill>
                  <a:srgbClr val="6B6558"/>
                </a:solidFill>
                <a:latin typeface="Inter"/>
              </a:rPr>
              <a:t>Dormeo US · Weekly Business Review · Week 43 (Oct 19–25, 2026)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10241280" y="6455664"/>
            <a:ext cx="1399032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>
                <a:solidFill>
                  <a:srgbClr val="6B6558"/>
                </a:solidFill>
                <a:latin typeface="Inter"/>
              </a:rPr>
              <a:t>5 / 17</a:t>
            </a:r>
          </a:p>
        </p:txBody>
      </p:sp>
      <p:sp>
        <p:nvSpPr>
          <p:cNvPr id="10" name="Shape 10"/>
          <p:cNvSpPr/>
          <p:nvPr/>
        </p:nvSpPr>
        <p:spPr>
          <a:xfrm>
            <a:off x="548640" y="1417320"/>
            <a:ext cx="2651760" cy="1554480"/>
          </a:xfrm>
          <a:prstGeom prst="roundRect">
            <a:avLst>
              <a:gd name="" fmla="val 6000"/>
            </a:avLst>
          </a:prstGeom>
          <a:solidFill>
            <a:srgbClr val="F6F3EC"/>
          </a:solidFill>
          <a:ln>
            <a:noFill/>
          </a:ln>
        </p:spPr>
      </p:sp>
      <p:sp>
        <p:nvSpPr>
          <p:cNvPr id="11" name="Shape 11"/>
          <p:cNvSpPr txBox="1"/>
          <p:nvPr/>
        </p:nvSpPr>
        <p:spPr>
          <a:xfrm>
            <a:off x="713232" y="1545336"/>
            <a:ext cx="23774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>
                <a:solidFill>
                  <a:srgbClr val="6B6558"/>
                </a:solidFill>
                <a:latin typeface="Inter"/>
              </a:rPr>
              <a:t>MTD AD SPEND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713232" y="1801368"/>
            <a:ext cx="23774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>
                <a:solidFill>
                  <a:srgbClr val="2447FF"/>
                </a:solidFill>
                <a:latin typeface="Space Grotesk"/>
              </a:rPr>
              <a:t>$34.0K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713232" y="2560320"/>
            <a:ext cx="237744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B6558"/>
                </a:solidFill>
                <a:latin typeface="Inter"/>
              </a:rPr>
              <a:t>$1.4K per day</a:t>
            </a:r>
          </a:p>
        </p:txBody>
      </p:sp>
      <p:sp>
        <p:nvSpPr>
          <p:cNvPr id="14" name="Shape 14"/>
          <p:cNvSpPr/>
          <p:nvPr/>
        </p:nvSpPr>
        <p:spPr>
          <a:xfrm>
            <a:off x="3364992" y="1417320"/>
            <a:ext cx="2651760" cy="1554480"/>
          </a:xfrm>
          <a:prstGeom prst="roundRect">
            <a:avLst>
              <a:gd name="" fmla="val 6000"/>
            </a:avLst>
          </a:prstGeom>
          <a:solidFill>
            <a:srgbClr val="F6F3EC"/>
          </a:solidFill>
          <a:ln>
            <a:noFill/>
          </a:ln>
        </p:spPr>
      </p:sp>
      <p:sp>
        <p:nvSpPr>
          <p:cNvPr id="15" name="Shape 15"/>
          <p:cNvSpPr txBox="1"/>
          <p:nvPr/>
        </p:nvSpPr>
        <p:spPr>
          <a:xfrm>
            <a:off x="3529584" y="1545336"/>
            <a:ext cx="23774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>
                <a:solidFill>
                  <a:srgbClr val="6B6558"/>
                </a:solidFill>
                <a:latin typeface="Inter"/>
              </a:rPr>
              <a:t>PROJECTED SPEND</a:t>
            </a:r>
          </a:p>
        </p:txBody>
      </p:sp>
      <p:sp>
        <p:nvSpPr>
          <p:cNvPr id="16" name="Shape 16"/>
          <p:cNvSpPr txBox="1"/>
          <p:nvPr/>
        </p:nvSpPr>
        <p:spPr>
          <a:xfrm>
            <a:off x="3529584" y="1801368"/>
            <a:ext cx="23774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>
                <a:solidFill>
                  <a:srgbClr val="2447FF"/>
                </a:solidFill>
                <a:latin typeface="Space Grotesk"/>
              </a:rPr>
              <a:t>$42.2K</a:t>
            </a:r>
          </a:p>
        </p:txBody>
      </p:sp>
      <p:sp>
        <p:nvSpPr>
          <p:cNvPr id="17" name="Shape 17"/>
          <p:cNvSpPr txBox="1"/>
          <p:nvPr/>
        </p:nvSpPr>
        <p:spPr>
          <a:xfrm>
            <a:off x="3529584" y="2560320"/>
            <a:ext cx="237744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B6558"/>
                </a:solidFill>
                <a:latin typeface="Inter"/>
              </a:rPr>
              <a:t>if the daily rate holds to Oct 31</a:t>
            </a:r>
          </a:p>
        </p:txBody>
      </p:sp>
      <p:sp>
        <p:nvSpPr>
          <p:cNvPr id="18" name="Shape 18"/>
          <p:cNvSpPr/>
          <p:nvPr/>
        </p:nvSpPr>
        <p:spPr>
          <a:xfrm>
            <a:off x="6181344" y="1417320"/>
            <a:ext cx="2651760" cy="1554480"/>
          </a:xfrm>
          <a:prstGeom prst="roundRect">
            <a:avLst>
              <a:gd name="" fmla="val 6000"/>
            </a:avLst>
          </a:prstGeom>
          <a:solidFill>
            <a:srgbClr val="F6F3EC"/>
          </a:solidFill>
          <a:ln>
            <a:noFill/>
          </a:ln>
        </p:spPr>
      </p:sp>
      <p:sp>
        <p:nvSpPr>
          <p:cNvPr id="19" name="Shape 19"/>
          <p:cNvSpPr txBox="1"/>
          <p:nvPr/>
        </p:nvSpPr>
        <p:spPr>
          <a:xfrm>
            <a:off x="6345936" y="1545336"/>
            <a:ext cx="23774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>
                <a:solidFill>
                  <a:srgbClr val="6B6558"/>
                </a:solidFill>
                <a:latin typeface="Inter"/>
              </a:rPr>
              <a:t>MTD TACOS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345936" y="1801368"/>
            <a:ext cx="23774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>
                <a:solidFill>
                  <a:srgbClr val="2447FF"/>
                </a:solidFill>
                <a:latin typeface="Space Grotesk"/>
              </a:rPr>
              <a:t>9.2%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6345936" y="2560320"/>
            <a:ext cx="237744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B6558"/>
                </a:solidFill>
                <a:latin typeface="Inter"/>
              </a:rPr>
              <a:t>this week 11.7%</a:t>
            </a:r>
          </a:p>
        </p:txBody>
      </p:sp>
      <p:sp>
        <p:nvSpPr>
          <p:cNvPr id="22" name="Shape 22"/>
          <p:cNvSpPr/>
          <p:nvPr/>
        </p:nvSpPr>
        <p:spPr>
          <a:xfrm>
            <a:off x="8997696" y="1417320"/>
            <a:ext cx="2642616" cy="1554480"/>
          </a:xfrm>
          <a:prstGeom prst="roundRect">
            <a:avLst>
              <a:gd name="" fmla="val 6000"/>
            </a:avLst>
          </a:prstGeom>
          <a:solidFill>
            <a:srgbClr val="F6F3EC"/>
          </a:solidFill>
          <a:ln>
            <a:noFill/>
          </a:ln>
        </p:spPr>
      </p:sp>
      <p:sp>
        <p:nvSpPr>
          <p:cNvPr id="23" name="Shape 23"/>
          <p:cNvSpPr txBox="1"/>
          <p:nvPr/>
        </p:nvSpPr>
        <p:spPr>
          <a:xfrm>
            <a:off x="9162288" y="1545336"/>
            <a:ext cx="2368296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>
                <a:solidFill>
                  <a:srgbClr val="6B6558"/>
                </a:solidFill>
                <a:latin typeface="Inter"/>
              </a:rPr>
              <a:t>MTD ACOS</a:t>
            </a:r>
          </a:p>
        </p:txBody>
      </p:sp>
      <p:sp>
        <p:nvSpPr>
          <p:cNvPr id="24" name="Shape 24"/>
          <p:cNvSpPr txBox="1"/>
          <p:nvPr/>
        </p:nvSpPr>
        <p:spPr>
          <a:xfrm>
            <a:off x="9162288" y="1801368"/>
            <a:ext cx="2368296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>
                <a:solidFill>
                  <a:srgbClr val="2447FF"/>
                </a:solidFill>
                <a:latin typeface="Space Grotesk"/>
              </a:rPr>
              <a:t>18.7%</a:t>
            </a:r>
          </a:p>
        </p:txBody>
      </p:sp>
      <p:sp>
        <p:nvSpPr>
          <p:cNvPr id="25" name="Shape 25"/>
          <p:cNvSpPr txBox="1"/>
          <p:nvPr/>
        </p:nvSpPr>
        <p:spPr>
          <a:xfrm>
            <a:off x="9162288" y="2560320"/>
            <a:ext cx="2368296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B6558"/>
                </a:solidFill>
                <a:latin typeface="Inter"/>
              </a:rPr>
              <a:t>this week 23.7%</a:t>
            </a:r>
          </a:p>
        </p:txBody>
      </p:sp>
      <p:sp>
        <p:nvSpPr>
          <p:cNvPr id="26" name="Shape 26"/>
          <p:cNvSpPr/>
          <p:nvPr/>
        </p:nvSpPr>
        <p:spPr>
          <a:xfrm>
            <a:off x="548640" y="3200400"/>
            <a:ext cx="3611880" cy="3017520"/>
          </a:xfrm>
          <a:prstGeom prst="roundRect">
            <a:avLst>
              <a:gd name="" fmla="val 6000"/>
            </a:avLst>
          </a:prstGeom>
          <a:solidFill>
            <a:srgbClr val="FFFFFF"/>
          </a:solidFill>
          <a:ln w="9525">
            <a:solidFill>
              <a:srgbClr val="E5E0D6"/>
            </a:solidFill>
          </a:ln>
        </p:spPr>
      </p:sp>
      <p:sp>
        <p:nvSpPr>
          <p:cNvPr id="27" name="Shape 27"/>
          <p:cNvSpPr txBox="1"/>
          <p:nvPr/>
        </p:nvSpPr>
        <p:spPr>
          <a:xfrm>
            <a:off x="731520" y="3337560"/>
            <a:ext cx="32461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Space Grotesk"/>
              </a:rPr>
              <a:t>MTD performance</a:t>
            </a:r>
          </a:p>
        </p:txBody>
      </p:sp>
      <p:sp>
        <p:nvSpPr>
          <p:cNvPr id="28" name="Shape 28"/>
          <p:cNvSpPr txBox="1"/>
          <p:nvPr/>
        </p:nvSpPr>
        <p:spPr>
          <a:xfrm>
            <a:off x="731520" y="3657600"/>
            <a:ext cx="3246120" cy="2468879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334155"/>
                </a:solidFill>
                <a:latin typeface="Inter"/>
              </a:rPr>
              <a:t>$182.0K in ad sales on $34.0K spend, a 5.4x return.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334155"/>
                </a:solidFill>
                <a:latin typeface="Inter"/>
              </a:rPr>
              <a:t>Ads drove 49% of October sales.</a:t>
            </a:r>
          </a:p>
        </p:txBody>
      </p:sp>
      <p:sp>
        <p:nvSpPr>
          <p:cNvPr id="29" name="Shape 29"/>
          <p:cNvSpPr/>
          <p:nvPr/>
        </p:nvSpPr>
        <p:spPr>
          <a:xfrm>
            <a:off x="4288536" y="3200400"/>
            <a:ext cx="3611880" cy="3017520"/>
          </a:xfrm>
          <a:prstGeom prst="roundRect">
            <a:avLst>
              <a:gd name="" fmla="val 6000"/>
            </a:avLst>
          </a:prstGeom>
          <a:solidFill>
            <a:srgbClr val="FFFFFF"/>
          </a:solidFill>
          <a:ln w="9525">
            <a:solidFill>
              <a:srgbClr val="E5E0D6"/>
            </a:solidFill>
          </a:ln>
        </p:spPr>
      </p:sp>
      <p:sp>
        <p:nvSpPr>
          <p:cNvPr id="30" name="Shape 30"/>
          <p:cNvSpPr txBox="1"/>
          <p:nvPr/>
        </p:nvSpPr>
        <p:spPr>
          <a:xfrm>
            <a:off x="4471416" y="3337560"/>
            <a:ext cx="32461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Space Grotesk"/>
              </a:rPr>
              <a:t>Context</a:t>
            </a:r>
          </a:p>
        </p:txBody>
      </p:sp>
      <p:sp>
        <p:nvSpPr>
          <p:cNvPr id="31" name="Shape 31"/>
          <p:cNvSpPr txBox="1"/>
          <p:nvPr/>
        </p:nvSpPr>
        <p:spPr>
          <a:xfrm>
            <a:off x="4471416" y="3657600"/>
            <a:ext cx="3246120" cy="2468879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334155"/>
                </a:solidFill>
                <a:latin typeface="Inter"/>
              </a:rPr>
              <a:t>Ad spend came down 30% to $6.7K while ACoS held at 23.7% (23.9% last week).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334155"/>
                </a:solidFill>
                <a:latin typeface="Inter"/>
              </a:rPr>
              <a:t>TACoS was 11.7%; ads drove 49% of revenue this week.</a:t>
            </a:r>
          </a:p>
        </p:txBody>
      </p:sp>
      <p:sp>
        <p:nvSpPr>
          <p:cNvPr id="32" name="Shape 32"/>
          <p:cNvSpPr/>
          <p:nvPr/>
        </p:nvSpPr>
        <p:spPr>
          <a:xfrm>
            <a:off x="8028431" y="3200400"/>
            <a:ext cx="3611880" cy="3017520"/>
          </a:xfrm>
          <a:prstGeom prst="roundRect">
            <a:avLst>
              <a:gd name="" fmla="val 6000"/>
            </a:avLst>
          </a:prstGeom>
          <a:solidFill>
            <a:srgbClr val="FFFFFF"/>
          </a:solidFill>
          <a:ln w="9525">
            <a:solidFill>
              <a:srgbClr val="E5E0D6"/>
            </a:solidFill>
          </a:ln>
        </p:spPr>
      </p:sp>
      <p:sp>
        <p:nvSpPr>
          <p:cNvPr id="33" name="Shape 33"/>
          <p:cNvSpPr txBox="1"/>
          <p:nvPr/>
        </p:nvSpPr>
        <p:spPr>
          <a:xfrm>
            <a:off x="8211311" y="3337560"/>
            <a:ext cx="32461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Space Grotesk"/>
              </a:rPr>
              <a:t>This week's efficiency</a:t>
            </a:r>
          </a:p>
        </p:txBody>
      </p:sp>
      <p:sp>
        <p:nvSpPr>
          <p:cNvPr id="34" name="Shape 34"/>
          <p:cNvSpPr txBox="1"/>
          <p:nvPr/>
        </p:nvSpPr>
        <p:spPr>
          <a:xfrm>
            <a:off x="8211311" y="3657600"/>
            <a:ext cx="3246120" cy="2468879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334155"/>
                </a:solidFill>
                <a:latin typeface="Inter"/>
              </a:rPr>
              <a:t>Spend $6,741 (-30%), ad sales $28,425 (-29%).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334155"/>
                </a:solidFill>
                <a:latin typeface="Inter"/>
              </a:rPr>
              <a:t>ACoS 23.7% (-0.2 pts); TACoS 11.7% (-0.7 pts).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334155"/>
                </a:solidFill>
                <a:latin typeface="Inter"/>
              </a:rPr>
              <a:t>CPC $2.00, 85 ad orders.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Shape 1"/>
        <p:cNvGrpSpPr/>
        <p:nvPr/>
      </p:nvGrpSpPr>
      <p:grpSpPr/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548640" y="502920"/>
            <a:ext cx="73152" cy="566928"/>
          </a:xfrm>
          <a:prstGeom prst="rect">
            <a:avLst/>
          </a:prstGeom>
          <a:solidFill>
            <a:srgbClr val="2447FF"/>
          </a:solidFill>
          <a:ln>
            <a:noFill/>
          </a:ln>
        </p:spPr>
      </p:sp>
      <p:sp>
        <p:nvSpPr>
          <p:cNvPr id="4" name="Shape 4"/>
          <p:cNvSpPr txBox="1"/>
          <p:nvPr/>
        </p:nvSpPr>
        <p:spPr>
          <a:xfrm>
            <a:off x="731520" y="384048"/>
            <a:ext cx="8686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447FF"/>
                </a:solidFill>
                <a:latin typeface="Space Grotesk"/>
              </a:rPr>
              <a:t>AMAZON ADS</a:t>
            </a:r>
          </a:p>
        </p:txBody>
      </p:sp>
      <p:sp>
        <p:nvSpPr>
          <p:cNvPr id="5" name="Shape 5"/>
          <p:cNvSpPr txBox="1"/>
          <p:nvPr/>
        </p:nvSpPr>
        <p:spPr>
          <a:xfrm>
            <a:off x="731520" y="603504"/>
            <a:ext cx="960120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Space Grotesk"/>
              </a:rPr>
              <a:t>Brand vs. category spend</a:t>
            </a:r>
          </a:p>
        </p:txBody>
      </p:sp>
      <p:pic>
        <p:nvPicPr>
          <p:cNvPr id="6" name="Shape 6" descr="logo_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560" y="457200"/>
            <a:ext cx="1463040" cy="256032"/>
          </a:xfrm>
          <a:prstGeom prst="rect">
            <a:avLst/>
          </a:prstGeom>
        </p:spPr>
      </p:pic>
      <p:sp>
        <p:nvSpPr>
          <p:cNvPr id="7" name="Shape 7"/>
          <p:cNvSpPr/>
          <p:nvPr/>
        </p:nvSpPr>
        <p:spPr>
          <a:xfrm>
            <a:off x="548640" y="6400800"/>
            <a:ext cx="11091672" cy="10972"/>
          </a:xfrm>
          <a:prstGeom prst="rect">
            <a:avLst/>
          </a:prstGeom>
          <a:solidFill>
            <a:srgbClr val="E5E0D6"/>
          </a:solidFill>
          <a:ln>
            <a:noFill/>
          </a:ln>
        </p:spPr>
      </p:sp>
      <p:sp>
        <p:nvSpPr>
          <p:cNvPr id="8" name="Shape 8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>
                <a:solidFill>
                  <a:srgbClr val="6B6558"/>
                </a:solidFill>
                <a:latin typeface="Inter"/>
              </a:rPr>
              <a:t>Dormeo US · Weekly Business Review · Week 43 (Oct 19–25, 2026)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10241280" y="6455664"/>
            <a:ext cx="1399032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>
                <a:solidFill>
                  <a:srgbClr val="6B6558"/>
                </a:solidFill>
                <a:latin typeface="Inter"/>
              </a:rPr>
              <a:t>6 / 17</a:t>
            </a:r>
          </a:p>
        </p:txBody>
      </p:sp>
      <p:graphicFrame>
        <p:nvGraphicFramePr>
          <p:cNvPr id="10" name="Shape 10"/>
          <p:cNvGraphicFramePr>
            <a:graphicFrameLocks noGrp="1"/>
          </p:cNvGraphicFramePr>
          <p:nvPr/>
        </p:nvGraphicFramePr>
        <p:xfrm>
          <a:off x="548640" y="1417320"/>
          <a:ext cx="6766560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914400"/>
                <a:gridCol w="914400"/>
                <a:gridCol w="731520"/>
                <a:gridCol w="777240"/>
                <a:gridCol w="77724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Strategy</a:t>
                      </a:r>
                    </a:p>
                  </a:txBody>
                  <a:tcPr marL="54864" marR="54864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Ad spend</a:t>
                      </a:r>
                    </a:p>
                  </a:txBody>
                  <a:tcPr marL="54864" marR="54864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Ad sales</a:t>
                      </a:r>
                    </a:p>
                  </a:txBody>
                  <a:tcPr marL="54864" marR="54864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ROAS</a:t>
                      </a:r>
                    </a:p>
                  </a:txBody>
                  <a:tcPr marL="54864" marR="54864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ACoS</a:t>
                      </a:r>
                    </a:p>
                  </a:txBody>
                  <a:tcPr marL="54864" marR="54864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Orders</a:t>
                      </a:r>
                    </a:p>
                  </a:txBody>
                  <a:tcPr marL="54864" marR="54864" marT="27432" marB="27432" anchor="ctr">
                    <a:solidFill>
                      <a:srgbClr val="0F172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F172A"/>
                          </a:solidFill>
                          <a:latin typeface="Inter"/>
                        </a:rPr>
                        <a:t>Branded keywords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F172A"/>
                          </a:solidFill>
                          <a:latin typeface="Inter"/>
                        </a:rPr>
                        <a:t>$3,198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F172A"/>
                          </a:solidFill>
                          <a:latin typeface="Inter"/>
                        </a:rPr>
                        <a:t>$19,768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F172A"/>
                          </a:solidFill>
                          <a:latin typeface="Inter"/>
                        </a:rPr>
                        <a:t>6.18x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F172A"/>
                          </a:solidFill>
                          <a:latin typeface="Inter"/>
                        </a:rPr>
                        <a:t>16.2%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F172A"/>
                          </a:solidFill>
                          <a:latin typeface="Inter"/>
                        </a:rPr>
                        <a:t>63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F172A"/>
                          </a:solidFill>
                          <a:latin typeface="Inter"/>
                        </a:rPr>
                        <a:t>Category keywords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F172A"/>
                          </a:solidFill>
                          <a:latin typeface="Inter"/>
                        </a:rPr>
                        <a:t>$1,512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F172A"/>
                          </a:solidFill>
                          <a:latin typeface="Inter"/>
                        </a:rPr>
                        <a:t>$4,094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F172A"/>
                          </a:solidFill>
                          <a:latin typeface="Inter"/>
                        </a:rPr>
                        <a:t>2.71x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DC2626"/>
                          </a:solidFill>
                          <a:latin typeface="Inter"/>
                        </a:rPr>
                        <a:t>36.9%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F172A"/>
                          </a:solidFill>
                          <a:latin typeface="Inter"/>
                        </a:rPr>
                        <a:t>11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F172A"/>
                          </a:solidFill>
                          <a:latin typeface="Inter"/>
                        </a:rPr>
                        <a:t>Audience / category display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F172A"/>
                          </a:solidFill>
                          <a:latin typeface="Inter"/>
                        </a:rPr>
                        <a:t>$1,075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F172A"/>
                          </a:solidFill>
                          <a:latin typeface="Inter"/>
                        </a:rPr>
                        <a:t>$495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F172A"/>
                          </a:solidFill>
                          <a:latin typeface="Inter"/>
                        </a:rPr>
                        <a:t>0.46x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DC2626"/>
                          </a:solidFill>
                          <a:latin typeface="Inter"/>
                        </a:rPr>
                        <a:t>217.1%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F172A"/>
                          </a:solidFill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F172A"/>
                          </a:solidFill>
                          <a:latin typeface="Inter"/>
                        </a:rPr>
                        <a:t>Auto targeting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F172A"/>
                          </a:solidFill>
                          <a:latin typeface="Inter"/>
                        </a:rPr>
                        <a:t>$763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F172A"/>
                          </a:solidFill>
                          <a:latin typeface="Inter"/>
                        </a:rPr>
                        <a:t>$3,089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F172A"/>
                          </a:solidFill>
                          <a:latin typeface="Inter"/>
                        </a:rPr>
                        <a:t>4.05x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F172A"/>
                          </a:solidFill>
                          <a:latin typeface="Inter"/>
                        </a:rPr>
                        <a:t>24.7%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F172A"/>
                          </a:solidFill>
                          <a:latin typeface="Inter"/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F172A"/>
                          </a:solidFill>
                          <a:latin typeface="Inter"/>
                        </a:rPr>
                        <a:t>Competitor targeting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F172A"/>
                          </a:solidFill>
                          <a:latin typeface="Inter"/>
                        </a:rPr>
                        <a:t>$98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F172A"/>
                          </a:solidFill>
                          <a:latin typeface="Inter"/>
                        </a:rPr>
                        <a:t>$0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F172A"/>
                          </a:solidFill>
                          <a:latin typeface="Inter"/>
                        </a:rPr>
                        <a:t>0.00x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F172A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F172A"/>
                          </a:solidFill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F172A"/>
                          </a:solidFill>
                          <a:latin typeface="Inter"/>
                        </a:rPr>
                        <a:t>Brand defense (product targets)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F172A"/>
                          </a:solidFill>
                          <a:latin typeface="Inter"/>
                        </a:rPr>
                        <a:t>$82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F172A"/>
                          </a:solidFill>
                          <a:latin typeface="Inter"/>
                        </a:rPr>
                        <a:t>$392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F172A"/>
                          </a:solidFill>
                          <a:latin typeface="Inter"/>
                        </a:rPr>
                        <a:t>4.77x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F172A"/>
                          </a:solidFill>
                          <a:latin typeface="Inter"/>
                        </a:rPr>
                        <a:t>21.0%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F172A"/>
                          </a:solidFill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F172A"/>
                          </a:solidFill>
                          <a:latin typeface="Inter"/>
                        </a:rPr>
                        <a:t>All campaigns</a:t>
                      </a:r>
                    </a:p>
                  </a:txBody>
                  <a:tcPr marL="54864" marR="54864" marT="27432" marB="27432" anchor="ctr">
                    <a:solidFill>
                      <a:srgbClr val="F6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0F172A"/>
                          </a:solidFill>
                          <a:latin typeface="Inter"/>
                        </a:rPr>
                        <a:t>$6,741</a:t>
                      </a:r>
                    </a:p>
                  </a:txBody>
                  <a:tcPr marL="54864" marR="54864" marT="27432" marB="27432" anchor="ctr">
                    <a:solidFill>
                      <a:srgbClr val="F6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0F172A"/>
                          </a:solidFill>
                          <a:latin typeface="Inter"/>
                        </a:rPr>
                        <a:t>$28,425</a:t>
                      </a:r>
                    </a:p>
                  </a:txBody>
                  <a:tcPr marL="54864" marR="54864" marT="27432" marB="27432" anchor="ctr">
                    <a:solidFill>
                      <a:srgbClr val="F6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0F172A"/>
                          </a:solidFill>
                          <a:latin typeface="Inter"/>
                        </a:rPr>
                        <a:t>4.22x</a:t>
                      </a:r>
                    </a:p>
                  </a:txBody>
                  <a:tcPr marL="54864" marR="54864" marT="27432" marB="27432" anchor="ctr">
                    <a:solidFill>
                      <a:srgbClr val="F6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0F172A"/>
                          </a:solidFill>
                          <a:latin typeface="Inter"/>
                        </a:rPr>
                        <a:t>23.7%</a:t>
                      </a:r>
                    </a:p>
                  </a:txBody>
                  <a:tcPr marL="54864" marR="54864" marT="27432" marB="27432" anchor="ctr">
                    <a:solidFill>
                      <a:srgbClr val="F6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0F172A"/>
                          </a:solidFill>
                          <a:latin typeface="Inter"/>
                        </a:rPr>
                        <a:t>85</a:t>
                      </a:r>
                    </a:p>
                  </a:txBody>
                  <a:tcPr marL="54864" marR="54864" marT="27432" marB="27432" anchor="ctr">
                    <a:solidFill>
                      <a:srgbClr val="F6F3EC"/>
                    </a:solidFill>
                  </a:tcPr>
                </a:tc>
              </a:tr>
            </a:tbl>
          </a:graphicData>
        </a:graphic>
      </p:graphicFrame>
      <p:sp>
        <p:nvSpPr>
          <p:cNvPr id="11" name="Shape 11"/>
          <p:cNvSpPr/>
          <p:nvPr/>
        </p:nvSpPr>
        <p:spPr>
          <a:xfrm>
            <a:off x="7543800" y="1417320"/>
            <a:ext cx="4096512" cy="2468880"/>
          </a:xfrm>
          <a:prstGeom prst="roundRect">
            <a:avLst>
              <a:gd name="" fmla="val 6000"/>
            </a:avLst>
          </a:prstGeom>
          <a:solidFill>
            <a:srgbClr val="FFFFFF"/>
          </a:solidFill>
          <a:ln w="9525">
            <a:solidFill>
              <a:srgbClr val="E5E0D6"/>
            </a:solidFill>
          </a:ln>
        </p:spPr>
      </p:sp>
      <p:sp>
        <p:nvSpPr>
          <p:cNvPr id="12" name="Shape 12"/>
          <p:cNvSpPr txBox="1"/>
          <p:nvPr/>
        </p:nvSpPr>
        <p:spPr>
          <a:xfrm>
            <a:off x="7726679" y="1554480"/>
            <a:ext cx="3730752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Space Grotesk"/>
              </a:rPr>
              <a:t>What it says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7726679" y="1874519"/>
            <a:ext cx="3730752" cy="1920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334155"/>
                </a:solidFill>
                <a:latin typeface="Inter"/>
              </a:rPr>
              <a:t>Branded keywords returned $19.8K on $3.2K (16.2% ACoS) and brought 63 of 85 ad orders.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334155"/>
                </a:solidFill>
                <a:latin typeface="Inter"/>
              </a:rPr>
              <a:t>Category keywords cost $1.5K for $4.1K in sales (36.9% ACoS); spend there was cut 51% vs last week.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334155"/>
                </a:solidFill>
                <a:latin typeface="Inter"/>
              </a:rPr>
              <a:t>Streaming TV spent $1.1K for one $495 sale.</a:t>
            </a:r>
          </a:p>
        </p:txBody>
      </p:sp>
      <p:sp>
        <p:nvSpPr>
          <p:cNvPr id="14" name="Shape 14"/>
          <p:cNvSpPr/>
          <p:nvPr/>
        </p:nvSpPr>
        <p:spPr>
          <a:xfrm>
            <a:off x="7543800" y="4023360"/>
            <a:ext cx="4096512" cy="2194560"/>
          </a:xfrm>
          <a:prstGeom prst="roundRect">
            <a:avLst>
              <a:gd name="" fmla="val 6000"/>
            </a:avLst>
          </a:prstGeom>
          <a:solidFill>
            <a:srgbClr val="FFFFFF"/>
          </a:solidFill>
          <a:ln w="9525">
            <a:solidFill>
              <a:srgbClr val="E5E0D6"/>
            </a:solidFill>
          </a:ln>
        </p:spPr>
      </p:sp>
      <p:sp>
        <p:nvSpPr>
          <p:cNvPr id="15" name="Shape 15"/>
          <p:cNvSpPr txBox="1"/>
          <p:nvPr/>
        </p:nvSpPr>
        <p:spPr>
          <a:xfrm>
            <a:off x="7726679" y="4160520"/>
            <a:ext cx="3730752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Space Grotesk"/>
              </a:rPr>
              <a:t>Coverage note</a:t>
            </a:r>
          </a:p>
        </p:txBody>
      </p:sp>
      <p:sp>
        <p:nvSpPr>
          <p:cNvPr id="16" name="Shape 16"/>
          <p:cNvSpPr txBox="1"/>
          <p:nvPr/>
        </p:nvSpPr>
        <p:spPr>
          <a:xfrm>
            <a:off x="7726679" y="4480560"/>
            <a:ext cx="3730752" cy="1645919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0">
                <a:solidFill>
                  <a:srgbClr val="334155"/>
                </a:solidFill>
                <a:latin typeface="Inter"/>
              </a:rPr>
              <a:t>Strategy is read from the campaign names (Brand / Category / Auto / Audience).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334155"/>
                </a:solidFill>
                <a:latin typeface="Inter"/>
              </a:rPr>
              <a:t>Campaign totals come from the campaign report and can differ slightly from account totals.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Shape 1"/>
        <p:cNvGrpSpPr/>
        <p:nvPr/>
      </p:nvGrpSpPr>
      <p:grpSpPr/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548640" y="502920"/>
            <a:ext cx="73152" cy="566928"/>
          </a:xfrm>
          <a:prstGeom prst="rect">
            <a:avLst/>
          </a:prstGeom>
          <a:solidFill>
            <a:srgbClr val="2447FF"/>
          </a:solidFill>
          <a:ln>
            <a:noFill/>
          </a:ln>
        </p:spPr>
      </p:sp>
      <p:sp>
        <p:nvSpPr>
          <p:cNvPr id="4" name="Shape 4"/>
          <p:cNvSpPr txBox="1"/>
          <p:nvPr/>
        </p:nvSpPr>
        <p:spPr>
          <a:xfrm>
            <a:off x="731520" y="384048"/>
            <a:ext cx="8686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447FF"/>
                </a:solidFill>
                <a:latin typeface="Space Grotesk"/>
              </a:rPr>
              <a:t>AMAZON ADS</a:t>
            </a:r>
          </a:p>
        </p:txBody>
      </p:sp>
      <p:sp>
        <p:nvSpPr>
          <p:cNvPr id="5" name="Shape 5"/>
          <p:cNvSpPr txBox="1"/>
          <p:nvPr/>
        </p:nvSpPr>
        <p:spPr>
          <a:xfrm>
            <a:off x="731520" y="603504"/>
            <a:ext cx="960120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Space Grotesk"/>
              </a:rPr>
              <a:t>Bid optimization</a:t>
            </a:r>
          </a:p>
        </p:txBody>
      </p:sp>
      <p:pic>
        <p:nvPicPr>
          <p:cNvPr id="6" name="Shape 6" descr="logo_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560" y="457200"/>
            <a:ext cx="1463040" cy="256032"/>
          </a:xfrm>
          <a:prstGeom prst="rect">
            <a:avLst/>
          </a:prstGeom>
        </p:spPr>
      </p:pic>
      <p:sp>
        <p:nvSpPr>
          <p:cNvPr id="7" name="Shape 7"/>
          <p:cNvSpPr/>
          <p:nvPr/>
        </p:nvSpPr>
        <p:spPr>
          <a:xfrm>
            <a:off x="548640" y="6400800"/>
            <a:ext cx="11091672" cy="10972"/>
          </a:xfrm>
          <a:prstGeom prst="rect">
            <a:avLst/>
          </a:prstGeom>
          <a:solidFill>
            <a:srgbClr val="E5E0D6"/>
          </a:solidFill>
          <a:ln>
            <a:noFill/>
          </a:ln>
        </p:spPr>
      </p:sp>
      <p:sp>
        <p:nvSpPr>
          <p:cNvPr id="8" name="Shape 8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>
                <a:solidFill>
                  <a:srgbClr val="6B6558"/>
                </a:solidFill>
                <a:latin typeface="Inter"/>
              </a:rPr>
              <a:t>Dormeo US · Weekly Business Review · Week 43 (Oct 19–25, 2026)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10241280" y="6455664"/>
            <a:ext cx="1399032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>
                <a:solidFill>
                  <a:srgbClr val="6B6558"/>
                </a:solidFill>
                <a:latin typeface="Inter"/>
              </a:rPr>
              <a:t>7 / 17</a:t>
            </a:r>
          </a:p>
        </p:txBody>
      </p:sp>
      <p:sp>
        <p:nvSpPr>
          <p:cNvPr id="10" name="Shape 10"/>
          <p:cNvSpPr/>
          <p:nvPr/>
        </p:nvSpPr>
        <p:spPr>
          <a:xfrm>
            <a:off x="548640" y="1417320"/>
            <a:ext cx="2651760" cy="1463040"/>
          </a:xfrm>
          <a:prstGeom prst="roundRect">
            <a:avLst>
              <a:gd name="" fmla="val 6000"/>
            </a:avLst>
          </a:prstGeom>
          <a:solidFill>
            <a:srgbClr val="F6F3EC"/>
          </a:solidFill>
          <a:ln>
            <a:noFill/>
          </a:ln>
        </p:spPr>
      </p:sp>
      <p:sp>
        <p:nvSpPr>
          <p:cNvPr id="11" name="Shape 11"/>
          <p:cNvSpPr txBox="1"/>
          <p:nvPr/>
        </p:nvSpPr>
        <p:spPr>
          <a:xfrm>
            <a:off x="713232" y="1545336"/>
            <a:ext cx="23774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>
                <a:solidFill>
                  <a:srgbClr val="6B6558"/>
                </a:solidFill>
                <a:latin typeface="Inter"/>
              </a:rPr>
              <a:t>TARGETS TRACKED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713232" y="1801368"/>
            <a:ext cx="23774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>
                <a:solidFill>
                  <a:srgbClr val="2447FF"/>
                </a:solidFill>
                <a:latin typeface="Space Grotesk"/>
              </a:rPr>
              <a:t>483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713232" y="2468880"/>
            <a:ext cx="237744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B6558"/>
                </a:solidFill>
                <a:latin typeface="Inter"/>
              </a:rPr>
              <a:t>keywords and product targets</a:t>
            </a:r>
          </a:p>
        </p:txBody>
      </p:sp>
      <p:sp>
        <p:nvSpPr>
          <p:cNvPr id="14" name="Shape 14"/>
          <p:cNvSpPr/>
          <p:nvPr/>
        </p:nvSpPr>
        <p:spPr>
          <a:xfrm>
            <a:off x="3364992" y="1417320"/>
            <a:ext cx="2651760" cy="1463040"/>
          </a:xfrm>
          <a:prstGeom prst="roundRect">
            <a:avLst>
              <a:gd name="" fmla="val 6000"/>
            </a:avLst>
          </a:prstGeom>
          <a:solidFill>
            <a:srgbClr val="F6F3EC"/>
          </a:solidFill>
          <a:ln>
            <a:noFill/>
          </a:ln>
        </p:spPr>
      </p:sp>
      <p:sp>
        <p:nvSpPr>
          <p:cNvPr id="15" name="Shape 15"/>
          <p:cNvSpPr txBox="1"/>
          <p:nvPr/>
        </p:nvSpPr>
        <p:spPr>
          <a:xfrm>
            <a:off x="3529584" y="1545336"/>
            <a:ext cx="23774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>
                <a:solidFill>
                  <a:srgbClr val="6B6558"/>
                </a:solidFill>
                <a:latin typeface="Inter"/>
              </a:rPr>
              <a:t>WINNERS</a:t>
            </a:r>
          </a:p>
        </p:txBody>
      </p:sp>
      <p:sp>
        <p:nvSpPr>
          <p:cNvPr id="16" name="Shape 16"/>
          <p:cNvSpPr txBox="1"/>
          <p:nvPr/>
        </p:nvSpPr>
        <p:spPr>
          <a:xfrm>
            <a:off x="3529584" y="1801368"/>
            <a:ext cx="23774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>
                <a:solidFill>
                  <a:srgbClr val="16A34A"/>
                </a:solidFill>
                <a:latin typeface="Space Grotesk"/>
              </a:rPr>
              <a:t>26</a:t>
            </a:r>
          </a:p>
        </p:txBody>
      </p:sp>
      <p:sp>
        <p:nvSpPr>
          <p:cNvPr id="17" name="Shape 17"/>
          <p:cNvSpPr txBox="1"/>
          <p:nvPr/>
        </p:nvSpPr>
        <p:spPr>
          <a:xfrm>
            <a:off x="3529584" y="2468880"/>
            <a:ext cx="237744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B6558"/>
                </a:solidFill>
                <a:latin typeface="Inter"/>
              </a:rPr>
              <a:t>converting at or under 35% ACoS</a:t>
            </a:r>
          </a:p>
        </p:txBody>
      </p:sp>
      <p:sp>
        <p:nvSpPr>
          <p:cNvPr id="18" name="Shape 18"/>
          <p:cNvSpPr/>
          <p:nvPr/>
        </p:nvSpPr>
        <p:spPr>
          <a:xfrm>
            <a:off x="6181344" y="1417320"/>
            <a:ext cx="2651760" cy="1463040"/>
          </a:xfrm>
          <a:prstGeom prst="roundRect">
            <a:avLst>
              <a:gd name="" fmla="val 6000"/>
            </a:avLst>
          </a:prstGeom>
          <a:solidFill>
            <a:srgbClr val="F6F3EC"/>
          </a:solidFill>
          <a:ln>
            <a:noFill/>
          </a:ln>
        </p:spPr>
      </p:sp>
      <p:sp>
        <p:nvSpPr>
          <p:cNvPr id="19" name="Shape 19"/>
          <p:cNvSpPr txBox="1"/>
          <p:nvPr/>
        </p:nvSpPr>
        <p:spPr>
          <a:xfrm>
            <a:off x="6345936" y="1545336"/>
            <a:ext cx="23774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>
                <a:solidFill>
                  <a:srgbClr val="6B6558"/>
                </a:solidFill>
                <a:latin typeface="Inter"/>
              </a:rPr>
              <a:t>NEED ATTENTION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345936" y="1801368"/>
            <a:ext cx="23774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>
                <a:solidFill>
                  <a:srgbClr val="DC2626"/>
                </a:solidFill>
                <a:latin typeface="Space Grotesk"/>
              </a:rPr>
              <a:t>41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6345936" y="2468880"/>
            <a:ext cx="237744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B6558"/>
                </a:solidFill>
                <a:latin typeface="Inter"/>
              </a:rPr>
              <a:t>5 high ACoS · 10 no sales</a:t>
            </a:r>
          </a:p>
        </p:txBody>
      </p:sp>
      <p:sp>
        <p:nvSpPr>
          <p:cNvPr id="22" name="Shape 22"/>
          <p:cNvSpPr/>
          <p:nvPr/>
        </p:nvSpPr>
        <p:spPr>
          <a:xfrm>
            <a:off x="8997696" y="1417320"/>
            <a:ext cx="2642616" cy="1463040"/>
          </a:xfrm>
          <a:prstGeom prst="roundRect">
            <a:avLst>
              <a:gd name="" fmla="val 6000"/>
            </a:avLst>
          </a:prstGeom>
          <a:solidFill>
            <a:srgbClr val="F6F3EC"/>
          </a:solidFill>
          <a:ln>
            <a:noFill/>
          </a:ln>
        </p:spPr>
      </p:sp>
      <p:sp>
        <p:nvSpPr>
          <p:cNvPr id="23" name="Shape 23"/>
          <p:cNvSpPr txBox="1"/>
          <p:nvPr/>
        </p:nvSpPr>
        <p:spPr>
          <a:xfrm>
            <a:off x="9162288" y="1545336"/>
            <a:ext cx="2368296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>
                <a:solidFill>
                  <a:srgbClr val="6B6558"/>
                </a:solidFill>
                <a:latin typeface="Inter"/>
              </a:rPr>
              <a:t>LOW CLICK RATE</a:t>
            </a:r>
          </a:p>
        </p:txBody>
      </p:sp>
      <p:sp>
        <p:nvSpPr>
          <p:cNvPr id="24" name="Shape 24"/>
          <p:cNvSpPr txBox="1"/>
          <p:nvPr/>
        </p:nvSpPr>
        <p:spPr>
          <a:xfrm>
            <a:off x="9162288" y="1801368"/>
            <a:ext cx="2368296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>
                <a:solidFill>
                  <a:srgbClr val="D97706"/>
                </a:solidFill>
                <a:latin typeface="Space Grotesk"/>
              </a:rPr>
              <a:t>14</a:t>
            </a:r>
          </a:p>
        </p:txBody>
      </p:sp>
      <p:sp>
        <p:nvSpPr>
          <p:cNvPr id="25" name="Shape 25"/>
          <p:cNvSpPr txBox="1"/>
          <p:nvPr/>
        </p:nvSpPr>
        <p:spPr>
          <a:xfrm>
            <a:off x="9162288" y="2468880"/>
            <a:ext cx="2368296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B6558"/>
                </a:solidFill>
                <a:latin typeface="Inter"/>
              </a:rPr>
              <a:t>seen but rarely clicked</a:t>
            </a:r>
          </a:p>
        </p:txBody>
      </p:sp>
      <p:graphicFrame>
        <p:nvGraphicFramePr>
          <p:cNvPr id="26" name="Shape 26"/>
          <p:cNvGraphicFramePr>
            <a:graphicFrameLocks noGrp="1"/>
          </p:cNvGraphicFramePr>
          <p:nvPr/>
        </p:nvGraphicFramePr>
        <p:xfrm>
          <a:off x="548640" y="3063240"/>
          <a:ext cx="722376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731520"/>
                <a:gridCol w="822960"/>
                <a:gridCol w="822960"/>
                <a:gridCol w="822960"/>
                <a:gridCol w="822960"/>
                <a:gridCol w="64008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Inter"/>
                        </a:rP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Inter"/>
                        </a:rPr>
                        <a:t>Match</a:t>
                      </a:r>
                    </a:p>
                  </a:txBody>
                  <a:tcPr marL="54864" marR="54864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Inter"/>
                        </a:rPr>
                        <a:t>Type</a:t>
                      </a:r>
                    </a:p>
                  </a:txBody>
                  <a:tcPr marL="54864" marR="54864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Inter"/>
                        </a:rPr>
                        <a:t>Spend</a:t>
                      </a:r>
                    </a:p>
                  </a:txBody>
                  <a:tcPr marL="54864" marR="54864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Inter"/>
                        </a:rPr>
                        <a:t>Sales</a:t>
                      </a:r>
                    </a:p>
                  </a:txBody>
                  <a:tcPr marL="54864" marR="54864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Inter"/>
                        </a:rPr>
                        <a:t>ACoS</a:t>
                      </a:r>
                    </a:p>
                  </a:txBody>
                  <a:tcPr marL="54864" marR="54864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Inter"/>
                        </a:rPr>
                        <a:t>Clicks</a:t>
                      </a:r>
                    </a:p>
                  </a:txBody>
                  <a:tcPr marL="54864" marR="54864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Inter"/>
                        </a:rPr>
                        <a:t>Orders</a:t>
                      </a:r>
                    </a:p>
                  </a:txBody>
                  <a:tcPr marL="54864" marR="54864" marT="27432" marB="27432" anchor="ctr">
                    <a:solidFill>
                      <a:srgbClr val="0F172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F172A"/>
                          </a:solidFill>
                          <a:latin typeface="Inter"/>
                        </a:rPr>
                        <a:t>mattress +topper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F172A"/>
                          </a:solidFill>
                          <a:latin typeface="Inter"/>
                        </a:rPr>
                        <a:t>Phrase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F172A"/>
                          </a:solidFill>
                          <a:latin typeface="Inter"/>
                        </a:rPr>
                        <a:t>Category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F172A"/>
                          </a:solidFill>
                          <a:latin typeface="Inter"/>
                        </a:rPr>
                        <a:t>$1,003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F172A"/>
                          </a:solidFill>
                          <a:latin typeface="Inter"/>
                        </a:rPr>
                        <a:t>$1,313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DC2626"/>
                          </a:solidFill>
                          <a:latin typeface="Inter"/>
                        </a:rPr>
                        <a:t>76.4%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F172A"/>
                          </a:solidFill>
                          <a:latin typeface="Inter"/>
                        </a:rPr>
                        <a:t>392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F172A"/>
                          </a:solidFill>
                          <a:latin typeface="Inter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F172A"/>
                          </a:solidFill>
                          <a:latin typeface="Inter"/>
                        </a:rPr>
                        <a:t>dormeo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F172A"/>
                          </a:solidFill>
                          <a:latin typeface="Inter"/>
                        </a:rPr>
                        <a:t>Phrase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F172A"/>
                          </a:solidFill>
                          <a:latin typeface="Inter"/>
                        </a:rPr>
                        <a:t>Brand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F172A"/>
                          </a:solidFill>
                          <a:latin typeface="Inter"/>
                        </a:rPr>
                        <a:t>$661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F172A"/>
                          </a:solidFill>
                          <a:latin typeface="Inter"/>
                        </a:rPr>
                        <a:t>$1,144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DC2626"/>
                          </a:solidFill>
                          <a:latin typeface="Inter"/>
                        </a:rPr>
                        <a:t>57.8%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F172A"/>
                          </a:solidFill>
                          <a:latin typeface="Inter"/>
                        </a:rPr>
                        <a:t>453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F172A"/>
                          </a:solidFill>
                          <a:latin typeface="Inter"/>
                        </a:rPr>
                        <a:t>10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F172A"/>
                          </a:solidFill>
                          <a:latin typeface="Inter"/>
                        </a:rPr>
                        <a:t>dormeo topper queen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F172A"/>
                          </a:solidFill>
                          <a:latin typeface="Inter"/>
                        </a:rPr>
                        <a:t>Broad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F172A"/>
                          </a:solidFill>
                          <a:latin typeface="Inter"/>
                        </a:rPr>
                        <a:t>Brand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F172A"/>
                          </a:solidFill>
                          <a:latin typeface="Inter"/>
                        </a:rPr>
                        <a:t>$416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F172A"/>
                          </a:solidFill>
                          <a:latin typeface="Inter"/>
                        </a:rPr>
                        <a:t>$1,895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DC2626"/>
                          </a:solidFill>
                          <a:latin typeface="Inter"/>
                        </a:rPr>
                        <a:t>21.9%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F172A"/>
                          </a:solidFill>
                          <a:latin typeface="Inter"/>
                        </a:rPr>
                        <a:t>213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F172A"/>
                          </a:solidFill>
                          <a:latin typeface="Inter"/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F172A"/>
                          </a:solidFill>
                          <a:latin typeface="Inter"/>
                        </a:rPr>
                        <a:t>dormeo mattress topper full size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F172A"/>
                          </a:solidFill>
                          <a:latin typeface="Inter"/>
                        </a:rPr>
                        <a:t>Exact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F172A"/>
                          </a:solidFill>
                          <a:latin typeface="Inter"/>
                        </a:rPr>
                        <a:t>Brand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F172A"/>
                          </a:solidFill>
                          <a:latin typeface="Inter"/>
                        </a:rPr>
                        <a:t>$258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F172A"/>
                          </a:solidFill>
                          <a:latin typeface="Inter"/>
                        </a:rPr>
                        <a:t>$2,558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DC2626"/>
                          </a:solidFill>
                          <a:latin typeface="Inter"/>
                        </a:rPr>
                        <a:t>10.1%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F172A"/>
                          </a:solidFill>
                          <a:latin typeface="Inter"/>
                        </a:rPr>
                        <a:t>240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F172A"/>
                          </a:solidFill>
                          <a:latin typeface="Inter"/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F172A"/>
                          </a:solidFill>
                          <a:latin typeface="Inter"/>
                        </a:rPr>
                        <a:t>Mattress Toppers category (SD)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F172A"/>
                          </a:solidFill>
                          <a:latin typeface="Inter"/>
                        </a:rPr>
                        <a:t>Category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F172A"/>
                          </a:solidFill>
                          <a:latin typeface="Inter"/>
                        </a:rPr>
                        <a:t>Category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F172A"/>
                          </a:solidFill>
                          <a:latin typeface="Inter"/>
                        </a:rPr>
                        <a:t>$226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F172A"/>
                          </a:solidFill>
                          <a:latin typeface="Inter"/>
                        </a:rPr>
                        <a:t>$1,588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DC2626"/>
                          </a:solidFill>
                          <a:latin typeface="Inter"/>
                        </a:rPr>
                        <a:t>14.2%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F172A"/>
                          </a:solidFill>
                          <a:latin typeface="Inter"/>
                        </a:rPr>
                        <a:t>103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F172A"/>
                          </a:solidFill>
                          <a:latin typeface="Inter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Shape 27"/>
          <p:cNvSpPr/>
          <p:nvPr/>
        </p:nvSpPr>
        <p:spPr>
          <a:xfrm>
            <a:off x="8001000" y="3063240"/>
            <a:ext cx="3639312" cy="3154680"/>
          </a:xfrm>
          <a:prstGeom prst="roundRect">
            <a:avLst>
              <a:gd name="" fmla="val 6000"/>
            </a:avLst>
          </a:prstGeom>
          <a:solidFill>
            <a:srgbClr val="FFFFFF"/>
          </a:solidFill>
          <a:ln w="9525">
            <a:solidFill>
              <a:srgbClr val="E5E0D6"/>
            </a:solidFill>
          </a:ln>
        </p:spPr>
      </p:sp>
      <p:sp>
        <p:nvSpPr>
          <p:cNvPr id="28" name="Shape 28"/>
          <p:cNvSpPr txBox="1"/>
          <p:nvPr/>
        </p:nvSpPr>
        <p:spPr>
          <a:xfrm>
            <a:off x="8183879" y="3200400"/>
            <a:ext cx="3273552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Space Grotesk"/>
              </a:rPr>
              <a:t>Next moves</a:t>
            </a:r>
          </a:p>
        </p:txBody>
      </p:sp>
      <p:sp>
        <p:nvSpPr>
          <p:cNvPr id="29" name="Shape 29"/>
          <p:cNvSpPr txBox="1"/>
          <p:nvPr/>
        </p:nvSpPr>
        <p:spPr>
          <a:xfrm>
            <a:off x="8183879" y="3520440"/>
            <a:ext cx="3273552" cy="2606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334155"/>
                </a:solidFill>
                <a:latin typeface="Inter"/>
              </a:rPr>
              <a:t>Lower the bid on “mattress +topper” (phrase): $1,003 spent for 4 orders (76% ACoS).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334155"/>
                </a:solidFill>
                <a:latin typeface="Inter"/>
              </a:rPr>
              <a:t>Cut or pause the 97 campaigns that spent $792 this week with no sales; the top five are each $40–60.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334155"/>
                </a:solidFill>
                <a:latin typeface="Inter"/>
              </a:rPr>
              <a:t>Impression share and bid-change history are not in the Sellerise report, so they aren't tracked here.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Shape 1"/>
        <p:cNvGrpSpPr/>
        <p:nvPr/>
      </p:nvGrpSpPr>
      <p:grpSpPr/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548640" y="502920"/>
            <a:ext cx="73152" cy="566928"/>
          </a:xfrm>
          <a:prstGeom prst="rect">
            <a:avLst/>
          </a:prstGeom>
          <a:solidFill>
            <a:srgbClr val="2447FF"/>
          </a:solidFill>
          <a:ln>
            <a:noFill/>
          </a:ln>
        </p:spPr>
      </p:sp>
      <p:sp>
        <p:nvSpPr>
          <p:cNvPr id="4" name="Shape 4"/>
          <p:cNvSpPr txBox="1"/>
          <p:nvPr/>
        </p:nvSpPr>
        <p:spPr>
          <a:xfrm>
            <a:off x="731520" y="384048"/>
            <a:ext cx="8686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447FF"/>
                </a:solidFill>
                <a:latin typeface="Space Grotesk"/>
              </a:rPr>
              <a:t>AMAZON ADS</a:t>
            </a:r>
          </a:p>
        </p:txBody>
      </p:sp>
      <p:sp>
        <p:nvSpPr>
          <p:cNvPr id="5" name="Shape 5"/>
          <p:cNvSpPr txBox="1"/>
          <p:nvPr/>
        </p:nvSpPr>
        <p:spPr>
          <a:xfrm>
            <a:off x="731520" y="603504"/>
            <a:ext cx="960120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Space Grotesk"/>
              </a:rPr>
              <a:t>Brand keywords — top customer searches</a:t>
            </a:r>
          </a:p>
        </p:txBody>
      </p:sp>
      <p:pic>
        <p:nvPicPr>
          <p:cNvPr id="6" name="Shape 6" descr="logo_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560" y="457200"/>
            <a:ext cx="1463040" cy="256032"/>
          </a:xfrm>
          <a:prstGeom prst="rect">
            <a:avLst/>
          </a:prstGeom>
        </p:spPr>
      </p:pic>
      <p:sp>
        <p:nvSpPr>
          <p:cNvPr id="7" name="Shape 7"/>
          <p:cNvSpPr/>
          <p:nvPr/>
        </p:nvSpPr>
        <p:spPr>
          <a:xfrm>
            <a:off x="548640" y="6400800"/>
            <a:ext cx="11091672" cy="10972"/>
          </a:xfrm>
          <a:prstGeom prst="rect">
            <a:avLst/>
          </a:prstGeom>
          <a:solidFill>
            <a:srgbClr val="E5E0D6"/>
          </a:solidFill>
          <a:ln>
            <a:noFill/>
          </a:ln>
        </p:spPr>
      </p:sp>
      <p:sp>
        <p:nvSpPr>
          <p:cNvPr id="8" name="Shape 8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>
                <a:solidFill>
                  <a:srgbClr val="6B6558"/>
                </a:solidFill>
                <a:latin typeface="Inter"/>
              </a:rPr>
              <a:t>Dormeo US · Weekly Business Review · Week 43 (Oct 19–25, 2026)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10241280" y="6455664"/>
            <a:ext cx="1399032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>
                <a:solidFill>
                  <a:srgbClr val="6B6558"/>
                </a:solidFill>
                <a:latin typeface="Inter"/>
              </a:rPr>
              <a:t>8 / 17</a:t>
            </a:r>
          </a:p>
        </p:txBody>
      </p:sp>
      <p:sp>
        <p:nvSpPr>
          <p:cNvPr id="10" name="Shape 10"/>
          <p:cNvSpPr/>
          <p:nvPr/>
        </p:nvSpPr>
        <p:spPr>
          <a:xfrm>
            <a:off x="548640" y="1371600"/>
            <a:ext cx="3566160" cy="1005840"/>
          </a:xfrm>
          <a:prstGeom prst="roundRect">
            <a:avLst>
              <a:gd name="" fmla="val 6000"/>
            </a:avLst>
          </a:prstGeom>
          <a:solidFill>
            <a:srgbClr val="F6F3EC"/>
          </a:solidFill>
          <a:ln>
            <a:noFill/>
          </a:ln>
        </p:spPr>
      </p:sp>
      <p:sp>
        <p:nvSpPr>
          <p:cNvPr id="11" name="Shape 11"/>
          <p:cNvSpPr txBox="1"/>
          <p:nvPr/>
        </p:nvSpPr>
        <p:spPr>
          <a:xfrm>
            <a:off x="713232" y="1463040"/>
            <a:ext cx="32918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1">
                <a:solidFill>
                  <a:srgbClr val="0F172A"/>
                </a:solidFill>
                <a:latin typeface="Inter"/>
              </a:rPr>
              <a:t>“dormeo mattress topper king” · SP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713232" y="1755648"/>
            <a:ext cx="32918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>
                <a:solidFill>
                  <a:srgbClr val="2447FF"/>
                </a:solidFill>
                <a:latin typeface="Space Grotesk"/>
              </a:rPr>
              <a:t>$2,481</a:t>
            </a:r>
            <a:r>
              <a:rPr sz="1000" b="0">
                <a:solidFill>
                  <a:srgbClr val="6B6558"/>
                </a:solidFill>
                <a:latin typeface="Inter"/>
              </a:rPr>
              <a:t>   87 clicks · 6 orders · CVR 6.9%</a:t>
            </a:r>
          </a:p>
        </p:txBody>
      </p:sp>
      <p:sp>
        <p:nvSpPr>
          <p:cNvPr id="13" name="Shape 13"/>
          <p:cNvSpPr/>
          <p:nvPr/>
        </p:nvSpPr>
        <p:spPr>
          <a:xfrm>
            <a:off x="4279392" y="1371600"/>
            <a:ext cx="3566160" cy="1005840"/>
          </a:xfrm>
          <a:prstGeom prst="roundRect">
            <a:avLst>
              <a:gd name="" fmla="val 6000"/>
            </a:avLst>
          </a:prstGeom>
          <a:solidFill>
            <a:srgbClr val="F6F3EC"/>
          </a:solidFill>
          <a:ln>
            <a:noFill/>
          </a:ln>
        </p:spPr>
      </p:sp>
      <p:sp>
        <p:nvSpPr>
          <p:cNvPr id="14" name="Shape 14"/>
          <p:cNvSpPr txBox="1"/>
          <p:nvPr/>
        </p:nvSpPr>
        <p:spPr>
          <a:xfrm>
            <a:off x="4443983" y="1463040"/>
            <a:ext cx="32918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1">
                <a:solidFill>
                  <a:srgbClr val="0F172A"/>
                </a:solidFill>
                <a:latin typeface="Inter"/>
              </a:rPr>
              <a:t>“dormeo mattress topper full size” · SP</a:t>
            </a:r>
          </a:p>
        </p:txBody>
      </p:sp>
      <p:sp>
        <p:nvSpPr>
          <p:cNvPr id="15" name="Shape 15"/>
          <p:cNvSpPr txBox="1"/>
          <p:nvPr/>
        </p:nvSpPr>
        <p:spPr>
          <a:xfrm>
            <a:off x="4443983" y="1755648"/>
            <a:ext cx="32918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>
                <a:solidFill>
                  <a:srgbClr val="2447FF"/>
                </a:solidFill>
                <a:latin typeface="Space Grotesk"/>
              </a:rPr>
              <a:t>$2,260</a:t>
            </a:r>
            <a:r>
              <a:rPr sz="1000" b="0">
                <a:solidFill>
                  <a:srgbClr val="6B6558"/>
                </a:solidFill>
                <a:latin typeface="Inter"/>
              </a:rPr>
              <a:t>   236 clicks · 6 orders · CVR 2.5%</a:t>
            </a:r>
          </a:p>
        </p:txBody>
      </p:sp>
      <p:sp>
        <p:nvSpPr>
          <p:cNvPr id="16" name="Shape 16"/>
          <p:cNvSpPr/>
          <p:nvPr/>
        </p:nvSpPr>
        <p:spPr>
          <a:xfrm>
            <a:off x="8010144" y="1371600"/>
            <a:ext cx="3566160" cy="1005840"/>
          </a:xfrm>
          <a:prstGeom prst="roundRect">
            <a:avLst>
              <a:gd name="" fmla="val 6000"/>
            </a:avLst>
          </a:prstGeom>
          <a:solidFill>
            <a:srgbClr val="F6F3EC"/>
          </a:solidFill>
          <a:ln>
            <a:noFill/>
          </a:ln>
        </p:spPr>
      </p:sp>
      <p:sp>
        <p:nvSpPr>
          <p:cNvPr id="17" name="Shape 17"/>
          <p:cNvSpPr txBox="1"/>
          <p:nvPr/>
        </p:nvSpPr>
        <p:spPr>
          <a:xfrm>
            <a:off x="8174736" y="1463040"/>
            <a:ext cx="32918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1">
                <a:solidFill>
                  <a:srgbClr val="0F172A"/>
                </a:solidFill>
                <a:latin typeface="Inter"/>
              </a:rPr>
              <a:t>“dormeo mattress topper” · SB</a:t>
            </a:r>
          </a:p>
        </p:txBody>
      </p:sp>
      <p:sp>
        <p:nvSpPr>
          <p:cNvPr id="18" name="Shape 18"/>
          <p:cNvSpPr txBox="1"/>
          <p:nvPr/>
        </p:nvSpPr>
        <p:spPr>
          <a:xfrm>
            <a:off x="8174736" y="1755648"/>
            <a:ext cx="32918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>
                <a:solidFill>
                  <a:srgbClr val="2447FF"/>
                </a:solidFill>
                <a:latin typeface="Space Grotesk"/>
              </a:rPr>
              <a:t>$2,172</a:t>
            </a:r>
            <a:r>
              <a:rPr sz="1000" b="0">
                <a:solidFill>
                  <a:srgbClr val="6B6558"/>
                </a:solidFill>
                <a:latin typeface="Inter"/>
              </a:rPr>
              <a:t>   141 clicks · 7 orders · CVR 5.0%</a:t>
            </a:r>
          </a:p>
        </p:txBody>
      </p:sp>
      <p:sp>
        <p:nvSpPr>
          <p:cNvPr id="19" name="Shape 19"/>
          <p:cNvSpPr/>
          <p:nvPr/>
        </p:nvSpPr>
        <p:spPr>
          <a:xfrm>
            <a:off x="548640" y="2514600"/>
            <a:ext cx="3566160" cy="1005840"/>
          </a:xfrm>
          <a:prstGeom prst="roundRect">
            <a:avLst>
              <a:gd name="" fmla="val 6000"/>
            </a:avLst>
          </a:prstGeom>
          <a:solidFill>
            <a:srgbClr val="F6F3EC"/>
          </a:solidFill>
          <a:ln>
            <a:noFill/>
          </a:ln>
        </p:spPr>
      </p:sp>
      <p:sp>
        <p:nvSpPr>
          <p:cNvPr id="20" name="Shape 20"/>
          <p:cNvSpPr txBox="1"/>
          <p:nvPr/>
        </p:nvSpPr>
        <p:spPr>
          <a:xfrm>
            <a:off x="713232" y="2606040"/>
            <a:ext cx="32918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1">
                <a:solidFill>
                  <a:srgbClr val="0F172A"/>
                </a:solidFill>
                <a:latin typeface="Inter"/>
              </a:rPr>
              <a:t>“dormeo 3" premium mattress topper” · SP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713232" y="2898648"/>
            <a:ext cx="32918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>
                <a:solidFill>
                  <a:srgbClr val="2447FF"/>
                </a:solidFill>
                <a:latin typeface="Space Grotesk"/>
              </a:rPr>
              <a:t>$1,374</a:t>
            </a:r>
            <a:r>
              <a:rPr sz="1000" b="0">
                <a:solidFill>
                  <a:srgbClr val="6B6558"/>
                </a:solidFill>
                <a:latin typeface="Inter"/>
              </a:rPr>
              <a:t>   8 clicks · 3 orders · CVR 37.5%</a:t>
            </a:r>
          </a:p>
        </p:txBody>
      </p:sp>
      <p:sp>
        <p:nvSpPr>
          <p:cNvPr id="22" name="Shape 22"/>
          <p:cNvSpPr/>
          <p:nvPr/>
        </p:nvSpPr>
        <p:spPr>
          <a:xfrm>
            <a:off x="4279392" y="2514600"/>
            <a:ext cx="3566160" cy="1005840"/>
          </a:xfrm>
          <a:prstGeom prst="roundRect">
            <a:avLst>
              <a:gd name="" fmla="val 6000"/>
            </a:avLst>
          </a:prstGeom>
          <a:solidFill>
            <a:srgbClr val="F6F3EC"/>
          </a:solidFill>
          <a:ln>
            <a:noFill/>
          </a:ln>
        </p:spPr>
      </p:sp>
      <p:sp>
        <p:nvSpPr>
          <p:cNvPr id="23" name="Shape 23"/>
          <p:cNvSpPr txBox="1"/>
          <p:nvPr/>
        </p:nvSpPr>
        <p:spPr>
          <a:xfrm>
            <a:off x="4443983" y="2606040"/>
            <a:ext cx="32918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1">
                <a:solidFill>
                  <a:srgbClr val="0F172A"/>
                </a:solidFill>
                <a:latin typeface="Inter"/>
              </a:rPr>
              <a:t>“dormeo mattress topper queen” · SP</a:t>
            </a:r>
          </a:p>
        </p:txBody>
      </p:sp>
      <p:sp>
        <p:nvSpPr>
          <p:cNvPr id="24" name="Shape 24"/>
          <p:cNvSpPr txBox="1"/>
          <p:nvPr/>
        </p:nvSpPr>
        <p:spPr>
          <a:xfrm>
            <a:off x="4443983" y="2898648"/>
            <a:ext cx="32918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>
                <a:solidFill>
                  <a:srgbClr val="2447FF"/>
                </a:solidFill>
                <a:latin typeface="Space Grotesk"/>
              </a:rPr>
              <a:t>$1,074</a:t>
            </a:r>
            <a:r>
              <a:rPr sz="1000" b="0">
                <a:solidFill>
                  <a:srgbClr val="6B6558"/>
                </a:solidFill>
                <a:latin typeface="Inter"/>
              </a:rPr>
              <a:t>   169 clicks · 5 orders · CVR 3.0%</a:t>
            </a:r>
          </a:p>
        </p:txBody>
      </p:sp>
      <p:sp>
        <p:nvSpPr>
          <p:cNvPr id="25" name="Shape 25"/>
          <p:cNvSpPr/>
          <p:nvPr/>
        </p:nvSpPr>
        <p:spPr>
          <a:xfrm>
            <a:off x="8010144" y="2514600"/>
            <a:ext cx="3566160" cy="1005840"/>
          </a:xfrm>
          <a:prstGeom prst="roundRect">
            <a:avLst>
              <a:gd name="" fmla="val 6000"/>
            </a:avLst>
          </a:prstGeom>
          <a:solidFill>
            <a:srgbClr val="F6F3EC"/>
          </a:solidFill>
          <a:ln>
            <a:noFill/>
          </a:ln>
        </p:spPr>
      </p:sp>
      <p:sp>
        <p:nvSpPr>
          <p:cNvPr id="26" name="Shape 26"/>
          <p:cNvSpPr txBox="1"/>
          <p:nvPr/>
        </p:nvSpPr>
        <p:spPr>
          <a:xfrm>
            <a:off x="8174736" y="2606040"/>
            <a:ext cx="32918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1">
                <a:solidFill>
                  <a:srgbClr val="0F172A"/>
                </a:solidFill>
                <a:latin typeface="Inter"/>
              </a:rPr>
              <a:t>“dormeo mattress topper” · SP</a:t>
            </a:r>
          </a:p>
        </p:txBody>
      </p:sp>
      <p:sp>
        <p:nvSpPr>
          <p:cNvPr id="27" name="Shape 27"/>
          <p:cNvSpPr txBox="1"/>
          <p:nvPr/>
        </p:nvSpPr>
        <p:spPr>
          <a:xfrm>
            <a:off x="8174736" y="2898648"/>
            <a:ext cx="32918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>
                <a:solidFill>
                  <a:srgbClr val="2447FF"/>
                </a:solidFill>
                <a:latin typeface="Space Grotesk"/>
              </a:rPr>
              <a:t>$972</a:t>
            </a:r>
            <a:r>
              <a:rPr sz="1000" b="0">
                <a:solidFill>
                  <a:srgbClr val="6B6558"/>
                </a:solidFill>
                <a:latin typeface="Inter"/>
              </a:rPr>
              <a:t>   391 clicks · 6 orders · CVR 1.5%</a:t>
            </a:r>
          </a:p>
        </p:txBody>
      </p:sp>
      <p:graphicFrame>
        <p:nvGraphicFramePr>
          <p:cNvPr id="28" name="Shape 28"/>
          <p:cNvGraphicFramePr>
            <a:graphicFrameLocks noGrp="1"/>
          </p:cNvGraphicFramePr>
          <p:nvPr/>
        </p:nvGraphicFramePr>
        <p:xfrm>
          <a:off x="548640" y="3749039"/>
          <a:ext cx="11091672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548640"/>
                <a:gridCol w="1143000"/>
                <a:gridCol w="822960"/>
                <a:gridCol w="822960"/>
                <a:gridCol w="822960"/>
                <a:gridCol w="1188720"/>
                <a:gridCol w="1188720"/>
                <a:gridCol w="1261872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Inter"/>
                        </a:rPr>
                        <a:t>Search term</a:t>
                      </a:r>
                    </a:p>
                  </a:txBody>
                  <a:tcPr marL="54864" marR="54864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Inter"/>
                        </a:rPr>
                        <a:t>Ad</a:t>
                      </a:r>
                    </a:p>
                  </a:txBody>
                  <a:tcPr marL="54864" marR="54864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Inter"/>
                        </a:rPr>
                        <a:t>Impressions</a:t>
                      </a:r>
                    </a:p>
                  </a:txBody>
                  <a:tcPr marL="54864" marR="54864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Inter"/>
                        </a:rPr>
                        <a:t>Clicks</a:t>
                      </a:r>
                    </a:p>
                  </a:txBody>
                  <a:tcPr marL="54864" marR="54864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Inter"/>
                        </a:rPr>
                        <a:t>Orders</a:t>
                      </a:r>
                    </a:p>
                  </a:txBody>
                  <a:tcPr marL="54864" marR="54864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Inter"/>
                        </a:rPr>
                        <a:t>CVR</a:t>
                      </a:r>
                    </a:p>
                  </a:txBody>
                  <a:tcPr marL="54864" marR="54864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Inter"/>
                        </a:rPr>
                        <a:t>Spend</a:t>
                      </a:r>
                    </a:p>
                  </a:txBody>
                  <a:tcPr marL="54864" marR="54864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Inter"/>
                        </a:rPr>
                        <a:t>Sales</a:t>
                      </a:r>
                    </a:p>
                  </a:txBody>
                  <a:tcPr marL="54864" marR="54864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Inter"/>
                        </a:rPr>
                        <a:t>ACoS</a:t>
                      </a:r>
                    </a:p>
                  </a:txBody>
                  <a:tcPr marL="54864" marR="54864" marT="27432" marB="27432" anchor="ctr">
                    <a:solidFill>
                      <a:srgbClr val="0F172A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dormeo mattress topper king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SP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7,893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87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6.9%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$206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$2,481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8.3%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dormeo mattress topper full size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SP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11,776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236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2.5%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$258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$2,260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11.4%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dormeo mattress topper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SB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3,974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141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$237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$2,172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10.9%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dormeo 3" premium mattress topper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SP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121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8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37.5%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$13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$1,374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0.9%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dormeo mattress topper queen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SP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6,690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169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$295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$1,074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27.5%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dormeo mattress topper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SP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9,825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391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1.5%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$545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$972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DC2626"/>
                          </a:solidFill>
                          <a:latin typeface="Inter"/>
                        </a:rPr>
                        <a:t>56.1%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dormeo topper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SP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1,214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60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6.7%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$82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$884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9.3%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dormeo mattress pad queen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SP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174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100.0%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$4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$791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F172A"/>
                          </a:solidFill>
                          <a:latin typeface="Inter"/>
                        </a:rPr>
                        <a:t>0.5%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Shape 1"/>
        <p:cNvGrpSpPr/>
        <p:nvPr/>
      </p:nvGrpSpPr>
      <p:grpSpPr/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548640" y="502920"/>
            <a:ext cx="73152" cy="566928"/>
          </a:xfrm>
          <a:prstGeom prst="rect">
            <a:avLst/>
          </a:prstGeom>
          <a:solidFill>
            <a:srgbClr val="2447FF"/>
          </a:solidFill>
          <a:ln>
            <a:noFill/>
          </a:ln>
        </p:spPr>
      </p:sp>
      <p:sp>
        <p:nvSpPr>
          <p:cNvPr id="4" name="Shape 4"/>
          <p:cNvSpPr txBox="1"/>
          <p:nvPr/>
        </p:nvSpPr>
        <p:spPr>
          <a:xfrm>
            <a:off x="731520" y="384048"/>
            <a:ext cx="8686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447FF"/>
                </a:solidFill>
                <a:latin typeface="Space Grotesk"/>
              </a:rPr>
              <a:t>AMAZON ADS</a:t>
            </a:r>
          </a:p>
        </p:txBody>
      </p:sp>
      <p:sp>
        <p:nvSpPr>
          <p:cNvPr id="5" name="Shape 5"/>
          <p:cNvSpPr txBox="1"/>
          <p:nvPr/>
        </p:nvSpPr>
        <p:spPr>
          <a:xfrm>
            <a:off x="731520" y="603504"/>
            <a:ext cx="960120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Space Grotesk"/>
              </a:rPr>
              <a:t>Category keywords</a:t>
            </a:r>
          </a:p>
        </p:txBody>
      </p:sp>
      <p:pic>
        <p:nvPicPr>
          <p:cNvPr id="6" name="Shape 6" descr="logo_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560" y="457200"/>
            <a:ext cx="1463040" cy="256032"/>
          </a:xfrm>
          <a:prstGeom prst="rect">
            <a:avLst/>
          </a:prstGeom>
        </p:spPr>
      </p:pic>
      <p:sp>
        <p:nvSpPr>
          <p:cNvPr id="7" name="Shape 7"/>
          <p:cNvSpPr/>
          <p:nvPr/>
        </p:nvSpPr>
        <p:spPr>
          <a:xfrm>
            <a:off x="548640" y="6400800"/>
            <a:ext cx="11091672" cy="10972"/>
          </a:xfrm>
          <a:prstGeom prst="rect">
            <a:avLst/>
          </a:prstGeom>
          <a:solidFill>
            <a:srgbClr val="E5E0D6"/>
          </a:solidFill>
          <a:ln>
            <a:noFill/>
          </a:ln>
        </p:spPr>
      </p:sp>
      <p:sp>
        <p:nvSpPr>
          <p:cNvPr id="8" name="Shape 8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>
                <a:solidFill>
                  <a:srgbClr val="6B6558"/>
                </a:solidFill>
                <a:latin typeface="Inter"/>
              </a:rPr>
              <a:t>Dormeo US · Weekly Business Review · Week 43 (Oct 19–25, 2026)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10241280" y="6455664"/>
            <a:ext cx="1399032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>
                <a:solidFill>
                  <a:srgbClr val="6B6558"/>
                </a:solidFill>
                <a:latin typeface="Inter"/>
              </a:rPr>
              <a:t>9 / 17</a:t>
            </a:r>
          </a:p>
        </p:txBody>
      </p:sp>
      <p:graphicFrame>
        <p:nvGraphicFramePr>
          <p:cNvPr id="10" name="Shape 10"/>
          <p:cNvGraphicFramePr>
            <a:graphicFrameLocks noGrp="1"/>
          </p:cNvGraphicFramePr>
          <p:nvPr/>
        </p:nvGraphicFramePr>
        <p:xfrm>
          <a:off x="548640" y="1417320"/>
          <a:ext cx="1109167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25112"/>
                <a:gridCol w="914400"/>
                <a:gridCol w="1463040"/>
                <a:gridCol w="1097280"/>
                <a:gridCol w="1097280"/>
                <a:gridCol w="1097280"/>
                <a:gridCol w="109728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Inter"/>
                        </a:rPr>
                        <a:t>Search term</a:t>
                      </a:r>
                    </a:p>
                  </a:txBody>
                  <a:tcPr marL="54864" marR="54864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Inter"/>
                        </a:rPr>
                        <a:t>Ad</a:t>
                      </a:r>
                    </a:p>
                  </a:txBody>
                  <a:tcPr marL="54864" marR="54864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Inter"/>
                        </a:rPr>
                        <a:t>Impressions</a:t>
                      </a:r>
                    </a:p>
                  </a:txBody>
                  <a:tcPr marL="54864" marR="54864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Inter"/>
                        </a:rPr>
                        <a:t>Clicks</a:t>
                      </a:r>
                    </a:p>
                  </a:txBody>
                  <a:tcPr marL="54864" marR="54864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Inter"/>
                        </a:rPr>
                        <a:t>Orders</a:t>
                      </a:r>
                    </a:p>
                  </a:txBody>
                  <a:tcPr marL="54864" marR="54864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Inter"/>
                        </a:rPr>
                        <a:t>Spend</a:t>
                      </a:r>
                    </a:p>
                  </a:txBody>
                  <a:tcPr marL="54864" marR="54864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Inter"/>
                        </a:rPr>
                        <a:t>Sales</a:t>
                      </a:r>
                    </a:p>
                  </a:txBody>
                  <a:tcPr marL="54864" marR="54864" marT="27432" marB="27432" anchor="ctr">
                    <a:solidFill>
                      <a:srgbClr val="0F172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split king mattress topper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SP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776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$7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$495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domeo mattress topper king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SP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$3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$495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short king mattress topper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SP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44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$3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$495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mattress topper queen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SB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12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$9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$399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best mattress topper firm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SP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$3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$399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11"/>
          <p:cNvSpPr txBox="1"/>
          <p:nvPr/>
        </p:nvSpPr>
        <p:spPr>
          <a:xfrm>
            <a:off x="548640" y="3858768"/>
            <a:ext cx="11091672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>
                <a:solidFill>
                  <a:srgbClr val="6B6558"/>
                </a:solidFill>
                <a:latin typeface="Inter"/>
              </a:rPr>
              <a:t>Top category searches by ad sales, Oct 19–25, 2026 (Sponsored Products and Brands search-term report; only searches with at least one click are reported).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Shape 1"/>
        <p:cNvGrpSpPr/>
        <p:nvPr/>
      </p:nvGrpSpPr>
      <p:grpSpPr/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548640" y="502920"/>
            <a:ext cx="73152" cy="566928"/>
          </a:xfrm>
          <a:prstGeom prst="rect">
            <a:avLst/>
          </a:prstGeom>
          <a:solidFill>
            <a:srgbClr val="2447FF"/>
          </a:solidFill>
          <a:ln>
            <a:noFill/>
          </a:ln>
        </p:spPr>
      </p:sp>
      <p:sp>
        <p:nvSpPr>
          <p:cNvPr id="4" name="Shape 4"/>
          <p:cNvSpPr txBox="1"/>
          <p:nvPr/>
        </p:nvSpPr>
        <p:spPr>
          <a:xfrm>
            <a:off x="731520" y="384048"/>
            <a:ext cx="8686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447FF"/>
                </a:solidFill>
                <a:latin typeface="Space Grotesk"/>
              </a:rPr>
              <a:t>AMAZON ADS</a:t>
            </a:r>
          </a:p>
        </p:txBody>
      </p:sp>
      <p:sp>
        <p:nvSpPr>
          <p:cNvPr id="5" name="Shape 5"/>
          <p:cNvSpPr txBox="1"/>
          <p:nvPr/>
        </p:nvSpPr>
        <p:spPr>
          <a:xfrm>
            <a:off x="731520" y="603504"/>
            <a:ext cx="960120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Space Grotesk"/>
              </a:rPr>
              <a:t>Advertising performance — daily, last 2 weeks</a:t>
            </a:r>
          </a:p>
        </p:txBody>
      </p:sp>
      <p:pic>
        <p:nvPicPr>
          <p:cNvPr id="6" name="Shape 6" descr="logo_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560" y="457200"/>
            <a:ext cx="1463040" cy="256032"/>
          </a:xfrm>
          <a:prstGeom prst="rect">
            <a:avLst/>
          </a:prstGeom>
        </p:spPr>
      </p:pic>
      <p:sp>
        <p:nvSpPr>
          <p:cNvPr id="7" name="Shape 7"/>
          <p:cNvSpPr/>
          <p:nvPr/>
        </p:nvSpPr>
        <p:spPr>
          <a:xfrm>
            <a:off x="548640" y="6400800"/>
            <a:ext cx="11091672" cy="10972"/>
          </a:xfrm>
          <a:prstGeom prst="rect">
            <a:avLst/>
          </a:prstGeom>
          <a:solidFill>
            <a:srgbClr val="E5E0D6"/>
          </a:solidFill>
          <a:ln>
            <a:noFill/>
          </a:ln>
        </p:spPr>
      </p:sp>
      <p:sp>
        <p:nvSpPr>
          <p:cNvPr id="8" name="Shape 8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>
                <a:solidFill>
                  <a:srgbClr val="6B6558"/>
                </a:solidFill>
                <a:latin typeface="Inter"/>
              </a:rPr>
              <a:t>Dormeo US · Weekly Business Review · Week 43 (Oct 19–25, 2026)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10241280" y="6455664"/>
            <a:ext cx="1399032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>
                <a:solidFill>
                  <a:srgbClr val="6B6558"/>
                </a:solidFill>
                <a:latin typeface="Inter"/>
              </a:rPr>
              <a:t>10 / 17</a:t>
            </a:r>
          </a:p>
        </p:txBody>
      </p:sp>
      <p:graphicFrame>
        <p:nvGraphicFramePr>
          <p:cNvPr id="10" name="Shape 10"/>
          <p:cNvGraphicFramePr>
            <a:graphicFrameLocks noGrp="1"/>
          </p:cNvGraphicFramePr>
          <p:nvPr/>
        </p:nvGraphicFramePr>
        <p:xfrm>
          <a:off x="548640" y="1325880"/>
          <a:ext cx="10360152" cy="4197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548640"/>
                <a:gridCol w="1051560"/>
                <a:gridCol w="960120"/>
                <a:gridCol w="960120"/>
                <a:gridCol w="731520"/>
                <a:gridCol w="731520"/>
                <a:gridCol w="731520"/>
                <a:gridCol w="731520"/>
                <a:gridCol w="822960"/>
                <a:gridCol w="1097280"/>
                <a:gridCol w="758952"/>
              </a:tblGrid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Inter"/>
                        </a:rPr>
                        <a:t>Date</a:t>
                      </a:r>
                    </a:p>
                  </a:txBody>
                  <a:tcPr marL="54864" marR="54864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Inter"/>
                        </a:rPr>
                        <a:t>Day</a:t>
                      </a:r>
                    </a:p>
                  </a:txBody>
                  <a:tcPr marL="54864" marR="54864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Inter"/>
                        </a:rPr>
                        <a:t>Total sales</a:t>
                      </a:r>
                    </a:p>
                  </a:txBody>
                  <a:tcPr marL="54864" marR="54864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Inter"/>
                        </a:rPr>
                        <a:t>PPC spend</a:t>
                      </a:r>
                    </a:p>
                  </a:txBody>
                  <a:tcPr marL="54864" marR="54864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Inter"/>
                        </a:rPr>
                        <a:t>PPC sales</a:t>
                      </a:r>
                    </a:p>
                  </a:txBody>
                  <a:tcPr marL="54864" marR="54864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Inter"/>
                        </a:rPr>
                        <a:t>ROAS</a:t>
                      </a:r>
                    </a:p>
                  </a:txBody>
                  <a:tcPr marL="54864" marR="54864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Inter"/>
                        </a:rPr>
                        <a:t>ACoS</a:t>
                      </a:r>
                    </a:p>
                  </a:txBody>
                  <a:tcPr marL="54864" marR="54864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Inter"/>
                        </a:rPr>
                        <a:t>TACoS</a:t>
                      </a:r>
                    </a:p>
                  </a:txBody>
                  <a:tcPr marL="54864" marR="54864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Inter"/>
                        </a:rPr>
                        <a:t>Orders</a:t>
                      </a:r>
                    </a:p>
                  </a:txBody>
                  <a:tcPr marL="54864" marR="54864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Inter"/>
                        </a:rPr>
                        <a:t>Ad orders</a:t>
                      </a:r>
                    </a:p>
                  </a:txBody>
                  <a:tcPr marL="54864" marR="54864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Inter"/>
                        </a:rPr>
                        <a:t>Organic sales</a:t>
                      </a:r>
                    </a:p>
                  </a:txBody>
                  <a:tcPr marL="54864" marR="54864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Inter"/>
                        </a:rPr>
                        <a:t>Ad sales %</a:t>
                      </a:r>
                    </a:p>
                  </a:txBody>
                  <a:tcPr marL="54864" marR="54864" marT="27432" marB="27432" anchor="ctr">
                    <a:solidFill>
                      <a:srgbClr val="0F172A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Oct 12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Mon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$11,725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$1,342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$8,431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6.28x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15.9%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11.4%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35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27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$3,294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72%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Oct 13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Tue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$10,907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$1,255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$6,217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4.95x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20.2%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11.5%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29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20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$4,690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57%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Oct 14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Wed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$9,267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$1,103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$4,001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3.63x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27.6%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11.9%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$5,266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43%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Oct 15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Thu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$9,621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$1,245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$6,146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4.94x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20.3%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12.9%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25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20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$3,475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64%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Oct 16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Fri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$12,668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$1,704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$7,159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4.20x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23.8%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13.4%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34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20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$5,509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57%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Oct 17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Sat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$10,477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$1,625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$3,610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2.22x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DC2626"/>
                          </a:solidFill>
                          <a:latin typeface="Inter"/>
                        </a:rPr>
                        <a:t>45.0%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15.5%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27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15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$6,867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34%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Oct 18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Sun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$13,022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$1,315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$4,502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3.42x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29.2%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10.1%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41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17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$8,520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35%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F172A"/>
                          </a:solidFill>
                          <a:latin typeface="Inter"/>
                        </a:rPr>
                        <a:t>Week Oct 12 – 18</a:t>
                      </a:r>
                    </a:p>
                  </a:txBody>
                  <a:tcPr marL="54864" marR="54864" marT="27432" marB="27432" anchor="ctr">
                    <a:solidFill>
                      <a:srgbClr val="F6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0F172A"/>
                          </a:solidFill>
                          <a:latin typeface="Inter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6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0F172A"/>
                          </a:solidFill>
                          <a:latin typeface="Inter"/>
                        </a:rPr>
                        <a:t>$77,688</a:t>
                      </a:r>
                    </a:p>
                  </a:txBody>
                  <a:tcPr marL="54864" marR="54864" marT="27432" marB="27432" anchor="ctr">
                    <a:solidFill>
                      <a:srgbClr val="F6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0F172A"/>
                          </a:solidFill>
                          <a:latin typeface="Inter"/>
                        </a:rPr>
                        <a:t>$9,590</a:t>
                      </a:r>
                    </a:p>
                  </a:txBody>
                  <a:tcPr marL="54864" marR="54864" marT="27432" marB="27432" anchor="ctr">
                    <a:solidFill>
                      <a:srgbClr val="F6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0F172A"/>
                          </a:solidFill>
                          <a:latin typeface="Inter"/>
                        </a:rPr>
                        <a:t>$40,065</a:t>
                      </a:r>
                    </a:p>
                  </a:txBody>
                  <a:tcPr marL="54864" marR="54864" marT="27432" marB="27432" anchor="ctr">
                    <a:solidFill>
                      <a:srgbClr val="F6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0F172A"/>
                          </a:solidFill>
                          <a:latin typeface="Inter"/>
                        </a:rPr>
                        <a:t>4.18x</a:t>
                      </a:r>
                    </a:p>
                  </a:txBody>
                  <a:tcPr marL="54864" marR="54864" marT="27432" marB="27432" anchor="ctr">
                    <a:solidFill>
                      <a:srgbClr val="F6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0F172A"/>
                          </a:solidFill>
                          <a:latin typeface="Inter"/>
                        </a:rPr>
                        <a:t>23.9%</a:t>
                      </a:r>
                    </a:p>
                  </a:txBody>
                  <a:tcPr marL="54864" marR="54864" marT="27432" marB="27432" anchor="ctr">
                    <a:solidFill>
                      <a:srgbClr val="F6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0F172A"/>
                          </a:solidFill>
                          <a:latin typeface="Inter"/>
                        </a:rPr>
                        <a:t>12.3%</a:t>
                      </a:r>
                    </a:p>
                  </a:txBody>
                  <a:tcPr marL="54864" marR="54864" marT="27432" marB="27432" anchor="ctr">
                    <a:solidFill>
                      <a:srgbClr val="F6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0F172A"/>
                          </a:solidFill>
                          <a:latin typeface="Inter"/>
                        </a:rPr>
                        <a:t>222</a:t>
                      </a:r>
                    </a:p>
                  </a:txBody>
                  <a:tcPr marL="54864" marR="54864" marT="27432" marB="27432" anchor="ctr">
                    <a:solidFill>
                      <a:srgbClr val="F6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0F172A"/>
                          </a:solidFill>
                          <a:latin typeface="Inter"/>
                        </a:rPr>
                        <a:t>134</a:t>
                      </a:r>
                    </a:p>
                  </a:txBody>
                  <a:tcPr marL="54864" marR="54864" marT="27432" marB="27432" anchor="ctr">
                    <a:solidFill>
                      <a:srgbClr val="F6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0F172A"/>
                          </a:solidFill>
                          <a:latin typeface="Inter"/>
                        </a:rPr>
                        <a:t>$37,623</a:t>
                      </a:r>
                    </a:p>
                  </a:txBody>
                  <a:tcPr marL="54864" marR="54864" marT="27432" marB="27432" anchor="ctr">
                    <a:solidFill>
                      <a:srgbClr val="F6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0F172A"/>
                          </a:solidFill>
                          <a:latin typeface="Inter"/>
                        </a:rPr>
                        <a:t>52%</a:t>
                      </a:r>
                    </a:p>
                  </a:txBody>
                  <a:tcPr marL="54864" marR="54864" marT="27432" marB="27432" anchor="ctr">
                    <a:solidFill>
                      <a:srgbClr val="F6F3E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Oct 19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Mon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$10,204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$949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$5,455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5.75x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17.4%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9.3%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$4,750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53%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Oct 20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Tue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$8,027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$1,021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$5,187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5.08x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19.7%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12.7%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22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14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$2,840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65%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Oct 21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Wed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$9,338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$950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$3,514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3.70x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27.0%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10.2%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$5,824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38%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Oct 22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Thu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$5,560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$938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$2,001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2.13x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DC2626"/>
                          </a:solidFill>
                          <a:latin typeface="Inter"/>
                        </a:rPr>
                        <a:t>46.9%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16.9%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17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$3,559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36%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Oct 23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Fri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$6,075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$890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$3,584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4.03x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24.8%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14.7%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$2,491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59%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Oct 24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Sat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$10,523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$1,071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$5,479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5.12x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19.5%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10.2%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29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18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$5,044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52%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Oct 25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Sun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$8,009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$922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$3,205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3.48x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28.8%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11.5%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24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12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$4,804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F172A"/>
                          </a:solidFill>
                          <a:latin typeface="Inter"/>
                        </a:rPr>
                        <a:t>40%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F172A"/>
                          </a:solidFill>
                          <a:latin typeface="Inter"/>
                        </a:rPr>
                        <a:t>Week Oct 19 – 25</a:t>
                      </a:r>
                    </a:p>
                  </a:txBody>
                  <a:tcPr marL="54864" marR="54864" marT="27432" marB="27432" anchor="ctr">
                    <a:solidFill>
                      <a:srgbClr val="F6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0F172A"/>
                          </a:solidFill>
                          <a:latin typeface="Inter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6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0F172A"/>
                          </a:solidFill>
                          <a:latin typeface="Inter"/>
                        </a:rPr>
                        <a:t>$57,736</a:t>
                      </a:r>
                    </a:p>
                  </a:txBody>
                  <a:tcPr marL="54864" marR="54864" marT="27432" marB="27432" anchor="ctr">
                    <a:solidFill>
                      <a:srgbClr val="F6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0F172A"/>
                          </a:solidFill>
                          <a:latin typeface="Inter"/>
                        </a:rPr>
                        <a:t>$6,741</a:t>
                      </a:r>
                    </a:p>
                  </a:txBody>
                  <a:tcPr marL="54864" marR="54864" marT="27432" marB="27432" anchor="ctr">
                    <a:solidFill>
                      <a:srgbClr val="F6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0F172A"/>
                          </a:solidFill>
                          <a:latin typeface="Inter"/>
                        </a:rPr>
                        <a:t>$28,425</a:t>
                      </a:r>
                    </a:p>
                  </a:txBody>
                  <a:tcPr marL="54864" marR="54864" marT="27432" marB="27432" anchor="ctr">
                    <a:solidFill>
                      <a:srgbClr val="F6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0F172A"/>
                          </a:solidFill>
                          <a:latin typeface="Inter"/>
                        </a:rPr>
                        <a:t>4.22x</a:t>
                      </a:r>
                    </a:p>
                  </a:txBody>
                  <a:tcPr marL="54864" marR="54864" marT="27432" marB="27432" anchor="ctr">
                    <a:solidFill>
                      <a:srgbClr val="F6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0F172A"/>
                          </a:solidFill>
                          <a:latin typeface="Inter"/>
                        </a:rPr>
                        <a:t>23.7%</a:t>
                      </a:r>
                    </a:p>
                  </a:txBody>
                  <a:tcPr marL="54864" marR="54864" marT="27432" marB="27432" anchor="ctr">
                    <a:solidFill>
                      <a:srgbClr val="F6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0F172A"/>
                          </a:solidFill>
                          <a:latin typeface="Inter"/>
                        </a:rPr>
                        <a:t>11.7%</a:t>
                      </a:r>
                    </a:p>
                  </a:txBody>
                  <a:tcPr marL="54864" marR="54864" marT="27432" marB="27432" anchor="ctr">
                    <a:solidFill>
                      <a:srgbClr val="F6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0F172A"/>
                          </a:solidFill>
                          <a:latin typeface="Inter"/>
                        </a:rPr>
                        <a:t>157</a:t>
                      </a:r>
                    </a:p>
                  </a:txBody>
                  <a:tcPr marL="54864" marR="54864" marT="27432" marB="27432" anchor="ctr">
                    <a:solidFill>
                      <a:srgbClr val="F6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0F172A"/>
                          </a:solidFill>
                          <a:latin typeface="Inter"/>
                        </a:rPr>
                        <a:t>85</a:t>
                      </a:r>
                    </a:p>
                  </a:txBody>
                  <a:tcPr marL="54864" marR="54864" marT="27432" marB="27432" anchor="ctr">
                    <a:solidFill>
                      <a:srgbClr val="F6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0F172A"/>
                          </a:solidFill>
                          <a:latin typeface="Inter"/>
                        </a:rPr>
                        <a:t>$29,311</a:t>
                      </a:r>
                    </a:p>
                  </a:txBody>
                  <a:tcPr marL="54864" marR="54864" marT="27432" marB="27432" anchor="ctr">
                    <a:solidFill>
                      <a:srgbClr val="F6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0F172A"/>
                          </a:solidFill>
                          <a:latin typeface="Inter"/>
                        </a:rPr>
                        <a:t>49%</a:t>
                      </a:r>
                    </a:p>
                  </a:txBody>
                  <a:tcPr marL="54864" marR="54864" marT="27432" marB="27432" anchor="ctr">
                    <a:solidFill>
                      <a:srgbClr val="F6F3EC"/>
                    </a:solidFill>
                  </a:tcPr>
                </a:tc>
              </a:tr>
            </a:tbl>
          </a:graphicData>
        </a:graphic>
      </p:graphicFrame>
      <p:sp>
        <p:nvSpPr>
          <p:cNvPr id="11" name="Shape 11"/>
          <p:cNvSpPr txBox="1"/>
          <p:nvPr/>
        </p:nvSpPr>
        <p:spPr>
          <a:xfrm>
            <a:off x="548640" y="5943600"/>
            <a:ext cx="11091672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>
                <a:solidFill>
                  <a:srgbClr val="6B6558"/>
                </a:solidFill>
                <a:latin typeface="Inter"/>
              </a:rPr>
              <a:t>Organic sales = total sales minus ad-attributed sales (floored at $0). Daily clicks and impressions aren't in the Sellerise daily feed; weekly totals: 3,375 clicks / 629,651 impressions this week vs 4,647 / 837,676.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Shape 1"/>
        <p:cNvGrpSpPr/>
        <p:nvPr/>
      </p:nvGrpSpPr>
      <p:grpSpPr/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548640" y="502920"/>
            <a:ext cx="73152" cy="566928"/>
          </a:xfrm>
          <a:prstGeom prst="rect">
            <a:avLst/>
          </a:prstGeom>
          <a:solidFill>
            <a:srgbClr val="2447FF"/>
          </a:solidFill>
          <a:ln>
            <a:noFill/>
          </a:ln>
        </p:spPr>
      </p:sp>
      <p:sp>
        <p:nvSpPr>
          <p:cNvPr id="4" name="Shape 4"/>
          <p:cNvSpPr txBox="1"/>
          <p:nvPr/>
        </p:nvSpPr>
        <p:spPr>
          <a:xfrm>
            <a:off x="731520" y="384048"/>
            <a:ext cx="8686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447FF"/>
                </a:solidFill>
                <a:latin typeface="Space Grotesk"/>
              </a:rPr>
              <a:t>MARKETING</a:t>
            </a:r>
          </a:p>
        </p:txBody>
      </p:sp>
      <p:sp>
        <p:nvSpPr>
          <p:cNvPr id="5" name="Shape 5"/>
          <p:cNvSpPr txBox="1"/>
          <p:nvPr/>
        </p:nvSpPr>
        <p:spPr>
          <a:xfrm>
            <a:off x="731520" y="603504"/>
            <a:ext cx="960120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Space Grotesk"/>
              </a:rPr>
              <a:t>Coupons, promotions &amp; upcoming events</a:t>
            </a:r>
          </a:p>
        </p:txBody>
      </p:sp>
      <p:pic>
        <p:nvPicPr>
          <p:cNvPr id="6" name="Shape 6" descr="logo_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560" y="457200"/>
            <a:ext cx="1463040" cy="256032"/>
          </a:xfrm>
          <a:prstGeom prst="rect">
            <a:avLst/>
          </a:prstGeom>
        </p:spPr>
      </p:pic>
      <p:sp>
        <p:nvSpPr>
          <p:cNvPr id="7" name="Shape 7"/>
          <p:cNvSpPr/>
          <p:nvPr/>
        </p:nvSpPr>
        <p:spPr>
          <a:xfrm>
            <a:off x="548640" y="6400800"/>
            <a:ext cx="11091672" cy="10972"/>
          </a:xfrm>
          <a:prstGeom prst="rect">
            <a:avLst/>
          </a:prstGeom>
          <a:solidFill>
            <a:srgbClr val="E5E0D6"/>
          </a:solidFill>
          <a:ln>
            <a:noFill/>
          </a:ln>
        </p:spPr>
      </p:sp>
      <p:sp>
        <p:nvSpPr>
          <p:cNvPr id="8" name="Shape 8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>
                <a:solidFill>
                  <a:srgbClr val="6B6558"/>
                </a:solidFill>
                <a:latin typeface="Inter"/>
              </a:rPr>
              <a:t>Dormeo US · Weekly Business Review · Week 43 (Oct 19–25, 2026)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10241280" y="6455664"/>
            <a:ext cx="1399032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>
                <a:solidFill>
                  <a:srgbClr val="6B6558"/>
                </a:solidFill>
                <a:latin typeface="Inter"/>
              </a:rPr>
              <a:t>11 / 17</a:t>
            </a:r>
          </a:p>
        </p:txBody>
      </p:sp>
      <p:sp>
        <p:nvSpPr>
          <p:cNvPr id="10" name="Shape 10"/>
          <p:cNvSpPr/>
          <p:nvPr/>
        </p:nvSpPr>
        <p:spPr>
          <a:xfrm>
            <a:off x="548640" y="1371600"/>
            <a:ext cx="11091672" cy="502920"/>
          </a:xfrm>
          <a:prstGeom prst="roundRect">
            <a:avLst>
              <a:gd name="" fmla="val 6000"/>
            </a:avLst>
          </a:prstGeom>
          <a:solidFill>
            <a:srgbClr val="EEF2FF"/>
          </a:solidFill>
          <a:ln>
            <a:noFill/>
          </a:ln>
        </p:spPr>
      </p:sp>
      <p:sp>
        <p:nvSpPr>
          <p:cNvPr id="11" name="Shape 11"/>
          <p:cNvSpPr txBox="1"/>
          <p:nvPr/>
        </p:nvSpPr>
        <p:spPr>
          <a:xfrm>
            <a:off x="731520" y="1371600"/>
            <a:ext cx="1078992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0">
                <a:solidFill>
                  <a:srgbClr val="2447FF"/>
                </a:solidFill>
                <a:latin typeface="Inter"/>
              </a:rPr>
              <a:t>Data source: Sellerise promotion totals. Coupon and deal names aren't in the feed, so set-up details come from the account team.</a:t>
            </a:r>
          </a:p>
        </p:txBody>
      </p:sp>
      <p:sp>
        <p:nvSpPr>
          <p:cNvPr id="12" name="Shape 12"/>
          <p:cNvSpPr/>
          <p:nvPr/>
        </p:nvSpPr>
        <p:spPr>
          <a:xfrm>
            <a:off x="548640" y="2057400"/>
            <a:ext cx="3611880" cy="4160520"/>
          </a:xfrm>
          <a:prstGeom prst="roundRect">
            <a:avLst>
              <a:gd name="" fmla="val 6000"/>
            </a:avLst>
          </a:prstGeom>
          <a:solidFill>
            <a:srgbClr val="FFFFFF"/>
          </a:solidFill>
          <a:ln w="9525">
            <a:solidFill>
              <a:srgbClr val="E5E0D6"/>
            </a:solidFill>
          </a:ln>
        </p:spPr>
      </p:sp>
      <p:sp>
        <p:nvSpPr>
          <p:cNvPr id="13" name="Shape 13"/>
          <p:cNvSpPr txBox="1"/>
          <p:nvPr/>
        </p:nvSpPr>
        <p:spPr>
          <a:xfrm>
            <a:off x="731520" y="2194560"/>
            <a:ext cx="32461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Space Grotesk"/>
              </a:rPr>
              <a:t>Coupons</a:t>
            </a:r>
          </a:p>
        </p:txBody>
      </p:sp>
      <p:sp>
        <p:nvSpPr>
          <p:cNvPr id="14" name="Shape 14"/>
          <p:cNvSpPr txBox="1"/>
          <p:nvPr/>
        </p:nvSpPr>
        <p:spPr>
          <a:xfrm>
            <a:off x="731520" y="2514600"/>
            <a:ext cx="3246120" cy="3611879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334155"/>
                </a:solidFill>
                <a:latin typeface="Inter"/>
              </a:rPr>
              <a:t>This week: no coupon redemptions.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334155"/>
                </a:solidFill>
                <a:latin typeface="Inter"/>
              </a:rPr>
              <a:t>Last week: no coupon redemptions.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334155"/>
                </a:solidFill>
                <a:latin typeface="Inter"/>
              </a:rPr>
              <a:t>October to date: 127 coupon redemptions, all before Oct 12.</a:t>
            </a:r>
          </a:p>
        </p:txBody>
      </p:sp>
      <p:sp>
        <p:nvSpPr>
          <p:cNvPr id="15" name="Shape 15"/>
          <p:cNvSpPr/>
          <p:nvPr/>
        </p:nvSpPr>
        <p:spPr>
          <a:xfrm>
            <a:off x="4288536" y="2057400"/>
            <a:ext cx="3611880" cy="4160520"/>
          </a:xfrm>
          <a:prstGeom prst="roundRect">
            <a:avLst>
              <a:gd name="" fmla="val 6000"/>
            </a:avLst>
          </a:prstGeom>
          <a:solidFill>
            <a:srgbClr val="FFFFFF"/>
          </a:solidFill>
          <a:ln w="9525">
            <a:solidFill>
              <a:srgbClr val="E5E0D6"/>
            </a:solidFill>
          </a:ln>
        </p:spPr>
      </p:sp>
      <p:sp>
        <p:nvSpPr>
          <p:cNvPr id="16" name="Shape 16"/>
          <p:cNvSpPr txBox="1"/>
          <p:nvPr/>
        </p:nvSpPr>
        <p:spPr>
          <a:xfrm>
            <a:off x="4471416" y="2194560"/>
            <a:ext cx="32461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Space Grotesk"/>
              </a:rPr>
              <a:t>Promotions</a:t>
            </a:r>
          </a:p>
        </p:txBody>
      </p:sp>
      <p:sp>
        <p:nvSpPr>
          <p:cNvPr id="17" name="Shape 17"/>
          <p:cNvSpPr txBox="1"/>
          <p:nvPr/>
        </p:nvSpPr>
        <p:spPr>
          <a:xfrm>
            <a:off x="4471416" y="2514600"/>
            <a:ext cx="3246120" cy="3611879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334155"/>
                </a:solidFill>
                <a:latin typeface="Inter"/>
              </a:rPr>
              <a:t>This week: 8 promotion orders, $258 in promotional discounts (vs 27 orders and $631 last week).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334155"/>
                </a:solidFill>
                <a:latin typeface="Inter"/>
              </a:rPr>
              <a:t>Discounting keeps stepping down, which protects margin while the Queen is out of stock.</a:t>
            </a:r>
          </a:p>
        </p:txBody>
      </p:sp>
      <p:sp>
        <p:nvSpPr>
          <p:cNvPr id="18" name="Shape 18"/>
          <p:cNvSpPr/>
          <p:nvPr/>
        </p:nvSpPr>
        <p:spPr>
          <a:xfrm>
            <a:off x="8028431" y="2057400"/>
            <a:ext cx="3611880" cy="4160520"/>
          </a:xfrm>
          <a:prstGeom prst="roundRect">
            <a:avLst>
              <a:gd name="" fmla="val 6000"/>
            </a:avLst>
          </a:prstGeom>
          <a:solidFill>
            <a:srgbClr val="FFFFFF"/>
          </a:solidFill>
          <a:ln w="9525">
            <a:solidFill>
              <a:srgbClr val="E5E0D6"/>
            </a:solidFill>
          </a:ln>
        </p:spPr>
      </p:sp>
      <p:sp>
        <p:nvSpPr>
          <p:cNvPr id="19" name="Shape 19"/>
          <p:cNvSpPr txBox="1"/>
          <p:nvPr/>
        </p:nvSpPr>
        <p:spPr>
          <a:xfrm>
            <a:off x="8211311" y="2194560"/>
            <a:ext cx="32461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Space Grotesk"/>
              </a:rPr>
              <a:t>Upcoming events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8211311" y="2514600"/>
            <a:ext cx="3246120" cy="3611879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334155"/>
                </a:solidFill>
                <a:latin typeface="Inter"/>
              </a:rPr>
              <a:t>Black Friday / Cyber Monday: Nov 27 – Nov 30.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334155"/>
                </a:solidFill>
                <a:latin typeface="Inter"/>
              </a:rPr>
              <a:t>Deal and coupon set-up deadlines: to confirm with the account team.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334155"/>
                </a:solidFill>
                <a:latin typeface="Inter"/>
              </a:rPr>
              <a:t>Priority: Queen and King toppers in stock at FBA before Nov 20 so BF/CM traffic converts.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Shape 1"/>
        <p:cNvGrpSpPr/>
        <p:nvPr/>
      </p:nvGrpSpPr>
      <p:grpSpPr/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548640" y="502920"/>
            <a:ext cx="73152" cy="566928"/>
          </a:xfrm>
          <a:prstGeom prst="rect">
            <a:avLst/>
          </a:prstGeom>
          <a:solidFill>
            <a:srgbClr val="2447FF"/>
          </a:solidFill>
          <a:ln>
            <a:noFill/>
          </a:ln>
        </p:spPr>
      </p:sp>
      <p:sp>
        <p:nvSpPr>
          <p:cNvPr id="4" name="Shape 4"/>
          <p:cNvSpPr txBox="1"/>
          <p:nvPr/>
        </p:nvSpPr>
        <p:spPr>
          <a:xfrm>
            <a:off x="731520" y="384048"/>
            <a:ext cx="8686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447FF"/>
                </a:solidFill>
                <a:latin typeface="Space Grotesk"/>
              </a:rPr>
              <a:t>INVENTORY</a:t>
            </a:r>
          </a:p>
        </p:txBody>
      </p:sp>
      <p:sp>
        <p:nvSpPr>
          <p:cNvPr id="5" name="Shape 5"/>
          <p:cNvSpPr txBox="1"/>
          <p:nvPr/>
        </p:nvSpPr>
        <p:spPr>
          <a:xfrm>
            <a:off x="731520" y="603504"/>
            <a:ext cx="960120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Space Grotesk"/>
              </a:rPr>
              <a:t>Stock position — week 43 inventory update (10/19/2026)</a:t>
            </a:r>
          </a:p>
        </p:txBody>
      </p:sp>
      <p:pic>
        <p:nvPicPr>
          <p:cNvPr id="6" name="Shape 6" descr="logo_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560" y="457200"/>
            <a:ext cx="1463040" cy="256032"/>
          </a:xfrm>
          <a:prstGeom prst="rect">
            <a:avLst/>
          </a:prstGeom>
        </p:spPr>
      </p:pic>
      <p:sp>
        <p:nvSpPr>
          <p:cNvPr id="7" name="Shape 7"/>
          <p:cNvSpPr/>
          <p:nvPr/>
        </p:nvSpPr>
        <p:spPr>
          <a:xfrm>
            <a:off x="548640" y="6400800"/>
            <a:ext cx="11091672" cy="10972"/>
          </a:xfrm>
          <a:prstGeom prst="rect">
            <a:avLst/>
          </a:prstGeom>
          <a:solidFill>
            <a:srgbClr val="E5E0D6"/>
          </a:solidFill>
          <a:ln>
            <a:noFill/>
          </a:ln>
        </p:spPr>
      </p:sp>
      <p:sp>
        <p:nvSpPr>
          <p:cNvPr id="8" name="Shape 8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>
                <a:solidFill>
                  <a:srgbClr val="6B6558"/>
                </a:solidFill>
                <a:latin typeface="Inter"/>
              </a:rPr>
              <a:t>Dormeo US · Weekly Business Review · Week 43 (Oct 19–25, 2026)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10241280" y="6455664"/>
            <a:ext cx="1399032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>
                <a:solidFill>
                  <a:srgbClr val="6B6558"/>
                </a:solidFill>
                <a:latin typeface="Inter"/>
              </a:rPr>
              <a:t>12 / 17</a:t>
            </a:r>
          </a:p>
        </p:txBody>
      </p:sp>
      <p:sp>
        <p:nvSpPr>
          <p:cNvPr id="10" name="Shape 10"/>
          <p:cNvSpPr/>
          <p:nvPr/>
        </p:nvSpPr>
        <p:spPr>
          <a:xfrm>
            <a:off x="548640" y="1371600"/>
            <a:ext cx="2651760" cy="1417320"/>
          </a:xfrm>
          <a:prstGeom prst="roundRect">
            <a:avLst>
              <a:gd name="" fmla="val 6000"/>
            </a:avLst>
          </a:prstGeom>
          <a:solidFill>
            <a:srgbClr val="F6F3EC"/>
          </a:solidFill>
          <a:ln>
            <a:noFill/>
          </a:ln>
        </p:spPr>
      </p:sp>
      <p:sp>
        <p:nvSpPr>
          <p:cNvPr id="11" name="Shape 11"/>
          <p:cNvSpPr txBox="1"/>
          <p:nvPr/>
        </p:nvSpPr>
        <p:spPr>
          <a:xfrm>
            <a:off x="713232" y="1499616"/>
            <a:ext cx="23774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>
                <a:solidFill>
                  <a:srgbClr val="6B6558"/>
                </a:solidFill>
                <a:latin typeface="Inter"/>
              </a:rPr>
              <a:t>OUT OF STOCK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713232" y="1755648"/>
            <a:ext cx="23774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>
                <a:solidFill>
                  <a:srgbClr val="DC2626"/>
                </a:solidFill>
                <a:latin typeface="Space Grotesk"/>
              </a:rPr>
              <a:t>4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713232" y="2377439"/>
            <a:ext cx="237744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B6558"/>
                </a:solidFill>
                <a:latin typeface="Inter"/>
              </a:rPr>
              <a:t>of 19 selling SKUs, 0 at FBA</a:t>
            </a:r>
          </a:p>
        </p:txBody>
      </p:sp>
      <p:sp>
        <p:nvSpPr>
          <p:cNvPr id="14" name="Shape 14"/>
          <p:cNvSpPr/>
          <p:nvPr/>
        </p:nvSpPr>
        <p:spPr>
          <a:xfrm>
            <a:off x="548640" y="2926080"/>
            <a:ext cx="2651760" cy="1417320"/>
          </a:xfrm>
          <a:prstGeom prst="roundRect">
            <a:avLst>
              <a:gd name="" fmla="val 6000"/>
            </a:avLst>
          </a:prstGeom>
          <a:solidFill>
            <a:srgbClr val="F6F3EC"/>
          </a:solidFill>
          <a:ln>
            <a:noFill/>
          </a:ln>
        </p:spPr>
      </p:sp>
      <p:sp>
        <p:nvSpPr>
          <p:cNvPr id="15" name="Shape 15"/>
          <p:cNvSpPr txBox="1"/>
          <p:nvPr/>
        </p:nvSpPr>
        <p:spPr>
          <a:xfrm>
            <a:off x="713232" y="3054096"/>
            <a:ext cx="23774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>
                <a:solidFill>
                  <a:srgbClr val="6B6558"/>
                </a:solidFill>
                <a:latin typeface="Inter"/>
              </a:rPr>
              <a:t>LOW STOCK</a:t>
            </a:r>
          </a:p>
        </p:txBody>
      </p:sp>
      <p:sp>
        <p:nvSpPr>
          <p:cNvPr id="16" name="Shape 16"/>
          <p:cNvSpPr txBox="1"/>
          <p:nvPr/>
        </p:nvSpPr>
        <p:spPr>
          <a:xfrm>
            <a:off x="713232" y="3310128"/>
            <a:ext cx="23774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>
                <a:solidFill>
                  <a:srgbClr val="D97706"/>
                </a:solidFill>
                <a:latin typeface="Space Grotesk"/>
              </a:rPr>
              <a:t>2</a:t>
            </a:r>
          </a:p>
        </p:txBody>
      </p:sp>
      <p:sp>
        <p:nvSpPr>
          <p:cNvPr id="17" name="Shape 17"/>
          <p:cNvSpPr txBox="1"/>
          <p:nvPr/>
        </p:nvSpPr>
        <p:spPr>
          <a:xfrm>
            <a:off x="713232" y="3931920"/>
            <a:ext cx="237744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B6558"/>
                </a:solidFill>
                <a:latin typeface="Inter"/>
              </a:rPr>
              <a:t>4 weeks of stock or less</a:t>
            </a:r>
          </a:p>
        </p:txBody>
      </p:sp>
      <p:sp>
        <p:nvSpPr>
          <p:cNvPr id="18" name="Shape 18"/>
          <p:cNvSpPr/>
          <p:nvPr/>
        </p:nvSpPr>
        <p:spPr>
          <a:xfrm>
            <a:off x="548640" y="4480560"/>
            <a:ext cx="2651760" cy="1737360"/>
          </a:xfrm>
          <a:prstGeom prst="roundRect">
            <a:avLst>
              <a:gd name="" fmla="val 6000"/>
            </a:avLst>
          </a:prstGeom>
          <a:solidFill>
            <a:srgbClr val="F6F3EC"/>
          </a:solidFill>
          <a:ln>
            <a:noFill/>
          </a:ln>
        </p:spPr>
      </p:sp>
      <p:sp>
        <p:nvSpPr>
          <p:cNvPr id="19" name="Shape 19"/>
          <p:cNvSpPr txBox="1"/>
          <p:nvPr/>
        </p:nvSpPr>
        <p:spPr>
          <a:xfrm>
            <a:off x="713232" y="4608576"/>
            <a:ext cx="23774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>
                <a:solidFill>
                  <a:srgbClr val="6B6558"/>
                </a:solidFill>
                <a:latin typeface="Inter"/>
              </a:rPr>
              <a:t>UNITS INBOUND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713232" y="4864608"/>
            <a:ext cx="23774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>
                <a:solidFill>
                  <a:srgbClr val="2447FF"/>
                </a:solidFill>
                <a:latin typeface="Space Grotesk"/>
              </a:rPr>
              <a:t>938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713232" y="5806440"/>
            <a:ext cx="237744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B6558"/>
                </a:solidFill>
                <a:latin typeface="Inter"/>
              </a:rPr>
              <a:t>on the way to FBA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3429000" y="1371600"/>
            <a:ext cx="8211312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Inter"/>
              </a:rPr>
              <a:t>Weeks of supply at FBA (available ÷ weekly sales)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3429000" y="1691640"/>
            <a:ext cx="1828800" cy="56007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Inter"/>
              </a:rPr>
              <a:t>Octaspring Queen</a:t>
            </a:r>
          </a:p>
        </p:txBody>
      </p:sp>
      <p:sp>
        <p:nvSpPr>
          <p:cNvPr id="24" name="Shape 24"/>
          <p:cNvSpPr/>
          <p:nvPr/>
        </p:nvSpPr>
        <p:spPr>
          <a:xfrm>
            <a:off x="5257800" y="1814855"/>
            <a:ext cx="27432" cy="313639"/>
          </a:xfrm>
          <a:prstGeom prst="rect">
            <a:avLst/>
          </a:prstGeom>
          <a:solidFill>
            <a:srgbClr val="DC2626"/>
          </a:solidFill>
          <a:ln>
            <a:noFill/>
          </a:ln>
        </p:spPr>
      </p:sp>
      <p:sp>
        <p:nvSpPr>
          <p:cNvPr id="25" name="Shape 25"/>
          <p:cNvSpPr txBox="1"/>
          <p:nvPr/>
        </p:nvSpPr>
        <p:spPr>
          <a:xfrm>
            <a:off x="5340096" y="1691640"/>
            <a:ext cx="914400" cy="56007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Inter"/>
              </a:rPr>
              <a:t>0.0 wk</a:t>
            </a:r>
          </a:p>
        </p:txBody>
      </p:sp>
      <p:sp>
        <p:nvSpPr>
          <p:cNvPr id="26" name="Shape 26"/>
          <p:cNvSpPr txBox="1"/>
          <p:nvPr/>
        </p:nvSpPr>
        <p:spPr>
          <a:xfrm>
            <a:off x="3429000" y="2251710"/>
            <a:ext cx="1828800" cy="56007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Inter"/>
              </a:rPr>
              <a:t>Octaspring King</a:t>
            </a:r>
          </a:p>
        </p:txBody>
      </p:sp>
      <p:sp>
        <p:nvSpPr>
          <p:cNvPr id="27" name="Shape 27"/>
          <p:cNvSpPr/>
          <p:nvPr/>
        </p:nvSpPr>
        <p:spPr>
          <a:xfrm>
            <a:off x="5257800" y="2374925"/>
            <a:ext cx="729081" cy="313639"/>
          </a:xfrm>
          <a:prstGeom prst="rect">
            <a:avLst/>
          </a:prstGeom>
          <a:solidFill>
            <a:srgbClr val="D97706"/>
          </a:solidFill>
          <a:ln>
            <a:noFill/>
          </a:ln>
        </p:spPr>
      </p:sp>
      <p:sp>
        <p:nvSpPr>
          <p:cNvPr id="28" name="Shape 28"/>
          <p:cNvSpPr txBox="1"/>
          <p:nvPr/>
        </p:nvSpPr>
        <p:spPr>
          <a:xfrm>
            <a:off x="6041745" y="2251710"/>
            <a:ext cx="914400" cy="56007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Inter"/>
              </a:rPr>
              <a:t>1.6 wk</a:t>
            </a:r>
          </a:p>
        </p:txBody>
      </p:sp>
      <p:sp>
        <p:nvSpPr>
          <p:cNvPr id="29" name="Shape 29"/>
          <p:cNvSpPr txBox="1"/>
          <p:nvPr/>
        </p:nvSpPr>
        <p:spPr>
          <a:xfrm>
            <a:off x="3429000" y="2811780"/>
            <a:ext cx="1828800" cy="56007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Inter"/>
              </a:rPr>
              <a:t>Octaspring Full</a:t>
            </a:r>
          </a:p>
        </p:txBody>
      </p:sp>
      <p:sp>
        <p:nvSpPr>
          <p:cNvPr id="30" name="Shape 30"/>
          <p:cNvSpPr/>
          <p:nvPr/>
        </p:nvSpPr>
        <p:spPr>
          <a:xfrm>
            <a:off x="5257800" y="2934995"/>
            <a:ext cx="1803717" cy="313639"/>
          </a:xfrm>
          <a:prstGeom prst="rect">
            <a:avLst/>
          </a:prstGeom>
          <a:solidFill>
            <a:srgbClr val="2447FF"/>
          </a:solidFill>
          <a:ln>
            <a:noFill/>
          </a:ln>
        </p:spPr>
      </p:sp>
      <p:sp>
        <p:nvSpPr>
          <p:cNvPr id="31" name="Shape 31"/>
          <p:cNvSpPr txBox="1"/>
          <p:nvPr/>
        </p:nvSpPr>
        <p:spPr>
          <a:xfrm>
            <a:off x="7116381" y="2811780"/>
            <a:ext cx="914400" cy="56007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Inter"/>
              </a:rPr>
              <a:t>4.0 wk</a:t>
            </a:r>
          </a:p>
        </p:txBody>
      </p:sp>
      <p:sp>
        <p:nvSpPr>
          <p:cNvPr id="32" name="Shape 32"/>
          <p:cNvSpPr txBox="1"/>
          <p:nvPr/>
        </p:nvSpPr>
        <p:spPr>
          <a:xfrm>
            <a:off x="3429000" y="3371850"/>
            <a:ext cx="1828800" cy="56007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Inter"/>
              </a:rPr>
              <a:t>Octaspring Twin &amp; XL</a:t>
            </a:r>
          </a:p>
        </p:txBody>
      </p:sp>
      <p:sp>
        <p:nvSpPr>
          <p:cNvPr id="33" name="Shape 33"/>
          <p:cNvSpPr/>
          <p:nvPr/>
        </p:nvSpPr>
        <p:spPr>
          <a:xfrm>
            <a:off x="5257800" y="3495065"/>
            <a:ext cx="2466011" cy="313639"/>
          </a:xfrm>
          <a:prstGeom prst="rect">
            <a:avLst/>
          </a:prstGeom>
          <a:solidFill>
            <a:srgbClr val="2447FF"/>
          </a:solidFill>
          <a:ln>
            <a:noFill/>
          </a:ln>
        </p:spPr>
      </p:sp>
      <p:sp>
        <p:nvSpPr>
          <p:cNvPr id="34" name="Shape 34"/>
          <p:cNvSpPr txBox="1"/>
          <p:nvPr/>
        </p:nvSpPr>
        <p:spPr>
          <a:xfrm>
            <a:off x="7778675" y="3371850"/>
            <a:ext cx="914400" cy="56007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Inter"/>
              </a:rPr>
              <a:t>5.4 wk</a:t>
            </a:r>
          </a:p>
        </p:txBody>
      </p:sp>
      <p:sp>
        <p:nvSpPr>
          <p:cNvPr id="35" name="Shape 35"/>
          <p:cNvSpPr txBox="1"/>
          <p:nvPr/>
        </p:nvSpPr>
        <p:spPr>
          <a:xfrm>
            <a:off x="3429000" y="3931920"/>
            <a:ext cx="1828800" cy="56007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Inter"/>
              </a:rPr>
              <a:t>Octaspring Cal/Split/RV</a:t>
            </a:r>
          </a:p>
        </p:txBody>
      </p:sp>
      <p:sp>
        <p:nvSpPr>
          <p:cNvPr id="36" name="Shape 36"/>
          <p:cNvSpPr/>
          <p:nvPr/>
        </p:nvSpPr>
        <p:spPr>
          <a:xfrm>
            <a:off x="5257800" y="4055135"/>
            <a:ext cx="1245514" cy="313639"/>
          </a:xfrm>
          <a:prstGeom prst="rect">
            <a:avLst/>
          </a:prstGeom>
          <a:solidFill>
            <a:srgbClr val="D97706"/>
          </a:solidFill>
          <a:ln>
            <a:noFill/>
          </a:ln>
        </p:spPr>
      </p:sp>
      <p:sp>
        <p:nvSpPr>
          <p:cNvPr id="37" name="Shape 37"/>
          <p:cNvSpPr txBox="1"/>
          <p:nvPr/>
        </p:nvSpPr>
        <p:spPr>
          <a:xfrm>
            <a:off x="6558178" y="3931920"/>
            <a:ext cx="914400" cy="56007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Inter"/>
              </a:rPr>
              <a:t>2.7 wk</a:t>
            </a:r>
          </a:p>
        </p:txBody>
      </p:sp>
      <p:sp>
        <p:nvSpPr>
          <p:cNvPr id="38" name="Shape 38"/>
          <p:cNvSpPr txBox="1"/>
          <p:nvPr/>
        </p:nvSpPr>
        <p:spPr>
          <a:xfrm>
            <a:off x="3429000" y="4491990"/>
            <a:ext cx="1828800" cy="56007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Inter"/>
              </a:rPr>
              <a:t>SnowTek &amp; Essentials</a:t>
            </a:r>
          </a:p>
        </p:txBody>
      </p:sp>
      <p:sp>
        <p:nvSpPr>
          <p:cNvPr id="39" name="Shape 39"/>
          <p:cNvSpPr/>
          <p:nvPr/>
        </p:nvSpPr>
        <p:spPr>
          <a:xfrm>
            <a:off x="5257800" y="4615205"/>
            <a:ext cx="2408573" cy="313639"/>
          </a:xfrm>
          <a:prstGeom prst="rect">
            <a:avLst/>
          </a:prstGeom>
          <a:solidFill>
            <a:srgbClr val="2447FF"/>
          </a:solidFill>
          <a:ln>
            <a:noFill/>
          </a:ln>
        </p:spPr>
      </p:sp>
      <p:sp>
        <p:nvSpPr>
          <p:cNvPr id="40" name="Shape 40"/>
          <p:cNvSpPr txBox="1"/>
          <p:nvPr/>
        </p:nvSpPr>
        <p:spPr>
          <a:xfrm>
            <a:off x="7721237" y="4491990"/>
            <a:ext cx="914400" cy="56007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Inter"/>
              </a:rPr>
              <a:t>5.3 wk</a:t>
            </a:r>
          </a:p>
        </p:txBody>
      </p:sp>
      <p:sp>
        <p:nvSpPr>
          <p:cNvPr id="41" name="Shape 41"/>
          <p:cNvSpPr txBox="1"/>
          <p:nvPr/>
        </p:nvSpPr>
        <p:spPr>
          <a:xfrm>
            <a:off x="3429000" y="5052060"/>
            <a:ext cx="1828800" cy="56007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Inter"/>
              </a:rPr>
              <a:t>Pillows</a:t>
            </a:r>
          </a:p>
        </p:txBody>
      </p:sp>
      <p:sp>
        <p:nvSpPr>
          <p:cNvPr id="42" name="Shape 42"/>
          <p:cNvSpPr/>
          <p:nvPr/>
        </p:nvSpPr>
        <p:spPr>
          <a:xfrm>
            <a:off x="5257800" y="5175275"/>
            <a:ext cx="1053750" cy="313639"/>
          </a:xfrm>
          <a:prstGeom prst="rect">
            <a:avLst/>
          </a:prstGeom>
          <a:solidFill>
            <a:srgbClr val="D97706"/>
          </a:solidFill>
          <a:ln>
            <a:noFill/>
          </a:ln>
        </p:spPr>
      </p:sp>
      <p:sp>
        <p:nvSpPr>
          <p:cNvPr id="43" name="Shape 43"/>
          <p:cNvSpPr txBox="1"/>
          <p:nvPr/>
        </p:nvSpPr>
        <p:spPr>
          <a:xfrm>
            <a:off x="6366414" y="5052060"/>
            <a:ext cx="914400" cy="56007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Inter"/>
              </a:rPr>
              <a:t>2.3 wk</a:t>
            </a:r>
          </a:p>
        </p:txBody>
      </p:sp>
      <p:sp>
        <p:nvSpPr>
          <p:cNvPr id="44" name="Shape 44"/>
          <p:cNvSpPr txBox="1"/>
          <p:nvPr/>
        </p:nvSpPr>
        <p:spPr>
          <a:xfrm>
            <a:off x="3429000" y="5612130"/>
            <a:ext cx="1828800" cy="56007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Inter"/>
              </a:rPr>
              <a:t>Protectors &amp; Sheets</a:t>
            </a:r>
          </a:p>
        </p:txBody>
      </p:sp>
      <p:sp>
        <p:nvSpPr>
          <p:cNvPr id="45" name="Shape 45"/>
          <p:cNvSpPr/>
          <p:nvPr/>
        </p:nvSpPr>
        <p:spPr>
          <a:xfrm>
            <a:off x="5257800" y="5735345"/>
            <a:ext cx="5468112" cy="313639"/>
          </a:xfrm>
          <a:prstGeom prst="rect">
            <a:avLst/>
          </a:prstGeom>
          <a:solidFill>
            <a:srgbClr val="2447FF"/>
          </a:solidFill>
          <a:ln>
            <a:noFill/>
          </a:ln>
        </p:spPr>
      </p:sp>
      <p:sp>
        <p:nvSpPr>
          <p:cNvPr id="46" name="Shape 46"/>
          <p:cNvSpPr txBox="1"/>
          <p:nvPr/>
        </p:nvSpPr>
        <p:spPr>
          <a:xfrm>
            <a:off x="10780776" y="5612130"/>
            <a:ext cx="914400" cy="56007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Inter"/>
              </a:rPr>
              <a:t>12+ wk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Shape 1"/>
        <p:cNvGrpSpPr/>
        <p:nvPr/>
      </p:nvGrpSpPr>
      <p:grpSpPr/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548640" y="502920"/>
            <a:ext cx="73152" cy="566928"/>
          </a:xfrm>
          <a:prstGeom prst="rect">
            <a:avLst/>
          </a:prstGeom>
          <a:solidFill>
            <a:srgbClr val="2447FF"/>
          </a:solidFill>
          <a:ln>
            <a:noFill/>
          </a:ln>
        </p:spPr>
      </p:sp>
      <p:sp>
        <p:nvSpPr>
          <p:cNvPr id="4" name="Shape 4"/>
          <p:cNvSpPr txBox="1"/>
          <p:nvPr/>
        </p:nvSpPr>
        <p:spPr>
          <a:xfrm>
            <a:off x="731520" y="384048"/>
            <a:ext cx="8686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447FF"/>
                </a:solidFill>
                <a:latin typeface="Space Grotesk"/>
              </a:rPr>
              <a:t>REVIEWS &amp; ACCOUNT HEALTH</a:t>
            </a:r>
          </a:p>
        </p:txBody>
      </p:sp>
      <p:sp>
        <p:nvSpPr>
          <p:cNvPr id="5" name="Shape 5"/>
          <p:cNvSpPr txBox="1"/>
          <p:nvPr/>
        </p:nvSpPr>
        <p:spPr>
          <a:xfrm>
            <a:off x="731520" y="603504"/>
            <a:ext cx="960120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Space Grotesk"/>
              </a:rPr>
              <a:t>Rating &amp; review trend</a:t>
            </a:r>
          </a:p>
        </p:txBody>
      </p:sp>
      <p:pic>
        <p:nvPicPr>
          <p:cNvPr id="6" name="Shape 6" descr="logo_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560" y="457200"/>
            <a:ext cx="1463040" cy="256032"/>
          </a:xfrm>
          <a:prstGeom prst="rect">
            <a:avLst/>
          </a:prstGeom>
        </p:spPr>
      </p:pic>
      <p:sp>
        <p:nvSpPr>
          <p:cNvPr id="7" name="Shape 7"/>
          <p:cNvSpPr/>
          <p:nvPr/>
        </p:nvSpPr>
        <p:spPr>
          <a:xfrm>
            <a:off x="548640" y="6400800"/>
            <a:ext cx="11091672" cy="10972"/>
          </a:xfrm>
          <a:prstGeom prst="rect">
            <a:avLst/>
          </a:prstGeom>
          <a:solidFill>
            <a:srgbClr val="E5E0D6"/>
          </a:solidFill>
          <a:ln>
            <a:noFill/>
          </a:ln>
        </p:spPr>
      </p:sp>
      <p:sp>
        <p:nvSpPr>
          <p:cNvPr id="8" name="Shape 8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>
                <a:solidFill>
                  <a:srgbClr val="6B6558"/>
                </a:solidFill>
                <a:latin typeface="Inter"/>
              </a:rPr>
              <a:t>Dormeo US · Weekly Business Review · Week 43 (Oct 19–25, 2026)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10241280" y="6455664"/>
            <a:ext cx="1399032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>
                <a:solidFill>
                  <a:srgbClr val="6B6558"/>
                </a:solidFill>
                <a:latin typeface="Inter"/>
              </a:rPr>
              <a:t>13 / 17</a:t>
            </a:r>
          </a:p>
        </p:txBody>
      </p:sp>
      <p:sp>
        <p:nvSpPr>
          <p:cNvPr id="10" name="Shape 10"/>
          <p:cNvSpPr/>
          <p:nvPr/>
        </p:nvSpPr>
        <p:spPr>
          <a:xfrm>
            <a:off x="548640" y="1417320"/>
            <a:ext cx="5486400" cy="4800600"/>
          </a:xfrm>
          <a:prstGeom prst="roundRect">
            <a:avLst>
              <a:gd name="" fmla="val 6000"/>
            </a:avLst>
          </a:prstGeom>
          <a:solidFill>
            <a:srgbClr val="F6F3EC"/>
          </a:solidFill>
          <a:ln>
            <a:noFill/>
          </a:ln>
        </p:spPr>
      </p:sp>
      <p:sp>
        <p:nvSpPr>
          <p:cNvPr id="11" name="Shape 11"/>
          <p:cNvSpPr txBox="1"/>
          <p:nvPr/>
        </p:nvSpPr>
        <p:spPr>
          <a:xfrm>
            <a:off x="777240" y="1645920"/>
            <a:ext cx="50292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>
                <a:solidFill>
                  <a:srgbClr val="D97706"/>
                </a:solidFill>
                <a:latin typeface="Inter"/>
              </a:rPr>
              <a:t>LAST 90 DAYS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777240" y="2011680"/>
            <a:ext cx="502920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Space Grotesk"/>
              </a:rPr>
              <a:t>No review data in Sellerise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777240" y="2926080"/>
            <a:ext cx="5029200" cy="3108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50" b="0">
                <a:solidFill>
                  <a:srgbClr val="334155"/>
                </a:solidFill>
                <a:latin typeface="Inter"/>
              </a:rPr>
              <a:t>Sellerise returned no review records for Dormeo US over the last 90 days.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334155"/>
                </a:solidFill>
                <a:latin typeface="Inter"/>
              </a:rPr>
              <a:t>That means review tracking isn't pulling for this account, not that there were no reviews.</a:t>
            </a:r>
          </a:p>
        </p:txBody>
      </p:sp>
      <p:sp>
        <p:nvSpPr>
          <p:cNvPr id="14" name="Shape 14"/>
          <p:cNvSpPr/>
          <p:nvPr/>
        </p:nvSpPr>
        <p:spPr>
          <a:xfrm>
            <a:off x="6263640" y="1417320"/>
            <a:ext cx="5376672" cy="4800600"/>
          </a:xfrm>
          <a:prstGeom prst="roundRect">
            <a:avLst>
              <a:gd name="" fmla="val 6000"/>
            </a:avLst>
          </a:prstGeom>
          <a:solidFill>
            <a:srgbClr val="FFFFFF"/>
          </a:solidFill>
          <a:ln w="9525">
            <a:solidFill>
              <a:srgbClr val="E5E0D6"/>
            </a:solidFill>
          </a:ln>
        </p:spPr>
      </p:sp>
      <p:sp>
        <p:nvSpPr>
          <p:cNvPr id="15" name="Shape 15"/>
          <p:cNvSpPr txBox="1"/>
          <p:nvPr/>
        </p:nvSpPr>
        <p:spPr>
          <a:xfrm>
            <a:off x="6446520" y="1554480"/>
            <a:ext cx="5010912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Space Grotesk"/>
              </a:rPr>
              <a:t>Recommendation</a:t>
            </a:r>
          </a:p>
        </p:txBody>
      </p:sp>
      <p:sp>
        <p:nvSpPr>
          <p:cNvPr id="16" name="Shape 16"/>
          <p:cNvSpPr txBox="1"/>
          <p:nvPr/>
        </p:nvSpPr>
        <p:spPr>
          <a:xfrm>
            <a:off x="6446520" y="1874519"/>
            <a:ext cx="5010912" cy="425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334155"/>
                </a:solidFill>
                <a:latin typeface="Inter"/>
              </a:rPr>
              <a:t>Turn on review tracking for Dormeo US in Sellerise (or pull Amazon's Customer Reviews report) so the deck can show star rating and review count per line.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334155"/>
                </a:solidFill>
                <a:latin typeface="Inter"/>
              </a:rPr>
              <a:t>With refunds at 26.1%, reading the newest 1–3 star reviews on the King and Full toppers is the quickest way to see whether returns share a cause.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Shape 1"/>
        <p:cNvGrpSpPr/>
        <p:nvPr/>
      </p:nvGrpSpPr>
      <p:grpSpPr/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548640" y="502920"/>
            <a:ext cx="73152" cy="566928"/>
          </a:xfrm>
          <a:prstGeom prst="rect">
            <a:avLst/>
          </a:prstGeom>
          <a:solidFill>
            <a:srgbClr val="2447FF"/>
          </a:solidFill>
          <a:ln>
            <a:noFill/>
          </a:ln>
        </p:spPr>
      </p:sp>
      <p:sp>
        <p:nvSpPr>
          <p:cNvPr id="4" name="Shape 4"/>
          <p:cNvSpPr txBox="1"/>
          <p:nvPr/>
        </p:nvSpPr>
        <p:spPr>
          <a:xfrm>
            <a:off x="731520" y="384048"/>
            <a:ext cx="8686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447FF"/>
                </a:solidFill>
                <a:latin typeface="Space Grotesk"/>
              </a:rPr>
              <a:t>REVIEWS &amp; ACCOUNT HEALTH</a:t>
            </a:r>
          </a:p>
        </p:txBody>
      </p:sp>
      <p:sp>
        <p:nvSpPr>
          <p:cNvPr id="5" name="Shape 5"/>
          <p:cNvSpPr txBox="1"/>
          <p:nvPr/>
        </p:nvSpPr>
        <p:spPr>
          <a:xfrm>
            <a:off x="731520" y="603504"/>
            <a:ext cx="960120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Space Grotesk"/>
              </a:rPr>
              <a:t>Alerts &amp; Buy Box — last 30 days</a:t>
            </a:r>
          </a:p>
        </p:txBody>
      </p:sp>
      <p:pic>
        <p:nvPicPr>
          <p:cNvPr id="6" name="Shape 6" descr="logo_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560" y="457200"/>
            <a:ext cx="1463040" cy="256032"/>
          </a:xfrm>
          <a:prstGeom prst="rect">
            <a:avLst/>
          </a:prstGeom>
        </p:spPr>
      </p:pic>
      <p:sp>
        <p:nvSpPr>
          <p:cNvPr id="7" name="Shape 7"/>
          <p:cNvSpPr/>
          <p:nvPr/>
        </p:nvSpPr>
        <p:spPr>
          <a:xfrm>
            <a:off x="548640" y="6400800"/>
            <a:ext cx="11091672" cy="10972"/>
          </a:xfrm>
          <a:prstGeom prst="rect">
            <a:avLst/>
          </a:prstGeom>
          <a:solidFill>
            <a:srgbClr val="E5E0D6"/>
          </a:solidFill>
          <a:ln>
            <a:noFill/>
          </a:ln>
        </p:spPr>
      </p:sp>
      <p:sp>
        <p:nvSpPr>
          <p:cNvPr id="8" name="Shape 8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>
                <a:solidFill>
                  <a:srgbClr val="6B6558"/>
                </a:solidFill>
                <a:latin typeface="Inter"/>
              </a:rPr>
              <a:t>Dormeo US · Weekly Business Review · Week 43 (Oct 19–25, 2026)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10241280" y="6455664"/>
            <a:ext cx="1399032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>
                <a:solidFill>
                  <a:srgbClr val="6B6558"/>
                </a:solidFill>
                <a:latin typeface="Inter"/>
              </a:rPr>
              <a:t>14 / 17</a:t>
            </a:r>
          </a:p>
        </p:txBody>
      </p:sp>
      <p:sp>
        <p:nvSpPr>
          <p:cNvPr id="10" name="Shape 10"/>
          <p:cNvSpPr/>
          <p:nvPr/>
        </p:nvSpPr>
        <p:spPr>
          <a:xfrm>
            <a:off x="548640" y="1371600"/>
            <a:ext cx="2651760" cy="1417320"/>
          </a:xfrm>
          <a:prstGeom prst="roundRect">
            <a:avLst>
              <a:gd name="" fmla="val 6000"/>
            </a:avLst>
          </a:prstGeom>
          <a:solidFill>
            <a:srgbClr val="F6F3EC"/>
          </a:solidFill>
          <a:ln>
            <a:noFill/>
          </a:ln>
        </p:spPr>
      </p:sp>
      <p:sp>
        <p:nvSpPr>
          <p:cNvPr id="11" name="Shape 11"/>
          <p:cNvSpPr txBox="1"/>
          <p:nvPr/>
        </p:nvSpPr>
        <p:spPr>
          <a:xfrm>
            <a:off x="713232" y="1499616"/>
            <a:ext cx="23774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>
                <a:solidFill>
                  <a:srgbClr val="6B6558"/>
                </a:solidFill>
                <a:latin typeface="Inter"/>
              </a:rPr>
              <a:t>TOTAL ALERTS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713232" y="1755648"/>
            <a:ext cx="23774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>
                <a:solidFill>
                  <a:srgbClr val="2447FF"/>
                </a:solidFill>
                <a:latin typeface="Space Grotesk"/>
              </a:rPr>
              <a:t>262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713232" y="2377439"/>
            <a:ext cx="237744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B6558"/>
                </a:solidFill>
                <a:latin typeface="Inter"/>
              </a:rPr>
              <a:t>open, incl. log events</a:t>
            </a:r>
          </a:p>
        </p:txBody>
      </p:sp>
      <p:sp>
        <p:nvSpPr>
          <p:cNvPr id="14" name="Shape 14"/>
          <p:cNvSpPr/>
          <p:nvPr/>
        </p:nvSpPr>
        <p:spPr>
          <a:xfrm>
            <a:off x="548640" y="2926080"/>
            <a:ext cx="2651760" cy="1417320"/>
          </a:xfrm>
          <a:prstGeom prst="roundRect">
            <a:avLst>
              <a:gd name="" fmla="val 6000"/>
            </a:avLst>
          </a:prstGeom>
          <a:solidFill>
            <a:srgbClr val="F6F3EC"/>
          </a:solidFill>
          <a:ln>
            <a:noFill/>
          </a:ln>
        </p:spPr>
      </p:sp>
      <p:sp>
        <p:nvSpPr>
          <p:cNvPr id="15" name="Shape 15"/>
          <p:cNvSpPr txBox="1"/>
          <p:nvPr/>
        </p:nvSpPr>
        <p:spPr>
          <a:xfrm>
            <a:off x="713232" y="3054096"/>
            <a:ext cx="23774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>
                <a:solidFill>
                  <a:srgbClr val="6B6558"/>
                </a:solidFill>
                <a:latin typeface="Inter"/>
              </a:rPr>
              <a:t>ACTIONABLE</a:t>
            </a:r>
          </a:p>
        </p:txBody>
      </p:sp>
      <p:sp>
        <p:nvSpPr>
          <p:cNvPr id="16" name="Shape 16"/>
          <p:cNvSpPr txBox="1"/>
          <p:nvPr/>
        </p:nvSpPr>
        <p:spPr>
          <a:xfrm>
            <a:off x="713232" y="3310128"/>
            <a:ext cx="23774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>
                <a:solidFill>
                  <a:srgbClr val="D97706"/>
                </a:solidFill>
                <a:latin typeface="Space Grotesk"/>
              </a:rPr>
              <a:t>40</a:t>
            </a:r>
          </a:p>
        </p:txBody>
      </p:sp>
      <p:sp>
        <p:nvSpPr>
          <p:cNvPr id="17" name="Shape 17"/>
          <p:cNvSpPr txBox="1"/>
          <p:nvPr/>
        </p:nvSpPr>
        <p:spPr>
          <a:xfrm>
            <a:off x="713232" y="3931920"/>
            <a:ext cx="237744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B6558"/>
                </a:solidFill>
                <a:latin typeface="Inter"/>
              </a:rPr>
              <a:t>warnings + critical</a:t>
            </a:r>
          </a:p>
        </p:txBody>
      </p:sp>
      <p:sp>
        <p:nvSpPr>
          <p:cNvPr id="18" name="Shape 18"/>
          <p:cNvSpPr/>
          <p:nvPr/>
        </p:nvSpPr>
        <p:spPr>
          <a:xfrm>
            <a:off x="548640" y="4480560"/>
            <a:ext cx="2651760" cy="1737360"/>
          </a:xfrm>
          <a:prstGeom prst="roundRect">
            <a:avLst>
              <a:gd name="" fmla="val 6000"/>
            </a:avLst>
          </a:prstGeom>
          <a:solidFill>
            <a:srgbClr val="F6F3EC"/>
          </a:solidFill>
          <a:ln>
            <a:noFill/>
          </a:ln>
        </p:spPr>
      </p:sp>
      <p:sp>
        <p:nvSpPr>
          <p:cNvPr id="19" name="Shape 19"/>
          <p:cNvSpPr txBox="1"/>
          <p:nvPr/>
        </p:nvSpPr>
        <p:spPr>
          <a:xfrm>
            <a:off x="713232" y="4608576"/>
            <a:ext cx="23774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>
                <a:solidFill>
                  <a:srgbClr val="6B6558"/>
                </a:solidFill>
                <a:latin typeface="Inter"/>
              </a:rPr>
              <a:t>CRITICAL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713232" y="4864608"/>
            <a:ext cx="23774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>
                <a:solidFill>
                  <a:srgbClr val="DC2626"/>
                </a:solidFill>
                <a:latin typeface="Space Grotesk"/>
              </a:rPr>
              <a:t>25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713232" y="5806440"/>
            <a:ext cx="237744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B6558"/>
                </a:solidFill>
                <a:latin typeface="Inter"/>
              </a:rPr>
              <a:t>Buy Box, stock, inactive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3429000" y="1371600"/>
            <a:ext cx="8211312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Inter"/>
              </a:rPr>
              <a:t>Alerts by type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3429000" y="1691640"/>
            <a:ext cx="1828800" cy="4480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Inter"/>
              </a:rPr>
              <a:t>Listing images</a:t>
            </a:r>
          </a:p>
        </p:txBody>
      </p:sp>
      <p:sp>
        <p:nvSpPr>
          <p:cNvPr id="24" name="Shape 24"/>
          <p:cNvSpPr/>
          <p:nvPr/>
        </p:nvSpPr>
        <p:spPr>
          <a:xfrm>
            <a:off x="5257800" y="1790212"/>
            <a:ext cx="5468112" cy="250911"/>
          </a:xfrm>
          <a:prstGeom prst="rect">
            <a:avLst/>
          </a:prstGeom>
          <a:solidFill>
            <a:srgbClr val="2447FF"/>
          </a:solidFill>
          <a:ln>
            <a:noFill/>
          </a:ln>
        </p:spPr>
      </p:sp>
      <p:sp>
        <p:nvSpPr>
          <p:cNvPr id="25" name="Shape 25"/>
          <p:cNvSpPr txBox="1"/>
          <p:nvPr/>
        </p:nvSpPr>
        <p:spPr>
          <a:xfrm>
            <a:off x="10780776" y="1691640"/>
            <a:ext cx="914400" cy="4480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Inter"/>
              </a:rPr>
              <a:t>118</a:t>
            </a:r>
          </a:p>
        </p:txBody>
      </p:sp>
      <p:sp>
        <p:nvSpPr>
          <p:cNvPr id="26" name="Shape 26"/>
          <p:cNvSpPr txBox="1"/>
          <p:nvPr/>
        </p:nvSpPr>
        <p:spPr>
          <a:xfrm>
            <a:off x="3429000" y="2139696"/>
            <a:ext cx="1828800" cy="4480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Inter"/>
              </a:rPr>
              <a:t>Listing price</a:t>
            </a:r>
          </a:p>
        </p:txBody>
      </p:sp>
      <p:sp>
        <p:nvSpPr>
          <p:cNvPr id="27" name="Shape 27"/>
          <p:cNvSpPr/>
          <p:nvPr/>
        </p:nvSpPr>
        <p:spPr>
          <a:xfrm>
            <a:off x="5257800" y="2238268"/>
            <a:ext cx="2038957" cy="250911"/>
          </a:xfrm>
          <a:prstGeom prst="rect">
            <a:avLst/>
          </a:prstGeom>
          <a:solidFill>
            <a:srgbClr val="2447FF"/>
          </a:solidFill>
          <a:ln>
            <a:noFill/>
          </a:ln>
        </p:spPr>
      </p:sp>
      <p:sp>
        <p:nvSpPr>
          <p:cNvPr id="28" name="Shape 28"/>
          <p:cNvSpPr txBox="1"/>
          <p:nvPr/>
        </p:nvSpPr>
        <p:spPr>
          <a:xfrm>
            <a:off x="7351621" y="2139696"/>
            <a:ext cx="914400" cy="4480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Inter"/>
              </a:rPr>
              <a:t>44</a:t>
            </a:r>
          </a:p>
        </p:txBody>
      </p:sp>
      <p:sp>
        <p:nvSpPr>
          <p:cNvPr id="29" name="Shape 29"/>
          <p:cNvSpPr txBox="1"/>
          <p:nvPr/>
        </p:nvSpPr>
        <p:spPr>
          <a:xfrm>
            <a:off x="3429000" y="2587752"/>
            <a:ext cx="1828800" cy="4480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Inter"/>
              </a:rPr>
              <a:t>Title</a:t>
            </a:r>
          </a:p>
        </p:txBody>
      </p:sp>
      <p:sp>
        <p:nvSpPr>
          <p:cNvPr id="30" name="Shape 30"/>
          <p:cNvSpPr/>
          <p:nvPr/>
        </p:nvSpPr>
        <p:spPr>
          <a:xfrm>
            <a:off x="5257800" y="2686324"/>
            <a:ext cx="1112158" cy="250911"/>
          </a:xfrm>
          <a:prstGeom prst="rect">
            <a:avLst/>
          </a:prstGeom>
          <a:solidFill>
            <a:srgbClr val="2447FF"/>
          </a:solidFill>
          <a:ln>
            <a:noFill/>
          </a:ln>
        </p:spPr>
      </p:sp>
      <p:sp>
        <p:nvSpPr>
          <p:cNvPr id="31" name="Shape 31"/>
          <p:cNvSpPr txBox="1"/>
          <p:nvPr/>
        </p:nvSpPr>
        <p:spPr>
          <a:xfrm>
            <a:off x="6424822" y="2587752"/>
            <a:ext cx="914400" cy="4480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Inter"/>
              </a:rPr>
              <a:t>24</a:t>
            </a:r>
          </a:p>
        </p:txBody>
      </p:sp>
      <p:sp>
        <p:nvSpPr>
          <p:cNvPr id="32" name="Shape 32"/>
          <p:cNvSpPr txBox="1"/>
          <p:nvPr/>
        </p:nvSpPr>
        <p:spPr>
          <a:xfrm>
            <a:off x="3429000" y="3035808"/>
            <a:ext cx="1828800" cy="4480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Inter"/>
              </a:rPr>
              <a:t>Inactive</a:t>
            </a:r>
          </a:p>
        </p:txBody>
      </p:sp>
      <p:sp>
        <p:nvSpPr>
          <p:cNvPr id="33" name="Shape 33"/>
          <p:cNvSpPr/>
          <p:nvPr/>
        </p:nvSpPr>
        <p:spPr>
          <a:xfrm>
            <a:off x="5257800" y="3134380"/>
            <a:ext cx="509739" cy="250911"/>
          </a:xfrm>
          <a:prstGeom prst="rect">
            <a:avLst/>
          </a:prstGeom>
          <a:solidFill>
            <a:srgbClr val="DC2626"/>
          </a:solidFill>
          <a:ln>
            <a:noFill/>
          </a:ln>
        </p:spPr>
      </p:sp>
      <p:sp>
        <p:nvSpPr>
          <p:cNvPr id="34" name="Shape 34"/>
          <p:cNvSpPr txBox="1"/>
          <p:nvPr/>
        </p:nvSpPr>
        <p:spPr>
          <a:xfrm>
            <a:off x="5822403" y="3035808"/>
            <a:ext cx="914400" cy="4480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Inter"/>
              </a:rPr>
              <a:t>11</a:t>
            </a:r>
          </a:p>
        </p:txBody>
      </p:sp>
      <p:sp>
        <p:nvSpPr>
          <p:cNvPr id="35" name="Shape 35"/>
          <p:cNvSpPr txBox="1"/>
          <p:nvPr/>
        </p:nvSpPr>
        <p:spPr>
          <a:xfrm>
            <a:off x="3429000" y="3483864"/>
            <a:ext cx="1828800" cy="4480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Inter"/>
              </a:rPr>
              <a:t>Buy Box lost</a:t>
            </a:r>
          </a:p>
        </p:txBody>
      </p:sp>
      <p:sp>
        <p:nvSpPr>
          <p:cNvPr id="36" name="Shape 36"/>
          <p:cNvSpPr/>
          <p:nvPr/>
        </p:nvSpPr>
        <p:spPr>
          <a:xfrm>
            <a:off x="5257800" y="3582436"/>
            <a:ext cx="463399" cy="250911"/>
          </a:xfrm>
          <a:prstGeom prst="rect">
            <a:avLst/>
          </a:prstGeom>
          <a:solidFill>
            <a:srgbClr val="DC2626"/>
          </a:solidFill>
          <a:ln>
            <a:noFill/>
          </a:ln>
        </p:spPr>
      </p:sp>
      <p:sp>
        <p:nvSpPr>
          <p:cNvPr id="37" name="Shape 37"/>
          <p:cNvSpPr txBox="1"/>
          <p:nvPr/>
        </p:nvSpPr>
        <p:spPr>
          <a:xfrm>
            <a:off x="5776063" y="3483864"/>
            <a:ext cx="914400" cy="4480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Inter"/>
              </a:rPr>
              <a:t>10</a:t>
            </a:r>
          </a:p>
        </p:txBody>
      </p:sp>
      <p:sp>
        <p:nvSpPr>
          <p:cNvPr id="38" name="Shape 38"/>
          <p:cNvSpPr txBox="1"/>
          <p:nvPr/>
        </p:nvSpPr>
        <p:spPr>
          <a:xfrm>
            <a:off x="3429000" y="3931920"/>
            <a:ext cx="1828800" cy="4480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Inter"/>
              </a:rPr>
              <a:t>Buy Box gained</a:t>
            </a:r>
          </a:p>
        </p:txBody>
      </p:sp>
      <p:sp>
        <p:nvSpPr>
          <p:cNvPr id="39" name="Shape 39"/>
          <p:cNvSpPr/>
          <p:nvPr/>
        </p:nvSpPr>
        <p:spPr>
          <a:xfrm>
            <a:off x="5257800" y="4030492"/>
            <a:ext cx="463399" cy="250911"/>
          </a:xfrm>
          <a:prstGeom prst="rect">
            <a:avLst/>
          </a:prstGeom>
          <a:solidFill>
            <a:srgbClr val="2447FF"/>
          </a:solidFill>
          <a:ln>
            <a:noFill/>
          </a:ln>
        </p:spPr>
      </p:sp>
      <p:sp>
        <p:nvSpPr>
          <p:cNvPr id="40" name="Shape 40"/>
          <p:cNvSpPr txBox="1"/>
          <p:nvPr/>
        </p:nvSpPr>
        <p:spPr>
          <a:xfrm>
            <a:off x="5776063" y="3931920"/>
            <a:ext cx="914400" cy="4480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Inter"/>
              </a:rPr>
              <a:t>10</a:t>
            </a:r>
          </a:p>
        </p:txBody>
      </p:sp>
      <p:sp>
        <p:nvSpPr>
          <p:cNvPr id="41" name="Shape 41"/>
          <p:cNvSpPr txBox="1"/>
          <p:nvPr/>
        </p:nvSpPr>
        <p:spPr>
          <a:xfrm>
            <a:off x="3429000" y="4379976"/>
            <a:ext cx="1828800" cy="4480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Inter"/>
              </a:rPr>
              <a:t>Low inventory fee</a:t>
            </a:r>
          </a:p>
        </p:txBody>
      </p:sp>
      <p:sp>
        <p:nvSpPr>
          <p:cNvPr id="42" name="Shape 42"/>
          <p:cNvSpPr/>
          <p:nvPr/>
        </p:nvSpPr>
        <p:spPr>
          <a:xfrm>
            <a:off x="5257800" y="4478548"/>
            <a:ext cx="417059" cy="250911"/>
          </a:xfrm>
          <a:prstGeom prst="rect">
            <a:avLst/>
          </a:prstGeom>
          <a:solidFill>
            <a:srgbClr val="2447FF"/>
          </a:solidFill>
          <a:ln>
            <a:noFill/>
          </a:ln>
        </p:spPr>
      </p:sp>
      <p:sp>
        <p:nvSpPr>
          <p:cNvPr id="43" name="Shape 43"/>
          <p:cNvSpPr txBox="1"/>
          <p:nvPr/>
        </p:nvSpPr>
        <p:spPr>
          <a:xfrm>
            <a:off x="5729723" y="4379976"/>
            <a:ext cx="914400" cy="4480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Inter"/>
              </a:rPr>
              <a:t>9</a:t>
            </a:r>
          </a:p>
        </p:txBody>
      </p:sp>
      <p:sp>
        <p:nvSpPr>
          <p:cNvPr id="44" name="Shape 44"/>
          <p:cNvSpPr txBox="1"/>
          <p:nvPr/>
        </p:nvSpPr>
        <p:spPr>
          <a:xfrm>
            <a:off x="3429000" y="4828032"/>
            <a:ext cx="1828800" cy="4480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Inter"/>
              </a:rPr>
              <a:t>Reimbursable units</a:t>
            </a:r>
          </a:p>
        </p:txBody>
      </p:sp>
      <p:sp>
        <p:nvSpPr>
          <p:cNvPr id="45" name="Shape 45"/>
          <p:cNvSpPr/>
          <p:nvPr/>
        </p:nvSpPr>
        <p:spPr>
          <a:xfrm>
            <a:off x="5257800" y="4926604"/>
            <a:ext cx="370719" cy="250911"/>
          </a:xfrm>
          <a:prstGeom prst="rect">
            <a:avLst/>
          </a:prstGeom>
          <a:solidFill>
            <a:srgbClr val="2447FF"/>
          </a:solidFill>
          <a:ln>
            <a:noFill/>
          </a:ln>
        </p:spPr>
      </p:sp>
      <p:sp>
        <p:nvSpPr>
          <p:cNvPr id="46" name="Shape 46"/>
          <p:cNvSpPr txBox="1"/>
          <p:nvPr/>
        </p:nvSpPr>
        <p:spPr>
          <a:xfrm>
            <a:off x="5683383" y="4828032"/>
            <a:ext cx="914400" cy="4480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Inter"/>
              </a:rPr>
              <a:t>8</a:t>
            </a:r>
          </a:p>
        </p:txBody>
      </p:sp>
      <p:sp>
        <p:nvSpPr>
          <p:cNvPr id="47" name="Shape 47"/>
          <p:cNvSpPr txBox="1"/>
          <p:nvPr/>
        </p:nvSpPr>
        <p:spPr>
          <a:xfrm>
            <a:off x="3429000" y="5276088"/>
            <a:ext cx="1828800" cy="4480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Inter"/>
              </a:rPr>
              <a:t>Low stock</a:t>
            </a:r>
          </a:p>
        </p:txBody>
      </p:sp>
      <p:sp>
        <p:nvSpPr>
          <p:cNvPr id="48" name="Shape 48"/>
          <p:cNvSpPr/>
          <p:nvPr/>
        </p:nvSpPr>
        <p:spPr>
          <a:xfrm>
            <a:off x="5257800" y="5374660"/>
            <a:ext cx="231699" cy="250911"/>
          </a:xfrm>
          <a:prstGeom prst="rect">
            <a:avLst/>
          </a:prstGeom>
          <a:solidFill>
            <a:srgbClr val="2447FF"/>
          </a:solidFill>
          <a:ln>
            <a:noFill/>
          </a:ln>
        </p:spPr>
      </p:sp>
      <p:sp>
        <p:nvSpPr>
          <p:cNvPr id="49" name="Shape 49"/>
          <p:cNvSpPr txBox="1"/>
          <p:nvPr/>
        </p:nvSpPr>
        <p:spPr>
          <a:xfrm>
            <a:off x="5544363" y="5276088"/>
            <a:ext cx="914400" cy="4480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Inter"/>
              </a:rPr>
              <a:t>5</a:t>
            </a:r>
          </a:p>
        </p:txBody>
      </p:sp>
      <p:sp>
        <p:nvSpPr>
          <p:cNvPr id="50" name="Shape 50"/>
          <p:cNvSpPr txBox="1"/>
          <p:nvPr/>
        </p:nvSpPr>
        <p:spPr>
          <a:xfrm>
            <a:off x="3429000" y="5724144"/>
            <a:ext cx="1828800" cy="4480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Inter"/>
              </a:rPr>
              <a:t>Out of stock</a:t>
            </a:r>
          </a:p>
        </p:txBody>
      </p:sp>
      <p:sp>
        <p:nvSpPr>
          <p:cNvPr id="51" name="Shape 51"/>
          <p:cNvSpPr/>
          <p:nvPr/>
        </p:nvSpPr>
        <p:spPr>
          <a:xfrm>
            <a:off x="5257800" y="5822716"/>
            <a:ext cx="231699" cy="250911"/>
          </a:xfrm>
          <a:prstGeom prst="rect">
            <a:avLst/>
          </a:prstGeom>
          <a:solidFill>
            <a:srgbClr val="DC2626"/>
          </a:solidFill>
          <a:ln>
            <a:noFill/>
          </a:ln>
        </p:spPr>
      </p:sp>
      <p:sp>
        <p:nvSpPr>
          <p:cNvPr id="52" name="Shape 52"/>
          <p:cNvSpPr txBox="1"/>
          <p:nvPr/>
        </p:nvSpPr>
        <p:spPr>
          <a:xfrm>
            <a:off x="5544363" y="5724144"/>
            <a:ext cx="914400" cy="4480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Shape 1"/>
        <p:cNvGrpSpPr/>
        <p:nvPr/>
      </p:nvGrpSpPr>
      <p:grpSpPr/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548640" y="502920"/>
            <a:ext cx="73152" cy="566928"/>
          </a:xfrm>
          <a:prstGeom prst="rect">
            <a:avLst/>
          </a:prstGeom>
          <a:solidFill>
            <a:srgbClr val="2447FF"/>
          </a:solidFill>
          <a:ln>
            <a:noFill/>
          </a:ln>
        </p:spPr>
      </p:sp>
      <p:sp>
        <p:nvSpPr>
          <p:cNvPr id="4" name="Shape 4"/>
          <p:cNvSpPr txBox="1"/>
          <p:nvPr/>
        </p:nvSpPr>
        <p:spPr>
          <a:xfrm>
            <a:off x="731520" y="384048"/>
            <a:ext cx="8686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447FF"/>
                </a:solidFill>
                <a:latin typeface="Space Grotesk"/>
              </a:rPr>
              <a:t>NEXT STEPS</a:t>
            </a:r>
          </a:p>
        </p:txBody>
      </p:sp>
      <p:sp>
        <p:nvSpPr>
          <p:cNvPr id="5" name="Shape 5"/>
          <p:cNvSpPr txBox="1"/>
          <p:nvPr/>
        </p:nvSpPr>
        <p:spPr>
          <a:xfrm>
            <a:off x="731520" y="603504"/>
            <a:ext cx="960120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Space Grotesk"/>
              </a:rPr>
              <a:t>This week's recommendations</a:t>
            </a:r>
          </a:p>
        </p:txBody>
      </p:sp>
      <p:pic>
        <p:nvPicPr>
          <p:cNvPr id="6" name="Shape 6" descr="logo_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560" y="457200"/>
            <a:ext cx="1463040" cy="256032"/>
          </a:xfrm>
          <a:prstGeom prst="rect">
            <a:avLst/>
          </a:prstGeom>
        </p:spPr>
      </p:pic>
      <p:sp>
        <p:nvSpPr>
          <p:cNvPr id="7" name="Shape 7"/>
          <p:cNvSpPr/>
          <p:nvPr/>
        </p:nvSpPr>
        <p:spPr>
          <a:xfrm>
            <a:off x="548640" y="6400800"/>
            <a:ext cx="11091672" cy="10972"/>
          </a:xfrm>
          <a:prstGeom prst="rect">
            <a:avLst/>
          </a:prstGeom>
          <a:solidFill>
            <a:srgbClr val="E5E0D6"/>
          </a:solidFill>
          <a:ln>
            <a:noFill/>
          </a:ln>
        </p:spPr>
      </p:sp>
      <p:sp>
        <p:nvSpPr>
          <p:cNvPr id="8" name="Shape 8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>
                <a:solidFill>
                  <a:srgbClr val="6B6558"/>
                </a:solidFill>
                <a:latin typeface="Inter"/>
              </a:rPr>
              <a:t>Dormeo US · Weekly Business Review · Week 43 (Oct 19–25, 2026)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10241280" y="6455664"/>
            <a:ext cx="1399032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>
                <a:solidFill>
                  <a:srgbClr val="6B6558"/>
                </a:solidFill>
                <a:latin typeface="Inter"/>
              </a:rPr>
              <a:t>15 / 17</a:t>
            </a:r>
          </a:p>
        </p:txBody>
      </p:sp>
      <p:graphicFrame>
        <p:nvGraphicFramePr>
          <p:cNvPr id="10" name="Shape 10"/>
          <p:cNvGraphicFramePr>
            <a:graphicFrameLocks noGrp="1"/>
          </p:cNvGraphicFramePr>
          <p:nvPr/>
        </p:nvGraphicFramePr>
        <p:xfrm>
          <a:off x="548640" y="1371600"/>
          <a:ext cx="11091672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7068312"/>
                <a:gridCol w="1371600"/>
                <a:gridCol w="1188720"/>
              </a:tblGrid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Inter"/>
                        </a:rPr>
                        <a:t>Area</a:t>
                      </a:r>
                    </a:p>
                  </a:txBody>
                  <a:tcPr marL="54864" marR="54864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Inter"/>
                        </a:rPr>
                        <a:t>Recommendation</a:t>
                      </a:r>
                    </a:p>
                  </a:txBody>
                  <a:tcPr marL="54864" marR="54864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Inter"/>
                        </a:rPr>
                        <a:t>Timing</a:t>
                      </a:r>
                    </a:p>
                  </a:txBody>
                  <a:tcPr marL="54864" marR="54864" marT="27432" marB="27432" anchor="ctr">
                    <a:solidFill>
                      <a:srgbClr val="0F172A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Inventory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Confirm the ETA for the 400 inbound Queen toppers and chase any receiving delay at FBA.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Account team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This week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Inventory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Send King (1.6 weeks available) and Cal/Split/RV (2.7 weeks) replenishment so neither runs out before BF/CM.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Account team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By Nov 6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Ads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Lower the bid on “mattress +topper” (phrase) and review the $1.1K Streaming TV spend that returned one sale.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Ads team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This week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Ads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Pause or cut the 97 campaigns with spend and no sales ($792 this week).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Ads team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This week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Ads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Add the 3 converting searches as exact keywords; negate the 17 no-sale search terms after review.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Ads team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This week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Ads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Keep Queen budget shifted to King and Full while Queen is out; both grew this week.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Ads team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Until restock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Marketing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Plan BF/CM coupons and deals for the toppers (Nov 27–30) and confirm submission deadlines.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Account team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By Nov 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Account health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Turn on review tracking and look into the return reasons behind the 26% refund rate.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Account team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F172A"/>
                          </a:solidFill>
                          <a:latin typeface="Inter"/>
                        </a:rPr>
                        <a:t>Next week</a:t>
                      </a:r>
                    </a:p>
                  </a:txBody>
                  <a:tcPr marL="54864" marR="54864" marT="27432" marB="27432" anchor="ctr"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Shape 1"/>
        <p:cNvGrpSpPr/>
        <p:nvPr/>
      </p:nvGrpSpPr>
      <p:grpSpPr/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548640" y="502920"/>
            <a:ext cx="73152" cy="566928"/>
          </a:xfrm>
          <a:prstGeom prst="rect">
            <a:avLst/>
          </a:prstGeom>
          <a:solidFill>
            <a:srgbClr val="2447FF"/>
          </a:solidFill>
          <a:ln>
            <a:noFill/>
          </a:ln>
        </p:spPr>
      </p:sp>
      <p:sp>
        <p:nvSpPr>
          <p:cNvPr id="4" name="Shape 4"/>
          <p:cNvSpPr txBox="1"/>
          <p:nvPr/>
        </p:nvSpPr>
        <p:spPr>
          <a:xfrm>
            <a:off x="731520" y="384048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447FF"/>
                </a:solidFill>
                <a:latin typeface="Space Grotesk"/>
              </a:rPr>
              <a:t>AMAZON ADS</a:t>
            </a:r>
          </a:p>
        </p:txBody>
      </p:sp>
      <p:sp>
        <p:nvSpPr>
          <p:cNvPr id="5" name="Shape 5"/>
          <p:cNvSpPr txBox="1"/>
          <p:nvPr/>
        </p:nvSpPr>
        <p:spPr>
          <a:xfrm>
            <a:off x="731520" y="603504"/>
            <a:ext cx="960120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Space Grotesk"/>
              </a:rPr>
              <a:t>Ad spend performance — this week vs last</a:t>
            </a:r>
          </a:p>
        </p:txBody>
      </p:sp>
      <p:pic>
        <p:nvPicPr>
          <p:cNvPr id="6" name="Shape 6" descr="logo_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560" y="457200"/>
            <a:ext cx="1463040" cy="256032"/>
          </a:xfrm>
          <a:prstGeom prst="rect">
            <a:avLst/>
          </a:prstGeom>
        </p:spPr>
      </p:pic>
      <p:sp>
        <p:nvSpPr>
          <p:cNvPr id="7" name="Shape 7"/>
          <p:cNvSpPr/>
          <p:nvPr/>
        </p:nvSpPr>
        <p:spPr>
          <a:xfrm>
            <a:off x="548640" y="1417320"/>
            <a:ext cx="2651760" cy="1554480"/>
          </a:xfrm>
          <a:prstGeom prst="roundRect">
            <a:avLst>
              <a:gd name="" fmla="val 6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8" name="Shape 8"/>
          <p:cNvSpPr txBox="1"/>
          <p:nvPr/>
        </p:nvSpPr>
        <p:spPr>
          <a:xfrm>
            <a:off x="713232" y="1545336"/>
            <a:ext cx="23774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>
                <a:solidFill>
                  <a:srgbClr val="6B6558"/>
                </a:solidFill>
                <a:latin typeface="Inter"/>
              </a:rPr>
              <a:t>AD SPEND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713232" y="1801368"/>
            <a:ext cx="23774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>
                <a:solidFill>
                  <a:srgbClr val="2447FF"/>
                </a:solidFill>
                <a:latin typeface="Space Grotesk"/>
              </a:rPr>
              <a:t>$6,741</a:t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713232" y="2560320"/>
            <a:ext cx="237744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16A34A"/>
                </a:solidFill>
                <a:latin typeface="Inter"/>
              </a:rPr>
              <a:t>-30% vs $9,590</a:t>
            </a:r>
          </a:p>
        </p:txBody>
      </p:sp>
      <p:sp>
        <p:nvSpPr>
          <p:cNvPr id="11" name="Shape 11"/>
          <p:cNvSpPr/>
          <p:nvPr/>
        </p:nvSpPr>
        <p:spPr>
          <a:xfrm>
            <a:off x="3364992" y="1417320"/>
            <a:ext cx="2651760" cy="1554480"/>
          </a:xfrm>
          <a:prstGeom prst="roundRect">
            <a:avLst>
              <a:gd name="" fmla="val 6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12" name="Shape 12"/>
          <p:cNvSpPr txBox="1"/>
          <p:nvPr/>
        </p:nvSpPr>
        <p:spPr>
          <a:xfrm>
            <a:off x="3529584" y="1545336"/>
            <a:ext cx="23774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>
                <a:solidFill>
                  <a:srgbClr val="6B6558"/>
                </a:solidFill>
                <a:latin typeface="Inter"/>
              </a:rPr>
              <a:t>AD SALES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3529584" y="1801368"/>
            <a:ext cx="23774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>
                <a:solidFill>
                  <a:srgbClr val="2447FF"/>
                </a:solidFill>
                <a:latin typeface="Space Grotesk"/>
              </a:rPr>
              <a:t>$28,425</a:t>
            </a:r>
          </a:p>
        </p:txBody>
      </p:sp>
      <p:sp>
        <p:nvSpPr>
          <p:cNvPr id="14" name="Shape 14"/>
          <p:cNvSpPr txBox="1"/>
          <p:nvPr/>
        </p:nvSpPr>
        <p:spPr>
          <a:xfrm>
            <a:off x="3529584" y="2560320"/>
            <a:ext cx="237744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DC2626"/>
                </a:solidFill>
                <a:latin typeface="Inter"/>
              </a:rPr>
              <a:t>-29% vs $40,065</a:t>
            </a:r>
          </a:p>
        </p:txBody>
      </p:sp>
      <p:sp>
        <p:nvSpPr>
          <p:cNvPr id="15" name="Shape 15"/>
          <p:cNvSpPr/>
          <p:nvPr/>
        </p:nvSpPr>
        <p:spPr>
          <a:xfrm>
            <a:off x="6181344" y="1417320"/>
            <a:ext cx="2651760" cy="1554480"/>
          </a:xfrm>
          <a:prstGeom prst="roundRect">
            <a:avLst>
              <a:gd name="" fmla="val 6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16" name="Shape 16"/>
          <p:cNvSpPr txBox="1"/>
          <p:nvPr/>
        </p:nvSpPr>
        <p:spPr>
          <a:xfrm>
            <a:off x="6345936" y="1545336"/>
            <a:ext cx="23774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>
                <a:solidFill>
                  <a:srgbClr val="6B6558"/>
                </a:solidFill>
                <a:latin typeface="Inter"/>
              </a:rPr>
              <a:t>ACOS</a:t>
            </a:r>
          </a:p>
        </p:txBody>
      </p:sp>
      <p:sp>
        <p:nvSpPr>
          <p:cNvPr id="17" name="Shape 17"/>
          <p:cNvSpPr txBox="1"/>
          <p:nvPr/>
        </p:nvSpPr>
        <p:spPr>
          <a:xfrm>
            <a:off x="6345936" y="1801368"/>
            <a:ext cx="23774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>
                <a:solidFill>
                  <a:srgbClr val="2447FF"/>
                </a:solidFill>
                <a:latin typeface="Space Grotesk"/>
              </a:rPr>
              <a:t>23.7%</a:t>
            </a:r>
          </a:p>
        </p:txBody>
      </p:sp>
      <p:sp>
        <p:nvSpPr>
          <p:cNvPr id="18" name="Shape 18"/>
          <p:cNvSpPr txBox="1"/>
          <p:nvPr/>
        </p:nvSpPr>
        <p:spPr>
          <a:xfrm>
            <a:off x="6345936" y="2560320"/>
            <a:ext cx="237744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16A34A"/>
                </a:solidFill>
                <a:latin typeface="Inter"/>
              </a:rPr>
              <a:t>-0.2 pts vs 23.9%</a:t>
            </a:r>
          </a:p>
        </p:txBody>
      </p:sp>
      <p:sp>
        <p:nvSpPr>
          <p:cNvPr id="19" name="Shape 19"/>
          <p:cNvSpPr/>
          <p:nvPr/>
        </p:nvSpPr>
        <p:spPr>
          <a:xfrm>
            <a:off x="8997696" y="1417320"/>
            <a:ext cx="2651760" cy="1554480"/>
          </a:xfrm>
          <a:prstGeom prst="roundRect">
            <a:avLst>
              <a:gd name="" fmla="val 6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20" name="Shape 20"/>
          <p:cNvSpPr txBox="1"/>
          <p:nvPr/>
        </p:nvSpPr>
        <p:spPr>
          <a:xfrm>
            <a:off x="9162288" y="1545336"/>
            <a:ext cx="23774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>
                <a:solidFill>
                  <a:srgbClr val="6B6558"/>
                </a:solidFill>
                <a:latin typeface="Inter"/>
              </a:rPr>
              <a:t>TACOS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9162288" y="1801368"/>
            <a:ext cx="23774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>
                <a:solidFill>
                  <a:srgbClr val="2447FF"/>
                </a:solidFill>
                <a:latin typeface="Space Grotesk"/>
              </a:rPr>
              <a:t>11.7%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9162288" y="2560320"/>
            <a:ext cx="237744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16A34A"/>
                </a:solidFill>
                <a:latin typeface="Inter"/>
              </a:rPr>
              <a:t>-0.7 pts vs 12.3%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548640" y="3154680"/>
            <a:ext cx="3474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Space Grotesk"/>
              </a:rPr>
              <a:t>Ad spend</a:t>
            </a:r>
          </a:p>
        </p:txBody>
      </p:sp>
      <p:sp>
        <p:nvSpPr>
          <p:cNvPr id="24" name="Shape 24"/>
          <p:cNvSpPr/>
          <p:nvPr/>
        </p:nvSpPr>
        <p:spPr>
          <a:xfrm>
            <a:off x="914400" y="3840479"/>
            <a:ext cx="1005840" cy="2148840"/>
          </a:xfrm>
          <a:prstGeom prst="rect">
            <a:avLst/>
          </a:prstGeom>
          <a:solidFill>
            <a:srgbClr val="C7D2FE"/>
          </a:solidFill>
          <a:ln>
            <a:noFill/>
          </a:ln>
        </p:spPr>
      </p:sp>
      <p:sp>
        <p:nvSpPr>
          <p:cNvPr id="25" name="Shape 25"/>
          <p:cNvSpPr txBox="1"/>
          <p:nvPr/>
        </p:nvSpPr>
        <p:spPr>
          <a:xfrm>
            <a:off x="731520" y="3566159"/>
            <a:ext cx="13716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Inter"/>
              </a:rPr>
              <a:t>$9.6K</a:t>
            </a:r>
          </a:p>
        </p:txBody>
      </p:sp>
      <p:sp>
        <p:nvSpPr>
          <p:cNvPr id="26" name="Shape 26"/>
          <p:cNvSpPr txBox="1"/>
          <p:nvPr/>
        </p:nvSpPr>
        <p:spPr>
          <a:xfrm>
            <a:off x="731520" y="6035040"/>
            <a:ext cx="13716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6B6558"/>
                </a:solidFill>
                <a:latin typeface="Inter"/>
              </a:rPr>
              <a:t>Oct 12 – 18</a:t>
            </a:r>
          </a:p>
        </p:txBody>
      </p:sp>
      <p:sp>
        <p:nvSpPr>
          <p:cNvPr id="27" name="Shape 27"/>
          <p:cNvSpPr/>
          <p:nvPr/>
        </p:nvSpPr>
        <p:spPr>
          <a:xfrm>
            <a:off x="2286000" y="4478780"/>
            <a:ext cx="1005840" cy="1510539"/>
          </a:xfrm>
          <a:prstGeom prst="rect">
            <a:avLst/>
          </a:prstGeom>
          <a:solidFill>
            <a:srgbClr val="2447FF"/>
          </a:solidFill>
          <a:ln>
            <a:noFill/>
          </a:ln>
        </p:spPr>
      </p:sp>
      <p:sp>
        <p:nvSpPr>
          <p:cNvPr id="28" name="Shape 28"/>
          <p:cNvSpPr txBox="1"/>
          <p:nvPr/>
        </p:nvSpPr>
        <p:spPr>
          <a:xfrm>
            <a:off x="2103120" y="4204460"/>
            <a:ext cx="13716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Inter"/>
              </a:rPr>
              <a:t>$6.7K</a:t>
            </a:r>
          </a:p>
        </p:txBody>
      </p:sp>
      <p:sp>
        <p:nvSpPr>
          <p:cNvPr id="29" name="Shape 29"/>
          <p:cNvSpPr txBox="1"/>
          <p:nvPr/>
        </p:nvSpPr>
        <p:spPr>
          <a:xfrm>
            <a:off x="2103120" y="6035040"/>
            <a:ext cx="13716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6B6558"/>
                </a:solidFill>
                <a:latin typeface="Inter"/>
              </a:rPr>
              <a:t>Oct 19 – 25</a:t>
            </a:r>
          </a:p>
        </p:txBody>
      </p:sp>
      <p:sp>
        <p:nvSpPr>
          <p:cNvPr id="30" name="Shape 30"/>
          <p:cNvSpPr txBox="1"/>
          <p:nvPr/>
        </p:nvSpPr>
        <p:spPr>
          <a:xfrm>
            <a:off x="4297679" y="3154680"/>
            <a:ext cx="3474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Space Grotesk"/>
              </a:rPr>
              <a:t>Ad sales</a:t>
            </a:r>
          </a:p>
        </p:txBody>
      </p:sp>
      <p:sp>
        <p:nvSpPr>
          <p:cNvPr id="31" name="Shape 31"/>
          <p:cNvSpPr/>
          <p:nvPr/>
        </p:nvSpPr>
        <p:spPr>
          <a:xfrm>
            <a:off x="4663440" y="3840479"/>
            <a:ext cx="1005840" cy="2148840"/>
          </a:xfrm>
          <a:prstGeom prst="rect">
            <a:avLst/>
          </a:prstGeom>
          <a:solidFill>
            <a:srgbClr val="C7D2FE"/>
          </a:solidFill>
          <a:ln>
            <a:noFill/>
          </a:ln>
        </p:spPr>
      </p:sp>
      <p:sp>
        <p:nvSpPr>
          <p:cNvPr id="32" name="Shape 32"/>
          <p:cNvSpPr txBox="1"/>
          <p:nvPr/>
        </p:nvSpPr>
        <p:spPr>
          <a:xfrm>
            <a:off x="4480559" y="3566159"/>
            <a:ext cx="13716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Inter"/>
              </a:rPr>
              <a:t>$40.1K</a:t>
            </a:r>
          </a:p>
        </p:txBody>
      </p:sp>
      <p:sp>
        <p:nvSpPr>
          <p:cNvPr id="33" name="Shape 33"/>
          <p:cNvSpPr txBox="1"/>
          <p:nvPr/>
        </p:nvSpPr>
        <p:spPr>
          <a:xfrm>
            <a:off x="4480559" y="6035040"/>
            <a:ext cx="13716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6B6558"/>
                </a:solidFill>
                <a:latin typeface="Inter"/>
              </a:rPr>
              <a:t>Oct 12 – 18</a:t>
            </a:r>
          </a:p>
        </p:txBody>
      </p:sp>
      <p:sp>
        <p:nvSpPr>
          <p:cNvPr id="34" name="Shape 34"/>
          <p:cNvSpPr/>
          <p:nvPr/>
        </p:nvSpPr>
        <p:spPr>
          <a:xfrm>
            <a:off x="6035040" y="4464785"/>
            <a:ext cx="1005840" cy="1524534"/>
          </a:xfrm>
          <a:prstGeom prst="rect">
            <a:avLst/>
          </a:prstGeom>
          <a:solidFill>
            <a:srgbClr val="2447FF"/>
          </a:solidFill>
          <a:ln>
            <a:noFill/>
          </a:ln>
        </p:spPr>
      </p:sp>
      <p:sp>
        <p:nvSpPr>
          <p:cNvPr id="35" name="Shape 35"/>
          <p:cNvSpPr txBox="1"/>
          <p:nvPr/>
        </p:nvSpPr>
        <p:spPr>
          <a:xfrm>
            <a:off x="5852159" y="4190465"/>
            <a:ext cx="13716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Inter"/>
              </a:rPr>
              <a:t>$28.4K</a:t>
            </a:r>
          </a:p>
        </p:txBody>
      </p:sp>
      <p:sp>
        <p:nvSpPr>
          <p:cNvPr id="36" name="Shape 36"/>
          <p:cNvSpPr txBox="1"/>
          <p:nvPr/>
        </p:nvSpPr>
        <p:spPr>
          <a:xfrm>
            <a:off x="5852159" y="6035040"/>
            <a:ext cx="13716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6B6558"/>
                </a:solidFill>
                <a:latin typeface="Inter"/>
              </a:rPr>
              <a:t>Oct 19 – 25</a:t>
            </a:r>
          </a:p>
        </p:txBody>
      </p:sp>
      <p:sp>
        <p:nvSpPr>
          <p:cNvPr id="37" name="Shape 37"/>
          <p:cNvSpPr txBox="1"/>
          <p:nvPr/>
        </p:nvSpPr>
        <p:spPr>
          <a:xfrm>
            <a:off x="8046719" y="3154680"/>
            <a:ext cx="3474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Space Grotesk"/>
              </a:rPr>
              <a:t>Total sales</a:t>
            </a:r>
          </a:p>
        </p:txBody>
      </p:sp>
      <p:sp>
        <p:nvSpPr>
          <p:cNvPr id="38" name="Shape 38"/>
          <p:cNvSpPr/>
          <p:nvPr/>
        </p:nvSpPr>
        <p:spPr>
          <a:xfrm>
            <a:off x="8412480" y="3840479"/>
            <a:ext cx="1005840" cy="2148840"/>
          </a:xfrm>
          <a:prstGeom prst="rect">
            <a:avLst/>
          </a:prstGeom>
          <a:solidFill>
            <a:srgbClr val="C7D2FE"/>
          </a:solidFill>
          <a:ln>
            <a:noFill/>
          </a:ln>
        </p:spPr>
      </p:sp>
      <p:sp>
        <p:nvSpPr>
          <p:cNvPr id="39" name="Shape 39"/>
          <p:cNvSpPr txBox="1"/>
          <p:nvPr/>
        </p:nvSpPr>
        <p:spPr>
          <a:xfrm>
            <a:off x="8229600" y="3566159"/>
            <a:ext cx="13716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Inter"/>
              </a:rPr>
              <a:t>$77.7K</a:t>
            </a:r>
          </a:p>
        </p:txBody>
      </p:sp>
      <p:sp>
        <p:nvSpPr>
          <p:cNvPr id="40" name="Shape 40"/>
          <p:cNvSpPr txBox="1"/>
          <p:nvPr/>
        </p:nvSpPr>
        <p:spPr>
          <a:xfrm>
            <a:off x="8229600" y="6035040"/>
            <a:ext cx="13716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6B6558"/>
                </a:solidFill>
                <a:latin typeface="Inter"/>
              </a:rPr>
              <a:t>Oct 12 – 18</a:t>
            </a:r>
          </a:p>
        </p:txBody>
      </p:sp>
      <p:sp>
        <p:nvSpPr>
          <p:cNvPr id="41" name="Shape 41"/>
          <p:cNvSpPr/>
          <p:nvPr/>
        </p:nvSpPr>
        <p:spPr>
          <a:xfrm>
            <a:off x="9784080" y="4392336"/>
            <a:ext cx="1005840" cy="1596983"/>
          </a:xfrm>
          <a:prstGeom prst="rect">
            <a:avLst/>
          </a:prstGeom>
          <a:solidFill>
            <a:srgbClr val="2447FF"/>
          </a:solidFill>
          <a:ln>
            <a:noFill/>
          </a:ln>
        </p:spPr>
      </p:sp>
      <p:sp>
        <p:nvSpPr>
          <p:cNvPr id="42" name="Shape 42"/>
          <p:cNvSpPr txBox="1"/>
          <p:nvPr/>
        </p:nvSpPr>
        <p:spPr>
          <a:xfrm>
            <a:off x="9601200" y="4118016"/>
            <a:ext cx="13716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Inter"/>
              </a:rPr>
              <a:t>$57.7K</a:t>
            </a:r>
          </a:p>
        </p:txBody>
      </p:sp>
      <p:sp>
        <p:nvSpPr>
          <p:cNvPr id="43" name="Shape 43"/>
          <p:cNvSpPr txBox="1"/>
          <p:nvPr/>
        </p:nvSpPr>
        <p:spPr>
          <a:xfrm>
            <a:off x="9601200" y="6035040"/>
            <a:ext cx="13716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6B6558"/>
                </a:solidFill>
                <a:latin typeface="Inter"/>
              </a:rPr>
              <a:t>Oct 19 – 25</a:t>
            </a:r>
          </a:p>
        </p:txBody>
      </p:sp>
      <p:sp>
        <p:nvSpPr>
          <p:cNvPr id="44" name="Shape 44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>
                <a:solidFill>
                  <a:srgbClr val="6B6558"/>
                </a:solidFill>
                <a:latin typeface="Inter"/>
              </a:rPr>
              <a:t>Dormeo US · Weekly Business Review · Week 43 (Oct 19–25, 2026)</a:t>
            </a:r>
          </a:p>
        </p:txBody>
      </p:sp>
      <p:sp>
        <p:nvSpPr>
          <p:cNvPr id="45" name="Shape 45"/>
          <p:cNvSpPr txBox="1"/>
          <p:nvPr/>
        </p:nvSpPr>
        <p:spPr>
          <a:xfrm>
            <a:off x="10241280" y="6455664"/>
            <a:ext cx="1399032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>
                <a:solidFill>
                  <a:srgbClr val="6B6558"/>
                </a:solidFill>
                <a:latin typeface="Inter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Shape 1"/>
        <p:cNvGrpSpPr/>
        <p:nvPr/>
      </p:nvGrpSpPr>
      <p:grpSpPr/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548640" y="502920"/>
            <a:ext cx="73152" cy="566928"/>
          </a:xfrm>
          <a:prstGeom prst="rect">
            <a:avLst/>
          </a:prstGeom>
          <a:solidFill>
            <a:srgbClr val="2447FF"/>
          </a:solidFill>
          <a:ln>
            <a:noFill/>
          </a:ln>
        </p:spPr>
      </p:sp>
      <p:sp>
        <p:nvSpPr>
          <p:cNvPr id="4" name="Shape 4"/>
          <p:cNvSpPr txBox="1"/>
          <p:nvPr/>
        </p:nvSpPr>
        <p:spPr>
          <a:xfrm>
            <a:off x="731520" y="384048"/>
            <a:ext cx="8686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447FF"/>
                </a:solidFill>
                <a:latin typeface="Space Grotesk"/>
              </a:rPr>
              <a:t>PATH FORWARD</a:t>
            </a:r>
          </a:p>
        </p:txBody>
      </p:sp>
      <p:sp>
        <p:nvSpPr>
          <p:cNvPr id="5" name="Shape 5"/>
          <p:cNvSpPr txBox="1"/>
          <p:nvPr/>
        </p:nvSpPr>
        <p:spPr>
          <a:xfrm>
            <a:off x="731520" y="603504"/>
            <a:ext cx="960120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Space Grotesk"/>
              </a:rPr>
              <a:t>Where we stand and what's next</a:t>
            </a:r>
          </a:p>
        </p:txBody>
      </p:sp>
      <p:pic>
        <p:nvPicPr>
          <p:cNvPr id="6" name="Shape 6" descr="logo_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560" y="457200"/>
            <a:ext cx="1463040" cy="256032"/>
          </a:xfrm>
          <a:prstGeom prst="rect">
            <a:avLst/>
          </a:prstGeom>
        </p:spPr>
      </p:pic>
      <p:sp>
        <p:nvSpPr>
          <p:cNvPr id="7" name="Shape 7"/>
          <p:cNvSpPr/>
          <p:nvPr/>
        </p:nvSpPr>
        <p:spPr>
          <a:xfrm>
            <a:off x="548640" y="6400800"/>
            <a:ext cx="11091672" cy="10972"/>
          </a:xfrm>
          <a:prstGeom prst="rect">
            <a:avLst/>
          </a:prstGeom>
          <a:solidFill>
            <a:srgbClr val="E5E0D6"/>
          </a:solidFill>
          <a:ln>
            <a:noFill/>
          </a:ln>
        </p:spPr>
      </p:sp>
      <p:sp>
        <p:nvSpPr>
          <p:cNvPr id="8" name="Shape 8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>
                <a:solidFill>
                  <a:srgbClr val="6B6558"/>
                </a:solidFill>
                <a:latin typeface="Inter"/>
              </a:rPr>
              <a:t>Dormeo US · Weekly Business Review · Week 43 (Oct 19–25, 2026)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10241280" y="6455664"/>
            <a:ext cx="1399032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>
                <a:solidFill>
                  <a:srgbClr val="6B6558"/>
                </a:solidFill>
                <a:latin typeface="Inter"/>
              </a:rPr>
              <a:t>17 / 17</a:t>
            </a:r>
          </a:p>
        </p:txBody>
      </p:sp>
      <p:sp>
        <p:nvSpPr>
          <p:cNvPr id="10" name="Shape 10"/>
          <p:cNvSpPr/>
          <p:nvPr/>
        </p:nvSpPr>
        <p:spPr>
          <a:xfrm>
            <a:off x="548640" y="1371600"/>
            <a:ext cx="2651760" cy="1417320"/>
          </a:xfrm>
          <a:prstGeom prst="roundRect">
            <a:avLst>
              <a:gd name="" fmla="val 6000"/>
            </a:avLst>
          </a:prstGeom>
          <a:solidFill>
            <a:srgbClr val="F6F3EC"/>
          </a:solidFill>
          <a:ln>
            <a:noFill/>
          </a:ln>
        </p:spPr>
      </p:sp>
      <p:sp>
        <p:nvSpPr>
          <p:cNvPr id="11" name="Shape 11"/>
          <p:cNvSpPr txBox="1"/>
          <p:nvPr/>
        </p:nvSpPr>
        <p:spPr>
          <a:xfrm>
            <a:off x="713232" y="1499616"/>
            <a:ext cx="23774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>
                <a:solidFill>
                  <a:srgbClr val="6B6558"/>
                </a:solidFill>
                <a:latin typeface="Inter"/>
              </a:rPr>
              <a:t>MTD AD SPEND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713232" y="1755648"/>
            <a:ext cx="23774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>
                <a:solidFill>
                  <a:srgbClr val="2447FF"/>
                </a:solidFill>
                <a:latin typeface="Space Grotesk"/>
              </a:rPr>
              <a:t>$34.0K</a:t>
            </a:r>
          </a:p>
        </p:txBody>
      </p:sp>
      <p:sp>
        <p:nvSpPr>
          <p:cNvPr id="13" name="Shape 13"/>
          <p:cNvSpPr/>
          <p:nvPr/>
        </p:nvSpPr>
        <p:spPr>
          <a:xfrm>
            <a:off x="3364992" y="1371600"/>
            <a:ext cx="2651760" cy="1417320"/>
          </a:xfrm>
          <a:prstGeom prst="roundRect">
            <a:avLst>
              <a:gd name="" fmla="val 6000"/>
            </a:avLst>
          </a:prstGeom>
          <a:solidFill>
            <a:srgbClr val="F6F3EC"/>
          </a:solidFill>
          <a:ln>
            <a:noFill/>
          </a:ln>
        </p:spPr>
      </p:sp>
      <p:sp>
        <p:nvSpPr>
          <p:cNvPr id="14" name="Shape 14"/>
          <p:cNvSpPr txBox="1"/>
          <p:nvPr/>
        </p:nvSpPr>
        <p:spPr>
          <a:xfrm>
            <a:off x="3529584" y="1499616"/>
            <a:ext cx="23774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>
                <a:solidFill>
                  <a:srgbClr val="6B6558"/>
                </a:solidFill>
                <a:latin typeface="Inter"/>
              </a:rPr>
              <a:t>PROJECTED SPEND</a:t>
            </a:r>
          </a:p>
        </p:txBody>
      </p:sp>
      <p:sp>
        <p:nvSpPr>
          <p:cNvPr id="15" name="Shape 15"/>
          <p:cNvSpPr txBox="1"/>
          <p:nvPr/>
        </p:nvSpPr>
        <p:spPr>
          <a:xfrm>
            <a:off x="3529584" y="1755648"/>
            <a:ext cx="23774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>
                <a:solidFill>
                  <a:srgbClr val="2447FF"/>
                </a:solidFill>
                <a:latin typeface="Space Grotesk"/>
              </a:rPr>
              <a:t>$42.2K</a:t>
            </a:r>
          </a:p>
        </p:txBody>
      </p:sp>
      <p:sp>
        <p:nvSpPr>
          <p:cNvPr id="16" name="Shape 16"/>
          <p:cNvSpPr/>
          <p:nvPr/>
        </p:nvSpPr>
        <p:spPr>
          <a:xfrm>
            <a:off x="6181344" y="1371600"/>
            <a:ext cx="2651760" cy="1417320"/>
          </a:xfrm>
          <a:prstGeom prst="roundRect">
            <a:avLst>
              <a:gd name="" fmla="val 6000"/>
            </a:avLst>
          </a:prstGeom>
          <a:solidFill>
            <a:srgbClr val="F6F3EC"/>
          </a:solidFill>
          <a:ln>
            <a:noFill/>
          </a:ln>
        </p:spPr>
      </p:sp>
      <p:sp>
        <p:nvSpPr>
          <p:cNvPr id="17" name="Shape 17"/>
          <p:cNvSpPr txBox="1"/>
          <p:nvPr/>
        </p:nvSpPr>
        <p:spPr>
          <a:xfrm>
            <a:off x="6345936" y="1499616"/>
            <a:ext cx="23774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>
                <a:solidFill>
                  <a:srgbClr val="6B6558"/>
                </a:solidFill>
                <a:latin typeface="Inter"/>
              </a:rPr>
              <a:t>MTD ACOS</a:t>
            </a:r>
          </a:p>
        </p:txBody>
      </p:sp>
      <p:sp>
        <p:nvSpPr>
          <p:cNvPr id="18" name="Shape 18"/>
          <p:cNvSpPr txBox="1"/>
          <p:nvPr/>
        </p:nvSpPr>
        <p:spPr>
          <a:xfrm>
            <a:off x="6345936" y="1755648"/>
            <a:ext cx="23774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>
                <a:solidFill>
                  <a:srgbClr val="2447FF"/>
                </a:solidFill>
                <a:latin typeface="Space Grotesk"/>
              </a:rPr>
              <a:t>18.7%</a:t>
            </a:r>
          </a:p>
        </p:txBody>
      </p:sp>
      <p:sp>
        <p:nvSpPr>
          <p:cNvPr id="19" name="Shape 19"/>
          <p:cNvSpPr/>
          <p:nvPr/>
        </p:nvSpPr>
        <p:spPr>
          <a:xfrm>
            <a:off x="8997696" y="1371600"/>
            <a:ext cx="2642616" cy="1417320"/>
          </a:xfrm>
          <a:prstGeom prst="roundRect">
            <a:avLst>
              <a:gd name="" fmla="val 6000"/>
            </a:avLst>
          </a:prstGeom>
          <a:solidFill>
            <a:srgbClr val="F6F3EC"/>
          </a:solidFill>
          <a:ln>
            <a:noFill/>
          </a:ln>
        </p:spPr>
      </p:sp>
      <p:sp>
        <p:nvSpPr>
          <p:cNvPr id="20" name="Shape 20"/>
          <p:cNvSpPr txBox="1"/>
          <p:nvPr/>
        </p:nvSpPr>
        <p:spPr>
          <a:xfrm>
            <a:off x="9162288" y="1499616"/>
            <a:ext cx="2368296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>
                <a:solidFill>
                  <a:srgbClr val="6B6558"/>
                </a:solidFill>
                <a:latin typeface="Inter"/>
              </a:rPr>
              <a:t>DAYS LEFT IN OCT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9162288" y="1755648"/>
            <a:ext cx="2368296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>
                <a:solidFill>
                  <a:srgbClr val="2447FF"/>
                </a:solidFill>
                <a:latin typeface="Space Grotesk"/>
              </a:rPr>
              <a:t>6</a:t>
            </a:r>
          </a:p>
        </p:txBody>
      </p:sp>
      <p:sp>
        <p:nvSpPr>
          <p:cNvPr id="22" name="Shape 22"/>
          <p:cNvSpPr/>
          <p:nvPr/>
        </p:nvSpPr>
        <p:spPr>
          <a:xfrm>
            <a:off x="548640" y="2971800"/>
            <a:ext cx="3611880" cy="3246120"/>
          </a:xfrm>
          <a:prstGeom prst="roundRect">
            <a:avLst>
              <a:gd name="" fmla="val 6000"/>
            </a:avLst>
          </a:prstGeom>
          <a:solidFill>
            <a:srgbClr val="FFFFFF"/>
          </a:solidFill>
          <a:ln w="9525">
            <a:solidFill>
              <a:srgbClr val="E5E0D6"/>
            </a:solidFill>
          </a:ln>
        </p:spPr>
      </p:sp>
      <p:sp>
        <p:nvSpPr>
          <p:cNvPr id="23" name="Shape 23"/>
          <p:cNvSpPr txBox="1"/>
          <p:nvPr/>
        </p:nvSpPr>
        <p:spPr>
          <a:xfrm>
            <a:off x="731520" y="3108960"/>
            <a:ext cx="32461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Space Grotesk"/>
              </a:rPr>
              <a:t>Position</a:t>
            </a:r>
          </a:p>
        </p:txBody>
      </p:sp>
      <p:sp>
        <p:nvSpPr>
          <p:cNvPr id="24" name="Shape 24"/>
          <p:cNvSpPr txBox="1"/>
          <p:nvPr/>
        </p:nvSpPr>
        <p:spPr>
          <a:xfrm>
            <a:off x="731520" y="3429000"/>
            <a:ext cx="3246120" cy="2697479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334155"/>
                </a:solidFill>
                <a:latin typeface="Inter"/>
              </a:rPr>
              <a:t>October is +51% ahead of last year to date and pacing to about $437.2K.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334155"/>
                </a:solidFill>
                <a:latin typeface="Inter"/>
              </a:rPr>
              <a:t>This week slowed to $57.7K because the Queen topper, the top seller, was out of stock all week.</a:t>
            </a:r>
          </a:p>
        </p:txBody>
      </p:sp>
      <p:sp>
        <p:nvSpPr>
          <p:cNvPr id="25" name="Shape 25"/>
          <p:cNvSpPr/>
          <p:nvPr/>
        </p:nvSpPr>
        <p:spPr>
          <a:xfrm>
            <a:off x="4288536" y="2971800"/>
            <a:ext cx="3611880" cy="3246120"/>
          </a:xfrm>
          <a:prstGeom prst="roundRect">
            <a:avLst>
              <a:gd name="" fmla="val 6000"/>
            </a:avLst>
          </a:prstGeom>
          <a:solidFill>
            <a:srgbClr val="FFFFFF"/>
          </a:solidFill>
          <a:ln w="9525">
            <a:solidFill>
              <a:srgbClr val="E5E0D6"/>
            </a:solidFill>
          </a:ln>
        </p:spPr>
      </p:sp>
      <p:sp>
        <p:nvSpPr>
          <p:cNvPr id="26" name="Shape 26"/>
          <p:cNvSpPr txBox="1"/>
          <p:nvPr/>
        </p:nvSpPr>
        <p:spPr>
          <a:xfrm>
            <a:off x="4471416" y="3108960"/>
            <a:ext cx="32461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Space Grotesk"/>
              </a:rPr>
              <a:t>Next steps</a:t>
            </a:r>
          </a:p>
        </p:txBody>
      </p:sp>
      <p:sp>
        <p:nvSpPr>
          <p:cNvPr id="27" name="Shape 27"/>
          <p:cNvSpPr txBox="1"/>
          <p:nvPr/>
        </p:nvSpPr>
        <p:spPr>
          <a:xfrm>
            <a:off x="4471416" y="3429000"/>
            <a:ext cx="3246120" cy="2697479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334155"/>
                </a:solidFill>
                <a:latin typeface="Inter"/>
              </a:rPr>
              <a:t>1. Restock Queen at FBA; protect King and Cal/Split/RV.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334155"/>
                </a:solidFill>
                <a:latin typeface="Inter"/>
              </a:rPr>
              <a:t>2. Trim spend on no-sale campaigns and generic targets.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334155"/>
                </a:solidFill>
                <a:latin typeface="Inter"/>
              </a:rPr>
              <a:t>3. Lock BF/CM coupons and deals.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334155"/>
                </a:solidFill>
                <a:latin typeface="Inter"/>
              </a:rPr>
              <a:t>4. Look into the refund rise.</a:t>
            </a:r>
          </a:p>
        </p:txBody>
      </p:sp>
      <p:sp>
        <p:nvSpPr>
          <p:cNvPr id="28" name="Shape 28"/>
          <p:cNvSpPr/>
          <p:nvPr/>
        </p:nvSpPr>
        <p:spPr>
          <a:xfrm>
            <a:off x="8028431" y="2971800"/>
            <a:ext cx="3611880" cy="3246120"/>
          </a:xfrm>
          <a:prstGeom prst="roundRect">
            <a:avLst>
              <a:gd name="" fmla="val 6000"/>
            </a:avLst>
          </a:prstGeom>
          <a:solidFill>
            <a:srgbClr val="FFFFFF"/>
          </a:solidFill>
          <a:ln w="9525">
            <a:solidFill>
              <a:srgbClr val="E5E0D6"/>
            </a:solidFill>
          </a:ln>
        </p:spPr>
      </p:sp>
      <p:sp>
        <p:nvSpPr>
          <p:cNvPr id="29" name="Shape 29"/>
          <p:cNvSpPr txBox="1"/>
          <p:nvPr/>
        </p:nvSpPr>
        <p:spPr>
          <a:xfrm>
            <a:off x="8211311" y="3108960"/>
            <a:ext cx="32461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Space Grotesk"/>
              </a:rPr>
              <a:t>Data ask</a:t>
            </a:r>
          </a:p>
        </p:txBody>
      </p:sp>
      <p:sp>
        <p:nvSpPr>
          <p:cNvPr id="30" name="Shape 30"/>
          <p:cNvSpPr txBox="1"/>
          <p:nvPr/>
        </p:nvSpPr>
        <p:spPr>
          <a:xfrm>
            <a:off x="8211311" y="3429000"/>
            <a:ext cx="3246120" cy="2697479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334155"/>
                </a:solidFill>
                <a:latin typeface="Inter"/>
              </a:rPr>
              <a:t>Queen inbound ETA and PO dates.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334155"/>
                </a:solidFill>
                <a:latin typeface="Inter"/>
              </a:rPr>
              <a:t>BF/CM deal and coupon plan.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334155"/>
                </a:solidFill>
                <a:latin typeface="Inter"/>
              </a:rPr>
              <a:t>Review tracking turned on in Sellerise.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334155"/>
                </a:solidFill>
                <a:latin typeface="Inter"/>
              </a:rPr>
              <a:t>Category / brand impression share (Brand Analytics).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