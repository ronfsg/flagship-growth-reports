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0F172A"/>
          </a:solidFill>
          <a:ln>
            <a:noFill/>
          </a:ln>
        </p:spPr>
      </p:sp>
      <p:sp>
        <p:nvSpPr>
          <p:cNvPr id="3" name=""/>
          <p:cNvSpPr/>
          <p:nvPr/>
        </p:nvSpPr>
        <p:spPr>
          <a:xfrm>
            <a:off x="0" y="0"/>
            <a:ext cx="164592" cy="6858000"/>
          </a:xfrm>
          <a:prstGeom prst="rect">
            <a:avLst/>
          </a:prstGeom>
          <a:solidFill>
            <a:srgbClr val="2447FF"/>
          </a:solidFill>
          <a:ln>
            <a:noFill/>
          </a:ln>
        </p:spPr>
      </p:sp>
      <p:sp>
        <p:nvSpPr>
          <p:cNvPr id="4" name=""/>
          <p:cNvSpPr/>
          <p:nvPr/>
        </p:nvSpPr>
        <p:spPr>
          <a:xfrm>
            <a:off x="822960" y="640080"/>
            <a:ext cx="2743200" cy="685800"/>
          </a:xfrm>
          <a:prstGeom prst="roundRect">
            <a:avLst>
              <a:gd name="" fmla="val 6000"/>
            </a:avLst>
          </a:prstGeom>
          <a:solidFill>
            <a:srgbClr val="FFFFFF"/>
          </a:solidFill>
          <a:ln>
            <a:noFill/>
          </a:ln>
        </p:spPr>
      </p:sp>
      <p:pic>
        <p:nvPicPr>
          <p:cNvPr id="5" name="" descr="logo_s.png"/>
          <p:cNvPicPr>
            <a:picLocks noChangeAspect="1"/>
          </p:cNvPicPr>
          <p:nvPr/>
        </p:nvPicPr>
        <p:blipFill>
          <a:blip r:embed="rId2"/>
          <a:stretch>
            <a:fillRect/>
          </a:stretch>
        </p:blipFill>
        <p:spPr>
          <a:xfrm>
            <a:off x="1005840" y="749808"/>
            <a:ext cx="2377440" cy="416052"/>
          </a:xfrm>
          <a:prstGeom prst="rect">
            <a:avLst/>
          </a:prstGeom>
        </p:spPr>
      </p:pic>
      <p:sp>
        <p:nvSpPr>
          <p:cNvPr id="6" name=""/>
          <p:cNvSpPr txBox="1"/>
          <p:nvPr/>
        </p:nvSpPr>
        <p:spPr>
          <a:xfrm>
            <a:off x="822960" y="2148840"/>
            <a:ext cx="10058400" cy="365760"/>
          </a:xfrm>
          <a:prstGeom prst="rect">
            <a:avLst/>
          </a:prstGeom>
          <a:noFill/>
        </p:spPr>
        <p:txBody>
          <a:bodyPr wrap="square" lIns="36576" rIns="36576" tIns="18288" bIns="18288" anchor="t">
            <a:spAutoFit/>
          </a:bodyPr>
          <a:lstStyle/>
          <a:p>
            <a:pPr algn="l"/>
            <a:r>
              <a:rPr sz="1400" b="1">
                <a:solidFill>
                  <a:srgbClr val="7EB8F7"/>
                </a:solidFill>
                <a:latin typeface="Space Grotesk"/>
              </a:rPr>
              <a:t>WEEKLY PERFORMANCE &amp; GROWTH REVIEW</a:t>
            </a:r>
          </a:p>
        </p:txBody>
      </p:sp>
      <p:sp>
        <p:nvSpPr>
          <p:cNvPr id="7" name=""/>
          <p:cNvSpPr txBox="1"/>
          <p:nvPr/>
        </p:nvSpPr>
        <p:spPr>
          <a:xfrm>
            <a:off x="822960" y="2560320"/>
            <a:ext cx="10058400" cy="1097280"/>
          </a:xfrm>
          <a:prstGeom prst="rect">
            <a:avLst/>
          </a:prstGeom>
          <a:noFill/>
        </p:spPr>
        <p:txBody>
          <a:bodyPr wrap="square" lIns="36576" rIns="36576" tIns="18288" bIns="18288" anchor="t">
            <a:spAutoFit/>
          </a:bodyPr>
          <a:lstStyle/>
          <a:p>
            <a:pPr algn="l"/>
            <a:r>
              <a:rPr sz="6000" b="1">
                <a:solidFill>
                  <a:srgbClr val="FFFFFF"/>
                </a:solidFill>
                <a:latin typeface="Space Grotesk"/>
              </a:rPr>
              <a:t>Dormeo US</a:t>
            </a:r>
          </a:p>
        </p:txBody>
      </p:sp>
      <p:sp>
        <p:nvSpPr>
          <p:cNvPr id="8" name=""/>
          <p:cNvSpPr txBox="1"/>
          <p:nvPr/>
        </p:nvSpPr>
        <p:spPr>
          <a:xfrm>
            <a:off x="822960" y="3703320"/>
            <a:ext cx="10058400" cy="457200"/>
          </a:xfrm>
          <a:prstGeom prst="rect">
            <a:avLst/>
          </a:prstGeom>
          <a:noFill/>
        </p:spPr>
        <p:txBody>
          <a:bodyPr wrap="square" lIns="36576" rIns="36576" tIns="18288" bIns="18288" anchor="t">
            <a:spAutoFit/>
          </a:bodyPr>
          <a:lstStyle/>
          <a:p>
            <a:pPr algn="l"/>
            <a:r>
              <a:rPr sz="2200" b="0">
                <a:solidFill>
                  <a:srgbClr val="FFFFFF"/>
                </a:solidFill>
                <a:latin typeface="Space Grotesk"/>
              </a:rPr>
              <a:t>Amazon Business Review · Week 43</a:t>
            </a:r>
          </a:p>
        </p:txBody>
      </p:sp>
      <p:sp>
        <p:nvSpPr>
          <p:cNvPr id="9" name=""/>
          <p:cNvSpPr txBox="1"/>
          <p:nvPr/>
        </p:nvSpPr>
        <p:spPr>
          <a:xfrm>
            <a:off x="822960" y="4297680"/>
            <a:ext cx="10058400" cy="365760"/>
          </a:xfrm>
          <a:prstGeom prst="rect">
            <a:avLst/>
          </a:prstGeom>
          <a:noFill/>
        </p:spPr>
        <p:txBody>
          <a:bodyPr wrap="square" lIns="36576" rIns="36576" tIns="18288" bIns="18288" anchor="t">
            <a:spAutoFit/>
          </a:bodyPr>
          <a:lstStyle/>
          <a:p>
            <a:pPr algn="l"/>
            <a:r>
              <a:rPr sz="1400" b="0">
                <a:solidFill>
                  <a:srgbClr val="7EB8F7"/>
                </a:solidFill>
                <a:latin typeface="Inter"/>
              </a:rPr>
              <a:t>Week ending Saturday, October 24, 2026  ·  Oct 18–24, 2026</a:t>
            </a:r>
          </a:p>
        </p:txBody>
      </p:sp>
      <p:sp>
        <p:nvSpPr>
          <p:cNvPr id="10" name=""/>
          <p:cNvSpPr/>
          <p:nvPr/>
        </p:nvSpPr>
        <p:spPr>
          <a:xfrm>
            <a:off x="822960" y="5623560"/>
            <a:ext cx="10515600" cy="9144"/>
          </a:xfrm>
          <a:prstGeom prst="rect">
            <a:avLst/>
          </a:prstGeom>
          <a:solidFill>
            <a:srgbClr val="334155"/>
          </a:solidFill>
          <a:ln>
            <a:noFill/>
          </a:ln>
        </p:spPr>
      </p:sp>
      <p:sp>
        <p:nvSpPr>
          <p:cNvPr id="11" name=""/>
          <p:cNvSpPr txBox="1"/>
          <p:nvPr/>
        </p:nvSpPr>
        <p:spPr>
          <a:xfrm>
            <a:off x="822960" y="5760720"/>
            <a:ext cx="7315200" cy="365760"/>
          </a:xfrm>
          <a:prstGeom prst="rect">
            <a:avLst/>
          </a:prstGeom>
          <a:noFill/>
        </p:spPr>
        <p:txBody>
          <a:bodyPr wrap="square" lIns="36576" rIns="36576" tIns="18288" bIns="18288" anchor="t">
            <a:spAutoFit/>
          </a:bodyPr>
          <a:lstStyle/>
          <a:p>
            <a:pPr algn="l"/>
            <a:r>
              <a:rPr sz="1100" b="0">
                <a:solidFill>
                  <a:srgbClr val="94A3B8"/>
                </a:solidFill>
                <a:latin typeface="Inter"/>
              </a:rPr>
              <a:t>Prepared by Flagship Growth  ·  Data: Sellerise (Amazon US) and the Dormeo inventory tracker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TODAY'S AGENDA</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What we'll cover</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2 / 17</a:t>
            </a:r>
          </a:p>
        </p:txBody>
      </p:sp>
      <p:sp>
        <p:nvSpPr>
          <p:cNvPr id="10" name=""/>
          <p:cNvSpPr/>
          <p:nvPr/>
        </p:nvSpPr>
        <p:spPr>
          <a:xfrm>
            <a:off x="548640" y="1600200"/>
            <a:ext cx="3566160" cy="2011680"/>
          </a:xfrm>
          <a:prstGeom prst="roundRect">
            <a:avLst>
              <a:gd name="" fmla="val 6000"/>
            </a:avLst>
          </a:prstGeom>
          <a:solidFill>
            <a:srgbClr val="F6F3EC"/>
          </a:solidFill>
          <a:ln>
            <a:noFill/>
          </a:ln>
        </p:spPr>
      </p:sp>
      <p:sp>
        <p:nvSpPr>
          <p:cNvPr id="11" name=""/>
          <p:cNvSpPr txBox="1"/>
          <p:nvPr/>
        </p:nvSpPr>
        <p:spPr>
          <a:xfrm>
            <a:off x="777240"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01</a:t>
            </a:r>
          </a:p>
        </p:txBody>
      </p:sp>
      <p:sp>
        <p:nvSpPr>
          <p:cNvPr id="12" name=""/>
          <p:cNvSpPr txBox="1"/>
          <p:nvPr/>
        </p:nvSpPr>
        <p:spPr>
          <a:xfrm>
            <a:off x="777240"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Sales overview</a:t>
            </a:r>
          </a:p>
        </p:txBody>
      </p:sp>
      <p:sp>
        <p:nvSpPr>
          <p:cNvPr id="13" name=""/>
          <p:cNvSpPr txBox="1"/>
          <p:nvPr/>
        </p:nvSpPr>
        <p:spPr>
          <a:xfrm>
            <a:off x="777240"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Four-week channel performance, price and refunds</a:t>
            </a:r>
          </a:p>
        </p:txBody>
      </p:sp>
      <p:sp>
        <p:nvSpPr>
          <p:cNvPr id="14" name=""/>
          <p:cNvSpPr/>
          <p:nvPr/>
        </p:nvSpPr>
        <p:spPr>
          <a:xfrm>
            <a:off x="4279392" y="1600200"/>
            <a:ext cx="3566160" cy="2011680"/>
          </a:xfrm>
          <a:prstGeom prst="roundRect">
            <a:avLst>
              <a:gd name="" fmla="val 6000"/>
            </a:avLst>
          </a:prstGeom>
          <a:solidFill>
            <a:srgbClr val="F6F3EC"/>
          </a:solidFill>
          <a:ln>
            <a:noFill/>
          </a:ln>
        </p:spPr>
      </p:sp>
      <p:sp>
        <p:nvSpPr>
          <p:cNvPr id="15" name=""/>
          <p:cNvSpPr txBox="1"/>
          <p:nvPr/>
        </p:nvSpPr>
        <p:spPr>
          <a:xfrm>
            <a:off x="4507992"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02</a:t>
            </a:r>
          </a:p>
        </p:txBody>
      </p:sp>
      <p:sp>
        <p:nvSpPr>
          <p:cNvPr id="16" name=""/>
          <p:cNvSpPr txBox="1"/>
          <p:nvPr/>
        </p:nvSpPr>
        <p:spPr>
          <a:xfrm>
            <a:off x="4507992"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Sales pacing</a:t>
            </a:r>
          </a:p>
        </p:txBody>
      </p:sp>
      <p:sp>
        <p:nvSpPr>
          <p:cNvPr id="17" name=""/>
          <p:cNvSpPr txBox="1"/>
          <p:nvPr/>
        </p:nvSpPr>
        <p:spPr>
          <a:xfrm>
            <a:off x="4507992"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October month to date vs last month and last year</a:t>
            </a:r>
          </a:p>
        </p:txBody>
      </p:sp>
      <p:sp>
        <p:nvSpPr>
          <p:cNvPr id="18" name=""/>
          <p:cNvSpPr/>
          <p:nvPr/>
        </p:nvSpPr>
        <p:spPr>
          <a:xfrm>
            <a:off x="8010144" y="1600200"/>
            <a:ext cx="3566160" cy="2011680"/>
          </a:xfrm>
          <a:prstGeom prst="roundRect">
            <a:avLst>
              <a:gd name="" fmla="val 6000"/>
            </a:avLst>
          </a:prstGeom>
          <a:solidFill>
            <a:srgbClr val="F6F3EC"/>
          </a:solidFill>
          <a:ln>
            <a:noFill/>
          </a:ln>
        </p:spPr>
      </p:sp>
      <p:sp>
        <p:nvSpPr>
          <p:cNvPr id="19" name=""/>
          <p:cNvSpPr txBox="1"/>
          <p:nvPr/>
        </p:nvSpPr>
        <p:spPr>
          <a:xfrm>
            <a:off x="8238744" y="178308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03</a:t>
            </a:r>
          </a:p>
        </p:txBody>
      </p:sp>
      <p:sp>
        <p:nvSpPr>
          <p:cNvPr id="20" name=""/>
          <p:cNvSpPr txBox="1"/>
          <p:nvPr/>
        </p:nvSpPr>
        <p:spPr>
          <a:xfrm>
            <a:off x="8238744" y="246888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Amazon Ads results</a:t>
            </a:r>
          </a:p>
        </p:txBody>
      </p:sp>
      <p:sp>
        <p:nvSpPr>
          <p:cNvPr id="21" name=""/>
          <p:cNvSpPr txBox="1"/>
          <p:nvPr/>
        </p:nvSpPr>
        <p:spPr>
          <a:xfrm>
            <a:off x="8238744" y="288036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Spend, efficiency, brand vs category, keywords</a:t>
            </a:r>
          </a:p>
        </p:txBody>
      </p:sp>
      <p:sp>
        <p:nvSpPr>
          <p:cNvPr id="22" name=""/>
          <p:cNvSpPr/>
          <p:nvPr/>
        </p:nvSpPr>
        <p:spPr>
          <a:xfrm>
            <a:off x="548640" y="3840480"/>
            <a:ext cx="3566160" cy="2011680"/>
          </a:xfrm>
          <a:prstGeom prst="roundRect">
            <a:avLst>
              <a:gd name="" fmla="val 6000"/>
            </a:avLst>
          </a:prstGeom>
          <a:solidFill>
            <a:srgbClr val="F6F3EC"/>
          </a:solidFill>
          <a:ln>
            <a:noFill/>
          </a:ln>
        </p:spPr>
      </p:sp>
      <p:sp>
        <p:nvSpPr>
          <p:cNvPr id="23" name=""/>
          <p:cNvSpPr txBox="1"/>
          <p:nvPr/>
        </p:nvSpPr>
        <p:spPr>
          <a:xfrm>
            <a:off x="777240"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04</a:t>
            </a:r>
          </a:p>
        </p:txBody>
      </p:sp>
      <p:sp>
        <p:nvSpPr>
          <p:cNvPr id="24" name=""/>
          <p:cNvSpPr txBox="1"/>
          <p:nvPr/>
        </p:nvSpPr>
        <p:spPr>
          <a:xfrm>
            <a:off x="777240"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Marketing</a:t>
            </a:r>
          </a:p>
        </p:txBody>
      </p:sp>
      <p:sp>
        <p:nvSpPr>
          <p:cNvPr id="25" name=""/>
          <p:cNvSpPr txBox="1"/>
          <p:nvPr/>
        </p:nvSpPr>
        <p:spPr>
          <a:xfrm>
            <a:off x="777240"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Coupons, promotions and upcoming events</a:t>
            </a:r>
          </a:p>
        </p:txBody>
      </p:sp>
      <p:sp>
        <p:nvSpPr>
          <p:cNvPr id="26" name=""/>
          <p:cNvSpPr/>
          <p:nvPr/>
        </p:nvSpPr>
        <p:spPr>
          <a:xfrm>
            <a:off x="4279392" y="3840480"/>
            <a:ext cx="3566160" cy="2011680"/>
          </a:xfrm>
          <a:prstGeom prst="roundRect">
            <a:avLst>
              <a:gd name="" fmla="val 6000"/>
            </a:avLst>
          </a:prstGeom>
          <a:solidFill>
            <a:srgbClr val="F6F3EC"/>
          </a:solidFill>
          <a:ln>
            <a:noFill/>
          </a:ln>
        </p:spPr>
      </p:sp>
      <p:sp>
        <p:nvSpPr>
          <p:cNvPr id="27" name=""/>
          <p:cNvSpPr txBox="1"/>
          <p:nvPr/>
        </p:nvSpPr>
        <p:spPr>
          <a:xfrm>
            <a:off x="4507992"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05</a:t>
            </a:r>
          </a:p>
        </p:txBody>
      </p:sp>
      <p:sp>
        <p:nvSpPr>
          <p:cNvPr id="28" name=""/>
          <p:cNvSpPr txBox="1"/>
          <p:nvPr/>
        </p:nvSpPr>
        <p:spPr>
          <a:xfrm>
            <a:off x="4507992"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Inventory</a:t>
            </a:r>
          </a:p>
        </p:txBody>
      </p:sp>
      <p:sp>
        <p:nvSpPr>
          <p:cNvPr id="29" name=""/>
          <p:cNvSpPr txBox="1"/>
          <p:nvPr/>
        </p:nvSpPr>
        <p:spPr>
          <a:xfrm>
            <a:off x="4507992"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Stock position, weeks of supply, restock risk</a:t>
            </a:r>
          </a:p>
        </p:txBody>
      </p:sp>
      <p:sp>
        <p:nvSpPr>
          <p:cNvPr id="30" name=""/>
          <p:cNvSpPr/>
          <p:nvPr/>
        </p:nvSpPr>
        <p:spPr>
          <a:xfrm>
            <a:off x="8010144" y="3840480"/>
            <a:ext cx="3566160" cy="2011680"/>
          </a:xfrm>
          <a:prstGeom prst="roundRect">
            <a:avLst>
              <a:gd name="" fmla="val 6000"/>
            </a:avLst>
          </a:prstGeom>
          <a:solidFill>
            <a:srgbClr val="F6F3EC"/>
          </a:solidFill>
          <a:ln>
            <a:noFill/>
          </a:ln>
        </p:spPr>
      </p:sp>
      <p:sp>
        <p:nvSpPr>
          <p:cNvPr id="31" name=""/>
          <p:cNvSpPr txBox="1"/>
          <p:nvPr/>
        </p:nvSpPr>
        <p:spPr>
          <a:xfrm>
            <a:off x="8238744" y="4023360"/>
            <a:ext cx="1371600" cy="548640"/>
          </a:xfrm>
          <a:prstGeom prst="rect">
            <a:avLst/>
          </a:prstGeom>
          <a:noFill/>
        </p:spPr>
        <p:txBody>
          <a:bodyPr wrap="square" lIns="36576" rIns="36576" tIns="18288" bIns="18288" anchor="t">
            <a:spAutoFit/>
          </a:bodyPr>
          <a:lstStyle/>
          <a:p>
            <a:pPr algn="l"/>
            <a:r>
              <a:rPr sz="3000" b="1">
                <a:solidFill>
                  <a:srgbClr val="2447FF"/>
                </a:solidFill>
                <a:latin typeface="Space Grotesk"/>
              </a:rPr>
              <a:t>06</a:t>
            </a:r>
          </a:p>
        </p:txBody>
      </p:sp>
      <p:sp>
        <p:nvSpPr>
          <p:cNvPr id="32" name=""/>
          <p:cNvSpPr txBox="1"/>
          <p:nvPr/>
        </p:nvSpPr>
        <p:spPr>
          <a:xfrm>
            <a:off x="8238744" y="4709160"/>
            <a:ext cx="3108960" cy="365760"/>
          </a:xfrm>
          <a:prstGeom prst="rect">
            <a:avLst/>
          </a:prstGeom>
          <a:noFill/>
        </p:spPr>
        <p:txBody>
          <a:bodyPr wrap="square" lIns="36576" rIns="36576" tIns="18288" bIns="18288" anchor="t">
            <a:spAutoFit/>
          </a:bodyPr>
          <a:lstStyle/>
          <a:p>
            <a:pPr algn="l"/>
            <a:r>
              <a:rPr sz="1700" b="1">
                <a:solidFill>
                  <a:srgbClr val="0F172A"/>
                </a:solidFill>
                <a:latin typeface="Space Grotesk"/>
              </a:rPr>
              <a:t>Reviews &amp; account health</a:t>
            </a:r>
          </a:p>
        </p:txBody>
      </p:sp>
      <p:sp>
        <p:nvSpPr>
          <p:cNvPr id="33" name=""/>
          <p:cNvSpPr txBox="1"/>
          <p:nvPr/>
        </p:nvSpPr>
        <p:spPr>
          <a:xfrm>
            <a:off x="8238744" y="5120640"/>
            <a:ext cx="3108960" cy="640080"/>
          </a:xfrm>
          <a:prstGeom prst="rect">
            <a:avLst/>
          </a:prstGeom>
          <a:noFill/>
        </p:spPr>
        <p:txBody>
          <a:bodyPr wrap="square" lIns="36576" rIns="36576" tIns="18288" bIns="18288" anchor="t">
            <a:spAutoFit/>
          </a:bodyPr>
          <a:lstStyle/>
          <a:p>
            <a:pPr algn="l"/>
            <a:r>
              <a:rPr sz="1100" b="0">
                <a:solidFill>
                  <a:srgbClr val="6B6558"/>
                </a:solidFill>
                <a:latin typeface="Inter"/>
              </a:rPr>
              <a:t>Ratings, alerts and Buy Box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OVERVIEW</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Amazon channel performance — last 4 weeks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3 / 17</a:t>
            </a:r>
          </a:p>
        </p:txBody>
      </p:sp>
      <p:graphicFrame>
        <p:nvGraphicFramePr>
          <p:cNvPr id="10" name=""/>
          <p:cNvGraphicFramePr>
            <a:graphicFrameLocks noGrp="1"/>
          </p:cNvGraphicFramePr>
          <p:nvPr/>
        </p:nvGraphicFramePr>
        <p:xfrm>
          <a:off x="548640" y="1417320"/>
          <a:ext cx="11091672" cy="2194560"/>
        </p:xfrm>
        <a:graphic>
          <a:graphicData uri="http://schemas.openxmlformats.org/drawingml/2006/table">
            <a:tbl>
              <a:tblPr firstRow="1" bandRow="1">
                <a:tableStyleId>{5C22544A-7EE6-4342-B048-85BDC9FD1C3A}</a:tableStyleId>
              </a:tblPr>
              <a:tblGrid>
                <a:gridCol w="1920240"/>
                <a:gridCol w="2011680"/>
                <a:gridCol w="1371600"/>
                <a:gridCol w="1280160"/>
                <a:gridCol w="1737360"/>
                <a:gridCol w="1371600"/>
                <a:gridCol w="1399032"/>
              </a:tblGrid>
              <a:tr h="365760">
                <a:tc>
                  <a:txBody>
                    <a:bodyPr wrap="square"/>
                    <a:lstStyle/>
                    <a:p>
                      <a:pPr algn="l"/>
                      <a:r>
                        <a:rPr sz="1000" b="1">
                          <a:solidFill>
                            <a:srgbClr val="FFFFFF"/>
                          </a:solidFill>
                          <a:latin typeface="Inter"/>
                        </a:rPr>
                        <a:t>Week</a:t>
                      </a:r>
                    </a:p>
                  </a:txBody>
                  <a:tcPr marL="54864" marR="54864" marT="27432" marB="27432" anchor="ctr">
                    <a:solidFill>
                      <a:srgbClr val="0F172A"/>
                    </a:solidFill>
                  </a:tcPr>
                </a:tc>
                <a:tc>
                  <a:txBody>
                    <a:bodyPr wrap="square"/>
                    <a:lstStyle/>
                    <a:p>
                      <a:pPr algn="r"/>
                      <a:r>
                        <a:rPr sz="1000" b="1">
                          <a:solidFill>
                            <a:srgbClr val="FFFFFF"/>
                          </a:solidFill>
                          <a:latin typeface="Inter"/>
                        </a:rPr>
                        <a:t>Ordered product sales</a:t>
                      </a:r>
                    </a:p>
                  </a:txBody>
                  <a:tcPr marL="54864" marR="54864" marT="27432" marB="27432" anchor="ctr">
                    <a:solidFill>
                      <a:srgbClr val="0F172A"/>
                    </a:solidFill>
                  </a:tcPr>
                </a:tc>
                <a:tc>
                  <a:txBody>
                    <a:bodyPr wrap="square"/>
                    <a:lstStyle/>
                    <a:p>
                      <a:pPr algn="r"/>
                      <a:r>
                        <a:rPr sz="1000" b="1">
                          <a:solidFill>
                            <a:srgbClr val="FFFFFF"/>
                          </a:solidFill>
                          <a:latin typeface="Inter"/>
                        </a:rPr>
                        <a:t>Units ordered</a:t>
                      </a:r>
                    </a:p>
                  </a:txBody>
                  <a:tcPr marL="54864" marR="54864" marT="27432" marB="27432" anchor="ctr">
                    <a:solidFill>
                      <a:srgbClr val="0F172A"/>
                    </a:solidFill>
                  </a:tcPr>
                </a:tc>
                <a:tc>
                  <a:txBody>
                    <a:bodyPr wrap="square"/>
                    <a:lstStyle/>
                    <a:p>
                      <a:pPr algn="r"/>
                      <a:r>
                        <a:rPr sz="1000" b="1">
                          <a:solidFill>
                            <a:srgbClr val="FFFFFF"/>
                          </a:solidFill>
                          <a:latin typeface="Inter"/>
                        </a:rPr>
                        <a:t>ASP</a:t>
                      </a:r>
                    </a:p>
                  </a:txBody>
                  <a:tcPr marL="54864" marR="54864" marT="27432" marB="27432" anchor="ctr">
                    <a:solidFill>
                      <a:srgbClr val="0F172A"/>
                    </a:solidFill>
                  </a:tcPr>
                </a:tc>
                <a:tc>
                  <a:txBody>
                    <a:bodyPr wrap="square"/>
                    <a:lstStyle/>
                    <a:p>
                      <a:pPr algn="r"/>
                      <a:r>
                        <a:rPr sz="1000" b="1">
                          <a:solidFill>
                            <a:srgbClr val="FFFFFF"/>
                          </a:solidFill>
                          <a:latin typeface="Inter"/>
                        </a:rPr>
                        <a:t>Ad impressions</a:t>
                      </a:r>
                    </a:p>
                  </a:txBody>
                  <a:tcPr marL="54864" marR="54864" marT="27432" marB="27432" anchor="ctr">
                    <a:solidFill>
                      <a:srgbClr val="0F172A"/>
                    </a:solidFill>
                  </a:tcPr>
                </a:tc>
                <a:tc>
                  <a:txBody>
                    <a:bodyPr wrap="square"/>
                    <a:lstStyle/>
                    <a:p>
                      <a:pPr algn="r"/>
                      <a:r>
                        <a:rPr sz="1000" b="1">
                          <a:solidFill>
                            <a:srgbClr val="FFFFFF"/>
                          </a:solidFill>
                          <a:latin typeface="Inter"/>
                        </a:rPr>
                        <a:t>Units refunded</a:t>
                      </a:r>
                    </a:p>
                  </a:txBody>
                  <a:tcPr marL="54864" marR="54864" marT="27432" marB="27432" anchor="ctr">
                    <a:solidFill>
                      <a:srgbClr val="0F172A"/>
                    </a:solidFill>
                  </a:tcPr>
                </a:tc>
                <a:tc>
                  <a:txBody>
                    <a:bodyPr wrap="square"/>
                    <a:lstStyle/>
                    <a:p>
                      <a:pPr algn="r"/>
                      <a:r>
                        <a:rPr sz="1000" b="1">
                          <a:solidFill>
                            <a:srgbClr val="FFFFFF"/>
                          </a:solidFill>
                          <a:latin typeface="Inter"/>
                        </a:rPr>
                        <a:t>Refund rate</a:t>
                      </a:r>
                    </a:p>
                  </a:txBody>
                  <a:tcPr marL="54864" marR="54864" marT="27432" marB="27432" anchor="ctr">
                    <a:solidFill>
                      <a:srgbClr val="0F172A"/>
                    </a:solidFill>
                  </a:tcPr>
                </a:tc>
              </a:tr>
              <a:tr h="365760">
                <a:tc>
                  <a:txBody>
                    <a:bodyPr wrap="square"/>
                    <a:lstStyle/>
                    <a:p>
                      <a:pPr algn="l"/>
                      <a:r>
                        <a:rPr sz="1100" b="0">
                          <a:solidFill>
                            <a:srgbClr val="0F172A"/>
                          </a:solidFill>
                          <a:latin typeface="Inter"/>
                        </a:rPr>
                        <a:t>Sep 27 – Oct 3</a:t>
                      </a:r>
                    </a:p>
                  </a:txBody>
                  <a:tcPr marL="54864" marR="54864" marT="27432" marB="27432" anchor="ctr">
                    <a:solidFill>
                      <a:srgbClr val="FFFFFF"/>
                    </a:solidFill>
                  </a:tcPr>
                </a:tc>
                <a:tc>
                  <a:txBody>
                    <a:bodyPr wrap="square"/>
                    <a:lstStyle/>
                    <a:p>
                      <a:pPr algn="r"/>
                      <a:r>
                        <a:rPr sz="1100" b="0">
                          <a:solidFill>
                            <a:srgbClr val="0F172A"/>
                          </a:solidFill>
                          <a:latin typeface="Inter"/>
                        </a:rPr>
                        <a:t>$93,723</a:t>
                      </a:r>
                    </a:p>
                  </a:txBody>
                  <a:tcPr marL="54864" marR="54864" marT="27432" marB="27432" anchor="ctr">
                    <a:solidFill>
                      <a:srgbClr val="FFFFFF"/>
                    </a:solidFill>
                  </a:tcPr>
                </a:tc>
                <a:tc>
                  <a:txBody>
                    <a:bodyPr wrap="square"/>
                    <a:lstStyle/>
                    <a:p>
                      <a:pPr algn="r"/>
                      <a:r>
                        <a:rPr sz="1100" b="0">
                          <a:solidFill>
                            <a:srgbClr val="0F172A"/>
                          </a:solidFill>
                          <a:latin typeface="Inter"/>
                        </a:rPr>
                        <a:t>251</a:t>
                      </a:r>
                    </a:p>
                  </a:txBody>
                  <a:tcPr marL="54864" marR="54864" marT="27432" marB="27432" anchor="ctr">
                    <a:solidFill>
                      <a:srgbClr val="FFFFFF"/>
                    </a:solidFill>
                  </a:tcPr>
                </a:tc>
                <a:tc>
                  <a:txBody>
                    <a:bodyPr wrap="square"/>
                    <a:lstStyle/>
                    <a:p>
                      <a:pPr algn="r"/>
                      <a:r>
                        <a:rPr sz="1100" b="0">
                          <a:solidFill>
                            <a:srgbClr val="0F172A"/>
                          </a:solidFill>
                          <a:latin typeface="Inter"/>
                        </a:rPr>
                        <a:t>$373</a:t>
                      </a:r>
                    </a:p>
                  </a:txBody>
                  <a:tcPr marL="54864" marR="54864" marT="27432" marB="27432" anchor="ctr">
                    <a:solidFill>
                      <a:srgbClr val="FFFFFF"/>
                    </a:solidFill>
                  </a:tcPr>
                </a:tc>
                <a:tc>
                  <a:txBody>
                    <a:bodyPr wrap="square"/>
                    <a:lstStyle/>
                    <a:p>
                      <a:pPr algn="r"/>
                      <a:r>
                        <a:rPr sz="1100" b="0">
                          <a:solidFill>
                            <a:srgbClr val="0F172A"/>
                          </a:solidFill>
                          <a:latin typeface="Inter"/>
                        </a:rPr>
                        <a:t>889,641</a:t>
                      </a:r>
                    </a:p>
                  </a:txBody>
                  <a:tcPr marL="54864" marR="54864" marT="27432" marB="27432" anchor="ctr">
                    <a:solidFill>
                      <a:srgbClr val="FFFFFF"/>
                    </a:solidFill>
                  </a:tcPr>
                </a:tc>
                <a:tc>
                  <a:txBody>
                    <a:bodyPr wrap="square"/>
                    <a:lstStyle/>
                    <a:p>
                      <a:pPr algn="r"/>
                      <a:r>
                        <a:rPr sz="1100" b="0">
                          <a:solidFill>
                            <a:srgbClr val="0F172A"/>
                          </a:solidFill>
                          <a:latin typeface="Inter"/>
                        </a:rPr>
                        <a:t>28</a:t>
                      </a:r>
                    </a:p>
                  </a:txBody>
                  <a:tcPr marL="54864" marR="54864" marT="27432" marB="27432" anchor="ctr">
                    <a:solidFill>
                      <a:srgbClr val="FFFFFF"/>
                    </a:solidFill>
                  </a:tcPr>
                </a:tc>
                <a:tc>
                  <a:txBody>
                    <a:bodyPr wrap="square"/>
                    <a:lstStyle/>
                    <a:p>
                      <a:pPr algn="r"/>
                      <a:r>
                        <a:rPr sz="1100" b="0">
                          <a:solidFill>
                            <a:srgbClr val="0F172A"/>
                          </a:solidFill>
                          <a:latin typeface="Inter"/>
                        </a:rPr>
                        <a:t>11.34%</a:t>
                      </a:r>
                    </a:p>
                  </a:txBody>
                  <a:tcPr marL="54864" marR="54864" marT="27432" marB="27432" anchor="ctr">
                    <a:solidFill>
                      <a:srgbClr val="FFFFFF"/>
                    </a:solidFill>
                  </a:tcPr>
                </a:tc>
              </a:tr>
              <a:tr h="365760">
                <a:tc>
                  <a:txBody>
                    <a:bodyPr wrap="square"/>
                    <a:lstStyle/>
                    <a:p>
                      <a:pPr algn="l"/>
                      <a:r>
                        <a:rPr sz="1100" b="0">
                          <a:solidFill>
                            <a:srgbClr val="0F172A"/>
                          </a:solidFill>
                          <a:latin typeface="Inter"/>
                        </a:rPr>
                        <a:t>Oct 4 – 10</a:t>
                      </a:r>
                    </a:p>
                  </a:txBody>
                  <a:tcPr marL="54864" marR="54864" marT="27432" marB="27432" anchor="ctr">
                    <a:solidFill>
                      <a:srgbClr val="FBFAF7"/>
                    </a:solidFill>
                  </a:tcPr>
                </a:tc>
                <a:tc>
                  <a:txBody>
                    <a:bodyPr wrap="square"/>
                    <a:lstStyle/>
                    <a:p>
                      <a:pPr algn="r"/>
                      <a:r>
                        <a:rPr sz="1100" b="0">
                          <a:solidFill>
                            <a:srgbClr val="0F172A"/>
                          </a:solidFill>
                          <a:latin typeface="Inter"/>
                        </a:rPr>
                        <a:t>$182,545</a:t>
                      </a:r>
                    </a:p>
                  </a:txBody>
                  <a:tcPr marL="54864" marR="54864" marT="27432" marB="27432" anchor="ctr">
                    <a:solidFill>
                      <a:srgbClr val="FBFAF7"/>
                    </a:solidFill>
                  </a:tcPr>
                </a:tc>
                <a:tc>
                  <a:txBody>
                    <a:bodyPr wrap="square"/>
                    <a:lstStyle/>
                    <a:p>
                      <a:pPr algn="r"/>
                      <a:r>
                        <a:rPr sz="1100" b="0">
                          <a:solidFill>
                            <a:srgbClr val="0F172A"/>
                          </a:solidFill>
                          <a:latin typeface="Inter"/>
                        </a:rPr>
                        <a:t>553</a:t>
                      </a:r>
                    </a:p>
                  </a:txBody>
                  <a:tcPr marL="54864" marR="54864" marT="27432" marB="27432" anchor="ctr">
                    <a:solidFill>
                      <a:srgbClr val="FBFAF7"/>
                    </a:solidFill>
                  </a:tcPr>
                </a:tc>
                <a:tc>
                  <a:txBody>
                    <a:bodyPr wrap="square"/>
                    <a:lstStyle/>
                    <a:p>
                      <a:pPr algn="r"/>
                      <a:r>
                        <a:rPr sz="1100" b="0">
                          <a:solidFill>
                            <a:srgbClr val="0F172A"/>
                          </a:solidFill>
                          <a:latin typeface="Inter"/>
                        </a:rPr>
                        <a:t>$330</a:t>
                      </a:r>
                    </a:p>
                  </a:txBody>
                  <a:tcPr marL="54864" marR="54864" marT="27432" marB="27432" anchor="ctr">
                    <a:solidFill>
                      <a:srgbClr val="FBFAF7"/>
                    </a:solidFill>
                  </a:tcPr>
                </a:tc>
                <a:tc>
                  <a:txBody>
                    <a:bodyPr wrap="square"/>
                    <a:lstStyle/>
                    <a:p>
                      <a:pPr algn="r"/>
                      <a:r>
                        <a:rPr sz="1100" b="0">
                          <a:solidFill>
                            <a:srgbClr val="0F172A"/>
                          </a:solidFill>
                          <a:latin typeface="Inter"/>
                        </a:rPr>
                        <a:t>1,255,882</a:t>
                      </a:r>
                    </a:p>
                  </a:txBody>
                  <a:tcPr marL="54864" marR="54864" marT="27432" marB="27432" anchor="ctr">
                    <a:solidFill>
                      <a:srgbClr val="FBFAF7"/>
                    </a:solidFill>
                  </a:tcPr>
                </a:tc>
                <a:tc>
                  <a:txBody>
                    <a:bodyPr wrap="square"/>
                    <a:lstStyle/>
                    <a:p>
                      <a:pPr algn="r"/>
                      <a:r>
                        <a:rPr sz="1100" b="0">
                          <a:solidFill>
                            <a:srgbClr val="0F172A"/>
                          </a:solidFill>
                          <a:latin typeface="Inter"/>
                        </a:rPr>
                        <a:t>25</a:t>
                      </a:r>
                    </a:p>
                  </a:txBody>
                  <a:tcPr marL="54864" marR="54864" marT="27432" marB="27432" anchor="ctr">
                    <a:solidFill>
                      <a:srgbClr val="FBFAF7"/>
                    </a:solidFill>
                  </a:tcPr>
                </a:tc>
                <a:tc>
                  <a:txBody>
                    <a:bodyPr wrap="square"/>
                    <a:lstStyle/>
                    <a:p>
                      <a:pPr algn="r"/>
                      <a:r>
                        <a:rPr sz="1100" b="0">
                          <a:solidFill>
                            <a:srgbClr val="0F172A"/>
                          </a:solidFill>
                          <a:latin typeface="Inter"/>
                        </a:rPr>
                        <a:t>4.63%</a:t>
                      </a:r>
                    </a:p>
                  </a:txBody>
                  <a:tcPr marL="54864" marR="54864" marT="27432" marB="27432" anchor="ctr">
                    <a:solidFill>
                      <a:srgbClr val="FBFAF7"/>
                    </a:solidFill>
                  </a:tcPr>
                </a:tc>
              </a:tr>
              <a:tr h="365760">
                <a:tc>
                  <a:txBody>
                    <a:bodyPr wrap="square"/>
                    <a:lstStyle/>
                    <a:p>
                      <a:pPr algn="l"/>
                      <a:r>
                        <a:rPr sz="1100" b="0">
                          <a:solidFill>
                            <a:srgbClr val="0F172A"/>
                          </a:solidFill>
                          <a:latin typeface="Inter"/>
                        </a:rPr>
                        <a:t>Oct 11 – 17</a:t>
                      </a:r>
                    </a:p>
                  </a:txBody>
                  <a:tcPr marL="54864" marR="54864" marT="27432" marB="27432" anchor="ctr">
                    <a:solidFill>
                      <a:srgbClr val="FFFFFF"/>
                    </a:solidFill>
                  </a:tcPr>
                </a:tc>
                <a:tc>
                  <a:txBody>
                    <a:bodyPr wrap="square"/>
                    <a:lstStyle/>
                    <a:p>
                      <a:pPr algn="r"/>
                      <a:r>
                        <a:rPr sz="1100" b="0">
                          <a:solidFill>
                            <a:srgbClr val="0F172A"/>
                          </a:solidFill>
                          <a:latin typeface="Inter"/>
                        </a:rPr>
                        <a:t>$79,095</a:t>
                      </a:r>
                    </a:p>
                  </a:txBody>
                  <a:tcPr marL="54864" marR="54864" marT="27432" marB="27432" anchor="ctr">
                    <a:solidFill>
                      <a:srgbClr val="FFFFFF"/>
                    </a:solidFill>
                  </a:tcPr>
                </a:tc>
                <a:tc>
                  <a:txBody>
                    <a:bodyPr wrap="square"/>
                    <a:lstStyle/>
                    <a:p>
                      <a:pPr algn="r"/>
                      <a:r>
                        <a:rPr sz="1100" b="0">
                          <a:solidFill>
                            <a:srgbClr val="0F172A"/>
                          </a:solidFill>
                          <a:latin typeface="Inter"/>
                        </a:rPr>
                        <a:t>226</a:t>
                      </a:r>
                    </a:p>
                  </a:txBody>
                  <a:tcPr marL="54864" marR="54864" marT="27432" marB="27432" anchor="ctr">
                    <a:solidFill>
                      <a:srgbClr val="FFFFFF"/>
                    </a:solidFill>
                  </a:tcPr>
                </a:tc>
                <a:tc>
                  <a:txBody>
                    <a:bodyPr wrap="square"/>
                    <a:lstStyle/>
                    <a:p>
                      <a:pPr algn="r"/>
                      <a:r>
                        <a:rPr sz="1100" b="0">
                          <a:solidFill>
                            <a:srgbClr val="0F172A"/>
                          </a:solidFill>
                          <a:latin typeface="Inter"/>
                        </a:rPr>
                        <a:t>$350</a:t>
                      </a:r>
                    </a:p>
                  </a:txBody>
                  <a:tcPr marL="54864" marR="54864" marT="27432" marB="27432" anchor="ctr">
                    <a:solidFill>
                      <a:srgbClr val="FFFFFF"/>
                    </a:solidFill>
                  </a:tcPr>
                </a:tc>
                <a:tc>
                  <a:txBody>
                    <a:bodyPr wrap="square"/>
                    <a:lstStyle/>
                    <a:p>
                      <a:pPr algn="r"/>
                      <a:r>
                        <a:rPr sz="1100" b="0">
                          <a:solidFill>
                            <a:srgbClr val="0F172A"/>
                          </a:solidFill>
                          <a:latin typeface="Inter"/>
                        </a:rPr>
                        <a:t>816,947</a:t>
                      </a:r>
                    </a:p>
                  </a:txBody>
                  <a:tcPr marL="54864" marR="54864" marT="27432" marB="27432" anchor="ctr">
                    <a:solidFill>
                      <a:srgbClr val="FFFFFF"/>
                    </a:solidFill>
                  </a:tcPr>
                </a:tc>
                <a:tc>
                  <a:txBody>
                    <a:bodyPr wrap="square"/>
                    <a:lstStyle/>
                    <a:p>
                      <a:pPr algn="r"/>
                      <a:r>
                        <a:rPr sz="1100" b="0">
                          <a:solidFill>
                            <a:srgbClr val="0F172A"/>
                          </a:solidFill>
                          <a:latin typeface="Inter"/>
                        </a:rPr>
                        <a:t>35</a:t>
                      </a:r>
                    </a:p>
                  </a:txBody>
                  <a:tcPr marL="54864" marR="54864" marT="27432" marB="27432" anchor="ctr">
                    <a:solidFill>
                      <a:srgbClr val="FFFFFF"/>
                    </a:solidFill>
                  </a:tcPr>
                </a:tc>
                <a:tc>
                  <a:txBody>
                    <a:bodyPr wrap="square"/>
                    <a:lstStyle/>
                    <a:p>
                      <a:pPr algn="r"/>
                      <a:r>
                        <a:rPr sz="1100" b="0">
                          <a:solidFill>
                            <a:srgbClr val="0F172A"/>
                          </a:solidFill>
                          <a:latin typeface="Inter"/>
                        </a:rPr>
                        <a:t>15.56%</a:t>
                      </a:r>
                    </a:p>
                  </a:txBody>
                  <a:tcPr marL="54864" marR="54864" marT="27432" marB="27432" anchor="ctr">
                    <a:solidFill>
                      <a:srgbClr val="FFFFFF"/>
                    </a:solidFill>
                  </a:tcPr>
                </a:tc>
              </a:tr>
              <a:tr h="365760">
                <a:tc>
                  <a:txBody>
                    <a:bodyPr wrap="square"/>
                    <a:lstStyle/>
                    <a:p>
                      <a:pPr algn="l"/>
                      <a:r>
                        <a:rPr sz="1100" b="0">
                          <a:solidFill>
                            <a:srgbClr val="0F172A"/>
                          </a:solidFill>
                          <a:latin typeface="Inter"/>
                        </a:rPr>
                        <a:t>Oct 18 – 24</a:t>
                      </a:r>
                    </a:p>
                  </a:txBody>
                  <a:tcPr marL="54864" marR="54864" marT="27432" marB="27432" anchor="ctr">
                    <a:solidFill>
                      <a:srgbClr val="FBFAF7"/>
                    </a:solidFill>
                  </a:tcPr>
                </a:tc>
                <a:tc>
                  <a:txBody>
                    <a:bodyPr wrap="square"/>
                    <a:lstStyle/>
                    <a:p>
                      <a:pPr algn="r"/>
                      <a:r>
                        <a:rPr sz="1100" b="0">
                          <a:solidFill>
                            <a:srgbClr val="0F172A"/>
                          </a:solidFill>
                          <a:latin typeface="Inter"/>
                        </a:rPr>
                        <a:t>$62,720</a:t>
                      </a:r>
                    </a:p>
                  </a:txBody>
                  <a:tcPr marL="54864" marR="54864" marT="27432" marB="27432" anchor="ctr">
                    <a:solidFill>
                      <a:srgbClr val="FBFAF7"/>
                    </a:solidFill>
                  </a:tcPr>
                </a:tc>
                <a:tc>
                  <a:txBody>
                    <a:bodyPr wrap="square"/>
                    <a:lstStyle/>
                    <a:p>
                      <a:pPr algn="r"/>
                      <a:r>
                        <a:rPr sz="1100" b="0">
                          <a:solidFill>
                            <a:srgbClr val="0F172A"/>
                          </a:solidFill>
                          <a:latin typeface="Inter"/>
                        </a:rPr>
                        <a:t>178</a:t>
                      </a:r>
                    </a:p>
                  </a:txBody>
                  <a:tcPr marL="54864" marR="54864" marT="27432" marB="27432" anchor="ctr">
                    <a:solidFill>
                      <a:srgbClr val="FBFAF7"/>
                    </a:solidFill>
                  </a:tcPr>
                </a:tc>
                <a:tc>
                  <a:txBody>
                    <a:bodyPr wrap="square"/>
                    <a:lstStyle/>
                    <a:p>
                      <a:pPr algn="r"/>
                      <a:r>
                        <a:rPr sz="1100" b="0">
                          <a:solidFill>
                            <a:srgbClr val="0F172A"/>
                          </a:solidFill>
                          <a:latin typeface="Inter"/>
                        </a:rPr>
                        <a:t>$352</a:t>
                      </a:r>
                    </a:p>
                  </a:txBody>
                  <a:tcPr marL="54864" marR="54864" marT="27432" marB="27432" anchor="ctr">
                    <a:solidFill>
                      <a:srgbClr val="FBFAF7"/>
                    </a:solidFill>
                  </a:tcPr>
                </a:tc>
                <a:tc>
                  <a:txBody>
                    <a:bodyPr wrap="square"/>
                    <a:lstStyle/>
                    <a:p>
                      <a:pPr algn="r"/>
                      <a:r>
                        <a:rPr sz="1100" b="0">
                          <a:solidFill>
                            <a:srgbClr val="0F172A"/>
                          </a:solidFill>
                          <a:latin typeface="Inter"/>
                        </a:rPr>
                        <a:t>698,297</a:t>
                      </a:r>
                    </a:p>
                  </a:txBody>
                  <a:tcPr marL="54864" marR="54864" marT="27432" marB="27432" anchor="ctr">
                    <a:solidFill>
                      <a:srgbClr val="FBFAF7"/>
                    </a:solidFill>
                  </a:tcPr>
                </a:tc>
                <a:tc>
                  <a:txBody>
                    <a:bodyPr wrap="square"/>
                    <a:lstStyle/>
                    <a:p>
                      <a:pPr algn="r"/>
                      <a:r>
                        <a:rPr sz="1100" b="0">
                          <a:solidFill>
                            <a:srgbClr val="0F172A"/>
                          </a:solidFill>
                          <a:latin typeface="Inter"/>
                        </a:rPr>
                        <a:t>40</a:t>
                      </a:r>
                    </a:p>
                  </a:txBody>
                  <a:tcPr marL="54864" marR="54864" marT="27432" marB="27432" anchor="ctr">
                    <a:solidFill>
                      <a:srgbClr val="FBFAF7"/>
                    </a:solidFill>
                  </a:tcPr>
                </a:tc>
                <a:tc>
                  <a:txBody>
                    <a:bodyPr wrap="square"/>
                    <a:lstStyle/>
                    <a:p>
                      <a:pPr algn="r"/>
                      <a:r>
                        <a:rPr sz="1100" b="0">
                          <a:solidFill>
                            <a:srgbClr val="DC2626"/>
                          </a:solidFill>
                          <a:latin typeface="Inter"/>
                        </a:rPr>
                        <a:t>22.99%</a:t>
                      </a:r>
                    </a:p>
                  </a:txBody>
                  <a:tcPr marL="54864" marR="54864" marT="27432" marB="27432" anchor="ctr">
                    <a:solidFill>
                      <a:srgbClr val="FBFAF7"/>
                    </a:solidFill>
                  </a:tcPr>
                </a:tc>
              </a:tr>
              <a:tr h="365760">
                <a:tc>
                  <a:txBody>
                    <a:bodyPr wrap="square"/>
                    <a:lstStyle/>
                    <a:p>
                      <a:pPr algn="l"/>
                      <a:r>
                        <a:rPr sz="1100" b="1">
                          <a:solidFill>
                            <a:srgbClr val="0F172A"/>
                          </a:solidFill>
                          <a:latin typeface="Inter"/>
                        </a:rPr>
                        <a:t>4-week total</a:t>
                      </a:r>
                    </a:p>
                  </a:txBody>
                  <a:tcPr marL="54864" marR="54864" marT="27432" marB="27432" anchor="ctr">
                    <a:solidFill>
                      <a:srgbClr val="F6F3EC"/>
                    </a:solidFill>
                  </a:tcPr>
                </a:tc>
                <a:tc>
                  <a:txBody>
                    <a:bodyPr wrap="square"/>
                    <a:lstStyle/>
                    <a:p>
                      <a:pPr algn="r"/>
                      <a:r>
                        <a:rPr sz="1100" b="1">
                          <a:solidFill>
                            <a:srgbClr val="0F172A"/>
                          </a:solidFill>
                          <a:latin typeface="Inter"/>
                        </a:rPr>
                        <a:t>$418,083</a:t>
                      </a:r>
                    </a:p>
                  </a:txBody>
                  <a:tcPr marL="54864" marR="54864" marT="27432" marB="27432" anchor="ctr">
                    <a:solidFill>
                      <a:srgbClr val="F6F3EC"/>
                    </a:solidFill>
                  </a:tcPr>
                </a:tc>
                <a:tc>
                  <a:txBody>
                    <a:bodyPr wrap="square"/>
                    <a:lstStyle/>
                    <a:p>
                      <a:pPr algn="r"/>
                      <a:r>
                        <a:rPr sz="1100" b="1">
                          <a:solidFill>
                            <a:srgbClr val="0F172A"/>
                          </a:solidFill>
                          <a:latin typeface="Inter"/>
                        </a:rPr>
                        <a:t>1,208</a:t>
                      </a:r>
                    </a:p>
                  </a:txBody>
                  <a:tcPr marL="54864" marR="54864" marT="27432" marB="27432" anchor="ctr">
                    <a:solidFill>
                      <a:srgbClr val="F6F3EC"/>
                    </a:solidFill>
                  </a:tcPr>
                </a:tc>
                <a:tc>
                  <a:txBody>
                    <a:bodyPr wrap="square"/>
                    <a:lstStyle/>
                    <a:p>
                      <a:pPr algn="r"/>
                      <a:r>
                        <a:rPr sz="1100" b="1">
                          <a:solidFill>
                            <a:srgbClr val="0F172A"/>
                          </a:solidFill>
                          <a:latin typeface="Inter"/>
                        </a:rPr>
                        <a:t>$346</a:t>
                      </a:r>
                    </a:p>
                  </a:txBody>
                  <a:tcPr marL="54864" marR="54864" marT="27432" marB="27432" anchor="ctr">
                    <a:solidFill>
                      <a:srgbClr val="F6F3EC"/>
                    </a:solidFill>
                  </a:tcPr>
                </a:tc>
                <a:tc>
                  <a:txBody>
                    <a:bodyPr wrap="square"/>
                    <a:lstStyle/>
                    <a:p>
                      <a:pPr algn="r"/>
                      <a:r>
                        <a:rPr sz="1100" b="1">
                          <a:solidFill>
                            <a:srgbClr val="0F172A"/>
                          </a:solidFill>
                          <a:latin typeface="Inter"/>
                        </a:rPr>
                        <a:t>3,660,767</a:t>
                      </a:r>
                    </a:p>
                  </a:txBody>
                  <a:tcPr marL="54864" marR="54864" marT="27432" marB="27432" anchor="ctr">
                    <a:solidFill>
                      <a:srgbClr val="F6F3EC"/>
                    </a:solidFill>
                  </a:tcPr>
                </a:tc>
                <a:tc>
                  <a:txBody>
                    <a:bodyPr wrap="square"/>
                    <a:lstStyle/>
                    <a:p>
                      <a:pPr algn="r"/>
                      <a:r>
                        <a:rPr sz="1100" b="1">
                          <a:solidFill>
                            <a:srgbClr val="0F172A"/>
                          </a:solidFill>
                          <a:latin typeface="Inter"/>
                        </a:rPr>
                        <a:t>128</a:t>
                      </a:r>
                    </a:p>
                  </a:txBody>
                  <a:tcPr marL="54864" marR="54864" marT="27432" marB="27432" anchor="ctr">
                    <a:solidFill>
                      <a:srgbClr val="F6F3EC"/>
                    </a:solidFill>
                  </a:tcPr>
                </a:tc>
                <a:tc>
                  <a:txBody>
                    <a:bodyPr wrap="square"/>
                    <a:lstStyle/>
                    <a:p>
                      <a:pPr algn="r"/>
                      <a:r>
                        <a:rPr sz="1100" b="1">
                          <a:solidFill>
                            <a:srgbClr val="0F172A"/>
                          </a:solidFill>
                          <a:latin typeface="Inter"/>
                        </a:rPr>
                        <a:t>—</a:t>
                      </a:r>
                    </a:p>
                  </a:txBody>
                  <a:tcPr marL="54864" marR="54864" marT="27432" marB="27432" anchor="ctr">
                    <a:solidFill>
                      <a:srgbClr val="F6F3EC"/>
                    </a:solidFill>
                  </a:tcPr>
                </a:tc>
              </a:tr>
            </a:tbl>
          </a:graphicData>
        </a:graphic>
      </p:graphicFrame>
      <p:sp>
        <p:nvSpPr>
          <p:cNvPr id="11" name=""/>
          <p:cNvSpPr/>
          <p:nvPr/>
        </p:nvSpPr>
        <p:spPr>
          <a:xfrm>
            <a:off x="548640" y="3886200"/>
            <a:ext cx="5440680" cy="2331720"/>
          </a:xfrm>
          <a:prstGeom prst="roundRect">
            <a:avLst>
              <a:gd name="" fmla="val 6000"/>
            </a:avLst>
          </a:prstGeom>
          <a:solidFill>
            <a:srgbClr val="FFFFFF"/>
          </a:solidFill>
          <a:ln w="9525">
            <a:solidFill>
              <a:srgbClr val="E5E0D6"/>
            </a:solidFill>
          </a:ln>
        </p:spPr>
      </p:sp>
      <p:sp>
        <p:nvSpPr>
          <p:cNvPr id="12" name=""/>
          <p:cNvSpPr txBox="1"/>
          <p:nvPr/>
        </p:nvSpPr>
        <p:spPr>
          <a:xfrm>
            <a:off x="731520" y="4023360"/>
            <a:ext cx="50749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What happened this week</a:t>
            </a:r>
          </a:p>
        </p:txBody>
      </p:sp>
      <p:sp>
        <p:nvSpPr>
          <p:cNvPr id="13" name=""/>
          <p:cNvSpPr txBox="1"/>
          <p:nvPr/>
        </p:nvSpPr>
        <p:spPr>
          <a:xfrm>
            <a:off x="731520" y="4343400"/>
            <a:ext cx="5074920" cy="17830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Sales were $62,720, -21% vs the prior week ($79,095), on 178 units (-21%).</a:t>
            </a:r>
          </a:p>
          <a:p>
            <a:pPr algn="l">
              <a:spcAft>
                <a:spcPts val="500"/>
              </a:spcAft>
            </a:pPr>
            <a:r>
              <a:rPr sz="1100" b="0">
                <a:solidFill>
                  <a:srgbClr val="334155"/>
                </a:solidFill>
                <a:latin typeface="Inter"/>
              </a:rPr>
              <a:t>The drop is mostly Octaspring Queen: it sold 17 units vs 79 the week before (-78%) because it has 0 units available at FBA, with 400 inbound.</a:t>
            </a:r>
          </a:p>
        </p:txBody>
      </p:sp>
      <p:sp>
        <p:nvSpPr>
          <p:cNvPr id="14" name=""/>
          <p:cNvSpPr/>
          <p:nvPr/>
        </p:nvSpPr>
        <p:spPr>
          <a:xfrm>
            <a:off x="6199632" y="3886200"/>
            <a:ext cx="5440680" cy="2331720"/>
          </a:xfrm>
          <a:prstGeom prst="roundRect">
            <a:avLst>
              <a:gd name="" fmla="val 6000"/>
            </a:avLst>
          </a:prstGeom>
          <a:solidFill>
            <a:srgbClr val="FFFFFF"/>
          </a:solidFill>
          <a:ln w="9525">
            <a:solidFill>
              <a:srgbClr val="E5E0D6"/>
            </a:solidFill>
          </a:ln>
        </p:spPr>
      </p:sp>
      <p:sp>
        <p:nvSpPr>
          <p:cNvPr id="15" name=""/>
          <p:cNvSpPr txBox="1"/>
          <p:nvPr/>
        </p:nvSpPr>
        <p:spPr>
          <a:xfrm>
            <a:off x="6382512" y="4023360"/>
            <a:ext cx="50749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Refunds need a look</a:t>
            </a:r>
          </a:p>
        </p:txBody>
      </p:sp>
      <p:sp>
        <p:nvSpPr>
          <p:cNvPr id="16" name=""/>
          <p:cNvSpPr txBox="1"/>
          <p:nvPr/>
        </p:nvSpPr>
        <p:spPr>
          <a:xfrm>
            <a:off x="6382512" y="4343400"/>
            <a:ext cx="5074920" cy="17830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40 units were refunded this week (23.0% refund rate), vs 35 (15.6%) the week before.</a:t>
            </a:r>
          </a:p>
          <a:p>
            <a:pPr algn="l">
              <a:spcAft>
                <a:spcPts val="500"/>
              </a:spcAft>
            </a:pPr>
            <a:r>
              <a:rPr sz="1100" b="0">
                <a:solidFill>
                  <a:srgbClr val="334155"/>
                </a:solidFill>
                <a:latin typeface="Inter"/>
              </a:rPr>
              <a:t>Refunds land against orders from earlier weeks, so part of this is the Prime Big Deal Days volume coming back. Worth checking the return reasons for the Queen and King toppers.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PACING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October month to date</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4 / 17</a:t>
            </a:r>
          </a:p>
        </p:txBody>
      </p:sp>
      <p:sp>
        <p:nvSpPr>
          <p:cNvPr id="10" name=""/>
          <p:cNvSpPr/>
          <p:nvPr/>
        </p:nvSpPr>
        <p:spPr>
          <a:xfrm>
            <a:off x="548640" y="1417320"/>
            <a:ext cx="2651760" cy="155448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REVENUE</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$371.0K</a:t>
            </a:r>
          </a:p>
        </p:txBody>
      </p:sp>
      <p:sp>
        <p:nvSpPr>
          <p:cNvPr id="13"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Oct 1–25 · 1,069 orders</a:t>
            </a:r>
          </a:p>
        </p:txBody>
      </p:sp>
      <p:sp>
        <p:nvSpPr>
          <p:cNvPr id="14" name=""/>
          <p:cNvSpPr/>
          <p:nvPr/>
        </p:nvSpPr>
        <p:spPr>
          <a:xfrm>
            <a:off x="3364992" y="1417320"/>
            <a:ext cx="2651760" cy="155448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$34.0K</a:t>
            </a:r>
          </a:p>
        </p:txBody>
      </p:sp>
      <p:sp>
        <p:nvSpPr>
          <p:cNvPr id="17"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ACoS 18.7%</a:t>
            </a:r>
          </a:p>
        </p:txBody>
      </p:sp>
      <p:sp>
        <p:nvSpPr>
          <p:cNvPr id="18" name=""/>
          <p:cNvSpPr/>
          <p:nvPr/>
        </p:nvSpPr>
        <p:spPr>
          <a:xfrm>
            <a:off x="6181344" y="1417320"/>
            <a:ext cx="2651760" cy="155448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TACOS</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9.2%</a:t>
            </a:r>
          </a:p>
        </p:txBody>
      </p:sp>
      <p:sp>
        <p:nvSpPr>
          <p:cNvPr id="21"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ad spend ÷ total sales</a:t>
            </a:r>
          </a:p>
        </p:txBody>
      </p:sp>
      <p:sp>
        <p:nvSpPr>
          <p:cNvPr id="22" name=""/>
          <p:cNvSpPr/>
          <p:nvPr/>
        </p:nvSpPr>
        <p:spPr>
          <a:xfrm>
            <a:off x="8997696" y="1417320"/>
            <a:ext cx="2642616" cy="155448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VS LAST YEAR</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16A34A"/>
                </a:solidFill>
                <a:latin typeface="Space Grotesk"/>
              </a:rPr>
              <a:t>+51%</a:t>
            </a:r>
          </a:p>
        </p:txBody>
      </p:sp>
      <p:sp>
        <p:nvSpPr>
          <p:cNvPr id="25" name=""/>
          <p:cNvSpPr txBox="1"/>
          <p:nvPr/>
        </p:nvSpPr>
        <p:spPr>
          <a:xfrm>
            <a:off x="9162288" y="2560320"/>
            <a:ext cx="2368296" cy="320040"/>
          </a:xfrm>
          <a:prstGeom prst="rect">
            <a:avLst/>
          </a:prstGeom>
          <a:noFill/>
        </p:spPr>
        <p:txBody>
          <a:bodyPr wrap="square" lIns="36576" rIns="36576" tIns="18288" bIns="18288" anchor="t">
            <a:spAutoFit/>
          </a:bodyPr>
          <a:lstStyle/>
          <a:p>
            <a:pPr algn="l"/>
            <a:r>
              <a:rPr sz="1000" b="0">
                <a:solidFill>
                  <a:srgbClr val="16A34A"/>
                </a:solidFill>
                <a:latin typeface="Inter"/>
              </a:rPr>
              <a:t>Oct 1–25, 2025: $245.7K</a:t>
            </a:r>
          </a:p>
        </p:txBody>
      </p:sp>
      <p:sp>
        <p:nvSpPr>
          <p:cNvPr id="26" name=""/>
          <p:cNvSpPr/>
          <p:nvPr/>
        </p:nvSpPr>
        <p:spPr>
          <a:xfrm>
            <a:off x="807872" y="4366846"/>
            <a:ext cx="921715" cy="1576753"/>
          </a:xfrm>
          <a:prstGeom prst="rect">
            <a:avLst/>
          </a:prstGeom>
          <a:solidFill>
            <a:srgbClr val="C7D2FE"/>
          </a:solidFill>
          <a:ln>
            <a:noFill/>
          </a:ln>
        </p:spPr>
      </p:sp>
      <p:sp>
        <p:nvSpPr>
          <p:cNvPr id="27" name=""/>
          <p:cNvSpPr txBox="1"/>
          <p:nvPr/>
        </p:nvSpPr>
        <p:spPr>
          <a:xfrm>
            <a:off x="548640" y="4092526"/>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$298.3K</a:t>
            </a:r>
          </a:p>
        </p:txBody>
      </p:sp>
      <p:sp>
        <p:nvSpPr>
          <p:cNvPr id="28" name=""/>
          <p:cNvSpPr txBox="1"/>
          <p:nvPr/>
        </p:nvSpPr>
        <p:spPr>
          <a:xfrm>
            <a:off x="548640"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2025</a:t>
            </a:r>
          </a:p>
        </p:txBody>
      </p:sp>
      <p:sp>
        <p:nvSpPr>
          <p:cNvPr id="29" name=""/>
          <p:cNvSpPr/>
          <p:nvPr/>
        </p:nvSpPr>
        <p:spPr>
          <a:xfrm>
            <a:off x="2248052" y="3474720"/>
            <a:ext cx="921715" cy="2468879"/>
          </a:xfrm>
          <a:prstGeom prst="rect">
            <a:avLst/>
          </a:prstGeom>
          <a:solidFill>
            <a:srgbClr val="C7D2FE"/>
          </a:solidFill>
          <a:ln>
            <a:noFill/>
          </a:ln>
        </p:spPr>
      </p:sp>
      <p:sp>
        <p:nvSpPr>
          <p:cNvPr id="30" name=""/>
          <p:cNvSpPr txBox="1"/>
          <p:nvPr/>
        </p:nvSpPr>
        <p:spPr>
          <a:xfrm>
            <a:off x="1988819" y="3200400"/>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$467.0K</a:t>
            </a:r>
          </a:p>
        </p:txBody>
      </p:sp>
      <p:sp>
        <p:nvSpPr>
          <p:cNvPr id="31" name=""/>
          <p:cNvSpPr txBox="1"/>
          <p:nvPr/>
        </p:nvSpPr>
        <p:spPr>
          <a:xfrm>
            <a:off x="1988819"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Sep 2026</a:t>
            </a:r>
          </a:p>
        </p:txBody>
      </p:sp>
      <p:sp>
        <p:nvSpPr>
          <p:cNvPr id="32" name=""/>
          <p:cNvSpPr/>
          <p:nvPr/>
        </p:nvSpPr>
        <p:spPr>
          <a:xfrm>
            <a:off x="3688232" y="3982090"/>
            <a:ext cx="921715" cy="1961509"/>
          </a:xfrm>
          <a:prstGeom prst="rect">
            <a:avLst/>
          </a:prstGeom>
          <a:solidFill>
            <a:srgbClr val="C7D2FE"/>
          </a:solidFill>
          <a:ln>
            <a:noFill/>
          </a:ln>
        </p:spPr>
      </p:sp>
      <p:sp>
        <p:nvSpPr>
          <p:cNvPr id="33" name=""/>
          <p:cNvSpPr txBox="1"/>
          <p:nvPr/>
        </p:nvSpPr>
        <p:spPr>
          <a:xfrm>
            <a:off x="3429000" y="3707770"/>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$371.0K</a:t>
            </a:r>
          </a:p>
        </p:txBody>
      </p:sp>
      <p:sp>
        <p:nvSpPr>
          <p:cNvPr id="34" name=""/>
          <p:cNvSpPr txBox="1"/>
          <p:nvPr/>
        </p:nvSpPr>
        <p:spPr>
          <a:xfrm>
            <a:off x="3429000"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MTD</a:t>
            </a:r>
          </a:p>
        </p:txBody>
      </p:sp>
      <p:sp>
        <p:nvSpPr>
          <p:cNvPr id="35" name=""/>
          <p:cNvSpPr/>
          <p:nvPr/>
        </p:nvSpPr>
        <p:spPr>
          <a:xfrm>
            <a:off x="5128412" y="3632310"/>
            <a:ext cx="921715" cy="2311289"/>
          </a:xfrm>
          <a:prstGeom prst="rect">
            <a:avLst/>
          </a:prstGeom>
          <a:solidFill>
            <a:srgbClr val="2447FF"/>
          </a:solidFill>
          <a:ln>
            <a:noFill/>
          </a:ln>
        </p:spPr>
      </p:sp>
      <p:sp>
        <p:nvSpPr>
          <p:cNvPr id="36" name=""/>
          <p:cNvSpPr txBox="1"/>
          <p:nvPr/>
        </p:nvSpPr>
        <p:spPr>
          <a:xfrm>
            <a:off x="4869179" y="3357990"/>
            <a:ext cx="1440180" cy="237744"/>
          </a:xfrm>
          <a:prstGeom prst="rect">
            <a:avLst/>
          </a:prstGeom>
          <a:noFill/>
        </p:spPr>
        <p:txBody>
          <a:bodyPr wrap="square" lIns="36576" rIns="36576" tIns="18288" bIns="18288" anchor="t">
            <a:spAutoFit/>
          </a:bodyPr>
          <a:lstStyle/>
          <a:p>
            <a:pPr algn="ctr"/>
            <a:r>
              <a:rPr sz="900" b="1">
                <a:solidFill>
                  <a:srgbClr val="0F172A"/>
                </a:solidFill>
                <a:latin typeface="Inter"/>
              </a:rPr>
              <a:t>$437.2K</a:t>
            </a:r>
          </a:p>
        </p:txBody>
      </p:sp>
      <p:sp>
        <p:nvSpPr>
          <p:cNvPr id="37" name=""/>
          <p:cNvSpPr txBox="1"/>
          <p:nvPr/>
        </p:nvSpPr>
        <p:spPr>
          <a:xfrm>
            <a:off x="4869179" y="5961888"/>
            <a:ext cx="1440180" cy="256032"/>
          </a:xfrm>
          <a:prstGeom prst="rect">
            <a:avLst/>
          </a:prstGeom>
          <a:noFill/>
        </p:spPr>
        <p:txBody>
          <a:bodyPr wrap="square" lIns="36576" rIns="36576" tIns="18288" bIns="18288" anchor="t">
            <a:spAutoFit/>
          </a:bodyPr>
          <a:lstStyle/>
          <a:p>
            <a:pPr algn="ctr"/>
            <a:r>
              <a:rPr sz="900" b="0">
                <a:solidFill>
                  <a:srgbClr val="6B6558"/>
                </a:solidFill>
                <a:latin typeface="Inter"/>
              </a:rPr>
              <a:t>Oct pace</a:t>
            </a:r>
          </a:p>
        </p:txBody>
      </p:sp>
      <p:sp>
        <p:nvSpPr>
          <p:cNvPr id="38" name=""/>
          <p:cNvSpPr/>
          <p:nvPr/>
        </p:nvSpPr>
        <p:spPr>
          <a:xfrm>
            <a:off x="548640" y="5943600"/>
            <a:ext cx="5760720" cy="9144"/>
          </a:xfrm>
          <a:prstGeom prst="rect">
            <a:avLst/>
          </a:prstGeom>
          <a:solidFill>
            <a:srgbClr val="E5E0D6"/>
          </a:solidFill>
          <a:ln>
            <a:noFill/>
          </a:ln>
        </p:spPr>
      </p:sp>
      <p:sp>
        <p:nvSpPr>
          <p:cNvPr id="39" name=""/>
          <p:cNvSpPr/>
          <p:nvPr/>
        </p:nvSpPr>
        <p:spPr>
          <a:xfrm>
            <a:off x="6583680" y="3200400"/>
            <a:ext cx="5056632" cy="1325880"/>
          </a:xfrm>
          <a:prstGeom prst="roundRect">
            <a:avLst>
              <a:gd name="" fmla="val 6000"/>
            </a:avLst>
          </a:prstGeom>
          <a:solidFill>
            <a:srgbClr val="FFFFFF"/>
          </a:solidFill>
          <a:ln w="9525">
            <a:solidFill>
              <a:srgbClr val="E5E0D6"/>
            </a:solidFill>
          </a:ln>
        </p:spPr>
      </p:sp>
      <p:sp>
        <p:nvSpPr>
          <p:cNvPr id="40" name=""/>
          <p:cNvSpPr txBox="1"/>
          <p:nvPr/>
        </p:nvSpPr>
        <p:spPr>
          <a:xfrm>
            <a:off x="6766560" y="3337560"/>
            <a:ext cx="469087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Full-month pace</a:t>
            </a:r>
          </a:p>
        </p:txBody>
      </p:sp>
      <p:sp>
        <p:nvSpPr>
          <p:cNvPr id="41" name=""/>
          <p:cNvSpPr txBox="1"/>
          <p:nvPr/>
        </p:nvSpPr>
        <p:spPr>
          <a:xfrm>
            <a:off x="6766560" y="3657600"/>
            <a:ext cx="4690872" cy="7772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October is pacing to about $437.2K: $371.0K so far plus 6 days at $11.0K/day (the October daily average without the 2 event days).</a:t>
            </a:r>
          </a:p>
        </p:txBody>
      </p:sp>
      <p:sp>
        <p:nvSpPr>
          <p:cNvPr id="42" name=""/>
          <p:cNvSpPr/>
          <p:nvPr/>
        </p:nvSpPr>
        <p:spPr>
          <a:xfrm>
            <a:off x="6583680" y="4663440"/>
            <a:ext cx="5056632" cy="1554480"/>
          </a:xfrm>
          <a:prstGeom prst="roundRect">
            <a:avLst>
              <a:gd name="" fmla="val 6000"/>
            </a:avLst>
          </a:prstGeom>
          <a:solidFill>
            <a:srgbClr val="FEF2F2"/>
          </a:solidFill>
          <a:ln>
            <a:noFill/>
          </a:ln>
        </p:spPr>
      </p:sp>
      <p:sp>
        <p:nvSpPr>
          <p:cNvPr id="43" name=""/>
          <p:cNvSpPr txBox="1"/>
          <p:nvPr/>
        </p:nvSpPr>
        <p:spPr>
          <a:xfrm>
            <a:off x="6766560" y="4773168"/>
            <a:ext cx="4754880" cy="274320"/>
          </a:xfrm>
          <a:prstGeom prst="rect">
            <a:avLst/>
          </a:prstGeom>
          <a:noFill/>
        </p:spPr>
        <p:txBody>
          <a:bodyPr wrap="square" lIns="36576" rIns="36576" tIns="18288" bIns="18288" anchor="t">
            <a:spAutoFit/>
          </a:bodyPr>
          <a:lstStyle/>
          <a:p>
            <a:pPr algn="l"/>
            <a:r>
              <a:rPr sz="1200" b="1">
                <a:solidFill>
                  <a:srgbClr val="DC2626"/>
                </a:solidFill>
                <a:latin typeface="Space Grotesk"/>
              </a:rPr>
              <a:t>Recommendation</a:t>
            </a:r>
          </a:p>
        </p:txBody>
      </p:sp>
      <p:sp>
        <p:nvSpPr>
          <p:cNvPr id="44" name=""/>
          <p:cNvSpPr txBox="1"/>
          <p:nvPr/>
        </p:nvSpPr>
        <p:spPr>
          <a:xfrm>
            <a:off x="6766560" y="5074920"/>
            <a:ext cx="4754880" cy="1097280"/>
          </a:xfrm>
          <a:prstGeom prst="rect">
            <a:avLst/>
          </a:prstGeom>
          <a:noFill/>
        </p:spPr>
        <p:txBody>
          <a:bodyPr wrap="square" lIns="36576" rIns="36576" tIns="18288" bIns="18288" anchor="t">
            <a:spAutoFit/>
          </a:bodyPr>
          <a:lstStyle/>
          <a:p>
            <a:pPr algn="l"/>
            <a:r>
              <a:rPr sz="1050" b="0">
                <a:solidFill>
                  <a:srgbClr val="334155"/>
                </a:solidFill>
                <a:latin typeface="Inter"/>
              </a:rPr>
              <a:t>Pace is -6% vs Sep. Getting the Queen topper back in stock is the biggest lever: it is the top-selling line and has been unavailable since the Prime event.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SALES PACING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 spend pacing — month to date</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5 / 17</a:t>
            </a:r>
          </a:p>
        </p:txBody>
      </p:sp>
      <p:sp>
        <p:nvSpPr>
          <p:cNvPr id="10" name=""/>
          <p:cNvSpPr/>
          <p:nvPr/>
        </p:nvSpPr>
        <p:spPr>
          <a:xfrm>
            <a:off x="548640" y="1417320"/>
            <a:ext cx="2651760" cy="155448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$34.0K</a:t>
            </a:r>
          </a:p>
        </p:txBody>
      </p:sp>
      <p:sp>
        <p:nvSpPr>
          <p:cNvPr id="13"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$1.4K per day</a:t>
            </a:r>
          </a:p>
        </p:txBody>
      </p:sp>
      <p:sp>
        <p:nvSpPr>
          <p:cNvPr id="14" name=""/>
          <p:cNvSpPr/>
          <p:nvPr/>
        </p:nvSpPr>
        <p:spPr>
          <a:xfrm>
            <a:off x="3364992" y="1417320"/>
            <a:ext cx="2651760" cy="155448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PROJECTED SPEND</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$42.2K</a:t>
            </a:r>
          </a:p>
        </p:txBody>
      </p:sp>
      <p:sp>
        <p:nvSpPr>
          <p:cNvPr id="17"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if the daily rate holds to Oct 31</a:t>
            </a:r>
          </a:p>
        </p:txBody>
      </p:sp>
      <p:sp>
        <p:nvSpPr>
          <p:cNvPr id="18" name=""/>
          <p:cNvSpPr/>
          <p:nvPr/>
        </p:nvSpPr>
        <p:spPr>
          <a:xfrm>
            <a:off x="6181344" y="1417320"/>
            <a:ext cx="2651760" cy="155448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TACOS</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9.2%</a:t>
            </a:r>
          </a:p>
        </p:txBody>
      </p:sp>
      <p:sp>
        <p:nvSpPr>
          <p:cNvPr id="21"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this week 11.4%</a:t>
            </a:r>
          </a:p>
        </p:txBody>
      </p:sp>
      <p:sp>
        <p:nvSpPr>
          <p:cNvPr id="22" name=""/>
          <p:cNvSpPr/>
          <p:nvPr/>
        </p:nvSpPr>
        <p:spPr>
          <a:xfrm>
            <a:off x="8997696" y="1417320"/>
            <a:ext cx="2642616" cy="155448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MTD ACOS</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18.7%</a:t>
            </a:r>
          </a:p>
        </p:txBody>
      </p:sp>
      <p:sp>
        <p:nvSpPr>
          <p:cNvPr id="25" name=""/>
          <p:cNvSpPr txBox="1"/>
          <p:nvPr/>
        </p:nvSpPr>
        <p:spPr>
          <a:xfrm>
            <a:off x="9162288" y="2560320"/>
            <a:ext cx="2368296" cy="320040"/>
          </a:xfrm>
          <a:prstGeom prst="rect">
            <a:avLst/>
          </a:prstGeom>
          <a:noFill/>
        </p:spPr>
        <p:txBody>
          <a:bodyPr wrap="square" lIns="36576" rIns="36576" tIns="18288" bIns="18288" anchor="t">
            <a:spAutoFit/>
          </a:bodyPr>
          <a:lstStyle/>
          <a:p>
            <a:pPr algn="l"/>
            <a:r>
              <a:rPr sz="1000" b="0">
                <a:solidFill>
                  <a:srgbClr val="6B6558"/>
                </a:solidFill>
                <a:latin typeface="Inter"/>
              </a:rPr>
              <a:t>this week 24.0%</a:t>
            </a:r>
          </a:p>
        </p:txBody>
      </p:sp>
      <p:sp>
        <p:nvSpPr>
          <p:cNvPr id="26" name=""/>
          <p:cNvSpPr/>
          <p:nvPr/>
        </p:nvSpPr>
        <p:spPr>
          <a:xfrm>
            <a:off x="548640" y="3200400"/>
            <a:ext cx="3611880" cy="3017520"/>
          </a:xfrm>
          <a:prstGeom prst="roundRect">
            <a:avLst>
              <a:gd name="" fmla="val 6000"/>
            </a:avLst>
          </a:prstGeom>
          <a:solidFill>
            <a:srgbClr val="FFFFFF"/>
          </a:solidFill>
          <a:ln w="9525">
            <a:solidFill>
              <a:srgbClr val="E5E0D6"/>
            </a:solidFill>
          </a:ln>
        </p:spPr>
      </p:sp>
      <p:sp>
        <p:nvSpPr>
          <p:cNvPr id="27" name=""/>
          <p:cNvSpPr txBox="1"/>
          <p:nvPr/>
        </p:nvSpPr>
        <p:spPr>
          <a:xfrm>
            <a:off x="731520"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MTD performance</a:t>
            </a:r>
          </a:p>
        </p:txBody>
      </p:sp>
      <p:sp>
        <p:nvSpPr>
          <p:cNvPr id="28" name=""/>
          <p:cNvSpPr txBox="1"/>
          <p:nvPr/>
        </p:nvSpPr>
        <p:spPr>
          <a:xfrm>
            <a:off x="731520"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$182.0K in ad sales on $34.0K spend, a 5.4x return.</a:t>
            </a:r>
          </a:p>
          <a:p>
            <a:pPr algn="l">
              <a:spcAft>
                <a:spcPts val="500"/>
              </a:spcAft>
            </a:pPr>
            <a:r>
              <a:rPr sz="1100" b="0">
                <a:solidFill>
                  <a:srgbClr val="334155"/>
                </a:solidFill>
                <a:latin typeface="Inter"/>
              </a:rPr>
              <a:t>Ads drove 49% of October sales.</a:t>
            </a:r>
          </a:p>
        </p:txBody>
      </p:sp>
      <p:sp>
        <p:nvSpPr>
          <p:cNvPr id="29" name=""/>
          <p:cNvSpPr/>
          <p:nvPr/>
        </p:nvSpPr>
        <p:spPr>
          <a:xfrm>
            <a:off x="4288536" y="3200400"/>
            <a:ext cx="3611880" cy="3017520"/>
          </a:xfrm>
          <a:prstGeom prst="roundRect">
            <a:avLst>
              <a:gd name="" fmla="val 6000"/>
            </a:avLst>
          </a:prstGeom>
          <a:solidFill>
            <a:srgbClr val="FFFFFF"/>
          </a:solidFill>
          <a:ln w="9525">
            <a:solidFill>
              <a:srgbClr val="E5E0D6"/>
            </a:solidFill>
          </a:ln>
        </p:spPr>
      </p:sp>
      <p:sp>
        <p:nvSpPr>
          <p:cNvPr id="30" name=""/>
          <p:cNvSpPr txBox="1"/>
          <p:nvPr/>
        </p:nvSpPr>
        <p:spPr>
          <a:xfrm>
            <a:off x="4471416"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Context</a:t>
            </a:r>
          </a:p>
        </p:txBody>
      </p:sp>
      <p:sp>
        <p:nvSpPr>
          <p:cNvPr id="31" name=""/>
          <p:cNvSpPr txBox="1"/>
          <p:nvPr/>
        </p:nvSpPr>
        <p:spPr>
          <a:xfrm>
            <a:off x="4471416"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The Prime Big Deal Days week (Oct 4–10) ran at 14.7% ACoS and 6.5% TACoS.</a:t>
            </a:r>
          </a:p>
          <a:p>
            <a:pPr algn="l">
              <a:spcAft>
                <a:spcPts val="500"/>
              </a:spcAft>
            </a:pPr>
            <a:r>
              <a:rPr sz="1100" b="0">
                <a:solidFill>
                  <a:srgbClr val="334155"/>
                </a:solidFill>
                <a:latin typeface="Inter"/>
              </a:rPr>
              <a:t>Since then traffic cooled and the Queen topper went out of stock, so ACoS rose to the low-to-mid 20s.</a:t>
            </a:r>
          </a:p>
        </p:txBody>
      </p:sp>
      <p:sp>
        <p:nvSpPr>
          <p:cNvPr id="32" name=""/>
          <p:cNvSpPr/>
          <p:nvPr/>
        </p:nvSpPr>
        <p:spPr>
          <a:xfrm>
            <a:off x="8028431" y="3200400"/>
            <a:ext cx="3611880" cy="3017520"/>
          </a:xfrm>
          <a:prstGeom prst="roundRect">
            <a:avLst>
              <a:gd name="" fmla="val 6000"/>
            </a:avLst>
          </a:prstGeom>
          <a:solidFill>
            <a:srgbClr val="FFFFFF"/>
          </a:solidFill>
          <a:ln w="9525">
            <a:solidFill>
              <a:srgbClr val="E5E0D6"/>
            </a:solidFill>
          </a:ln>
        </p:spPr>
      </p:sp>
      <p:sp>
        <p:nvSpPr>
          <p:cNvPr id="33" name=""/>
          <p:cNvSpPr txBox="1"/>
          <p:nvPr/>
        </p:nvSpPr>
        <p:spPr>
          <a:xfrm>
            <a:off x="8211311" y="3337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This week's efficiency</a:t>
            </a:r>
          </a:p>
        </p:txBody>
      </p:sp>
      <p:sp>
        <p:nvSpPr>
          <p:cNvPr id="34" name=""/>
          <p:cNvSpPr txBox="1"/>
          <p:nvPr/>
        </p:nvSpPr>
        <p:spPr>
          <a:xfrm>
            <a:off x="8211311" y="3657600"/>
            <a:ext cx="3246120" cy="2468879"/>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Spend $7,135 (-27%), ad sales $29,722 (-31%).</a:t>
            </a:r>
          </a:p>
          <a:p>
            <a:pPr algn="l">
              <a:spcAft>
                <a:spcPts val="500"/>
              </a:spcAft>
            </a:pPr>
            <a:r>
              <a:rPr sz="1100" b="0">
                <a:solidFill>
                  <a:srgbClr val="334155"/>
                </a:solidFill>
                <a:latin typeface="Inter"/>
              </a:rPr>
              <a:t>ACoS 24.0% (+1.2 pts); TACoS 11.4% (-1.0 pts).</a:t>
            </a:r>
          </a:p>
          <a:p>
            <a:pPr algn="l">
              <a:spcAft>
                <a:spcPts val="500"/>
              </a:spcAft>
            </a:pPr>
            <a:r>
              <a:rPr sz="1100" b="0">
                <a:solidFill>
                  <a:srgbClr val="334155"/>
                </a:solidFill>
                <a:latin typeface="Inter"/>
              </a:rPr>
              <a:t>CPC $2.00, 90 ad orders.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Brand vs. category spend</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6 / 17</a:t>
            </a:r>
          </a:p>
        </p:txBody>
      </p:sp>
      <p:graphicFrame>
        <p:nvGraphicFramePr>
          <p:cNvPr id="10" name=""/>
          <p:cNvGraphicFramePr>
            <a:graphicFrameLocks noGrp="1"/>
          </p:cNvGraphicFramePr>
          <p:nvPr/>
        </p:nvGraphicFramePr>
        <p:xfrm>
          <a:off x="548640" y="1417320"/>
          <a:ext cx="6766560" cy="2779776"/>
        </p:xfrm>
        <a:graphic>
          <a:graphicData uri="http://schemas.openxmlformats.org/drawingml/2006/table">
            <a:tbl>
              <a:tblPr firstRow="1" bandRow="1">
                <a:tableStyleId>{5C22544A-7EE6-4342-B048-85BDC9FD1C3A}</a:tableStyleId>
              </a:tblPr>
              <a:tblGrid>
                <a:gridCol w="2651760"/>
                <a:gridCol w="914400"/>
                <a:gridCol w="914400"/>
                <a:gridCol w="731520"/>
                <a:gridCol w="777240"/>
                <a:gridCol w="777240"/>
              </a:tblGrid>
              <a:tr h="347472">
                <a:tc>
                  <a:txBody>
                    <a:bodyPr wrap="square"/>
                    <a:lstStyle/>
                    <a:p>
                      <a:pPr algn="l"/>
                      <a:r>
                        <a:rPr sz="950" b="1">
                          <a:solidFill>
                            <a:srgbClr val="FFFFFF"/>
                          </a:solidFill>
                          <a:latin typeface="Inter"/>
                        </a:rPr>
                        <a:t>Strategy</a:t>
                      </a:r>
                    </a:p>
                  </a:txBody>
                  <a:tcPr marL="54864" marR="54864" marT="27432" marB="27432" anchor="ctr">
                    <a:solidFill>
                      <a:srgbClr val="0F172A"/>
                    </a:solidFill>
                  </a:tcPr>
                </a:tc>
                <a:tc>
                  <a:txBody>
                    <a:bodyPr wrap="square"/>
                    <a:lstStyle/>
                    <a:p>
                      <a:pPr algn="r"/>
                      <a:r>
                        <a:rPr sz="950" b="1">
                          <a:solidFill>
                            <a:srgbClr val="FFFFFF"/>
                          </a:solidFill>
                          <a:latin typeface="Inter"/>
                        </a:rPr>
                        <a:t>Ad spend</a:t>
                      </a:r>
                    </a:p>
                  </a:txBody>
                  <a:tcPr marL="54864" marR="54864" marT="27432" marB="27432" anchor="ctr">
                    <a:solidFill>
                      <a:srgbClr val="0F172A"/>
                    </a:solidFill>
                  </a:tcPr>
                </a:tc>
                <a:tc>
                  <a:txBody>
                    <a:bodyPr wrap="square"/>
                    <a:lstStyle/>
                    <a:p>
                      <a:pPr algn="r"/>
                      <a:r>
                        <a:rPr sz="950" b="1">
                          <a:solidFill>
                            <a:srgbClr val="FFFFFF"/>
                          </a:solidFill>
                          <a:latin typeface="Inter"/>
                        </a:rPr>
                        <a:t>Ad sales</a:t>
                      </a:r>
                    </a:p>
                  </a:txBody>
                  <a:tcPr marL="54864" marR="54864" marT="27432" marB="27432" anchor="ctr">
                    <a:solidFill>
                      <a:srgbClr val="0F172A"/>
                    </a:solidFill>
                  </a:tcPr>
                </a:tc>
                <a:tc>
                  <a:txBody>
                    <a:bodyPr wrap="square"/>
                    <a:lstStyle/>
                    <a:p>
                      <a:pPr algn="r"/>
                      <a:r>
                        <a:rPr sz="950" b="1">
                          <a:solidFill>
                            <a:srgbClr val="FFFFFF"/>
                          </a:solidFill>
                          <a:latin typeface="Inter"/>
                        </a:rPr>
                        <a:t>ROAS</a:t>
                      </a:r>
                    </a:p>
                  </a:txBody>
                  <a:tcPr marL="54864" marR="54864" marT="27432" marB="27432" anchor="ctr">
                    <a:solidFill>
                      <a:srgbClr val="0F172A"/>
                    </a:solidFill>
                  </a:tcPr>
                </a:tc>
                <a:tc>
                  <a:txBody>
                    <a:bodyPr wrap="square"/>
                    <a:lstStyle/>
                    <a:p>
                      <a:pPr algn="r"/>
                      <a:r>
                        <a:rPr sz="950" b="1">
                          <a:solidFill>
                            <a:srgbClr val="FFFFFF"/>
                          </a:solidFill>
                          <a:latin typeface="Inter"/>
                        </a:rPr>
                        <a:t>ACoS</a:t>
                      </a:r>
                    </a:p>
                  </a:txBody>
                  <a:tcPr marL="54864" marR="54864" marT="27432" marB="27432" anchor="ctr">
                    <a:solidFill>
                      <a:srgbClr val="0F172A"/>
                    </a:solidFill>
                  </a:tcPr>
                </a:tc>
                <a:tc>
                  <a:txBody>
                    <a:bodyPr wrap="square"/>
                    <a:lstStyle/>
                    <a:p>
                      <a:pPr algn="r"/>
                      <a:r>
                        <a:rPr sz="950" b="1">
                          <a:solidFill>
                            <a:srgbClr val="FFFFFF"/>
                          </a:solidFill>
                          <a:latin typeface="Inter"/>
                        </a:rPr>
                        <a:t>Orders</a:t>
                      </a:r>
                    </a:p>
                  </a:txBody>
                  <a:tcPr marL="54864" marR="54864" marT="27432" marB="27432" anchor="ctr">
                    <a:solidFill>
                      <a:srgbClr val="0F172A"/>
                    </a:solidFill>
                  </a:tcPr>
                </a:tc>
              </a:tr>
              <a:tr h="347472">
                <a:tc>
                  <a:txBody>
                    <a:bodyPr wrap="square"/>
                    <a:lstStyle/>
                    <a:p>
                      <a:pPr algn="l"/>
                      <a:r>
                        <a:rPr sz="1050" b="0">
                          <a:solidFill>
                            <a:srgbClr val="0F172A"/>
                          </a:solidFill>
                          <a:latin typeface="Inter"/>
                        </a:rPr>
                        <a:t>Branded keywords</a:t>
                      </a:r>
                    </a:p>
                  </a:txBody>
                  <a:tcPr marL="54864" marR="54864" marT="27432" marB="27432" anchor="ctr">
                    <a:solidFill>
                      <a:srgbClr val="FFFFFF"/>
                    </a:solidFill>
                  </a:tcPr>
                </a:tc>
                <a:tc>
                  <a:txBody>
                    <a:bodyPr wrap="square"/>
                    <a:lstStyle/>
                    <a:p>
                      <a:pPr algn="r"/>
                      <a:r>
                        <a:rPr sz="1050" b="0">
                          <a:solidFill>
                            <a:srgbClr val="0F172A"/>
                          </a:solidFill>
                          <a:latin typeface="Inter"/>
                        </a:rPr>
                        <a:t>$3,203</a:t>
                      </a:r>
                    </a:p>
                  </a:txBody>
                  <a:tcPr marL="54864" marR="54864" marT="27432" marB="27432" anchor="ctr">
                    <a:solidFill>
                      <a:srgbClr val="FFFFFF"/>
                    </a:solidFill>
                  </a:tcPr>
                </a:tc>
                <a:tc>
                  <a:txBody>
                    <a:bodyPr wrap="square"/>
                    <a:lstStyle/>
                    <a:p>
                      <a:pPr algn="r"/>
                      <a:r>
                        <a:rPr sz="1050" b="0">
                          <a:solidFill>
                            <a:srgbClr val="0F172A"/>
                          </a:solidFill>
                          <a:latin typeface="Inter"/>
                        </a:rPr>
                        <a:t>$19,133</a:t>
                      </a:r>
                    </a:p>
                  </a:txBody>
                  <a:tcPr marL="54864" marR="54864" marT="27432" marB="27432" anchor="ctr">
                    <a:solidFill>
                      <a:srgbClr val="FFFFFF"/>
                    </a:solidFill>
                  </a:tcPr>
                </a:tc>
                <a:tc>
                  <a:txBody>
                    <a:bodyPr wrap="square"/>
                    <a:lstStyle/>
                    <a:p>
                      <a:pPr algn="r"/>
                      <a:r>
                        <a:rPr sz="1050" b="0">
                          <a:solidFill>
                            <a:srgbClr val="0F172A"/>
                          </a:solidFill>
                          <a:latin typeface="Inter"/>
                        </a:rPr>
                        <a:t>5.97x</a:t>
                      </a:r>
                    </a:p>
                  </a:txBody>
                  <a:tcPr marL="54864" marR="54864" marT="27432" marB="27432" anchor="ctr">
                    <a:solidFill>
                      <a:srgbClr val="FFFFFF"/>
                    </a:solidFill>
                  </a:tcPr>
                </a:tc>
                <a:tc>
                  <a:txBody>
                    <a:bodyPr wrap="square"/>
                    <a:lstStyle/>
                    <a:p>
                      <a:pPr algn="r"/>
                      <a:r>
                        <a:rPr sz="1050" b="0">
                          <a:solidFill>
                            <a:srgbClr val="0F172A"/>
                          </a:solidFill>
                          <a:latin typeface="Inter"/>
                        </a:rPr>
                        <a:t>16.7%</a:t>
                      </a:r>
                    </a:p>
                  </a:txBody>
                  <a:tcPr marL="54864" marR="54864" marT="27432" marB="27432" anchor="ctr">
                    <a:solidFill>
                      <a:srgbClr val="FFFFFF"/>
                    </a:solidFill>
                  </a:tcPr>
                </a:tc>
                <a:tc>
                  <a:txBody>
                    <a:bodyPr wrap="square"/>
                    <a:lstStyle/>
                    <a:p>
                      <a:pPr algn="r"/>
                      <a:r>
                        <a:rPr sz="1050" b="0">
                          <a:solidFill>
                            <a:srgbClr val="0F172A"/>
                          </a:solidFill>
                          <a:latin typeface="Inter"/>
                        </a:rPr>
                        <a:t>64</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Category keywords</a:t>
                      </a:r>
                    </a:p>
                  </a:txBody>
                  <a:tcPr marL="54864" marR="54864" marT="27432" marB="27432" anchor="ctr">
                    <a:solidFill>
                      <a:srgbClr val="FBFAF7"/>
                    </a:solidFill>
                  </a:tcPr>
                </a:tc>
                <a:tc>
                  <a:txBody>
                    <a:bodyPr wrap="square"/>
                    <a:lstStyle/>
                    <a:p>
                      <a:pPr algn="r"/>
                      <a:r>
                        <a:rPr sz="1050" b="0">
                          <a:solidFill>
                            <a:srgbClr val="0F172A"/>
                          </a:solidFill>
                          <a:latin typeface="Inter"/>
                        </a:rPr>
                        <a:t>$1,785</a:t>
                      </a:r>
                    </a:p>
                  </a:txBody>
                  <a:tcPr marL="54864" marR="54864" marT="27432" marB="27432" anchor="ctr">
                    <a:solidFill>
                      <a:srgbClr val="FBFAF7"/>
                    </a:solidFill>
                  </a:tcPr>
                </a:tc>
                <a:tc>
                  <a:txBody>
                    <a:bodyPr wrap="square"/>
                    <a:lstStyle/>
                    <a:p>
                      <a:pPr algn="r"/>
                      <a:r>
                        <a:rPr sz="1050" b="0">
                          <a:solidFill>
                            <a:srgbClr val="0F172A"/>
                          </a:solidFill>
                          <a:latin typeface="Inter"/>
                        </a:rPr>
                        <a:t>$4,499</a:t>
                      </a:r>
                    </a:p>
                  </a:txBody>
                  <a:tcPr marL="54864" marR="54864" marT="27432" marB="27432" anchor="ctr">
                    <a:solidFill>
                      <a:srgbClr val="FBFAF7"/>
                    </a:solidFill>
                  </a:tcPr>
                </a:tc>
                <a:tc>
                  <a:txBody>
                    <a:bodyPr wrap="square"/>
                    <a:lstStyle/>
                    <a:p>
                      <a:pPr algn="r"/>
                      <a:r>
                        <a:rPr sz="1050" b="0">
                          <a:solidFill>
                            <a:srgbClr val="0F172A"/>
                          </a:solidFill>
                          <a:latin typeface="Inter"/>
                        </a:rPr>
                        <a:t>2.52x</a:t>
                      </a:r>
                    </a:p>
                  </a:txBody>
                  <a:tcPr marL="54864" marR="54864" marT="27432" marB="27432" anchor="ctr">
                    <a:solidFill>
                      <a:srgbClr val="FBFAF7"/>
                    </a:solidFill>
                  </a:tcPr>
                </a:tc>
                <a:tc>
                  <a:txBody>
                    <a:bodyPr wrap="square"/>
                    <a:lstStyle/>
                    <a:p>
                      <a:pPr algn="r"/>
                      <a:r>
                        <a:rPr sz="1050" b="0">
                          <a:solidFill>
                            <a:srgbClr val="DC2626"/>
                          </a:solidFill>
                          <a:latin typeface="Inter"/>
                        </a:rPr>
                        <a:t>39.7%</a:t>
                      </a:r>
                    </a:p>
                  </a:txBody>
                  <a:tcPr marL="54864" marR="54864" marT="27432" marB="27432" anchor="ctr">
                    <a:solidFill>
                      <a:srgbClr val="FBFAF7"/>
                    </a:solidFill>
                  </a:tcPr>
                </a:tc>
                <a:tc>
                  <a:txBody>
                    <a:bodyPr wrap="square"/>
                    <a:lstStyle/>
                    <a:p>
                      <a:pPr algn="r"/>
                      <a:r>
                        <a:rPr sz="1050" b="0">
                          <a:solidFill>
                            <a:srgbClr val="0F172A"/>
                          </a:solidFill>
                          <a:latin typeface="Inter"/>
                        </a:rPr>
                        <a:t>11</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Audience / category display</a:t>
                      </a:r>
                    </a:p>
                  </a:txBody>
                  <a:tcPr marL="54864" marR="54864" marT="27432" marB="27432" anchor="ctr">
                    <a:solidFill>
                      <a:srgbClr val="FFFFFF"/>
                    </a:solidFill>
                  </a:tcPr>
                </a:tc>
                <a:tc>
                  <a:txBody>
                    <a:bodyPr wrap="square"/>
                    <a:lstStyle/>
                    <a:p>
                      <a:pPr algn="r"/>
                      <a:r>
                        <a:rPr sz="1050" b="0">
                          <a:solidFill>
                            <a:srgbClr val="0F172A"/>
                          </a:solidFill>
                          <a:latin typeface="Inter"/>
                        </a:rPr>
                        <a:t>$1,075</a:t>
                      </a:r>
                    </a:p>
                  </a:txBody>
                  <a:tcPr marL="54864" marR="54864" marT="27432" marB="27432" anchor="ctr">
                    <a:solidFill>
                      <a:srgbClr val="FFFFFF"/>
                    </a:solidFill>
                  </a:tcPr>
                </a:tc>
                <a:tc>
                  <a:txBody>
                    <a:bodyPr wrap="square"/>
                    <a:lstStyle/>
                    <a:p>
                      <a:pPr algn="r"/>
                      <a:r>
                        <a:rPr sz="1050" b="0">
                          <a:solidFill>
                            <a:srgbClr val="0F172A"/>
                          </a:solidFill>
                          <a:latin typeface="Inter"/>
                        </a:rPr>
                        <a:t>$495</a:t>
                      </a:r>
                    </a:p>
                  </a:txBody>
                  <a:tcPr marL="54864" marR="54864" marT="27432" marB="27432" anchor="ctr">
                    <a:solidFill>
                      <a:srgbClr val="FFFFFF"/>
                    </a:solidFill>
                  </a:tcPr>
                </a:tc>
                <a:tc>
                  <a:txBody>
                    <a:bodyPr wrap="square"/>
                    <a:lstStyle/>
                    <a:p>
                      <a:pPr algn="r"/>
                      <a:r>
                        <a:rPr sz="1050" b="0">
                          <a:solidFill>
                            <a:srgbClr val="0F172A"/>
                          </a:solidFill>
                          <a:latin typeface="Inter"/>
                        </a:rPr>
                        <a:t>0.46x</a:t>
                      </a:r>
                    </a:p>
                  </a:txBody>
                  <a:tcPr marL="54864" marR="54864" marT="27432" marB="27432" anchor="ctr">
                    <a:solidFill>
                      <a:srgbClr val="FFFFFF"/>
                    </a:solidFill>
                  </a:tcPr>
                </a:tc>
                <a:tc>
                  <a:txBody>
                    <a:bodyPr wrap="square"/>
                    <a:lstStyle/>
                    <a:p>
                      <a:pPr algn="r"/>
                      <a:r>
                        <a:rPr sz="1050" b="0">
                          <a:solidFill>
                            <a:srgbClr val="DC2626"/>
                          </a:solidFill>
                          <a:latin typeface="Inter"/>
                        </a:rPr>
                        <a:t>217.3%</a:t>
                      </a:r>
                    </a:p>
                  </a:txBody>
                  <a:tcPr marL="54864" marR="54864" marT="27432" marB="27432" anchor="ctr">
                    <a:solidFill>
                      <a:srgbClr val="FFFFFF"/>
                    </a:solidFill>
                  </a:tcPr>
                </a:tc>
                <a:tc>
                  <a:txBody>
                    <a:bodyPr wrap="square"/>
                    <a:lstStyle/>
                    <a:p>
                      <a:pPr algn="r"/>
                      <a:r>
                        <a:rPr sz="1050" b="0">
                          <a:solidFill>
                            <a:srgbClr val="0F172A"/>
                          </a:solidFill>
                          <a:latin typeface="Inter"/>
                        </a:rPr>
                        <a:t>1</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Auto targeting</a:t>
                      </a:r>
                    </a:p>
                  </a:txBody>
                  <a:tcPr marL="54864" marR="54864" marT="27432" marB="27432" anchor="ctr">
                    <a:solidFill>
                      <a:srgbClr val="FBFAF7"/>
                    </a:solidFill>
                  </a:tcPr>
                </a:tc>
                <a:tc>
                  <a:txBody>
                    <a:bodyPr wrap="square"/>
                    <a:lstStyle/>
                    <a:p>
                      <a:pPr algn="r"/>
                      <a:r>
                        <a:rPr sz="1050" b="0">
                          <a:solidFill>
                            <a:srgbClr val="0F172A"/>
                          </a:solidFill>
                          <a:latin typeface="Inter"/>
                        </a:rPr>
                        <a:t>$800</a:t>
                      </a:r>
                    </a:p>
                  </a:txBody>
                  <a:tcPr marL="54864" marR="54864" marT="27432" marB="27432" anchor="ctr">
                    <a:solidFill>
                      <a:srgbClr val="FBFAF7"/>
                    </a:solidFill>
                  </a:tcPr>
                </a:tc>
                <a:tc>
                  <a:txBody>
                    <a:bodyPr wrap="square"/>
                    <a:lstStyle/>
                    <a:p>
                      <a:pPr algn="r"/>
                      <a:r>
                        <a:rPr sz="1050" b="0">
                          <a:solidFill>
                            <a:srgbClr val="0F172A"/>
                          </a:solidFill>
                          <a:latin typeface="Inter"/>
                        </a:rPr>
                        <a:t>$3,181</a:t>
                      </a:r>
                    </a:p>
                  </a:txBody>
                  <a:tcPr marL="54864" marR="54864" marT="27432" marB="27432" anchor="ctr">
                    <a:solidFill>
                      <a:srgbClr val="FBFAF7"/>
                    </a:solidFill>
                  </a:tcPr>
                </a:tc>
                <a:tc>
                  <a:txBody>
                    <a:bodyPr wrap="square"/>
                    <a:lstStyle/>
                    <a:p>
                      <a:pPr algn="r"/>
                      <a:r>
                        <a:rPr sz="1050" b="0">
                          <a:solidFill>
                            <a:srgbClr val="0F172A"/>
                          </a:solidFill>
                          <a:latin typeface="Inter"/>
                        </a:rPr>
                        <a:t>3.97x</a:t>
                      </a:r>
                    </a:p>
                  </a:txBody>
                  <a:tcPr marL="54864" marR="54864" marT="27432" marB="27432" anchor="ctr">
                    <a:solidFill>
                      <a:srgbClr val="FBFAF7"/>
                    </a:solidFill>
                  </a:tcPr>
                </a:tc>
                <a:tc>
                  <a:txBody>
                    <a:bodyPr wrap="square"/>
                    <a:lstStyle/>
                    <a:p>
                      <a:pPr algn="r"/>
                      <a:r>
                        <a:rPr sz="1050" b="0">
                          <a:solidFill>
                            <a:srgbClr val="0F172A"/>
                          </a:solidFill>
                          <a:latin typeface="Inter"/>
                        </a:rPr>
                        <a:t>25.2%</a:t>
                      </a:r>
                    </a:p>
                  </a:txBody>
                  <a:tcPr marL="54864" marR="54864" marT="27432" marB="27432" anchor="ctr">
                    <a:solidFill>
                      <a:srgbClr val="FBFAF7"/>
                    </a:solidFill>
                  </a:tcPr>
                </a:tc>
                <a:tc>
                  <a:txBody>
                    <a:bodyPr wrap="square"/>
                    <a:lstStyle/>
                    <a:p>
                      <a:pPr algn="r"/>
                      <a:r>
                        <a:rPr sz="1050" b="0">
                          <a:solidFill>
                            <a:srgbClr val="0F172A"/>
                          </a:solidFill>
                          <a:latin typeface="Inter"/>
                        </a:rPr>
                        <a:t>8</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Brand defense (product targets)</a:t>
                      </a:r>
                    </a:p>
                  </a:txBody>
                  <a:tcPr marL="54864" marR="54864" marT="27432" marB="27432" anchor="ctr">
                    <a:solidFill>
                      <a:srgbClr val="FFFFFF"/>
                    </a:solidFill>
                  </a:tcPr>
                </a:tc>
                <a:tc>
                  <a:txBody>
                    <a:bodyPr wrap="square"/>
                    <a:lstStyle/>
                    <a:p>
                      <a:pPr algn="r"/>
                      <a:r>
                        <a:rPr sz="1050" b="0">
                          <a:solidFill>
                            <a:srgbClr val="0F172A"/>
                          </a:solidFill>
                          <a:latin typeface="Inter"/>
                        </a:rPr>
                        <a:t>$122</a:t>
                      </a:r>
                    </a:p>
                  </a:txBody>
                  <a:tcPr marL="54864" marR="54864" marT="27432" marB="27432" anchor="ctr">
                    <a:solidFill>
                      <a:srgbClr val="FFFFFF"/>
                    </a:solidFill>
                  </a:tcPr>
                </a:tc>
                <a:tc>
                  <a:txBody>
                    <a:bodyPr wrap="square"/>
                    <a:lstStyle/>
                    <a:p>
                      <a:pPr algn="r"/>
                      <a:r>
                        <a:rPr sz="1050" b="0">
                          <a:solidFill>
                            <a:srgbClr val="0F172A"/>
                          </a:solidFill>
                          <a:latin typeface="Inter"/>
                        </a:rPr>
                        <a:t>$929</a:t>
                      </a:r>
                    </a:p>
                  </a:txBody>
                  <a:tcPr marL="54864" marR="54864" marT="27432" marB="27432" anchor="ctr">
                    <a:solidFill>
                      <a:srgbClr val="FFFFFF"/>
                    </a:solidFill>
                  </a:tcPr>
                </a:tc>
                <a:tc>
                  <a:txBody>
                    <a:bodyPr wrap="square"/>
                    <a:lstStyle/>
                    <a:p>
                      <a:pPr algn="r"/>
                      <a:r>
                        <a:rPr sz="1050" b="0">
                          <a:solidFill>
                            <a:srgbClr val="0F172A"/>
                          </a:solidFill>
                          <a:latin typeface="Inter"/>
                        </a:rPr>
                        <a:t>7.59x</a:t>
                      </a:r>
                    </a:p>
                  </a:txBody>
                  <a:tcPr marL="54864" marR="54864" marT="27432" marB="27432" anchor="ctr">
                    <a:solidFill>
                      <a:srgbClr val="FFFFFF"/>
                    </a:solidFill>
                  </a:tcPr>
                </a:tc>
                <a:tc>
                  <a:txBody>
                    <a:bodyPr wrap="square"/>
                    <a:lstStyle/>
                    <a:p>
                      <a:pPr algn="r"/>
                      <a:r>
                        <a:rPr sz="1050" b="0">
                          <a:solidFill>
                            <a:srgbClr val="0F172A"/>
                          </a:solidFill>
                          <a:latin typeface="Inter"/>
                        </a:rPr>
                        <a:t>13.2%</a:t>
                      </a:r>
                    </a:p>
                  </a:txBody>
                  <a:tcPr marL="54864" marR="54864" marT="27432" marB="27432" anchor="ctr">
                    <a:solidFill>
                      <a:srgbClr val="FFFFFF"/>
                    </a:solidFill>
                  </a:tcPr>
                </a:tc>
                <a:tc>
                  <a:txBody>
                    <a:bodyPr wrap="square"/>
                    <a:lstStyle/>
                    <a:p>
                      <a:pPr algn="r"/>
                      <a:r>
                        <a:rPr sz="1050" b="0">
                          <a:solidFill>
                            <a:srgbClr val="0F172A"/>
                          </a:solidFill>
                          <a:latin typeface="Inter"/>
                        </a:rPr>
                        <a:t>3</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Competitor targeting</a:t>
                      </a:r>
                    </a:p>
                  </a:txBody>
                  <a:tcPr marL="54864" marR="54864" marT="27432" marB="27432" anchor="ctr">
                    <a:solidFill>
                      <a:srgbClr val="FBFAF7"/>
                    </a:solidFill>
                  </a:tcPr>
                </a:tc>
                <a:tc>
                  <a:txBody>
                    <a:bodyPr wrap="square"/>
                    <a:lstStyle/>
                    <a:p>
                      <a:pPr algn="r"/>
                      <a:r>
                        <a:rPr sz="1050" b="0">
                          <a:solidFill>
                            <a:srgbClr val="0F172A"/>
                          </a:solidFill>
                          <a:latin typeface="Inter"/>
                        </a:rPr>
                        <a:t>$119</a:t>
                      </a:r>
                    </a:p>
                  </a:txBody>
                  <a:tcPr marL="54864" marR="54864" marT="27432" marB="27432" anchor="ctr">
                    <a:solidFill>
                      <a:srgbClr val="FBFAF7"/>
                    </a:solidFill>
                  </a:tcPr>
                </a:tc>
                <a:tc>
                  <a:txBody>
                    <a:bodyPr wrap="square"/>
                    <a:lstStyle/>
                    <a:p>
                      <a:pPr algn="r"/>
                      <a:r>
                        <a:rPr sz="1050" b="0">
                          <a:solidFill>
                            <a:srgbClr val="0F172A"/>
                          </a:solidFill>
                          <a:latin typeface="Inter"/>
                        </a:rPr>
                        <a:t>$0</a:t>
                      </a:r>
                    </a:p>
                  </a:txBody>
                  <a:tcPr marL="54864" marR="54864" marT="27432" marB="27432" anchor="ctr">
                    <a:solidFill>
                      <a:srgbClr val="FBFAF7"/>
                    </a:solidFill>
                  </a:tcPr>
                </a:tc>
                <a:tc>
                  <a:txBody>
                    <a:bodyPr wrap="square"/>
                    <a:lstStyle/>
                    <a:p>
                      <a:pPr algn="r"/>
                      <a:r>
                        <a:rPr sz="1050" b="0">
                          <a:solidFill>
                            <a:srgbClr val="0F172A"/>
                          </a:solidFill>
                          <a:latin typeface="Inter"/>
                        </a:rPr>
                        <a:t>0.00x</a:t>
                      </a:r>
                    </a:p>
                  </a:txBody>
                  <a:tcPr marL="54864" marR="54864" marT="27432" marB="27432" anchor="ctr">
                    <a:solidFill>
                      <a:srgbClr val="FBFAF7"/>
                    </a:solidFill>
                  </a:tcPr>
                </a:tc>
                <a:tc>
                  <a:txBody>
                    <a:bodyPr wrap="square"/>
                    <a:lstStyle/>
                    <a:p>
                      <a:pPr algn="r"/>
                      <a:r>
                        <a:rPr sz="1050" b="0">
                          <a:solidFill>
                            <a:srgbClr val="0F172A"/>
                          </a:solidFill>
                          <a:latin typeface="Inter"/>
                        </a:rPr>
                        <a:t>—</a:t>
                      </a:r>
                    </a:p>
                  </a:txBody>
                  <a:tcPr marL="54864" marR="54864" marT="27432" marB="27432" anchor="ctr">
                    <a:solidFill>
                      <a:srgbClr val="FBFAF7"/>
                    </a:solidFill>
                  </a:tcPr>
                </a:tc>
                <a:tc>
                  <a:txBody>
                    <a:bodyPr wrap="square"/>
                    <a:lstStyle/>
                    <a:p>
                      <a:pPr algn="r"/>
                      <a:r>
                        <a:rPr sz="1050" b="0">
                          <a:solidFill>
                            <a:srgbClr val="0F172A"/>
                          </a:solidFill>
                          <a:latin typeface="Inter"/>
                        </a:rPr>
                        <a:t>0</a:t>
                      </a:r>
                    </a:p>
                  </a:txBody>
                  <a:tcPr marL="54864" marR="54864" marT="27432" marB="27432" anchor="ctr">
                    <a:solidFill>
                      <a:srgbClr val="FBFAF7"/>
                    </a:solidFill>
                  </a:tcPr>
                </a:tc>
              </a:tr>
              <a:tr h="347472">
                <a:tc>
                  <a:txBody>
                    <a:bodyPr wrap="square"/>
                    <a:lstStyle/>
                    <a:p>
                      <a:pPr algn="l"/>
                      <a:r>
                        <a:rPr sz="1050" b="1">
                          <a:solidFill>
                            <a:srgbClr val="0F172A"/>
                          </a:solidFill>
                          <a:latin typeface="Inter"/>
                        </a:rPr>
                        <a:t>All campaigns</a:t>
                      </a:r>
                    </a:p>
                  </a:txBody>
                  <a:tcPr marL="54864" marR="54864" marT="27432" marB="27432" anchor="ctr">
                    <a:solidFill>
                      <a:srgbClr val="F6F3EC"/>
                    </a:solidFill>
                  </a:tcPr>
                </a:tc>
                <a:tc>
                  <a:txBody>
                    <a:bodyPr wrap="square"/>
                    <a:lstStyle/>
                    <a:p>
                      <a:pPr algn="r"/>
                      <a:r>
                        <a:rPr sz="1050" b="1">
                          <a:solidFill>
                            <a:srgbClr val="0F172A"/>
                          </a:solidFill>
                          <a:latin typeface="Inter"/>
                        </a:rPr>
                        <a:t>$7,119</a:t>
                      </a:r>
                    </a:p>
                  </a:txBody>
                  <a:tcPr marL="54864" marR="54864" marT="27432" marB="27432" anchor="ctr">
                    <a:solidFill>
                      <a:srgbClr val="F6F3EC"/>
                    </a:solidFill>
                  </a:tcPr>
                </a:tc>
                <a:tc>
                  <a:txBody>
                    <a:bodyPr wrap="square"/>
                    <a:lstStyle/>
                    <a:p>
                      <a:pPr algn="r"/>
                      <a:r>
                        <a:rPr sz="1050" b="1">
                          <a:solidFill>
                            <a:srgbClr val="0F172A"/>
                          </a:solidFill>
                          <a:latin typeface="Inter"/>
                        </a:rPr>
                        <a:t>$28,732</a:t>
                      </a:r>
                    </a:p>
                  </a:txBody>
                  <a:tcPr marL="54864" marR="54864" marT="27432" marB="27432" anchor="ctr">
                    <a:solidFill>
                      <a:srgbClr val="F6F3EC"/>
                    </a:solidFill>
                  </a:tcPr>
                </a:tc>
                <a:tc>
                  <a:txBody>
                    <a:bodyPr wrap="square"/>
                    <a:lstStyle/>
                    <a:p>
                      <a:pPr algn="r"/>
                      <a:r>
                        <a:rPr sz="1050" b="1">
                          <a:solidFill>
                            <a:srgbClr val="0F172A"/>
                          </a:solidFill>
                          <a:latin typeface="Inter"/>
                        </a:rPr>
                        <a:t>4.04x</a:t>
                      </a:r>
                    </a:p>
                  </a:txBody>
                  <a:tcPr marL="54864" marR="54864" marT="27432" marB="27432" anchor="ctr">
                    <a:solidFill>
                      <a:srgbClr val="F6F3EC"/>
                    </a:solidFill>
                  </a:tcPr>
                </a:tc>
                <a:tc>
                  <a:txBody>
                    <a:bodyPr wrap="square"/>
                    <a:lstStyle/>
                    <a:p>
                      <a:pPr algn="r"/>
                      <a:r>
                        <a:rPr sz="1050" b="1">
                          <a:solidFill>
                            <a:srgbClr val="0F172A"/>
                          </a:solidFill>
                          <a:latin typeface="Inter"/>
                        </a:rPr>
                        <a:t>24.8%</a:t>
                      </a:r>
                    </a:p>
                  </a:txBody>
                  <a:tcPr marL="54864" marR="54864" marT="27432" marB="27432" anchor="ctr">
                    <a:solidFill>
                      <a:srgbClr val="F6F3EC"/>
                    </a:solidFill>
                  </a:tcPr>
                </a:tc>
                <a:tc>
                  <a:txBody>
                    <a:bodyPr wrap="square"/>
                    <a:lstStyle/>
                    <a:p>
                      <a:pPr algn="r"/>
                      <a:r>
                        <a:rPr sz="1050" b="1">
                          <a:solidFill>
                            <a:srgbClr val="0F172A"/>
                          </a:solidFill>
                          <a:latin typeface="Inter"/>
                        </a:rPr>
                        <a:t>88</a:t>
                      </a:r>
                    </a:p>
                  </a:txBody>
                  <a:tcPr marL="54864" marR="54864" marT="27432" marB="27432" anchor="ctr">
                    <a:solidFill>
                      <a:srgbClr val="F6F3EC"/>
                    </a:solidFill>
                  </a:tcPr>
                </a:tc>
              </a:tr>
            </a:tbl>
          </a:graphicData>
        </a:graphic>
      </p:graphicFrame>
      <p:sp>
        <p:nvSpPr>
          <p:cNvPr id="11" name=""/>
          <p:cNvSpPr/>
          <p:nvPr/>
        </p:nvSpPr>
        <p:spPr>
          <a:xfrm>
            <a:off x="7543800" y="1417320"/>
            <a:ext cx="4096512" cy="2468880"/>
          </a:xfrm>
          <a:prstGeom prst="roundRect">
            <a:avLst>
              <a:gd name="" fmla="val 6000"/>
            </a:avLst>
          </a:prstGeom>
          <a:solidFill>
            <a:srgbClr val="FFFFFF"/>
          </a:solidFill>
          <a:ln w="9525">
            <a:solidFill>
              <a:srgbClr val="E5E0D6"/>
            </a:solidFill>
          </a:ln>
        </p:spPr>
      </p:sp>
      <p:sp>
        <p:nvSpPr>
          <p:cNvPr id="12" name=""/>
          <p:cNvSpPr txBox="1"/>
          <p:nvPr/>
        </p:nvSpPr>
        <p:spPr>
          <a:xfrm>
            <a:off x="7726679" y="1554480"/>
            <a:ext cx="37307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What it says</a:t>
            </a:r>
          </a:p>
        </p:txBody>
      </p:sp>
      <p:sp>
        <p:nvSpPr>
          <p:cNvPr id="13" name=""/>
          <p:cNvSpPr txBox="1"/>
          <p:nvPr/>
        </p:nvSpPr>
        <p:spPr>
          <a:xfrm>
            <a:off x="7726679" y="1874519"/>
            <a:ext cx="3730752" cy="19202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Branded keywords returned 6.0x at 16.7% ACoS and brought 64 of 88 orders.</a:t>
            </a:r>
          </a:p>
          <a:p>
            <a:pPr algn="l">
              <a:spcAft>
                <a:spcPts val="500"/>
              </a:spcAft>
            </a:pPr>
            <a:r>
              <a:rPr sz="1050" b="0">
                <a:solidFill>
                  <a:srgbClr val="334155"/>
                </a:solidFill>
                <a:latin typeface="Inter"/>
              </a:rPr>
              <a:t>Category keywords cost $1,785 for $4,499 in sales (39.7% ACoS); spend there was cut 45% vs last week.</a:t>
            </a:r>
          </a:p>
        </p:txBody>
      </p:sp>
      <p:sp>
        <p:nvSpPr>
          <p:cNvPr id="14" name=""/>
          <p:cNvSpPr/>
          <p:nvPr/>
        </p:nvSpPr>
        <p:spPr>
          <a:xfrm>
            <a:off x="7543800" y="4023360"/>
            <a:ext cx="4096512" cy="2194560"/>
          </a:xfrm>
          <a:prstGeom prst="roundRect">
            <a:avLst>
              <a:gd name="" fmla="val 6000"/>
            </a:avLst>
          </a:prstGeom>
          <a:solidFill>
            <a:srgbClr val="FFFFFF"/>
          </a:solidFill>
          <a:ln w="9525">
            <a:solidFill>
              <a:srgbClr val="E5E0D6"/>
            </a:solidFill>
          </a:ln>
        </p:spPr>
      </p:sp>
      <p:sp>
        <p:nvSpPr>
          <p:cNvPr id="15" name=""/>
          <p:cNvSpPr txBox="1"/>
          <p:nvPr/>
        </p:nvSpPr>
        <p:spPr>
          <a:xfrm>
            <a:off x="7726679" y="4160520"/>
            <a:ext cx="37307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Coverage note</a:t>
            </a:r>
          </a:p>
        </p:txBody>
      </p:sp>
      <p:sp>
        <p:nvSpPr>
          <p:cNvPr id="16" name=""/>
          <p:cNvSpPr txBox="1"/>
          <p:nvPr/>
        </p:nvSpPr>
        <p:spPr>
          <a:xfrm>
            <a:off x="7726679" y="4480560"/>
            <a:ext cx="3730752" cy="1645919"/>
          </a:xfrm>
          <a:prstGeom prst="rect">
            <a:avLst/>
          </a:prstGeom>
          <a:noFill/>
        </p:spPr>
        <p:txBody>
          <a:bodyPr wrap="square" lIns="36576" rIns="36576" tIns="18288" bIns="18288" anchor="t">
            <a:spAutoFit/>
          </a:bodyPr>
          <a:lstStyle/>
          <a:p>
            <a:pPr algn="l">
              <a:spcAft>
                <a:spcPts val="500"/>
              </a:spcAft>
            </a:pPr>
            <a:r>
              <a:rPr sz="1000" b="0">
                <a:solidFill>
                  <a:srgbClr val="334155"/>
                </a:solidFill>
                <a:latin typeface="Inter"/>
              </a:rPr>
              <a:t>Strategy is read from the campaign names (Brand / Category / Auto / Audience).</a:t>
            </a:r>
          </a:p>
          <a:p>
            <a:pPr algn="l">
              <a:spcAft>
                <a:spcPts val="500"/>
              </a:spcAft>
            </a:pPr>
            <a:r>
              <a:rPr sz="1000" b="0">
                <a:solidFill>
                  <a:srgbClr val="334155"/>
                </a:solidFill>
                <a:latin typeface="Inter"/>
              </a:rPr>
              <a:t>Campaign totals come from the campaign report and can differ slightly from account totals.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Bid optimization</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7 / 17</a:t>
            </a:r>
          </a:p>
        </p:txBody>
      </p:sp>
      <p:sp>
        <p:nvSpPr>
          <p:cNvPr id="10" name=""/>
          <p:cNvSpPr/>
          <p:nvPr/>
        </p:nvSpPr>
        <p:spPr>
          <a:xfrm>
            <a:off x="548640" y="1417320"/>
            <a:ext cx="2651760" cy="1463040"/>
          </a:xfrm>
          <a:prstGeom prst="roundRect">
            <a:avLst>
              <a:gd name="" fmla="val 6000"/>
            </a:avLst>
          </a:prstGeom>
          <a:solidFill>
            <a:srgbClr val="F6F3EC"/>
          </a:solidFill>
          <a:ln>
            <a:noFill/>
          </a:ln>
        </p:spPr>
      </p:sp>
      <p:sp>
        <p:nvSpPr>
          <p:cNvPr id="11"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TARGETS TRACKED</a:t>
            </a:r>
          </a:p>
        </p:txBody>
      </p:sp>
      <p:sp>
        <p:nvSpPr>
          <p:cNvPr id="12"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517</a:t>
            </a:r>
          </a:p>
        </p:txBody>
      </p:sp>
      <p:sp>
        <p:nvSpPr>
          <p:cNvPr id="13" name=""/>
          <p:cNvSpPr txBox="1"/>
          <p:nvPr/>
        </p:nvSpPr>
        <p:spPr>
          <a:xfrm>
            <a:off x="713232"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keywords and product targets</a:t>
            </a:r>
          </a:p>
        </p:txBody>
      </p:sp>
      <p:sp>
        <p:nvSpPr>
          <p:cNvPr id="14" name=""/>
          <p:cNvSpPr/>
          <p:nvPr/>
        </p:nvSpPr>
        <p:spPr>
          <a:xfrm>
            <a:off x="3364992" y="1417320"/>
            <a:ext cx="2651760" cy="1463040"/>
          </a:xfrm>
          <a:prstGeom prst="roundRect">
            <a:avLst>
              <a:gd name="" fmla="val 6000"/>
            </a:avLst>
          </a:prstGeom>
          <a:solidFill>
            <a:srgbClr val="F6F3EC"/>
          </a:solidFill>
          <a:ln>
            <a:noFill/>
          </a:ln>
        </p:spPr>
      </p:sp>
      <p:sp>
        <p:nvSpPr>
          <p:cNvPr id="15"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WINNERS</a:t>
            </a:r>
          </a:p>
        </p:txBody>
      </p:sp>
      <p:sp>
        <p:nvSpPr>
          <p:cNvPr id="16"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16A34A"/>
                </a:solidFill>
                <a:latin typeface="Space Grotesk"/>
              </a:rPr>
              <a:t>28</a:t>
            </a:r>
          </a:p>
        </p:txBody>
      </p:sp>
      <p:sp>
        <p:nvSpPr>
          <p:cNvPr id="17" name=""/>
          <p:cNvSpPr txBox="1"/>
          <p:nvPr/>
        </p:nvSpPr>
        <p:spPr>
          <a:xfrm>
            <a:off x="3529584"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converting at or under 35% ACoS</a:t>
            </a:r>
          </a:p>
        </p:txBody>
      </p:sp>
      <p:sp>
        <p:nvSpPr>
          <p:cNvPr id="18" name=""/>
          <p:cNvSpPr/>
          <p:nvPr/>
        </p:nvSpPr>
        <p:spPr>
          <a:xfrm>
            <a:off x="6181344" y="1417320"/>
            <a:ext cx="2651760" cy="1463040"/>
          </a:xfrm>
          <a:prstGeom prst="roundRect">
            <a:avLst>
              <a:gd name="" fmla="val 6000"/>
            </a:avLst>
          </a:prstGeom>
          <a:solidFill>
            <a:srgbClr val="F6F3EC"/>
          </a:solidFill>
          <a:ln>
            <a:noFill/>
          </a:ln>
        </p:spPr>
      </p:sp>
      <p:sp>
        <p:nvSpPr>
          <p:cNvPr id="19"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NEED ATTENTION</a:t>
            </a:r>
          </a:p>
        </p:txBody>
      </p:sp>
      <p:sp>
        <p:nvSpPr>
          <p:cNvPr id="20"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40</a:t>
            </a:r>
          </a:p>
        </p:txBody>
      </p:sp>
      <p:sp>
        <p:nvSpPr>
          <p:cNvPr id="21" name=""/>
          <p:cNvSpPr txBox="1"/>
          <p:nvPr/>
        </p:nvSpPr>
        <p:spPr>
          <a:xfrm>
            <a:off x="6345936" y="246888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5 high ACoS · 13 no sales</a:t>
            </a:r>
          </a:p>
        </p:txBody>
      </p:sp>
      <p:sp>
        <p:nvSpPr>
          <p:cNvPr id="22" name=""/>
          <p:cNvSpPr/>
          <p:nvPr/>
        </p:nvSpPr>
        <p:spPr>
          <a:xfrm>
            <a:off x="8997696" y="1417320"/>
            <a:ext cx="2642616" cy="1463040"/>
          </a:xfrm>
          <a:prstGeom prst="roundRect">
            <a:avLst>
              <a:gd name="" fmla="val 6000"/>
            </a:avLst>
          </a:prstGeom>
          <a:solidFill>
            <a:srgbClr val="F6F3EC"/>
          </a:solidFill>
          <a:ln>
            <a:noFill/>
          </a:ln>
        </p:spPr>
      </p:sp>
      <p:sp>
        <p:nvSpPr>
          <p:cNvPr id="23" name=""/>
          <p:cNvSpPr txBox="1"/>
          <p:nvPr/>
        </p:nvSpPr>
        <p:spPr>
          <a:xfrm>
            <a:off x="9162288" y="154533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LOW CLICK RATE</a:t>
            </a:r>
          </a:p>
        </p:txBody>
      </p:sp>
      <p:sp>
        <p:nvSpPr>
          <p:cNvPr id="24" name=""/>
          <p:cNvSpPr txBox="1"/>
          <p:nvPr/>
        </p:nvSpPr>
        <p:spPr>
          <a:xfrm>
            <a:off x="9162288" y="1801368"/>
            <a:ext cx="2368296" cy="548640"/>
          </a:xfrm>
          <a:prstGeom prst="rect">
            <a:avLst/>
          </a:prstGeom>
          <a:noFill/>
        </p:spPr>
        <p:txBody>
          <a:bodyPr wrap="square" lIns="36576" rIns="36576" tIns="18288" bIns="18288" anchor="t">
            <a:spAutoFit/>
          </a:bodyPr>
          <a:lstStyle/>
          <a:p>
            <a:pPr algn="l"/>
            <a:r>
              <a:rPr sz="2600" b="1">
                <a:solidFill>
                  <a:srgbClr val="D97706"/>
                </a:solidFill>
                <a:latin typeface="Space Grotesk"/>
              </a:rPr>
              <a:t>13</a:t>
            </a:r>
          </a:p>
        </p:txBody>
      </p:sp>
      <p:sp>
        <p:nvSpPr>
          <p:cNvPr id="25" name=""/>
          <p:cNvSpPr txBox="1"/>
          <p:nvPr/>
        </p:nvSpPr>
        <p:spPr>
          <a:xfrm>
            <a:off x="9162288" y="2468880"/>
            <a:ext cx="2368296" cy="320040"/>
          </a:xfrm>
          <a:prstGeom prst="rect">
            <a:avLst/>
          </a:prstGeom>
          <a:noFill/>
        </p:spPr>
        <p:txBody>
          <a:bodyPr wrap="square" lIns="36576" rIns="36576" tIns="18288" bIns="18288" anchor="t">
            <a:spAutoFit/>
          </a:bodyPr>
          <a:lstStyle/>
          <a:p>
            <a:pPr algn="l"/>
            <a:r>
              <a:rPr sz="1000" b="0">
                <a:solidFill>
                  <a:srgbClr val="6B6558"/>
                </a:solidFill>
                <a:latin typeface="Inter"/>
              </a:rPr>
              <a:t>seen but rarely clicked</a:t>
            </a:r>
          </a:p>
        </p:txBody>
      </p:sp>
      <p:graphicFrame>
        <p:nvGraphicFramePr>
          <p:cNvPr id="26" name=""/>
          <p:cNvGraphicFramePr>
            <a:graphicFrameLocks noGrp="1"/>
          </p:cNvGraphicFramePr>
          <p:nvPr/>
        </p:nvGraphicFramePr>
        <p:xfrm>
          <a:off x="548640" y="3063240"/>
          <a:ext cx="7223760" cy="1975104"/>
        </p:xfrm>
        <a:graphic>
          <a:graphicData uri="http://schemas.openxmlformats.org/drawingml/2006/table">
            <a:tbl>
              <a:tblPr firstRow="1" bandRow="1">
                <a:tableStyleId>{5C22544A-7EE6-4342-B048-85BDC9FD1C3A}</a:tableStyleId>
              </a:tblPr>
              <a:tblGrid>
                <a:gridCol w="1920240"/>
                <a:gridCol w="731520"/>
                <a:gridCol w="822960"/>
                <a:gridCol w="822960"/>
                <a:gridCol w="822960"/>
                <a:gridCol w="822960"/>
                <a:gridCol w="640080"/>
                <a:gridCol w="640080"/>
              </a:tblGrid>
              <a:tr h="329184">
                <a:tc>
                  <a:txBody>
                    <a:bodyPr wrap="square"/>
                    <a:lstStyle/>
                    <a:p>
                      <a:pPr algn="l"/>
                      <a:r>
                        <a:rPr sz="900" b="1">
                          <a:solidFill>
                            <a:srgbClr val="FFFFFF"/>
                          </a:solidFill>
                          <a:latin typeface="Inter"/>
                        </a:rPr>
                        <a:t>Target</a:t>
                      </a:r>
                    </a:p>
                  </a:txBody>
                  <a:tcPr marL="54864" marR="54864" marT="27432" marB="27432" anchor="ctr">
                    <a:solidFill>
                      <a:srgbClr val="0F172A"/>
                    </a:solidFill>
                  </a:tcPr>
                </a:tc>
                <a:tc>
                  <a:txBody>
                    <a:bodyPr wrap="square"/>
                    <a:lstStyle/>
                    <a:p>
                      <a:pPr algn="r"/>
                      <a:r>
                        <a:rPr sz="900" b="1">
                          <a:solidFill>
                            <a:srgbClr val="FFFFFF"/>
                          </a:solidFill>
                          <a:latin typeface="Inter"/>
                        </a:rPr>
                        <a:t>Match</a:t>
                      </a:r>
                    </a:p>
                  </a:txBody>
                  <a:tcPr marL="54864" marR="54864" marT="27432" marB="27432" anchor="ctr">
                    <a:solidFill>
                      <a:srgbClr val="0F172A"/>
                    </a:solidFill>
                  </a:tcPr>
                </a:tc>
                <a:tc>
                  <a:txBody>
                    <a:bodyPr wrap="square"/>
                    <a:lstStyle/>
                    <a:p>
                      <a:pPr algn="r"/>
                      <a:r>
                        <a:rPr sz="900" b="1">
                          <a:solidFill>
                            <a:srgbClr val="FFFFFF"/>
                          </a:solidFill>
                          <a:latin typeface="Inter"/>
                        </a:rPr>
                        <a:t>Type</a:t>
                      </a:r>
                    </a:p>
                  </a:txBody>
                  <a:tcPr marL="54864" marR="54864" marT="27432" marB="27432" anchor="ctr">
                    <a:solidFill>
                      <a:srgbClr val="0F172A"/>
                    </a:solidFill>
                  </a:tcPr>
                </a:tc>
                <a:tc>
                  <a:txBody>
                    <a:bodyPr wrap="square"/>
                    <a:lstStyle/>
                    <a:p>
                      <a:pPr algn="r"/>
                      <a:r>
                        <a:rPr sz="900" b="1">
                          <a:solidFill>
                            <a:srgbClr val="FFFFFF"/>
                          </a:solidFill>
                          <a:latin typeface="Inter"/>
                        </a:rPr>
                        <a:t>Spend</a:t>
                      </a:r>
                    </a:p>
                  </a:txBody>
                  <a:tcPr marL="54864" marR="54864" marT="27432" marB="27432" anchor="ctr">
                    <a:solidFill>
                      <a:srgbClr val="0F172A"/>
                    </a:solidFill>
                  </a:tcPr>
                </a:tc>
                <a:tc>
                  <a:txBody>
                    <a:bodyPr wrap="square"/>
                    <a:lstStyle/>
                    <a:p>
                      <a:pPr algn="r"/>
                      <a:r>
                        <a:rPr sz="900" b="1">
                          <a:solidFill>
                            <a:srgbClr val="FFFFFF"/>
                          </a:solidFill>
                          <a:latin typeface="Inter"/>
                        </a:rPr>
                        <a:t>Sales</a:t>
                      </a:r>
                    </a:p>
                  </a:txBody>
                  <a:tcPr marL="54864" marR="54864" marT="27432" marB="27432" anchor="ctr">
                    <a:solidFill>
                      <a:srgbClr val="0F172A"/>
                    </a:solidFill>
                  </a:tcPr>
                </a:tc>
                <a:tc>
                  <a:txBody>
                    <a:bodyPr wrap="square"/>
                    <a:lstStyle/>
                    <a:p>
                      <a:pPr algn="r"/>
                      <a:r>
                        <a:rPr sz="900" b="1">
                          <a:solidFill>
                            <a:srgbClr val="FFFFFF"/>
                          </a:solidFill>
                          <a:latin typeface="Inter"/>
                        </a:rPr>
                        <a:t>ACoS</a:t>
                      </a:r>
                    </a:p>
                  </a:txBody>
                  <a:tcPr marL="54864" marR="54864" marT="27432" marB="27432" anchor="ctr">
                    <a:solidFill>
                      <a:srgbClr val="0F172A"/>
                    </a:solidFill>
                  </a:tcPr>
                </a:tc>
                <a:tc>
                  <a:txBody>
                    <a:bodyPr wrap="square"/>
                    <a:lstStyle/>
                    <a:p>
                      <a:pPr algn="r"/>
                      <a:r>
                        <a:rPr sz="900" b="1">
                          <a:solidFill>
                            <a:srgbClr val="FFFFFF"/>
                          </a:solidFill>
                          <a:latin typeface="Inter"/>
                        </a:rPr>
                        <a:t>Clicks</a:t>
                      </a:r>
                    </a:p>
                  </a:txBody>
                  <a:tcPr marL="54864" marR="54864" marT="27432" marB="27432" anchor="ctr">
                    <a:solidFill>
                      <a:srgbClr val="0F172A"/>
                    </a:solidFill>
                  </a:tcPr>
                </a:tc>
                <a:tc>
                  <a:txBody>
                    <a:bodyPr wrap="square"/>
                    <a:lstStyle/>
                    <a:p>
                      <a:pPr algn="r"/>
                      <a:r>
                        <a:rPr sz="900" b="1">
                          <a:solidFill>
                            <a:srgbClr val="FFFFFF"/>
                          </a:solidFill>
                          <a:latin typeface="Inter"/>
                        </a:rPr>
                        <a:t>Orders</a:t>
                      </a:r>
                    </a:p>
                  </a:txBody>
                  <a:tcPr marL="54864" marR="54864" marT="27432" marB="27432" anchor="ctr">
                    <a:solidFill>
                      <a:srgbClr val="0F172A"/>
                    </a:solidFill>
                  </a:tcPr>
                </a:tc>
              </a:tr>
              <a:tr h="329184">
                <a:tc>
                  <a:txBody>
                    <a:bodyPr wrap="square"/>
                    <a:lstStyle/>
                    <a:p>
                      <a:pPr algn="l"/>
                      <a:r>
                        <a:rPr sz="1000" b="0">
                          <a:solidFill>
                            <a:srgbClr val="0F172A"/>
                          </a:solidFill>
                          <a:latin typeface="Inter"/>
                        </a:rPr>
                        <a:t>mattress +topper</a:t>
                      </a:r>
                    </a:p>
                  </a:txBody>
                  <a:tcPr marL="54864" marR="54864" marT="27432" marB="27432" anchor="ctr">
                    <a:solidFill>
                      <a:srgbClr val="FFFFFF"/>
                    </a:solidFill>
                  </a:tcPr>
                </a:tc>
                <a:tc>
                  <a:txBody>
                    <a:bodyPr wrap="square"/>
                    <a:lstStyle/>
                    <a:p>
                      <a:pPr algn="r"/>
                      <a:r>
                        <a:rPr sz="1000" b="0">
                          <a:solidFill>
                            <a:srgbClr val="0F172A"/>
                          </a:solidFill>
                          <a:latin typeface="Inter"/>
                        </a:rPr>
                        <a:t>Phrase</a:t>
                      </a:r>
                    </a:p>
                  </a:txBody>
                  <a:tcPr marL="54864" marR="54864" marT="27432" marB="27432" anchor="ctr">
                    <a:solidFill>
                      <a:srgbClr val="FFFFFF"/>
                    </a:solidFill>
                  </a:tcPr>
                </a:tc>
                <a:tc>
                  <a:txBody>
                    <a:bodyPr wrap="square"/>
                    <a:lstStyle/>
                    <a:p>
                      <a:pPr algn="r"/>
                      <a:r>
                        <a:rPr sz="1000" b="0">
                          <a:solidFill>
                            <a:srgbClr val="0F172A"/>
                          </a:solidFill>
                          <a:latin typeface="Inter"/>
                        </a:rPr>
                        <a:t>Category</a:t>
                      </a:r>
                    </a:p>
                  </a:txBody>
                  <a:tcPr marL="54864" marR="54864" marT="27432" marB="27432" anchor="ctr">
                    <a:solidFill>
                      <a:srgbClr val="FFFFFF"/>
                    </a:solidFill>
                  </a:tcPr>
                </a:tc>
                <a:tc>
                  <a:txBody>
                    <a:bodyPr wrap="square"/>
                    <a:lstStyle/>
                    <a:p>
                      <a:pPr algn="r"/>
                      <a:r>
                        <a:rPr sz="1000" b="0">
                          <a:solidFill>
                            <a:srgbClr val="0F172A"/>
                          </a:solidFill>
                          <a:latin typeface="Inter"/>
                        </a:rPr>
                        <a:t>$1,191</a:t>
                      </a:r>
                    </a:p>
                  </a:txBody>
                  <a:tcPr marL="54864" marR="54864" marT="27432" marB="27432" anchor="ctr">
                    <a:solidFill>
                      <a:srgbClr val="FFFFFF"/>
                    </a:solidFill>
                  </a:tcPr>
                </a:tc>
                <a:tc>
                  <a:txBody>
                    <a:bodyPr wrap="square"/>
                    <a:lstStyle/>
                    <a:p>
                      <a:pPr algn="r"/>
                      <a:r>
                        <a:rPr sz="1000" b="0">
                          <a:solidFill>
                            <a:srgbClr val="0F172A"/>
                          </a:solidFill>
                          <a:latin typeface="Inter"/>
                        </a:rPr>
                        <a:t>$1,618</a:t>
                      </a:r>
                    </a:p>
                  </a:txBody>
                  <a:tcPr marL="54864" marR="54864" marT="27432" marB="27432" anchor="ctr">
                    <a:solidFill>
                      <a:srgbClr val="FFFFFF"/>
                    </a:solidFill>
                  </a:tcPr>
                </a:tc>
                <a:tc>
                  <a:txBody>
                    <a:bodyPr wrap="square"/>
                    <a:lstStyle/>
                    <a:p>
                      <a:pPr algn="r"/>
                      <a:r>
                        <a:rPr sz="1000" b="0">
                          <a:solidFill>
                            <a:srgbClr val="DC2626"/>
                          </a:solidFill>
                          <a:latin typeface="Inter"/>
                        </a:rPr>
                        <a:t>73.6%</a:t>
                      </a:r>
                    </a:p>
                  </a:txBody>
                  <a:tcPr marL="54864" marR="54864" marT="27432" marB="27432" anchor="ctr">
                    <a:solidFill>
                      <a:srgbClr val="FFFFFF"/>
                    </a:solidFill>
                  </a:tcPr>
                </a:tc>
                <a:tc>
                  <a:txBody>
                    <a:bodyPr wrap="square"/>
                    <a:lstStyle/>
                    <a:p>
                      <a:pPr algn="r"/>
                      <a:r>
                        <a:rPr sz="1000" b="0">
                          <a:solidFill>
                            <a:srgbClr val="0F172A"/>
                          </a:solidFill>
                          <a:latin typeface="Inter"/>
                        </a:rPr>
                        <a:t>463</a:t>
                      </a:r>
                    </a:p>
                  </a:txBody>
                  <a:tcPr marL="54864" marR="54864" marT="27432" marB="27432" anchor="ctr">
                    <a:solidFill>
                      <a:srgbClr val="FFFFFF"/>
                    </a:solidFill>
                  </a:tcPr>
                </a:tc>
                <a:tc>
                  <a:txBody>
                    <a:bodyPr wrap="square"/>
                    <a:lstStyle/>
                    <a:p>
                      <a:pPr algn="r"/>
                      <a:r>
                        <a:rPr sz="1000" b="0">
                          <a:solidFill>
                            <a:srgbClr val="0F172A"/>
                          </a:solidFill>
                          <a:latin typeface="Inter"/>
                        </a:rPr>
                        <a:t>4</a:t>
                      </a:r>
                    </a:p>
                  </a:txBody>
                  <a:tcPr marL="54864" marR="54864" marT="27432" marB="27432" anchor="ctr">
                    <a:solidFill>
                      <a:srgbClr val="FFFFFF"/>
                    </a:solidFill>
                  </a:tcPr>
                </a:tc>
              </a:tr>
              <a:tr h="329184">
                <a:tc>
                  <a:txBody>
                    <a:bodyPr wrap="square"/>
                    <a:lstStyle/>
                    <a:p>
                      <a:pPr algn="l"/>
                      <a:r>
                        <a:rPr sz="1000" b="0">
                          <a:solidFill>
                            <a:srgbClr val="0F172A"/>
                          </a:solidFill>
                          <a:latin typeface="Inter"/>
                        </a:rPr>
                        <a:t>dormeo</a:t>
                      </a:r>
                    </a:p>
                  </a:txBody>
                  <a:tcPr marL="54864" marR="54864" marT="27432" marB="27432" anchor="ctr">
                    <a:solidFill>
                      <a:srgbClr val="FBFAF7"/>
                    </a:solidFill>
                  </a:tcPr>
                </a:tc>
                <a:tc>
                  <a:txBody>
                    <a:bodyPr wrap="square"/>
                    <a:lstStyle/>
                    <a:p>
                      <a:pPr algn="r"/>
                      <a:r>
                        <a:rPr sz="1000" b="0">
                          <a:solidFill>
                            <a:srgbClr val="0F172A"/>
                          </a:solidFill>
                          <a:latin typeface="Inter"/>
                        </a:rPr>
                        <a:t>Phrase</a:t>
                      </a:r>
                    </a:p>
                  </a:txBody>
                  <a:tcPr marL="54864" marR="54864" marT="27432" marB="27432" anchor="ctr">
                    <a:solidFill>
                      <a:srgbClr val="FBFAF7"/>
                    </a:solidFill>
                  </a:tcPr>
                </a:tc>
                <a:tc>
                  <a:txBody>
                    <a:bodyPr wrap="square"/>
                    <a:lstStyle/>
                    <a:p>
                      <a:pPr algn="r"/>
                      <a:r>
                        <a:rPr sz="1000" b="0">
                          <a:solidFill>
                            <a:srgbClr val="0F172A"/>
                          </a:solidFill>
                          <a:latin typeface="Inter"/>
                        </a:rPr>
                        <a:t>Brand</a:t>
                      </a:r>
                    </a:p>
                  </a:txBody>
                  <a:tcPr marL="54864" marR="54864" marT="27432" marB="27432" anchor="ctr">
                    <a:solidFill>
                      <a:srgbClr val="FBFAF7"/>
                    </a:solidFill>
                  </a:tcPr>
                </a:tc>
                <a:tc>
                  <a:txBody>
                    <a:bodyPr wrap="square"/>
                    <a:lstStyle/>
                    <a:p>
                      <a:pPr algn="r"/>
                      <a:r>
                        <a:rPr sz="1000" b="0">
                          <a:solidFill>
                            <a:srgbClr val="0F172A"/>
                          </a:solidFill>
                          <a:latin typeface="Inter"/>
                        </a:rPr>
                        <a:t>$623</a:t>
                      </a:r>
                    </a:p>
                  </a:txBody>
                  <a:tcPr marL="54864" marR="54864" marT="27432" marB="27432" anchor="ctr">
                    <a:solidFill>
                      <a:srgbClr val="FBFAF7"/>
                    </a:solidFill>
                  </a:tcPr>
                </a:tc>
                <a:tc>
                  <a:txBody>
                    <a:bodyPr wrap="square"/>
                    <a:lstStyle/>
                    <a:p>
                      <a:pPr algn="r"/>
                      <a:r>
                        <a:rPr sz="1000" b="0">
                          <a:solidFill>
                            <a:srgbClr val="0F172A"/>
                          </a:solidFill>
                          <a:latin typeface="Inter"/>
                        </a:rPr>
                        <a:t>$1,052</a:t>
                      </a:r>
                    </a:p>
                  </a:txBody>
                  <a:tcPr marL="54864" marR="54864" marT="27432" marB="27432" anchor="ctr">
                    <a:solidFill>
                      <a:srgbClr val="FBFAF7"/>
                    </a:solidFill>
                  </a:tcPr>
                </a:tc>
                <a:tc>
                  <a:txBody>
                    <a:bodyPr wrap="square"/>
                    <a:lstStyle/>
                    <a:p>
                      <a:pPr algn="r"/>
                      <a:r>
                        <a:rPr sz="1000" b="0">
                          <a:solidFill>
                            <a:srgbClr val="DC2626"/>
                          </a:solidFill>
                          <a:latin typeface="Inter"/>
                        </a:rPr>
                        <a:t>59.2%</a:t>
                      </a:r>
                    </a:p>
                  </a:txBody>
                  <a:tcPr marL="54864" marR="54864" marT="27432" marB="27432" anchor="ctr">
                    <a:solidFill>
                      <a:srgbClr val="FBFAF7"/>
                    </a:solidFill>
                  </a:tcPr>
                </a:tc>
                <a:tc>
                  <a:txBody>
                    <a:bodyPr wrap="square"/>
                    <a:lstStyle/>
                    <a:p>
                      <a:pPr algn="r"/>
                      <a:r>
                        <a:rPr sz="1000" b="0">
                          <a:solidFill>
                            <a:srgbClr val="0F172A"/>
                          </a:solidFill>
                          <a:latin typeface="Inter"/>
                        </a:rPr>
                        <a:t>429</a:t>
                      </a:r>
                    </a:p>
                  </a:txBody>
                  <a:tcPr marL="54864" marR="54864" marT="27432" marB="27432" anchor="ctr">
                    <a:solidFill>
                      <a:srgbClr val="FBFAF7"/>
                    </a:solidFill>
                  </a:tcPr>
                </a:tc>
                <a:tc>
                  <a:txBody>
                    <a:bodyPr wrap="square"/>
                    <a:lstStyle/>
                    <a:p>
                      <a:pPr algn="r"/>
                      <a:r>
                        <a:rPr sz="1000" b="0">
                          <a:solidFill>
                            <a:srgbClr val="0F172A"/>
                          </a:solidFill>
                          <a:latin typeface="Inter"/>
                        </a:rPr>
                        <a:t>9</a:t>
                      </a:r>
                    </a:p>
                  </a:txBody>
                  <a:tcPr marL="54864" marR="54864" marT="27432" marB="27432" anchor="ctr">
                    <a:solidFill>
                      <a:srgbClr val="FBFAF7"/>
                    </a:solidFill>
                  </a:tcPr>
                </a:tc>
              </a:tr>
              <a:tr h="329184">
                <a:tc>
                  <a:txBody>
                    <a:bodyPr wrap="square"/>
                    <a:lstStyle/>
                    <a:p>
                      <a:pPr algn="l"/>
                      <a:r>
                        <a:rPr sz="1000" b="0">
                          <a:solidFill>
                            <a:srgbClr val="0F172A"/>
                          </a:solidFill>
                          <a:latin typeface="Inter"/>
                        </a:rPr>
                        <a:t>dormeo</a:t>
                      </a:r>
                    </a:p>
                  </a:txBody>
                  <a:tcPr marL="54864" marR="54864" marT="27432" marB="27432" anchor="ctr">
                    <a:solidFill>
                      <a:srgbClr val="FFFFFF"/>
                    </a:solidFill>
                  </a:tcPr>
                </a:tc>
                <a:tc>
                  <a:txBody>
                    <a:bodyPr wrap="square"/>
                    <a:lstStyle/>
                    <a:p>
                      <a:pPr algn="r"/>
                      <a:r>
                        <a:rPr sz="1000" b="0">
                          <a:solidFill>
                            <a:srgbClr val="0F172A"/>
                          </a:solidFill>
                          <a:latin typeface="Inter"/>
                        </a:rPr>
                        <a:t>Exact</a:t>
                      </a:r>
                    </a:p>
                  </a:txBody>
                  <a:tcPr marL="54864" marR="54864" marT="27432" marB="27432" anchor="ctr">
                    <a:solidFill>
                      <a:srgbClr val="FFFFFF"/>
                    </a:solidFill>
                  </a:tcPr>
                </a:tc>
                <a:tc>
                  <a:txBody>
                    <a:bodyPr wrap="square"/>
                    <a:lstStyle/>
                    <a:p>
                      <a:pPr algn="r"/>
                      <a:r>
                        <a:rPr sz="1000" b="0">
                          <a:solidFill>
                            <a:srgbClr val="0F172A"/>
                          </a:solidFill>
                          <a:latin typeface="Inter"/>
                        </a:rPr>
                        <a:t>Brand</a:t>
                      </a:r>
                    </a:p>
                  </a:txBody>
                  <a:tcPr marL="54864" marR="54864" marT="27432" marB="27432" anchor="ctr">
                    <a:solidFill>
                      <a:srgbClr val="FFFFFF"/>
                    </a:solidFill>
                  </a:tcPr>
                </a:tc>
                <a:tc>
                  <a:txBody>
                    <a:bodyPr wrap="square"/>
                    <a:lstStyle/>
                    <a:p>
                      <a:pPr algn="r"/>
                      <a:r>
                        <a:rPr sz="1000" b="0">
                          <a:solidFill>
                            <a:srgbClr val="0F172A"/>
                          </a:solidFill>
                          <a:latin typeface="Inter"/>
                        </a:rPr>
                        <a:t>$192</a:t>
                      </a:r>
                    </a:p>
                  </a:txBody>
                  <a:tcPr marL="54864" marR="54864" marT="27432" marB="27432" anchor="ctr">
                    <a:solidFill>
                      <a:srgbClr val="FFFFFF"/>
                    </a:solidFill>
                  </a:tcPr>
                </a:tc>
                <a:tc>
                  <a:txBody>
                    <a:bodyPr wrap="square"/>
                    <a:lstStyle/>
                    <a:p>
                      <a:pPr algn="r"/>
                      <a:r>
                        <a:rPr sz="1000" b="0">
                          <a:solidFill>
                            <a:srgbClr val="0F172A"/>
                          </a:solidFill>
                          <a:latin typeface="Inter"/>
                        </a:rPr>
                        <a:t>$495</a:t>
                      </a:r>
                    </a:p>
                  </a:txBody>
                  <a:tcPr marL="54864" marR="54864" marT="27432" marB="27432" anchor="ctr">
                    <a:solidFill>
                      <a:srgbClr val="FFFFFF"/>
                    </a:solidFill>
                  </a:tcPr>
                </a:tc>
                <a:tc>
                  <a:txBody>
                    <a:bodyPr wrap="square"/>
                    <a:lstStyle/>
                    <a:p>
                      <a:pPr algn="r"/>
                      <a:r>
                        <a:rPr sz="1000" b="0">
                          <a:solidFill>
                            <a:srgbClr val="DC2626"/>
                          </a:solidFill>
                          <a:latin typeface="Inter"/>
                        </a:rPr>
                        <a:t>38.7%</a:t>
                      </a:r>
                    </a:p>
                  </a:txBody>
                  <a:tcPr marL="54864" marR="54864" marT="27432" marB="27432" anchor="ctr">
                    <a:solidFill>
                      <a:srgbClr val="FFFFFF"/>
                    </a:solidFill>
                  </a:tcPr>
                </a:tc>
                <a:tc>
                  <a:txBody>
                    <a:bodyPr wrap="square"/>
                    <a:lstStyle/>
                    <a:p>
                      <a:pPr algn="r"/>
                      <a:r>
                        <a:rPr sz="1000" b="0">
                          <a:solidFill>
                            <a:srgbClr val="0F172A"/>
                          </a:solidFill>
                          <a:latin typeface="Inter"/>
                        </a:rPr>
                        <a:t>133</a:t>
                      </a:r>
                    </a:p>
                  </a:txBody>
                  <a:tcPr marL="54864" marR="54864" marT="27432" marB="27432" anchor="ctr">
                    <a:solidFill>
                      <a:srgbClr val="FFFFFF"/>
                    </a:solidFill>
                  </a:tcPr>
                </a:tc>
                <a:tc>
                  <a:txBody>
                    <a:bodyPr wrap="square"/>
                    <a:lstStyle/>
                    <a:p>
                      <a:pPr algn="r"/>
                      <a:r>
                        <a:rPr sz="1000" b="0">
                          <a:solidFill>
                            <a:srgbClr val="0F172A"/>
                          </a:solidFill>
                          <a:latin typeface="Inter"/>
                        </a:rPr>
                        <a:t>2</a:t>
                      </a:r>
                    </a:p>
                  </a:txBody>
                  <a:tcPr marL="54864" marR="54864" marT="27432" marB="27432" anchor="ctr">
                    <a:solidFill>
                      <a:srgbClr val="FFFFFF"/>
                    </a:solidFill>
                  </a:tcPr>
                </a:tc>
              </a:tr>
              <a:tr h="329184">
                <a:tc>
                  <a:txBody>
                    <a:bodyPr wrap="square"/>
                    <a:lstStyle/>
                    <a:p>
                      <a:pPr algn="l"/>
                      <a:r>
                        <a:rPr sz="1000" b="0">
                          <a:solidFill>
                            <a:srgbClr val="0F172A"/>
                          </a:solidFill>
                          <a:latin typeface="Inter"/>
                        </a:rPr>
                        <a:t>dormeo toppers (SB)</a:t>
                      </a:r>
                    </a:p>
                  </a:txBody>
                  <a:tcPr marL="54864" marR="54864" marT="27432" marB="27432" anchor="ctr">
                    <a:solidFill>
                      <a:srgbClr val="FBFAF7"/>
                    </a:solidFill>
                  </a:tcPr>
                </a:tc>
                <a:tc>
                  <a:txBody>
                    <a:bodyPr wrap="square"/>
                    <a:lstStyle/>
                    <a:p>
                      <a:pPr algn="r"/>
                      <a:r>
                        <a:rPr sz="1000" b="0">
                          <a:solidFill>
                            <a:srgbClr val="0F172A"/>
                          </a:solidFill>
                          <a:latin typeface="Inter"/>
                        </a:rPr>
                        <a:t>Phrase</a:t>
                      </a:r>
                    </a:p>
                  </a:txBody>
                  <a:tcPr marL="54864" marR="54864" marT="27432" marB="27432" anchor="ctr">
                    <a:solidFill>
                      <a:srgbClr val="FBFAF7"/>
                    </a:solidFill>
                  </a:tcPr>
                </a:tc>
                <a:tc>
                  <a:txBody>
                    <a:bodyPr wrap="square"/>
                    <a:lstStyle/>
                    <a:p>
                      <a:pPr algn="r"/>
                      <a:r>
                        <a:rPr sz="1000" b="0">
                          <a:solidFill>
                            <a:srgbClr val="0F172A"/>
                          </a:solidFill>
                          <a:latin typeface="Inter"/>
                        </a:rPr>
                        <a:t>Brand</a:t>
                      </a:r>
                    </a:p>
                  </a:txBody>
                  <a:tcPr marL="54864" marR="54864" marT="27432" marB="27432" anchor="ctr">
                    <a:solidFill>
                      <a:srgbClr val="FBFAF7"/>
                    </a:solidFill>
                  </a:tcPr>
                </a:tc>
                <a:tc>
                  <a:txBody>
                    <a:bodyPr wrap="square"/>
                    <a:lstStyle/>
                    <a:p>
                      <a:pPr algn="r"/>
                      <a:r>
                        <a:rPr sz="1000" b="0">
                          <a:solidFill>
                            <a:srgbClr val="0F172A"/>
                          </a:solidFill>
                          <a:latin typeface="Inter"/>
                        </a:rPr>
                        <a:t>$182</a:t>
                      </a:r>
                    </a:p>
                  </a:txBody>
                  <a:tcPr marL="54864" marR="54864" marT="27432" marB="27432" anchor="ctr">
                    <a:solidFill>
                      <a:srgbClr val="FBFAF7"/>
                    </a:solidFill>
                  </a:tcPr>
                </a:tc>
                <a:tc>
                  <a:txBody>
                    <a:bodyPr wrap="square"/>
                    <a:lstStyle/>
                    <a:p>
                      <a:pPr algn="r"/>
                      <a:r>
                        <a:rPr sz="1000" b="0">
                          <a:solidFill>
                            <a:srgbClr val="0F172A"/>
                          </a:solidFill>
                          <a:latin typeface="Inter"/>
                        </a:rPr>
                        <a:t>$0</a:t>
                      </a:r>
                    </a:p>
                  </a:txBody>
                  <a:tcPr marL="54864" marR="54864" marT="27432" marB="27432" anchor="ctr">
                    <a:solidFill>
                      <a:srgbClr val="FBFAF7"/>
                    </a:solidFill>
                  </a:tcPr>
                </a:tc>
                <a:tc>
                  <a:txBody>
                    <a:bodyPr wrap="square"/>
                    <a:lstStyle/>
                    <a:p>
                      <a:pPr algn="r"/>
                      <a:r>
                        <a:rPr sz="1000" b="0">
                          <a:solidFill>
                            <a:srgbClr val="DC2626"/>
                          </a:solidFill>
                          <a:latin typeface="Inter"/>
                        </a:rPr>
                        <a:t>no sales</a:t>
                      </a:r>
                    </a:p>
                  </a:txBody>
                  <a:tcPr marL="54864" marR="54864" marT="27432" marB="27432" anchor="ctr">
                    <a:solidFill>
                      <a:srgbClr val="FBFAF7"/>
                    </a:solidFill>
                  </a:tcPr>
                </a:tc>
                <a:tc>
                  <a:txBody>
                    <a:bodyPr wrap="square"/>
                    <a:lstStyle/>
                    <a:p>
                      <a:pPr algn="r"/>
                      <a:r>
                        <a:rPr sz="1000" b="0">
                          <a:solidFill>
                            <a:srgbClr val="0F172A"/>
                          </a:solidFill>
                          <a:latin typeface="Inter"/>
                        </a:rPr>
                        <a:t>82</a:t>
                      </a:r>
                    </a:p>
                  </a:txBody>
                  <a:tcPr marL="54864" marR="54864" marT="27432" marB="27432" anchor="ctr">
                    <a:solidFill>
                      <a:srgbClr val="FBFAF7"/>
                    </a:solidFill>
                  </a:tcPr>
                </a:tc>
                <a:tc>
                  <a:txBody>
                    <a:bodyPr wrap="square"/>
                    <a:lstStyle/>
                    <a:p>
                      <a:pPr algn="r"/>
                      <a:r>
                        <a:rPr sz="1000" b="0">
                          <a:solidFill>
                            <a:srgbClr val="0F172A"/>
                          </a:solidFill>
                          <a:latin typeface="Inter"/>
                        </a:rPr>
                        <a:t>0</a:t>
                      </a:r>
                    </a:p>
                  </a:txBody>
                  <a:tcPr marL="54864" marR="54864" marT="27432" marB="27432" anchor="ctr">
                    <a:solidFill>
                      <a:srgbClr val="FBFAF7"/>
                    </a:solidFill>
                  </a:tcPr>
                </a:tc>
              </a:tr>
              <a:tr h="329184">
                <a:tc>
                  <a:txBody>
                    <a:bodyPr wrap="square"/>
                    <a:lstStyle/>
                    <a:p>
                      <a:pPr algn="l"/>
                      <a:r>
                        <a:rPr sz="1000" b="0">
                          <a:solidFill>
                            <a:srgbClr val="0F172A"/>
                          </a:solidFill>
                          <a:latin typeface="Inter"/>
                        </a:rPr>
                        <a:t>dormeo (SB)</a:t>
                      </a:r>
                    </a:p>
                  </a:txBody>
                  <a:tcPr marL="54864" marR="54864" marT="27432" marB="27432" anchor="ctr">
                    <a:solidFill>
                      <a:srgbClr val="FFFFFF"/>
                    </a:solidFill>
                  </a:tcPr>
                </a:tc>
                <a:tc>
                  <a:txBody>
                    <a:bodyPr wrap="square"/>
                    <a:lstStyle/>
                    <a:p>
                      <a:pPr algn="r"/>
                      <a:r>
                        <a:rPr sz="1000" b="0">
                          <a:solidFill>
                            <a:srgbClr val="0F172A"/>
                          </a:solidFill>
                          <a:latin typeface="Inter"/>
                        </a:rPr>
                        <a:t>Phrase</a:t>
                      </a:r>
                    </a:p>
                  </a:txBody>
                  <a:tcPr marL="54864" marR="54864" marT="27432" marB="27432" anchor="ctr">
                    <a:solidFill>
                      <a:srgbClr val="FFFFFF"/>
                    </a:solidFill>
                  </a:tcPr>
                </a:tc>
                <a:tc>
                  <a:txBody>
                    <a:bodyPr wrap="square"/>
                    <a:lstStyle/>
                    <a:p>
                      <a:pPr algn="r"/>
                      <a:r>
                        <a:rPr sz="1000" b="0">
                          <a:solidFill>
                            <a:srgbClr val="0F172A"/>
                          </a:solidFill>
                          <a:latin typeface="Inter"/>
                        </a:rPr>
                        <a:t>Brand</a:t>
                      </a:r>
                    </a:p>
                  </a:txBody>
                  <a:tcPr marL="54864" marR="54864" marT="27432" marB="27432" anchor="ctr">
                    <a:solidFill>
                      <a:srgbClr val="FFFFFF"/>
                    </a:solidFill>
                  </a:tcPr>
                </a:tc>
                <a:tc>
                  <a:txBody>
                    <a:bodyPr wrap="square"/>
                    <a:lstStyle/>
                    <a:p>
                      <a:pPr algn="r"/>
                      <a:r>
                        <a:rPr sz="1000" b="0">
                          <a:solidFill>
                            <a:srgbClr val="0F172A"/>
                          </a:solidFill>
                          <a:latin typeface="Inter"/>
                        </a:rPr>
                        <a:t>$78</a:t>
                      </a:r>
                    </a:p>
                  </a:txBody>
                  <a:tcPr marL="54864" marR="54864" marT="27432" marB="27432" anchor="ctr">
                    <a:solidFill>
                      <a:srgbClr val="FFFFFF"/>
                    </a:solidFill>
                  </a:tcPr>
                </a:tc>
                <a:tc>
                  <a:txBody>
                    <a:bodyPr wrap="square"/>
                    <a:lstStyle/>
                    <a:p>
                      <a:pPr algn="r"/>
                      <a:r>
                        <a:rPr sz="1000" b="0">
                          <a:solidFill>
                            <a:srgbClr val="0F172A"/>
                          </a:solidFill>
                          <a:latin typeface="Inter"/>
                        </a:rPr>
                        <a:t>$0</a:t>
                      </a:r>
                    </a:p>
                  </a:txBody>
                  <a:tcPr marL="54864" marR="54864" marT="27432" marB="27432" anchor="ctr">
                    <a:solidFill>
                      <a:srgbClr val="FFFFFF"/>
                    </a:solidFill>
                  </a:tcPr>
                </a:tc>
                <a:tc>
                  <a:txBody>
                    <a:bodyPr wrap="square"/>
                    <a:lstStyle/>
                    <a:p>
                      <a:pPr algn="r"/>
                      <a:r>
                        <a:rPr sz="1000" b="0">
                          <a:solidFill>
                            <a:srgbClr val="DC2626"/>
                          </a:solidFill>
                          <a:latin typeface="Inter"/>
                        </a:rPr>
                        <a:t>no sales</a:t>
                      </a:r>
                    </a:p>
                  </a:txBody>
                  <a:tcPr marL="54864" marR="54864" marT="27432" marB="27432" anchor="ctr">
                    <a:solidFill>
                      <a:srgbClr val="FFFFFF"/>
                    </a:solidFill>
                  </a:tcPr>
                </a:tc>
                <a:tc>
                  <a:txBody>
                    <a:bodyPr wrap="square"/>
                    <a:lstStyle/>
                    <a:p>
                      <a:pPr algn="r"/>
                      <a:r>
                        <a:rPr sz="1000" b="0">
                          <a:solidFill>
                            <a:srgbClr val="0F172A"/>
                          </a:solidFill>
                          <a:latin typeface="Inter"/>
                        </a:rPr>
                        <a:t>79</a:t>
                      </a:r>
                    </a:p>
                  </a:txBody>
                  <a:tcPr marL="54864" marR="54864" marT="27432" marB="27432" anchor="ctr">
                    <a:solidFill>
                      <a:srgbClr val="FFFFFF"/>
                    </a:solidFill>
                  </a:tcPr>
                </a:tc>
                <a:tc>
                  <a:txBody>
                    <a:bodyPr wrap="square"/>
                    <a:lstStyle/>
                    <a:p>
                      <a:pPr algn="r"/>
                      <a:r>
                        <a:rPr sz="1000" b="0">
                          <a:solidFill>
                            <a:srgbClr val="0F172A"/>
                          </a:solidFill>
                          <a:latin typeface="Inter"/>
                        </a:rPr>
                        <a:t>0</a:t>
                      </a:r>
                    </a:p>
                  </a:txBody>
                  <a:tcPr marL="54864" marR="54864" marT="27432" marB="27432" anchor="ctr">
                    <a:solidFill>
                      <a:srgbClr val="FFFFFF"/>
                    </a:solidFill>
                  </a:tcPr>
                </a:tc>
              </a:tr>
            </a:tbl>
          </a:graphicData>
        </a:graphic>
      </p:graphicFrame>
      <p:sp>
        <p:nvSpPr>
          <p:cNvPr id="27" name=""/>
          <p:cNvSpPr/>
          <p:nvPr/>
        </p:nvSpPr>
        <p:spPr>
          <a:xfrm>
            <a:off x="8001000" y="3063240"/>
            <a:ext cx="3639312" cy="3154680"/>
          </a:xfrm>
          <a:prstGeom prst="roundRect">
            <a:avLst>
              <a:gd name="" fmla="val 6000"/>
            </a:avLst>
          </a:prstGeom>
          <a:solidFill>
            <a:srgbClr val="FFFFFF"/>
          </a:solidFill>
          <a:ln w="9525">
            <a:solidFill>
              <a:srgbClr val="E5E0D6"/>
            </a:solidFill>
          </a:ln>
        </p:spPr>
      </p:sp>
      <p:sp>
        <p:nvSpPr>
          <p:cNvPr id="28" name=""/>
          <p:cNvSpPr txBox="1"/>
          <p:nvPr/>
        </p:nvSpPr>
        <p:spPr>
          <a:xfrm>
            <a:off x="8183879" y="3200400"/>
            <a:ext cx="32735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Next moves</a:t>
            </a:r>
          </a:p>
        </p:txBody>
      </p:sp>
      <p:sp>
        <p:nvSpPr>
          <p:cNvPr id="29" name=""/>
          <p:cNvSpPr txBox="1"/>
          <p:nvPr/>
        </p:nvSpPr>
        <p:spPr>
          <a:xfrm>
            <a:off x="8183879" y="3520440"/>
            <a:ext cx="3273552" cy="260604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Lower the bid on “mattress +topper” (phrase): $1,191 spent for 4 orders.</a:t>
            </a:r>
          </a:p>
          <a:p>
            <a:pPr algn="l">
              <a:spcAft>
                <a:spcPts val="500"/>
              </a:spcAft>
            </a:pPr>
            <a:r>
              <a:rPr sz="1050" b="0">
                <a:solidFill>
                  <a:srgbClr val="334155"/>
                </a:solidFill>
                <a:latin typeface="Inter"/>
              </a:rPr>
              <a:t>Pause or negate the two Sponsored Brands “dormeo” phrase targets with clicks and no sales ($260).</a:t>
            </a:r>
          </a:p>
          <a:p>
            <a:pPr algn="l">
              <a:spcAft>
                <a:spcPts val="500"/>
              </a:spcAft>
            </a:pPr>
            <a:r>
              <a:rPr sz="1050" b="0">
                <a:solidFill>
                  <a:srgbClr val="334155"/>
                </a:solidFill>
                <a:latin typeface="Inter"/>
              </a:rPr>
              <a:t>Impression share and bid-change history are not in the Sellerise report, so they aren't tracked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Brand keywords — top customer searches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8 / 17</a:t>
            </a:r>
          </a:p>
        </p:txBody>
      </p:sp>
      <p:sp>
        <p:nvSpPr>
          <p:cNvPr id="10" name=""/>
          <p:cNvSpPr/>
          <p:nvPr/>
        </p:nvSpPr>
        <p:spPr>
          <a:xfrm>
            <a:off x="548640" y="1371600"/>
            <a:ext cx="3566160" cy="1005840"/>
          </a:xfrm>
          <a:prstGeom prst="roundRect">
            <a:avLst>
              <a:gd name="" fmla="val 6000"/>
            </a:avLst>
          </a:prstGeom>
          <a:solidFill>
            <a:srgbClr val="F6F3EC"/>
          </a:solidFill>
          <a:ln>
            <a:noFill/>
          </a:ln>
        </p:spPr>
      </p:sp>
      <p:sp>
        <p:nvSpPr>
          <p:cNvPr id="11" name=""/>
          <p:cNvSpPr txBox="1"/>
          <p:nvPr/>
        </p:nvSpPr>
        <p:spPr>
          <a:xfrm>
            <a:off x="713232"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king” · SP</a:t>
            </a:r>
          </a:p>
        </p:txBody>
      </p:sp>
      <p:sp>
        <p:nvSpPr>
          <p:cNvPr id="12" name=""/>
          <p:cNvSpPr txBox="1"/>
          <p:nvPr/>
        </p:nvSpPr>
        <p:spPr>
          <a:xfrm>
            <a:off x="713232"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$2,481</a:t>
            </a:r>
            <a:r>
              <a:rPr sz="1000" b="0">
                <a:solidFill>
                  <a:srgbClr val="6B6558"/>
                </a:solidFill>
                <a:latin typeface="Inter"/>
              </a:rPr>
              <a:t>   64 clicks · 6 orders · CVR 9.4%</a:t>
            </a:r>
          </a:p>
        </p:txBody>
      </p:sp>
      <p:sp>
        <p:nvSpPr>
          <p:cNvPr id="13" name=""/>
          <p:cNvSpPr/>
          <p:nvPr/>
        </p:nvSpPr>
        <p:spPr>
          <a:xfrm>
            <a:off x="4279392" y="1371600"/>
            <a:ext cx="3566160" cy="1005840"/>
          </a:xfrm>
          <a:prstGeom prst="roundRect">
            <a:avLst>
              <a:gd name="" fmla="val 6000"/>
            </a:avLst>
          </a:prstGeom>
          <a:solidFill>
            <a:srgbClr val="F6F3EC"/>
          </a:solidFill>
          <a:ln>
            <a:noFill/>
          </a:ln>
        </p:spPr>
      </p:sp>
      <p:sp>
        <p:nvSpPr>
          <p:cNvPr id="14" name=""/>
          <p:cNvSpPr txBox="1"/>
          <p:nvPr/>
        </p:nvSpPr>
        <p:spPr>
          <a:xfrm>
            <a:off x="4443983"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full size” · SP</a:t>
            </a:r>
          </a:p>
        </p:txBody>
      </p:sp>
      <p:sp>
        <p:nvSpPr>
          <p:cNvPr id="15" name=""/>
          <p:cNvSpPr txBox="1"/>
          <p:nvPr/>
        </p:nvSpPr>
        <p:spPr>
          <a:xfrm>
            <a:off x="4443983"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$2,260</a:t>
            </a:r>
            <a:r>
              <a:rPr sz="1000" b="0">
                <a:solidFill>
                  <a:srgbClr val="6B6558"/>
                </a:solidFill>
                <a:latin typeface="Inter"/>
              </a:rPr>
              <a:t>   220 clicks · 6 orders · CVR 2.7%</a:t>
            </a:r>
          </a:p>
        </p:txBody>
      </p:sp>
      <p:sp>
        <p:nvSpPr>
          <p:cNvPr id="16" name=""/>
          <p:cNvSpPr/>
          <p:nvPr/>
        </p:nvSpPr>
        <p:spPr>
          <a:xfrm>
            <a:off x="8010144" y="1371600"/>
            <a:ext cx="3566160" cy="1005840"/>
          </a:xfrm>
          <a:prstGeom prst="roundRect">
            <a:avLst>
              <a:gd name="" fmla="val 6000"/>
            </a:avLst>
          </a:prstGeom>
          <a:solidFill>
            <a:srgbClr val="F6F3EC"/>
          </a:solidFill>
          <a:ln>
            <a:noFill/>
          </a:ln>
        </p:spPr>
      </p:sp>
      <p:sp>
        <p:nvSpPr>
          <p:cNvPr id="17" name=""/>
          <p:cNvSpPr txBox="1"/>
          <p:nvPr/>
        </p:nvSpPr>
        <p:spPr>
          <a:xfrm>
            <a:off x="8174736" y="1463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 SB</a:t>
            </a:r>
          </a:p>
        </p:txBody>
      </p:sp>
      <p:sp>
        <p:nvSpPr>
          <p:cNvPr id="18" name=""/>
          <p:cNvSpPr txBox="1"/>
          <p:nvPr/>
        </p:nvSpPr>
        <p:spPr>
          <a:xfrm>
            <a:off x="8174736" y="1755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$2,054</a:t>
            </a:r>
            <a:r>
              <a:rPr sz="1000" b="0">
                <a:solidFill>
                  <a:srgbClr val="6B6558"/>
                </a:solidFill>
                <a:latin typeface="Inter"/>
              </a:rPr>
              <a:t>   156 clicks · 7 orders · CVR 4.5%</a:t>
            </a:r>
          </a:p>
        </p:txBody>
      </p:sp>
      <p:sp>
        <p:nvSpPr>
          <p:cNvPr id="19" name=""/>
          <p:cNvSpPr/>
          <p:nvPr/>
        </p:nvSpPr>
        <p:spPr>
          <a:xfrm>
            <a:off x="548640" y="2514600"/>
            <a:ext cx="3566160" cy="1005840"/>
          </a:xfrm>
          <a:prstGeom prst="roundRect">
            <a:avLst>
              <a:gd name="" fmla="val 6000"/>
            </a:avLst>
          </a:prstGeom>
          <a:solidFill>
            <a:srgbClr val="F6F3EC"/>
          </a:solidFill>
          <a:ln>
            <a:noFill/>
          </a:ln>
        </p:spPr>
      </p:sp>
      <p:sp>
        <p:nvSpPr>
          <p:cNvPr id="20" name=""/>
          <p:cNvSpPr txBox="1"/>
          <p:nvPr/>
        </p:nvSpPr>
        <p:spPr>
          <a:xfrm>
            <a:off x="713232"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 SP</a:t>
            </a:r>
          </a:p>
        </p:txBody>
      </p:sp>
      <p:sp>
        <p:nvSpPr>
          <p:cNvPr id="21" name=""/>
          <p:cNvSpPr txBox="1"/>
          <p:nvPr/>
        </p:nvSpPr>
        <p:spPr>
          <a:xfrm>
            <a:off x="713232"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$990</a:t>
            </a:r>
            <a:r>
              <a:rPr sz="1000" b="0">
                <a:solidFill>
                  <a:srgbClr val="6B6558"/>
                </a:solidFill>
                <a:latin typeface="Inter"/>
              </a:rPr>
              <a:t>   153 clicks · 3 orders · CVR 2.0%</a:t>
            </a:r>
          </a:p>
        </p:txBody>
      </p:sp>
      <p:sp>
        <p:nvSpPr>
          <p:cNvPr id="22" name=""/>
          <p:cNvSpPr/>
          <p:nvPr/>
        </p:nvSpPr>
        <p:spPr>
          <a:xfrm>
            <a:off x="4279392" y="2514600"/>
            <a:ext cx="3566160" cy="1005840"/>
          </a:xfrm>
          <a:prstGeom prst="roundRect">
            <a:avLst>
              <a:gd name="" fmla="val 6000"/>
            </a:avLst>
          </a:prstGeom>
          <a:solidFill>
            <a:srgbClr val="F6F3EC"/>
          </a:solidFill>
          <a:ln>
            <a:noFill/>
          </a:ln>
        </p:spPr>
      </p:sp>
      <p:sp>
        <p:nvSpPr>
          <p:cNvPr id="23" name=""/>
          <p:cNvSpPr txBox="1"/>
          <p:nvPr/>
        </p:nvSpPr>
        <p:spPr>
          <a:xfrm>
            <a:off x="4443983"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california king” · SP</a:t>
            </a:r>
          </a:p>
        </p:txBody>
      </p:sp>
      <p:sp>
        <p:nvSpPr>
          <p:cNvPr id="24" name=""/>
          <p:cNvSpPr txBox="1"/>
          <p:nvPr/>
        </p:nvSpPr>
        <p:spPr>
          <a:xfrm>
            <a:off x="4443983"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$990</a:t>
            </a:r>
            <a:r>
              <a:rPr sz="1000" b="0">
                <a:solidFill>
                  <a:srgbClr val="6B6558"/>
                </a:solidFill>
                <a:latin typeface="Inter"/>
              </a:rPr>
              <a:t>   41 clicks · 2 orders · CVR 4.9%</a:t>
            </a:r>
          </a:p>
        </p:txBody>
      </p:sp>
      <p:sp>
        <p:nvSpPr>
          <p:cNvPr id="25" name=""/>
          <p:cNvSpPr/>
          <p:nvPr/>
        </p:nvSpPr>
        <p:spPr>
          <a:xfrm>
            <a:off x="8010144" y="2514600"/>
            <a:ext cx="3566160" cy="1005840"/>
          </a:xfrm>
          <a:prstGeom prst="roundRect">
            <a:avLst>
              <a:gd name="" fmla="val 6000"/>
            </a:avLst>
          </a:prstGeom>
          <a:solidFill>
            <a:srgbClr val="F6F3EC"/>
          </a:solidFill>
          <a:ln>
            <a:noFill/>
          </a:ln>
        </p:spPr>
      </p:sp>
      <p:sp>
        <p:nvSpPr>
          <p:cNvPr id="26" name=""/>
          <p:cNvSpPr txBox="1"/>
          <p:nvPr/>
        </p:nvSpPr>
        <p:spPr>
          <a:xfrm>
            <a:off x="8174736" y="2606040"/>
            <a:ext cx="3291840" cy="274320"/>
          </a:xfrm>
          <a:prstGeom prst="rect">
            <a:avLst/>
          </a:prstGeom>
          <a:noFill/>
        </p:spPr>
        <p:txBody>
          <a:bodyPr wrap="square" lIns="36576" rIns="36576" tIns="18288" bIns="18288" anchor="t">
            <a:spAutoFit/>
          </a:bodyPr>
          <a:lstStyle/>
          <a:p>
            <a:pPr algn="l"/>
            <a:r>
              <a:rPr sz="1050" b="1">
                <a:solidFill>
                  <a:srgbClr val="0F172A"/>
                </a:solidFill>
                <a:latin typeface="Inter"/>
              </a:rPr>
              <a:t>“dormeo mattress topper queen” · SP</a:t>
            </a:r>
          </a:p>
        </p:txBody>
      </p:sp>
      <p:sp>
        <p:nvSpPr>
          <p:cNvPr id="27" name=""/>
          <p:cNvSpPr txBox="1"/>
          <p:nvPr/>
        </p:nvSpPr>
        <p:spPr>
          <a:xfrm>
            <a:off x="8174736" y="2898648"/>
            <a:ext cx="3291840" cy="548640"/>
          </a:xfrm>
          <a:prstGeom prst="rect">
            <a:avLst/>
          </a:prstGeom>
          <a:noFill/>
        </p:spPr>
        <p:txBody>
          <a:bodyPr wrap="square" lIns="36576" rIns="36576" tIns="18288" bIns="18288" anchor="t">
            <a:spAutoFit/>
          </a:bodyPr>
          <a:lstStyle/>
          <a:p>
            <a:pPr algn="l"/>
            <a:r>
              <a:rPr sz="2000" b="1">
                <a:solidFill>
                  <a:srgbClr val="2447FF"/>
                </a:solidFill>
                <a:latin typeface="Space Grotesk"/>
              </a:rPr>
              <a:t>$982</a:t>
            </a:r>
            <a:r>
              <a:rPr sz="1000" b="0">
                <a:solidFill>
                  <a:srgbClr val="6B6558"/>
                </a:solidFill>
                <a:latin typeface="Inter"/>
              </a:rPr>
              <a:t>   161 clicks · 4 orders · CVR 2.5%</a:t>
            </a:r>
          </a:p>
        </p:txBody>
      </p:sp>
      <p:graphicFrame>
        <p:nvGraphicFramePr>
          <p:cNvPr id="28" name=""/>
          <p:cNvGraphicFramePr>
            <a:graphicFrameLocks noGrp="1"/>
          </p:cNvGraphicFramePr>
          <p:nvPr/>
        </p:nvGraphicFramePr>
        <p:xfrm>
          <a:off x="548640" y="3749039"/>
          <a:ext cx="11091672" cy="2468880"/>
        </p:xfrm>
        <a:graphic>
          <a:graphicData uri="http://schemas.openxmlformats.org/drawingml/2006/table">
            <a:tbl>
              <a:tblPr firstRow="1" bandRow="1">
                <a:tableStyleId>{5C22544A-7EE6-4342-B048-85BDC9FD1C3A}</a:tableStyleId>
              </a:tblPr>
              <a:tblGrid>
                <a:gridCol w="3291840"/>
                <a:gridCol w="548640"/>
                <a:gridCol w="1143000"/>
                <a:gridCol w="822960"/>
                <a:gridCol w="822960"/>
                <a:gridCol w="822960"/>
                <a:gridCol w="1188720"/>
                <a:gridCol w="1188720"/>
                <a:gridCol w="1261872"/>
              </a:tblGrid>
              <a:tr h="274320">
                <a:tc>
                  <a:txBody>
                    <a:bodyPr wrap="square"/>
                    <a:lstStyle/>
                    <a:p>
                      <a:pPr algn="l"/>
                      <a:r>
                        <a:rPr sz="850" b="1">
                          <a:solidFill>
                            <a:srgbClr val="FFFFFF"/>
                          </a:solidFill>
                          <a:latin typeface="Inter"/>
                        </a:rPr>
                        <a:t>Search term</a:t>
                      </a:r>
                    </a:p>
                  </a:txBody>
                  <a:tcPr marL="54864" marR="54864" marT="27432" marB="27432" anchor="ctr">
                    <a:solidFill>
                      <a:srgbClr val="0F172A"/>
                    </a:solidFill>
                  </a:tcPr>
                </a:tc>
                <a:tc>
                  <a:txBody>
                    <a:bodyPr wrap="square"/>
                    <a:lstStyle/>
                    <a:p>
                      <a:pPr algn="r"/>
                      <a:r>
                        <a:rPr sz="850" b="1">
                          <a:solidFill>
                            <a:srgbClr val="FFFFFF"/>
                          </a:solidFill>
                          <a:latin typeface="Inter"/>
                        </a:rPr>
                        <a:t>Ad</a:t>
                      </a:r>
                    </a:p>
                  </a:txBody>
                  <a:tcPr marL="54864" marR="54864" marT="27432" marB="27432" anchor="ctr">
                    <a:solidFill>
                      <a:srgbClr val="0F172A"/>
                    </a:solidFill>
                  </a:tcPr>
                </a:tc>
                <a:tc>
                  <a:txBody>
                    <a:bodyPr wrap="square"/>
                    <a:lstStyle/>
                    <a:p>
                      <a:pPr algn="r"/>
                      <a:r>
                        <a:rPr sz="850" b="1">
                          <a:solidFill>
                            <a:srgbClr val="FFFFFF"/>
                          </a:solidFill>
                          <a:latin typeface="Inter"/>
                        </a:rPr>
                        <a:t>Impressions</a:t>
                      </a:r>
                    </a:p>
                  </a:txBody>
                  <a:tcPr marL="54864" marR="54864" marT="27432" marB="27432" anchor="ctr">
                    <a:solidFill>
                      <a:srgbClr val="0F172A"/>
                    </a:solidFill>
                  </a:tcPr>
                </a:tc>
                <a:tc>
                  <a:txBody>
                    <a:bodyPr wrap="square"/>
                    <a:lstStyle/>
                    <a:p>
                      <a:pPr algn="r"/>
                      <a:r>
                        <a:rPr sz="850" b="1">
                          <a:solidFill>
                            <a:srgbClr val="FFFFFF"/>
                          </a:solidFill>
                          <a:latin typeface="Inter"/>
                        </a:rPr>
                        <a:t>Clicks</a:t>
                      </a:r>
                    </a:p>
                  </a:txBody>
                  <a:tcPr marL="54864" marR="54864" marT="27432" marB="27432" anchor="ctr">
                    <a:solidFill>
                      <a:srgbClr val="0F172A"/>
                    </a:solidFill>
                  </a:tcPr>
                </a:tc>
                <a:tc>
                  <a:txBody>
                    <a:bodyPr wrap="square"/>
                    <a:lstStyle/>
                    <a:p>
                      <a:pPr algn="r"/>
                      <a:r>
                        <a:rPr sz="850" b="1">
                          <a:solidFill>
                            <a:srgbClr val="FFFFFF"/>
                          </a:solidFill>
                          <a:latin typeface="Inter"/>
                        </a:rPr>
                        <a:t>Orders</a:t>
                      </a:r>
                    </a:p>
                  </a:txBody>
                  <a:tcPr marL="54864" marR="54864" marT="27432" marB="27432" anchor="ctr">
                    <a:solidFill>
                      <a:srgbClr val="0F172A"/>
                    </a:solidFill>
                  </a:tcPr>
                </a:tc>
                <a:tc>
                  <a:txBody>
                    <a:bodyPr wrap="square"/>
                    <a:lstStyle/>
                    <a:p>
                      <a:pPr algn="r"/>
                      <a:r>
                        <a:rPr sz="850" b="1">
                          <a:solidFill>
                            <a:srgbClr val="FFFFFF"/>
                          </a:solidFill>
                          <a:latin typeface="Inter"/>
                        </a:rPr>
                        <a:t>CVR</a:t>
                      </a:r>
                    </a:p>
                  </a:txBody>
                  <a:tcPr marL="54864" marR="54864" marT="27432" marB="27432" anchor="ctr">
                    <a:solidFill>
                      <a:srgbClr val="0F172A"/>
                    </a:solidFill>
                  </a:tcPr>
                </a:tc>
                <a:tc>
                  <a:txBody>
                    <a:bodyPr wrap="square"/>
                    <a:lstStyle/>
                    <a:p>
                      <a:pPr algn="r"/>
                      <a:r>
                        <a:rPr sz="850" b="1">
                          <a:solidFill>
                            <a:srgbClr val="FFFFFF"/>
                          </a:solidFill>
                          <a:latin typeface="Inter"/>
                        </a:rPr>
                        <a:t>Spend</a:t>
                      </a:r>
                    </a:p>
                  </a:txBody>
                  <a:tcPr marL="54864" marR="54864" marT="27432" marB="27432" anchor="ctr">
                    <a:solidFill>
                      <a:srgbClr val="0F172A"/>
                    </a:solidFill>
                  </a:tcPr>
                </a:tc>
                <a:tc>
                  <a:txBody>
                    <a:bodyPr wrap="square"/>
                    <a:lstStyle/>
                    <a:p>
                      <a:pPr algn="r"/>
                      <a:r>
                        <a:rPr sz="850" b="1">
                          <a:solidFill>
                            <a:srgbClr val="FFFFFF"/>
                          </a:solidFill>
                          <a:latin typeface="Inter"/>
                        </a:rPr>
                        <a:t>Sales</a:t>
                      </a:r>
                    </a:p>
                  </a:txBody>
                  <a:tcPr marL="54864" marR="54864" marT="27432" marB="27432" anchor="ctr">
                    <a:solidFill>
                      <a:srgbClr val="0F172A"/>
                    </a:solidFill>
                  </a:tcPr>
                </a:tc>
                <a:tc>
                  <a:txBody>
                    <a:bodyPr wrap="square"/>
                    <a:lstStyle/>
                    <a:p>
                      <a:pPr algn="r"/>
                      <a:r>
                        <a:rPr sz="850" b="1">
                          <a:solidFill>
                            <a:srgbClr val="FFFFFF"/>
                          </a:solidFill>
                          <a:latin typeface="Inter"/>
                        </a:rPr>
                        <a:t>ACoS</a:t>
                      </a:r>
                    </a:p>
                  </a:txBody>
                  <a:tcPr marL="54864" marR="54864" marT="27432" marB="27432" anchor="ctr">
                    <a:solidFill>
                      <a:srgbClr val="0F172A"/>
                    </a:solidFill>
                  </a:tcPr>
                </a:tc>
              </a:tr>
              <a:tr h="274320">
                <a:tc>
                  <a:txBody>
                    <a:bodyPr wrap="square"/>
                    <a:lstStyle/>
                    <a:p>
                      <a:pPr algn="l"/>
                      <a:r>
                        <a:rPr sz="950" b="0">
                          <a:solidFill>
                            <a:srgbClr val="0F172A"/>
                          </a:solidFill>
                          <a:latin typeface="Inter"/>
                        </a:rPr>
                        <a:t>dormeo mattress topper king</a:t>
                      </a:r>
                    </a:p>
                  </a:txBody>
                  <a:tcPr marL="54864" marR="54864" marT="27432" marB="27432" anchor="ctr">
                    <a:solidFill>
                      <a:srgbClr val="FFFFFF"/>
                    </a:solidFill>
                  </a:tcPr>
                </a:tc>
                <a:tc>
                  <a:txBody>
                    <a:bodyPr wrap="square"/>
                    <a:lstStyle/>
                    <a:p>
                      <a:pPr algn="r"/>
                      <a:r>
                        <a:rPr sz="950" b="0">
                          <a:solidFill>
                            <a:srgbClr val="0F172A"/>
                          </a:solidFill>
                          <a:latin typeface="Inter"/>
                        </a:rPr>
                        <a:t>SP</a:t>
                      </a:r>
                    </a:p>
                  </a:txBody>
                  <a:tcPr marL="54864" marR="54864" marT="27432" marB="27432" anchor="ctr">
                    <a:solidFill>
                      <a:srgbClr val="FFFFFF"/>
                    </a:solidFill>
                  </a:tcPr>
                </a:tc>
                <a:tc>
                  <a:txBody>
                    <a:bodyPr wrap="square"/>
                    <a:lstStyle/>
                    <a:p>
                      <a:pPr algn="r"/>
                      <a:r>
                        <a:rPr sz="950" b="0">
                          <a:solidFill>
                            <a:srgbClr val="0F172A"/>
                          </a:solidFill>
                          <a:latin typeface="Inter"/>
                        </a:rPr>
                        <a:t>7,395</a:t>
                      </a:r>
                    </a:p>
                  </a:txBody>
                  <a:tcPr marL="54864" marR="54864" marT="27432" marB="27432" anchor="ctr">
                    <a:solidFill>
                      <a:srgbClr val="FFFFFF"/>
                    </a:solidFill>
                  </a:tcPr>
                </a:tc>
                <a:tc>
                  <a:txBody>
                    <a:bodyPr wrap="square"/>
                    <a:lstStyle/>
                    <a:p>
                      <a:pPr algn="r"/>
                      <a:r>
                        <a:rPr sz="950" b="0">
                          <a:solidFill>
                            <a:srgbClr val="0F172A"/>
                          </a:solidFill>
                          <a:latin typeface="Inter"/>
                        </a:rPr>
                        <a:t>64</a:t>
                      </a:r>
                    </a:p>
                  </a:txBody>
                  <a:tcPr marL="54864" marR="54864" marT="27432" marB="27432" anchor="ctr">
                    <a:solidFill>
                      <a:srgbClr val="FFFFFF"/>
                    </a:solidFill>
                  </a:tcPr>
                </a:tc>
                <a:tc>
                  <a:txBody>
                    <a:bodyPr wrap="square"/>
                    <a:lstStyle/>
                    <a:p>
                      <a:pPr algn="r"/>
                      <a:r>
                        <a:rPr sz="950" b="0">
                          <a:solidFill>
                            <a:srgbClr val="0F172A"/>
                          </a:solidFill>
                          <a:latin typeface="Inter"/>
                        </a:rPr>
                        <a:t>6</a:t>
                      </a:r>
                    </a:p>
                  </a:txBody>
                  <a:tcPr marL="54864" marR="54864" marT="27432" marB="27432" anchor="ctr">
                    <a:solidFill>
                      <a:srgbClr val="FFFFFF"/>
                    </a:solidFill>
                  </a:tcPr>
                </a:tc>
                <a:tc>
                  <a:txBody>
                    <a:bodyPr wrap="square"/>
                    <a:lstStyle/>
                    <a:p>
                      <a:pPr algn="r"/>
                      <a:r>
                        <a:rPr sz="950" b="0">
                          <a:solidFill>
                            <a:srgbClr val="0F172A"/>
                          </a:solidFill>
                          <a:latin typeface="Inter"/>
                        </a:rPr>
                        <a:t>9.4%</a:t>
                      </a:r>
                    </a:p>
                  </a:txBody>
                  <a:tcPr marL="54864" marR="54864" marT="27432" marB="27432" anchor="ctr">
                    <a:solidFill>
                      <a:srgbClr val="FFFFFF"/>
                    </a:solidFill>
                  </a:tcPr>
                </a:tc>
                <a:tc>
                  <a:txBody>
                    <a:bodyPr wrap="square"/>
                    <a:lstStyle/>
                    <a:p>
                      <a:pPr algn="r"/>
                      <a:r>
                        <a:rPr sz="950" b="0">
                          <a:solidFill>
                            <a:srgbClr val="0F172A"/>
                          </a:solidFill>
                          <a:latin typeface="Inter"/>
                        </a:rPr>
                        <a:t>$157</a:t>
                      </a:r>
                    </a:p>
                  </a:txBody>
                  <a:tcPr marL="54864" marR="54864" marT="27432" marB="27432" anchor="ctr">
                    <a:solidFill>
                      <a:srgbClr val="FFFFFF"/>
                    </a:solidFill>
                  </a:tcPr>
                </a:tc>
                <a:tc>
                  <a:txBody>
                    <a:bodyPr wrap="square"/>
                    <a:lstStyle/>
                    <a:p>
                      <a:pPr algn="r"/>
                      <a:r>
                        <a:rPr sz="950" b="0">
                          <a:solidFill>
                            <a:srgbClr val="0F172A"/>
                          </a:solidFill>
                          <a:latin typeface="Inter"/>
                        </a:rPr>
                        <a:t>$2,481</a:t>
                      </a:r>
                    </a:p>
                  </a:txBody>
                  <a:tcPr marL="54864" marR="54864" marT="27432" marB="27432" anchor="ctr">
                    <a:solidFill>
                      <a:srgbClr val="FFFFFF"/>
                    </a:solidFill>
                  </a:tcPr>
                </a:tc>
                <a:tc>
                  <a:txBody>
                    <a:bodyPr wrap="square"/>
                    <a:lstStyle/>
                    <a:p>
                      <a:pPr algn="r"/>
                      <a:r>
                        <a:rPr sz="950" b="0">
                          <a:solidFill>
                            <a:srgbClr val="0F172A"/>
                          </a:solidFill>
                          <a:latin typeface="Inter"/>
                        </a:rPr>
                        <a:t>6.3%</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mattress topper full size</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12,825</a:t>
                      </a:r>
                    </a:p>
                  </a:txBody>
                  <a:tcPr marL="54864" marR="54864" marT="27432" marB="27432" anchor="ctr">
                    <a:solidFill>
                      <a:srgbClr val="FBFAF7"/>
                    </a:solidFill>
                  </a:tcPr>
                </a:tc>
                <a:tc>
                  <a:txBody>
                    <a:bodyPr wrap="square"/>
                    <a:lstStyle/>
                    <a:p>
                      <a:pPr algn="r"/>
                      <a:r>
                        <a:rPr sz="950" b="0">
                          <a:solidFill>
                            <a:srgbClr val="0F172A"/>
                          </a:solidFill>
                          <a:latin typeface="Inter"/>
                        </a:rPr>
                        <a:t>220</a:t>
                      </a:r>
                    </a:p>
                  </a:txBody>
                  <a:tcPr marL="54864" marR="54864" marT="27432" marB="27432" anchor="ctr">
                    <a:solidFill>
                      <a:srgbClr val="FBFAF7"/>
                    </a:solidFill>
                  </a:tcPr>
                </a:tc>
                <a:tc>
                  <a:txBody>
                    <a:bodyPr wrap="square"/>
                    <a:lstStyle/>
                    <a:p>
                      <a:pPr algn="r"/>
                      <a:r>
                        <a:rPr sz="950" b="0">
                          <a:solidFill>
                            <a:srgbClr val="0F172A"/>
                          </a:solidFill>
                          <a:latin typeface="Inter"/>
                        </a:rPr>
                        <a:t>6</a:t>
                      </a:r>
                    </a:p>
                  </a:txBody>
                  <a:tcPr marL="54864" marR="54864" marT="27432" marB="27432" anchor="ctr">
                    <a:solidFill>
                      <a:srgbClr val="FBFAF7"/>
                    </a:solidFill>
                  </a:tcPr>
                </a:tc>
                <a:tc>
                  <a:txBody>
                    <a:bodyPr wrap="square"/>
                    <a:lstStyle/>
                    <a:p>
                      <a:pPr algn="r"/>
                      <a:r>
                        <a:rPr sz="950" b="0">
                          <a:solidFill>
                            <a:srgbClr val="0F172A"/>
                          </a:solidFill>
                          <a:latin typeface="Inter"/>
                        </a:rPr>
                        <a:t>2.7%</a:t>
                      </a:r>
                    </a:p>
                  </a:txBody>
                  <a:tcPr marL="54864" marR="54864" marT="27432" marB="27432" anchor="ctr">
                    <a:solidFill>
                      <a:srgbClr val="FBFAF7"/>
                    </a:solidFill>
                  </a:tcPr>
                </a:tc>
                <a:tc>
                  <a:txBody>
                    <a:bodyPr wrap="square"/>
                    <a:lstStyle/>
                    <a:p>
                      <a:pPr algn="r"/>
                      <a:r>
                        <a:rPr sz="950" b="0">
                          <a:solidFill>
                            <a:srgbClr val="0F172A"/>
                          </a:solidFill>
                          <a:latin typeface="Inter"/>
                        </a:rPr>
                        <a:t>$233</a:t>
                      </a:r>
                    </a:p>
                  </a:txBody>
                  <a:tcPr marL="54864" marR="54864" marT="27432" marB="27432" anchor="ctr">
                    <a:solidFill>
                      <a:srgbClr val="FBFAF7"/>
                    </a:solidFill>
                  </a:tcPr>
                </a:tc>
                <a:tc>
                  <a:txBody>
                    <a:bodyPr wrap="square"/>
                    <a:lstStyle/>
                    <a:p>
                      <a:pPr algn="r"/>
                      <a:r>
                        <a:rPr sz="950" b="0">
                          <a:solidFill>
                            <a:srgbClr val="0F172A"/>
                          </a:solidFill>
                          <a:latin typeface="Inter"/>
                        </a:rPr>
                        <a:t>$2,260</a:t>
                      </a:r>
                    </a:p>
                  </a:txBody>
                  <a:tcPr marL="54864" marR="54864" marT="27432" marB="27432" anchor="ctr">
                    <a:solidFill>
                      <a:srgbClr val="FBFAF7"/>
                    </a:solidFill>
                  </a:tcPr>
                </a:tc>
                <a:tc>
                  <a:txBody>
                    <a:bodyPr wrap="square"/>
                    <a:lstStyle/>
                    <a:p>
                      <a:pPr algn="r"/>
                      <a:r>
                        <a:rPr sz="950" b="0">
                          <a:solidFill>
                            <a:srgbClr val="0F172A"/>
                          </a:solidFill>
                          <a:latin typeface="Inter"/>
                        </a:rPr>
                        <a:t>10.3%</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mattress topper</a:t>
                      </a:r>
                    </a:p>
                  </a:txBody>
                  <a:tcPr marL="54864" marR="54864" marT="27432" marB="27432" anchor="ctr">
                    <a:solidFill>
                      <a:srgbClr val="FFFFFF"/>
                    </a:solidFill>
                  </a:tcPr>
                </a:tc>
                <a:tc>
                  <a:txBody>
                    <a:bodyPr wrap="square"/>
                    <a:lstStyle/>
                    <a:p>
                      <a:pPr algn="r"/>
                      <a:r>
                        <a:rPr sz="950" b="0">
                          <a:solidFill>
                            <a:srgbClr val="0F172A"/>
                          </a:solidFill>
                          <a:latin typeface="Inter"/>
                        </a:rPr>
                        <a:t>SB</a:t>
                      </a:r>
                    </a:p>
                  </a:txBody>
                  <a:tcPr marL="54864" marR="54864" marT="27432" marB="27432" anchor="ctr">
                    <a:solidFill>
                      <a:srgbClr val="FFFFFF"/>
                    </a:solidFill>
                  </a:tcPr>
                </a:tc>
                <a:tc>
                  <a:txBody>
                    <a:bodyPr wrap="square"/>
                    <a:lstStyle/>
                    <a:p>
                      <a:pPr algn="r"/>
                      <a:r>
                        <a:rPr sz="950" b="0">
                          <a:solidFill>
                            <a:srgbClr val="0F172A"/>
                          </a:solidFill>
                          <a:latin typeface="Inter"/>
                        </a:rPr>
                        <a:t>4,121</a:t>
                      </a:r>
                    </a:p>
                  </a:txBody>
                  <a:tcPr marL="54864" marR="54864" marT="27432" marB="27432" anchor="ctr">
                    <a:solidFill>
                      <a:srgbClr val="FFFFFF"/>
                    </a:solidFill>
                  </a:tcPr>
                </a:tc>
                <a:tc>
                  <a:txBody>
                    <a:bodyPr wrap="square"/>
                    <a:lstStyle/>
                    <a:p>
                      <a:pPr algn="r"/>
                      <a:r>
                        <a:rPr sz="950" b="0">
                          <a:solidFill>
                            <a:srgbClr val="0F172A"/>
                          </a:solidFill>
                          <a:latin typeface="Inter"/>
                        </a:rPr>
                        <a:t>156</a:t>
                      </a:r>
                    </a:p>
                  </a:txBody>
                  <a:tcPr marL="54864" marR="54864" marT="27432" marB="27432" anchor="ctr">
                    <a:solidFill>
                      <a:srgbClr val="FFFFFF"/>
                    </a:solidFill>
                  </a:tcPr>
                </a:tc>
                <a:tc>
                  <a:txBody>
                    <a:bodyPr wrap="square"/>
                    <a:lstStyle/>
                    <a:p>
                      <a:pPr algn="r"/>
                      <a:r>
                        <a:rPr sz="950" b="0">
                          <a:solidFill>
                            <a:srgbClr val="0F172A"/>
                          </a:solidFill>
                          <a:latin typeface="Inter"/>
                        </a:rPr>
                        <a:t>7</a:t>
                      </a:r>
                    </a:p>
                  </a:txBody>
                  <a:tcPr marL="54864" marR="54864" marT="27432" marB="27432" anchor="ctr">
                    <a:solidFill>
                      <a:srgbClr val="FFFFFF"/>
                    </a:solidFill>
                  </a:tcPr>
                </a:tc>
                <a:tc>
                  <a:txBody>
                    <a:bodyPr wrap="square"/>
                    <a:lstStyle/>
                    <a:p>
                      <a:pPr algn="r"/>
                      <a:r>
                        <a:rPr sz="950" b="0">
                          <a:solidFill>
                            <a:srgbClr val="0F172A"/>
                          </a:solidFill>
                          <a:latin typeface="Inter"/>
                        </a:rPr>
                        <a:t>4.5%</a:t>
                      </a:r>
                    </a:p>
                  </a:txBody>
                  <a:tcPr marL="54864" marR="54864" marT="27432" marB="27432" anchor="ctr">
                    <a:solidFill>
                      <a:srgbClr val="FFFFFF"/>
                    </a:solidFill>
                  </a:tcPr>
                </a:tc>
                <a:tc>
                  <a:txBody>
                    <a:bodyPr wrap="square"/>
                    <a:lstStyle/>
                    <a:p>
                      <a:pPr algn="r"/>
                      <a:r>
                        <a:rPr sz="950" b="0">
                          <a:solidFill>
                            <a:srgbClr val="0F172A"/>
                          </a:solidFill>
                          <a:latin typeface="Inter"/>
                        </a:rPr>
                        <a:t>$269</a:t>
                      </a:r>
                    </a:p>
                  </a:txBody>
                  <a:tcPr marL="54864" marR="54864" marT="27432" marB="27432" anchor="ctr">
                    <a:solidFill>
                      <a:srgbClr val="FFFFFF"/>
                    </a:solidFill>
                  </a:tcPr>
                </a:tc>
                <a:tc>
                  <a:txBody>
                    <a:bodyPr wrap="square"/>
                    <a:lstStyle/>
                    <a:p>
                      <a:pPr algn="r"/>
                      <a:r>
                        <a:rPr sz="950" b="0">
                          <a:solidFill>
                            <a:srgbClr val="0F172A"/>
                          </a:solidFill>
                          <a:latin typeface="Inter"/>
                        </a:rPr>
                        <a:t>$2,054</a:t>
                      </a:r>
                    </a:p>
                  </a:txBody>
                  <a:tcPr marL="54864" marR="54864" marT="27432" marB="27432" anchor="ctr">
                    <a:solidFill>
                      <a:srgbClr val="FFFFFF"/>
                    </a:solidFill>
                  </a:tcPr>
                </a:tc>
                <a:tc>
                  <a:txBody>
                    <a:bodyPr wrap="square"/>
                    <a:lstStyle/>
                    <a:p>
                      <a:pPr algn="r"/>
                      <a:r>
                        <a:rPr sz="950" b="0">
                          <a:solidFill>
                            <a:srgbClr val="0F172A"/>
                          </a:solidFill>
                          <a:latin typeface="Inter"/>
                        </a:rPr>
                        <a:t>13.1%</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12,797</a:t>
                      </a:r>
                    </a:p>
                  </a:txBody>
                  <a:tcPr marL="54864" marR="54864" marT="27432" marB="27432" anchor="ctr">
                    <a:solidFill>
                      <a:srgbClr val="FBFAF7"/>
                    </a:solidFill>
                  </a:tcPr>
                </a:tc>
                <a:tc>
                  <a:txBody>
                    <a:bodyPr wrap="square"/>
                    <a:lstStyle/>
                    <a:p>
                      <a:pPr algn="r"/>
                      <a:r>
                        <a:rPr sz="950" b="0">
                          <a:solidFill>
                            <a:srgbClr val="0F172A"/>
                          </a:solidFill>
                          <a:latin typeface="Inter"/>
                        </a:rPr>
                        <a:t>153</a:t>
                      </a:r>
                    </a:p>
                  </a:txBody>
                  <a:tcPr marL="54864" marR="54864" marT="27432" marB="27432" anchor="ctr">
                    <a:solidFill>
                      <a:srgbClr val="FBFAF7"/>
                    </a:solidFill>
                  </a:tcPr>
                </a:tc>
                <a:tc>
                  <a:txBody>
                    <a:bodyPr wrap="square"/>
                    <a:lstStyle/>
                    <a:p>
                      <a:pPr algn="r"/>
                      <a:r>
                        <a:rPr sz="950" b="0">
                          <a:solidFill>
                            <a:srgbClr val="0F172A"/>
                          </a:solidFill>
                          <a:latin typeface="Inter"/>
                        </a:rPr>
                        <a:t>3</a:t>
                      </a:r>
                    </a:p>
                  </a:txBody>
                  <a:tcPr marL="54864" marR="54864" marT="27432" marB="27432" anchor="ctr">
                    <a:solidFill>
                      <a:srgbClr val="FBFAF7"/>
                    </a:solidFill>
                  </a:tcPr>
                </a:tc>
                <a:tc>
                  <a:txBody>
                    <a:bodyPr wrap="square"/>
                    <a:lstStyle/>
                    <a:p>
                      <a:pPr algn="r"/>
                      <a:r>
                        <a:rPr sz="950" b="0">
                          <a:solidFill>
                            <a:srgbClr val="0F172A"/>
                          </a:solidFill>
                          <a:latin typeface="Inter"/>
                        </a:rPr>
                        <a:t>2.0%</a:t>
                      </a:r>
                    </a:p>
                  </a:txBody>
                  <a:tcPr marL="54864" marR="54864" marT="27432" marB="27432" anchor="ctr">
                    <a:solidFill>
                      <a:srgbClr val="FBFAF7"/>
                    </a:solidFill>
                  </a:tcPr>
                </a:tc>
                <a:tc>
                  <a:txBody>
                    <a:bodyPr wrap="square"/>
                    <a:lstStyle/>
                    <a:p>
                      <a:pPr algn="r"/>
                      <a:r>
                        <a:rPr sz="950" b="0">
                          <a:solidFill>
                            <a:srgbClr val="0F172A"/>
                          </a:solidFill>
                          <a:latin typeface="Inter"/>
                        </a:rPr>
                        <a:t>$219</a:t>
                      </a:r>
                    </a:p>
                  </a:txBody>
                  <a:tcPr marL="54864" marR="54864" marT="27432" marB="27432" anchor="ctr">
                    <a:solidFill>
                      <a:srgbClr val="FBFAF7"/>
                    </a:solidFill>
                  </a:tcPr>
                </a:tc>
                <a:tc>
                  <a:txBody>
                    <a:bodyPr wrap="square"/>
                    <a:lstStyle/>
                    <a:p>
                      <a:pPr algn="r"/>
                      <a:r>
                        <a:rPr sz="950" b="0">
                          <a:solidFill>
                            <a:srgbClr val="0F172A"/>
                          </a:solidFill>
                          <a:latin typeface="Inter"/>
                        </a:rPr>
                        <a:t>$990</a:t>
                      </a:r>
                    </a:p>
                  </a:txBody>
                  <a:tcPr marL="54864" marR="54864" marT="27432" marB="27432" anchor="ctr">
                    <a:solidFill>
                      <a:srgbClr val="FBFAF7"/>
                    </a:solidFill>
                  </a:tcPr>
                </a:tc>
                <a:tc>
                  <a:txBody>
                    <a:bodyPr wrap="square"/>
                    <a:lstStyle/>
                    <a:p>
                      <a:pPr algn="r"/>
                      <a:r>
                        <a:rPr sz="950" b="0">
                          <a:solidFill>
                            <a:srgbClr val="0F172A"/>
                          </a:solidFill>
                          <a:latin typeface="Inter"/>
                        </a:rPr>
                        <a:t>22.1%</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mattress topper california king</a:t>
                      </a:r>
                    </a:p>
                  </a:txBody>
                  <a:tcPr marL="54864" marR="54864" marT="27432" marB="27432" anchor="ctr">
                    <a:solidFill>
                      <a:srgbClr val="FFFFFF"/>
                    </a:solidFill>
                  </a:tcPr>
                </a:tc>
                <a:tc>
                  <a:txBody>
                    <a:bodyPr wrap="square"/>
                    <a:lstStyle/>
                    <a:p>
                      <a:pPr algn="r"/>
                      <a:r>
                        <a:rPr sz="950" b="0">
                          <a:solidFill>
                            <a:srgbClr val="0F172A"/>
                          </a:solidFill>
                          <a:latin typeface="Inter"/>
                        </a:rPr>
                        <a:t>SP</a:t>
                      </a:r>
                    </a:p>
                  </a:txBody>
                  <a:tcPr marL="54864" marR="54864" marT="27432" marB="27432" anchor="ctr">
                    <a:solidFill>
                      <a:srgbClr val="FFFFFF"/>
                    </a:solidFill>
                  </a:tcPr>
                </a:tc>
                <a:tc>
                  <a:txBody>
                    <a:bodyPr wrap="square"/>
                    <a:lstStyle/>
                    <a:p>
                      <a:pPr algn="r"/>
                      <a:r>
                        <a:rPr sz="950" b="0">
                          <a:solidFill>
                            <a:srgbClr val="0F172A"/>
                          </a:solidFill>
                          <a:latin typeface="Inter"/>
                        </a:rPr>
                        <a:t>5,216</a:t>
                      </a:r>
                    </a:p>
                  </a:txBody>
                  <a:tcPr marL="54864" marR="54864" marT="27432" marB="27432" anchor="ctr">
                    <a:solidFill>
                      <a:srgbClr val="FFFFFF"/>
                    </a:solidFill>
                  </a:tcPr>
                </a:tc>
                <a:tc>
                  <a:txBody>
                    <a:bodyPr wrap="square"/>
                    <a:lstStyle/>
                    <a:p>
                      <a:pPr algn="r"/>
                      <a:r>
                        <a:rPr sz="950" b="0">
                          <a:solidFill>
                            <a:srgbClr val="0F172A"/>
                          </a:solidFill>
                          <a:latin typeface="Inter"/>
                        </a:rPr>
                        <a:t>41</a:t>
                      </a:r>
                    </a:p>
                  </a:txBody>
                  <a:tcPr marL="54864" marR="54864" marT="27432" marB="27432" anchor="ctr">
                    <a:solidFill>
                      <a:srgbClr val="FFFFFF"/>
                    </a:solidFill>
                  </a:tcPr>
                </a:tc>
                <a:tc>
                  <a:txBody>
                    <a:bodyPr wrap="square"/>
                    <a:lstStyle/>
                    <a:p>
                      <a:pPr algn="r"/>
                      <a:r>
                        <a:rPr sz="950" b="0">
                          <a:solidFill>
                            <a:srgbClr val="0F172A"/>
                          </a:solidFill>
                          <a:latin typeface="Inter"/>
                        </a:rPr>
                        <a:t>2</a:t>
                      </a:r>
                    </a:p>
                  </a:txBody>
                  <a:tcPr marL="54864" marR="54864" marT="27432" marB="27432" anchor="ctr">
                    <a:solidFill>
                      <a:srgbClr val="FFFFFF"/>
                    </a:solidFill>
                  </a:tcPr>
                </a:tc>
                <a:tc>
                  <a:txBody>
                    <a:bodyPr wrap="square"/>
                    <a:lstStyle/>
                    <a:p>
                      <a:pPr algn="r"/>
                      <a:r>
                        <a:rPr sz="950" b="0">
                          <a:solidFill>
                            <a:srgbClr val="0F172A"/>
                          </a:solidFill>
                          <a:latin typeface="Inter"/>
                        </a:rPr>
                        <a:t>4.9%</a:t>
                      </a:r>
                    </a:p>
                  </a:txBody>
                  <a:tcPr marL="54864" marR="54864" marT="27432" marB="27432" anchor="ctr">
                    <a:solidFill>
                      <a:srgbClr val="FFFFFF"/>
                    </a:solidFill>
                  </a:tcPr>
                </a:tc>
                <a:tc>
                  <a:txBody>
                    <a:bodyPr wrap="square"/>
                    <a:lstStyle/>
                    <a:p>
                      <a:pPr algn="r"/>
                      <a:r>
                        <a:rPr sz="950" b="0">
                          <a:solidFill>
                            <a:srgbClr val="0F172A"/>
                          </a:solidFill>
                          <a:latin typeface="Inter"/>
                        </a:rPr>
                        <a:t>$160</a:t>
                      </a:r>
                    </a:p>
                  </a:txBody>
                  <a:tcPr marL="54864" marR="54864" marT="27432" marB="27432" anchor="ctr">
                    <a:solidFill>
                      <a:srgbClr val="FFFFFF"/>
                    </a:solidFill>
                  </a:tcPr>
                </a:tc>
                <a:tc>
                  <a:txBody>
                    <a:bodyPr wrap="square"/>
                    <a:lstStyle/>
                    <a:p>
                      <a:pPr algn="r"/>
                      <a:r>
                        <a:rPr sz="950" b="0">
                          <a:solidFill>
                            <a:srgbClr val="0F172A"/>
                          </a:solidFill>
                          <a:latin typeface="Inter"/>
                        </a:rPr>
                        <a:t>$990</a:t>
                      </a:r>
                    </a:p>
                  </a:txBody>
                  <a:tcPr marL="54864" marR="54864" marT="27432" marB="27432" anchor="ctr">
                    <a:solidFill>
                      <a:srgbClr val="FFFFFF"/>
                    </a:solidFill>
                  </a:tcPr>
                </a:tc>
                <a:tc>
                  <a:txBody>
                    <a:bodyPr wrap="square"/>
                    <a:lstStyle/>
                    <a:p>
                      <a:pPr algn="r"/>
                      <a:r>
                        <a:rPr sz="950" b="0">
                          <a:solidFill>
                            <a:srgbClr val="0F172A"/>
                          </a:solidFill>
                          <a:latin typeface="Inter"/>
                        </a:rPr>
                        <a:t>16.1%</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mattress topper queen</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6,671</a:t>
                      </a:r>
                    </a:p>
                  </a:txBody>
                  <a:tcPr marL="54864" marR="54864" marT="27432" marB="27432" anchor="ctr">
                    <a:solidFill>
                      <a:srgbClr val="FBFAF7"/>
                    </a:solidFill>
                  </a:tcPr>
                </a:tc>
                <a:tc>
                  <a:txBody>
                    <a:bodyPr wrap="square"/>
                    <a:lstStyle/>
                    <a:p>
                      <a:pPr algn="r"/>
                      <a:r>
                        <a:rPr sz="950" b="0">
                          <a:solidFill>
                            <a:srgbClr val="0F172A"/>
                          </a:solidFill>
                          <a:latin typeface="Inter"/>
                        </a:rPr>
                        <a:t>161</a:t>
                      </a:r>
                    </a:p>
                  </a:txBody>
                  <a:tcPr marL="54864" marR="54864" marT="27432" marB="27432" anchor="ctr">
                    <a:solidFill>
                      <a:srgbClr val="FBFAF7"/>
                    </a:solidFill>
                  </a:tcPr>
                </a:tc>
                <a:tc>
                  <a:txBody>
                    <a:bodyPr wrap="square"/>
                    <a:lstStyle/>
                    <a:p>
                      <a:pPr algn="r"/>
                      <a:r>
                        <a:rPr sz="950" b="0">
                          <a:solidFill>
                            <a:srgbClr val="0F172A"/>
                          </a:solidFill>
                          <a:latin typeface="Inter"/>
                        </a:rPr>
                        <a:t>4</a:t>
                      </a:r>
                    </a:p>
                  </a:txBody>
                  <a:tcPr marL="54864" marR="54864" marT="27432" marB="27432" anchor="ctr">
                    <a:solidFill>
                      <a:srgbClr val="FBFAF7"/>
                    </a:solidFill>
                  </a:tcPr>
                </a:tc>
                <a:tc>
                  <a:txBody>
                    <a:bodyPr wrap="square"/>
                    <a:lstStyle/>
                    <a:p>
                      <a:pPr algn="r"/>
                      <a:r>
                        <a:rPr sz="950" b="0">
                          <a:solidFill>
                            <a:srgbClr val="0F172A"/>
                          </a:solidFill>
                          <a:latin typeface="Inter"/>
                        </a:rPr>
                        <a:t>2.5%</a:t>
                      </a:r>
                    </a:p>
                  </a:txBody>
                  <a:tcPr marL="54864" marR="54864" marT="27432" marB="27432" anchor="ctr">
                    <a:solidFill>
                      <a:srgbClr val="FBFAF7"/>
                    </a:solidFill>
                  </a:tcPr>
                </a:tc>
                <a:tc>
                  <a:txBody>
                    <a:bodyPr wrap="square"/>
                    <a:lstStyle/>
                    <a:p>
                      <a:pPr algn="r"/>
                      <a:r>
                        <a:rPr sz="950" b="0">
                          <a:solidFill>
                            <a:srgbClr val="0F172A"/>
                          </a:solidFill>
                          <a:latin typeface="Inter"/>
                        </a:rPr>
                        <a:t>$283</a:t>
                      </a:r>
                    </a:p>
                  </a:txBody>
                  <a:tcPr marL="54864" marR="54864" marT="27432" marB="27432" anchor="ctr">
                    <a:solidFill>
                      <a:srgbClr val="FBFAF7"/>
                    </a:solidFill>
                  </a:tcPr>
                </a:tc>
                <a:tc>
                  <a:txBody>
                    <a:bodyPr wrap="square"/>
                    <a:lstStyle/>
                    <a:p>
                      <a:pPr algn="r"/>
                      <a:r>
                        <a:rPr sz="950" b="0">
                          <a:solidFill>
                            <a:srgbClr val="0F172A"/>
                          </a:solidFill>
                          <a:latin typeface="Inter"/>
                        </a:rPr>
                        <a:t>$982</a:t>
                      </a:r>
                    </a:p>
                  </a:txBody>
                  <a:tcPr marL="54864" marR="54864" marT="27432" marB="27432" anchor="ctr">
                    <a:solidFill>
                      <a:srgbClr val="FBFAF7"/>
                    </a:solidFill>
                  </a:tcPr>
                </a:tc>
                <a:tc>
                  <a:txBody>
                    <a:bodyPr wrap="square"/>
                    <a:lstStyle/>
                    <a:p>
                      <a:pPr algn="r"/>
                      <a:r>
                        <a:rPr sz="950" b="0">
                          <a:solidFill>
                            <a:srgbClr val="0F172A"/>
                          </a:solidFill>
                          <a:latin typeface="Inter"/>
                        </a:rPr>
                        <a:t>28.8%</a:t>
                      </a:r>
                    </a:p>
                  </a:txBody>
                  <a:tcPr marL="54864" marR="54864" marT="27432" marB="27432" anchor="ctr">
                    <a:solidFill>
                      <a:srgbClr val="FBFAF7"/>
                    </a:solidFill>
                  </a:tcPr>
                </a:tc>
              </a:tr>
              <a:tr h="274320">
                <a:tc>
                  <a:txBody>
                    <a:bodyPr wrap="square"/>
                    <a:lstStyle/>
                    <a:p>
                      <a:pPr algn="l"/>
                      <a:r>
                        <a:rPr sz="950" b="0">
                          <a:solidFill>
                            <a:srgbClr val="0F172A"/>
                          </a:solidFill>
                          <a:latin typeface="Inter"/>
                        </a:rPr>
                        <a:t>dormeo mattress topper</a:t>
                      </a:r>
                    </a:p>
                  </a:txBody>
                  <a:tcPr marL="54864" marR="54864" marT="27432" marB="27432" anchor="ctr">
                    <a:solidFill>
                      <a:srgbClr val="FFFFFF"/>
                    </a:solidFill>
                  </a:tcPr>
                </a:tc>
                <a:tc>
                  <a:txBody>
                    <a:bodyPr wrap="square"/>
                    <a:lstStyle/>
                    <a:p>
                      <a:pPr algn="r"/>
                      <a:r>
                        <a:rPr sz="950" b="0">
                          <a:solidFill>
                            <a:srgbClr val="0F172A"/>
                          </a:solidFill>
                          <a:latin typeface="Inter"/>
                        </a:rPr>
                        <a:t>SP</a:t>
                      </a:r>
                    </a:p>
                  </a:txBody>
                  <a:tcPr marL="54864" marR="54864" marT="27432" marB="27432" anchor="ctr">
                    <a:solidFill>
                      <a:srgbClr val="FFFFFF"/>
                    </a:solidFill>
                  </a:tcPr>
                </a:tc>
                <a:tc>
                  <a:txBody>
                    <a:bodyPr wrap="square"/>
                    <a:lstStyle/>
                    <a:p>
                      <a:pPr algn="r"/>
                      <a:r>
                        <a:rPr sz="950" b="0">
                          <a:solidFill>
                            <a:srgbClr val="0F172A"/>
                          </a:solidFill>
                          <a:latin typeface="Inter"/>
                        </a:rPr>
                        <a:t>10,205</a:t>
                      </a:r>
                    </a:p>
                  </a:txBody>
                  <a:tcPr marL="54864" marR="54864" marT="27432" marB="27432" anchor="ctr">
                    <a:solidFill>
                      <a:srgbClr val="FFFFFF"/>
                    </a:solidFill>
                  </a:tcPr>
                </a:tc>
                <a:tc>
                  <a:txBody>
                    <a:bodyPr wrap="square"/>
                    <a:lstStyle/>
                    <a:p>
                      <a:pPr algn="r"/>
                      <a:r>
                        <a:rPr sz="950" b="0">
                          <a:solidFill>
                            <a:srgbClr val="0F172A"/>
                          </a:solidFill>
                          <a:latin typeface="Inter"/>
                        </a:rPr>
                        <a:t>382</a:t>
                      </a:r>
                    </a:p>
                  </a:txBody>
                  <a:tcPr marL="54864" marR="54864" marT="27432" marB="27432" anchor="ctr">
                    <a:solidFill>
                      <a:srgbClr val="FFFFFF"/>
                    </a:solidFill>
                  </a:tcPr>
                </a:tc>
                <a:tc>
                  <a:txBody>
                    <a:bodyPr wrap="square"/>
                    <a:lstStyle/>
                    <a:p>
                      <a:pPr algn="r"/>
                      <a:r>
                        <a:rPr sz="950" b="0">
                          <a:solidFill>
                            <a:srgbClr val="0F172A"/>
                          </a:solidFill>
                          <a:latin typeface="Inter"/>
                        </a:rPr>
                        <a:t>6</a:t>
                      </a:r>
                    </a:p>
                  </a:txBody>
                  <a:tcPr marL="54864" marR="54864" marT="27432" marB="27432" anchor="ctr">
                    <a:solidFill>
                      <a:srgbClr val="FFFFFF"/>
                    </a:solidFill>
                  </a:tcPr>
                </a:tc>
                <a:tc>
                  <a:txBody>
                    <a:bodyPr wrap="square"/>
                    <a:lstStyle/>
                    <a:p>
                      <a:pPr algn="r"/>
                      <a:r>
                        <a:rPr sz="950" b="0">
                          <a:solidFill>
                            <a:srgbClr val="0F172A"/>
                          </a:solidFill>
                          <a:latin typeface="Inter"/>
                        </a:rPr>
                        <a:t>1.6%</a:t>
                      </a:r>
                    </a:p>
                  </a:txBody>
                  <a:tcPr marL="54864" marR="54864" marT="27432" marB="27432" anchor="ctr">
                    <a:solidFill>
                      <a:srgbClr val="FFFFFF"/>
                    </a:solidFill>
                  </a:tcPr>
                </a:tc>
                <a:tc>
                  <a:txBody>
                    <a:bodyPr wrap="square"/>
                    <a:lstStyle/>
                    <a:p>
                      <a:pPr algn="r"/>
                      <a:r>
                        <a:rPr sz="950" b="0">
                          <a:solidFill>
                            <a:srgbClr val="0F172A"/>
                          </a:solidFill>
                          <a:latin typeface="Inter"/>
                        </a:rPr>
                        <a:t>$525</a:t>
                      </a:r>
                    </a:p>
                  </a:txBody>
                  <a:tcPr marL="54864" marR="54864" marT="27432" marB="27432" anchor="ctr">
                    <a:solidFill>
                      <a:srgbClr val="FFFFFF"/>
                    </a:solidFill>
                  </a:tcPr>
                </a:tc>
                <a:tc>
                  <a:txBody>
                    <a:bodyPr wrap="square"/>
                    <a:lstStyle/>
                    <a:p>
                      <a:pPr algn="r"/>
                      <a:r>
                        <a:rPr sz="950" b="0">
                          <a:solidFill>
                            <a:srgbClr val="0F172A"/>
                          </a:solidFill>
                          <a:latin typeface="Inter"/>
                        </a:rPr>
                        <a:t>$972</a:t>
                      </a:r>
                    </a:p>
                  </a:txBody>
                  <a:tcPr marL="54864" marR="54864" marT="27432" marB="27432" anchor="ctr">
                    <a:solidFill>
                      <a:srgbClr val="FFFFFF"/>
                    </a:solidFill>
                  </a:tcPr>
                </a:tc>
                <a:tc>
                  <a:txBody>
                    <a:bodyPr wrap="square"/>
                    <a:lstStyle/>
                    <a:p>
                      <a:pPr algn="r"/>
                      <a:r>
                        <a:rPr sz="950" b="0">
                          <a:solidFill>
                            <a:srgbClr val="DC2626"/>
                          </a:solidFill>
                          <a:latin typeface="Inter"/>
                        </a:rPr>
                        <a:t>54.1%</a:t>
                      </a:r>
                    </a:p>
                  </a:txBody>
                  <a:tcPr marL="54864" marR="54864" marT="27432" marB="27432" anchor="ctr">
                    <a:solidFill>
                      <a:srgbClr val="FFFFFF"/>
                    </a:solidFill>
                  </a:tcPr>
                </a:tc>
              </a:tr>
              <a:tr h="274320">
                <a:tc>
                  <a:txBody>
                    <a:bodyPr wrap="square"/>
                    <a:lstStyle/>
                    <a:p>
                      <a:pPr algn="l"/>
                      <a:r>
                        <a:rPr sz="950" b="0">
                          <a:solidFill>
                            <a:srgbClr val="0F172A"/>
                          </a:solidFill>
                          <a:latin typeface="Inter"/>
                        </a:rPr>
                        <a:t>dormeo topper</a:t>
                      </a:r>
                    </a:p>
                  </a:txBody>
                  <a:tcPr marL="54864" marR="54864" marT="27432" marB="27432" anchor="ctr">
                    <a:solidFill>
                      <a:srgbClr val="FBFAF7"/>
                    </a:solidFill>
                  </a:tcPr>
                </a:tc>
                <a:tc>
                  <a:txBody>
                    <a:bodyPr wrap="square"/>
                    <a:lstStyle/>
                    <a:p>
                      <a:pPr algn="r"/>
                      <a:r>
                        <a:rPr sz="950" b="0">
                          <a:solidFill>
                            <a:srgbClr val="0F172A"/>
                          </a:solidFill>
                          <a:latin typeface="Inter"/>
                        </a:rPr>
                        <a:t>SP</a:t>
                      </a:r>
                    </a:p>
                  </a:txBody>
                  <a:tcPr marL="54864" marR="54864" marT="27432" marB="27432" anchor="ctr">
                    <a:solidFill>
                      <a:srgbClr val="FBFAF7"/>
                    </a:solidFill>
                  </a:tcPr>
                </a:tc>
                <a:tc>
                  <a:txBody>
                    <a:bodyPr wrap="square"/>
                    <a:lstStyle/>
                    <a:p>
                      <a:pPr algn="r"/>
                      <a:r>
                        <a:rPr sz="950" b="0">
                          <a:solidFill>
                            <a:srgbClr val="0F172A"/>
                          </a:solidFill>
                          <a:latin typeface="Inter"/>
                        </a:rPr>
                        <a:t>1,074</a:t>
                      </a:r>
                    </a:p>
                  </a:txBody>
                  <a:tcPr marL="54864" marR="54864" marT="27432" marB="27432" anchor="ctr">
                    <a:solidFill>
                      <a:srgbClr val="FBFAF7"/>
                    </a:solidFill>
                  </a:tcPr>
                </a:tc>
                <a:tc>
                  <a:txBody>
                    <a:bodyPr wrap="square"/>
                    <a:lstStyle/>
                    <a:p>
                      <a:pPr algn="r"/>
                      <a:r>
                        <a:rPr sz="950" b="0">
                          <a:solidFill>
                            <a:srgbClr val="0F172A"/>
                          </a:solidFill>
                          <a:latin typeface="Inter"/>
                        </a:rPr>
                        <a:t>54</a:t>
                      </a:r>
                    </a:p>
                  </a:txBody>
                  <a:tcPr marL="54864" marR="54864" marT="27432" marB="27432" anchor="ctr">
                    <a:solidFill>
                      <a:srgbClr val="FBFAF7"/>
                    </a:solidFill>
                  </a:tcPr>
                </a:tc>
                <a:tc>
                  <a:txBody>
                    <a:bodyPr wrap="square"/>
                    <a:lstStyle/>
                    <a:p>
                      <a:pPr algn="r"/>
                      <a:r>
                        <a:rPr sz="950" b="0">
                          <a:solidFill>
                            <a:srgbClr val="0F172A"/>
                          </a:solidFill>
                          <a:latin typeface="Inter"/>
                        </a:rPr>
                        <a:t>3</a:t>
                      </a:r>
                    </a:p>
                  </a:txBody>
                  <a:tcPr marL="54864" marR="54864" marT="27432" marB="27432" anchor="ctr">
                    <a:solidFill>
                      <a:srgbClr val="FBFAF7"/>
                    </a:solidFill>
                  </a:tcPr>
                </a:tc>
                <a:tc>
                  <a:txBody>
                    <a:bodyPr wrap="square"/>
                    <a:lstStyle/>
                    <a:p>
                      <a:pPr algn="r"/>
                      <a:r>
                        <a:rPr sz="950" b="0">
                          <a:solidFill>
                            <a:srgbClr val="0F172A"/>
                          </a:solidFill>
                          <a:latin typeface="Inter"/>
                        </a:rPr>
                        <a:t>5.6%</a:t>
                      </a:r>
                    </a:p>
                  </a:txBody>
                  <a:tcPr marL="54864" marR="54864" marT="27432" marB="27432" anchor="ctr">
                    <a:solidFill>
                      <a:srgbClr val="FBFAF7"/>
                    </a:solidFill>
                  </a:tcPr>
                </a:tc>
                <a:tc>
                  <a:txBody>
                    <a:bodyPr wrap="square"/>
                    <a:lstStyle/>
                    <a:p>
                      <a:pPr algn="r"/>
                      <a:r>
                        <a:rPr sz="950" b="0">
                          <a:solidFill>
                            <a:srgbClr val="0F172A"/>
                          </a:solidFill>
                          <a:latin typeface="Inter"/>
                        </a:rPr>
                        <a:t>$73</a:t>
                      </a:r>
                    </a:p>
                  </a:txBody>
                  <a:tcPr marL="54864" marR="54864" marT="27432" marB="27432" anchor="ctr">
                    <a:solidFill>
                      <a:srgbClr val="FBFAF7"/>
                    </a:solidFill>
                  </a:tcPr>
                </a:tc>
                <a:tc>
                  <a:txBody>
                    <a:bodyPr wrap="square"/>
                    <a:lstStyle/>
                    <a:p>
                      <a:pPr algn="r"/>
                      <a:r>
                        <a:rPr sz="950" b="0">
                          <a:solidFill>
                            <a:srgbClr val="0F172A"/>
                          </a:solidFill>
                          <a:latin typeface="Inter"/>
                        </a:rPr>
                        <a:t>$792</a:t>
                      </a:r>
                    </a:p>
                  </a:txBody>
                  <a:tcPr marL="54864" marR="54864" marT="27432" marB="27432" anchor="ctr">
                    <a:solidFill>
                      <a:srgbClr val="FBFAF7"/>
                    </a:solidFill>
                  </a:tcPr>
                </a:tc>
                <a:tc>
                  <a:txBody>
                    <a:bodyPr wrap="square"/>
                    <a:lstStyle/>
                    <a:p>
                      <a:pPr algn="r"/>
                      <a:r>
                        <a:rPr sz="950" b="0">
                          <a:solidFill>
                            <a:srgbClr val="0F172A"/>
                          </a:solidFill>
                          <a:latin typeface="Inter"/>
                        </a:rPr>
                        <a:t>9.2%</a:t>
                      </a:r>
                    </a:p>
                  </a:txBody>
                  <a:tcPr marL="54864" marR="54864" marT="27432" marB="27432" anchor="ctr">
                    <a:solidFill>
                      <a:srgbClr val="FBFAF7"/>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Category keywords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9 / 17</a:t>
            </a:r>
          </a:p>
        </p:txBody>
      </p:sp>
      <p:graphicFrame>
        <p:nvGraphicFramePr>
          <p:cNvPr id="10" name=""/>
          <p:cNvGraphicFramePr>
            <a:graphicFrameLocks noGrp="1"/>
          </p:cNvGraphicFramePr>
          <p:nvPr/>
        </p:nvGraphicFramePr>
        <p:xfrm>
          <a:off x="548640" y="1417320"/>
          <a:ext cx="6766560" cy="2084832"/>
        </p:xfrm>
        <a:graphic>
          <a:graphicData uri="http://schemas.openxmlformats.org/drawingml/2006/table">
            <a:tbl>
              <a:tblPr firstRow="1" bandRow="1">
                <a:tableStyleId>{5C22544A-7EE6-4342-B048-85BDC9FD1C3A}</a:tableStyleId>
              </a:tblPr>
              <a:tblGrid>
                <a:gridCol w="2651760"/>
                <a:gridCol w="548640"/>
                <a:gridCol w="1005840"/>
                <a:gridCol w="640080"/>
                <a:gridCol w="640080"/>
                <a:gridCol w="640080"/>
                <a:gridCol w="640080"/>
              </a:tblGrid>
              <a:tr h="347472">
                <a:tc>
                  <a:txBody>
                    <a:bodyPr wrap="square"/>
                    <a:lstStyle/>
                    <a:p>
                      <a:pPr algn="l"/>
                      <a:r>
                        <a:rPr sz="950" b="1">
                          <a:solidFill>
                            <a:srgbClr val="FFFFFF"/>
                          </a:solidFill>
                          <a:latin typeface="Inter"/>
                        </a:rPr>
                        <a:t>Search term</a:t>
                      </a:r>
                    </a:p>
                  </a:txBody>
                  <a:tcPr marL="54864" marR="54864" marT="27432" marB="27432" anchor="ctr">
                    <a:solidFill>
                      <a:srgbClr val="0F172A"/>
                    </a:solidFill>
                  </a:tcPr>
                </a:tc>
                <a:tc>
                  <a:txBody>
                    <a:bodyPr wrap="square"/>
                    <a:lstStyle/>
                    <a:p>
                      <a:pPr algn="r"/>
                      <a:r>
                        <a:rPr sz="950" b="1">
                          <a:solidFill>
                            <a:srgbClr val="FFFFFF"/>
                          </a:solidFill>
                          <a:latin typeface="Inter"/>
                        </a:rPr>
                        <a:t>Ad</a:t>
                      </a:r>
                    </a:p>
                  </a:txBody>
                  <a:tcPr marL="54864" marR="54864" marT="27432" marB="27432" anchor="ctr">
                    <a:solidFill>
                      <a:srgbClr val="0F172A"/>
                    </a:solidFill>
                  </a:tcPr>
                </a:tc>
                <a:tc>
                  <a:txBody>
                    <a:bodyPr wrap="square"/>
                    <a:lstStyle/>
                    <a:p>
                      <a:pPr algn="r"/>
                      <a:r>
                        <a:rPr sz="950" b="1">
                          <a:solidFill>
                            <a:srgbClr val="FFFFFF"/>
                          </a:solidFill>
                          <a:latin typeface="Inter"/>
                        </a:rPr>
                        <a:t>Impressions</a:t>
                      </a:r>
                    </a:p>
                  </a:txBody>
                  <a:tcPr marL="54864" marR="54864" marT="27432" marB="27432" anchor="ctr">
                    <a:solidFill>
                      <a:srgbClr val="0F172A"/>
                    </a:solidFill>
                  </a:tcPr>
                </a:tc>
                <a:tc>
                  <a:txBody>
                    <a:bodyPr wrap="square"/>
                    <a:lstStyle/>
                    <a:p>
                      <a:pPr algn="r"/>
                      <a:r>
                        <a:rPr sz="950" b="1">
                          <a:solidFill>
                            <a:srgbClr val="FFFFFF"/>
                          </a:solidFill>
                          <a:latin typeface="Inter"/>
                        </a:rPr>
                        <a:t>Clicks</a:t>
                      </a:r>
                    </a:p>
                  </a:txBody>
                  <a:tcPr marL="54864" marR="54864" marT="27432" marB="27432" anchor="ctr">
                    <a:solidFill>
                      <a:srgbClr val="0F172A"/>
                    </a:solidFill>
                  </a:tcPr>
                </a:tc>
                <a:tc>
                  <a:txBody>
                    <a:bodyPr wrap="square"/>
                    <a:lstStyle/>
                    <a:p>
                      <a:pPr algn="r"/>
                      <a:r>
                        <a:rPr sz="950" b="1">
                          <a:solidFill>
                            <a:srgbClr val="FFFFFF"/>
                          </a:solidFill>
                          <a:latin typeface="Inter"/>
                        </a:rPr>
                        <a:t>Orders</a:t>
                      </a:r>
                    </a:p>
                  </a:txBody>
                  <a:tcPr marL="54864" marR="54864" marT="27432" marB="27432" anchor="ctr">
                    <a:solidFill>
                      <a:srgbClr val="0F172A"/>
                    </a:solidFill>
                  </a:tcPr>
                </a:tc>
                <a:tc>
                  <a:txBody>
                    <a:bodyPr wrap="square"/>
                    <a:lstStyle/>
                    <a:p>
                      <a:pPr algn="r"/>
                      <a:r>
                        <a:rPr sz="950" b="1">
                          <a:solidFill>
                            <a:srgbClr val="FFFFFF"/>
                          </a:solidFill>
                          <a:latin typeface="Inter"/>
                        </a:rPr>
                        <a:t>Spend</a:t>
                      </a:r>
                    </a:p>
                  </a:txBody>
                  <a:tcPr marL="54864" marR="54864" marT="27432" marB="27432" anchor="ctr">
                    <a:solidFill>
                      <a:srgbClr val="0F172A"/>
                    </a:solidFill>
                  </a:tcPr>
                </a:tc>
                <a:tc>
                  <a:txBody>
                    <a:bodyPr wrap="square"/>
                    <a:lstStyle/>
                    <a:p>
                      <a:pPr algn="r"/>
                      <a:r>
                        <a:rPr sz="950" b="1">
                          <a:solidFill>
                            <a:srgbClr val="FFFFFF"/>
                          </a:solidFill>
                          <a:latin typeface="Inter"/>
                        </a:rPr>
                        <a:t>Sales</a:t>
                      </a:r>
                    </a:p>
                  </a:txBody>
                  <a:tcPr marL="54864" marR="54864" marT="27432" marB="27432" anchor="ctr">
                    <a:solidFill>
                      <a:srgbClr val="0F172A"/>
                    </a:solidFill>
                  </a:tcPr>
                </a:tc>
              </a:tr>
              <a:tr h="347472">
                <a:tc>
                  <a:txBody>
                    <a:bodyPr wrap="square"/>
                    <a:lstStyle/>
                    <a:p>
                      <a:pPr algn="l"/>
                      <a:r>
                        <a:rPr sz="1050" b="0">
                          <a:solidFill>
                            <a:srgbClr val="0F172A"/>
                          </a:solidFill>
                          <a:latin typeface="Inter"/>
                        </a:rPr>
                        <a:t>bed toppers queen size</a:t>
                      </a:r>
                    </a:p>
                  </a:txBody>
                  <a:tcPr marL="54864" marR="54864" marT="27432" marB="27432" anchor="ctr">
                    <a:solidFill>
                      <a:srgbClr val="FFFFFF"/>
                    </a:solidFill>
                  </a:tcPr>
                </a:tc>
                <a:tc>
                  <a:txBody>
                    <a:bodyPr wrap="square"/>
                    <a:lstStyle/>
                    <a:p>
                      <a:pPr algn="r"/>
                      <a:r>
                        <a:rPr sz="1050" b="0">
                          <a:solidFill>
                            <a:srgbClr val="0F172A"/>
                          </a:solidFill>
                          <a:latin typeface="Inter"/>
                        </a:rPr>
                        <a:t>SP</a:t>
                      </a:r>
                    </a:p>
                  </a:txBody>
                  <a:tcPr marL="54864" marR="54864" marT="27432" marB="27432" anchor="ctr">
                    <a:solidFill>
                      <a:srgbClr val="FFFFFF"/>
                    </a:solidFill>
                  </a:tcPr>
                </a:tc>
                <a:tc>
                  <a:txBody>
                    <a:bodyPr wrap="square"/>
                    <a:lstStyle/>
                    <a:p>
                      <a:pPr algn="r"/>
                      <a:r>
                        <a:rPr sz="1050" b="0">
                          <a:solidFill>
                            <a:srgbClr val="0F172A"/>
                          </a:solidFill>
                          <a:latin typeface="Inter"/>
                        </a:rPr>
                        <a:t>8,559</a:t>
                      </a:r>
                    </a:p>
                  </a:txBody>
                  <a:tcPr marL="54864" marR="54864" marT="27432" marB="27432" anchor="ctr">
                    <a:solidFill>
                      <a:srgbClr val="FFFFFF"/>
                    </a:solidFill>
                  </a:tcPr>
                </a:tc>
                <a:tc>
                  <a:txBody>
                    <a:bodyPr wrap="square"/>
                    <a:lstStyle/>
                    <a:p>
                      <a:pPr algn="r"/>
                      <a:r>
                        <a:rPr sz="1050" b="0">
                          <a:solidFill>
                            <a:srgbClr val="0F172A"/>
                          </a:solidFill>
                          <a:latin typeface="Inter"/>
                        </a:rPr>
                        <a:t>58</a:t>
                      </a:r>
                    </a:p>
                  </a:txBody>
                  <a:tcPr marL="54864" marR="54864" marT="27432" marB="27432" anchor="ctr">
                    <a:solidFill>
                      <a:srgbClr val="FFFFFF"/>
                    </a:solidFill>
                  </a:tcPr>
                </a:tc>
                <a:tc>
                  <a:txBody>
                    <a:bodyPr wrap="square"/>
                    <a:lstStyle/>
                    <a:p>
                      <a:pPr algn="r"/>
                      <a:r>
                        <a:rPr sz="1050" b="0">
                          <a:solidFill>
                            <a:srgbClr val="0F172A"/>
                          </a:solidFill>
                          <a:latin typeface="Inter"/>
                        </a:rPr>
                        <a:t>1</a:t>
                      </a:r>
                    </a:p>
                  </a:txBody>
                  <a:tcPr marL="54864" marR="54864" marT="27432" marB="27432" anchor="ctr">
                    <a:solidFill>
                      <a:srgbClr val="FFFFFF"/>
                    </a:solidFill>
                  </a:tcPr>
                </a:tc>
                <a:tc>
                  <a:txBody>
                    <a:bodyPr wrap="square"/>
                    <a:lstStyle/>
                    <a:p>
                      <a:pPr algn="r"/>
                      <a:r>
                        <a:rPr sz="1050" b="0">
                          <a:solidFill>
                            <a:srgbClr val="0F172A"/>
                          </a:solidFill>
                          <a:latin typeface="Inter"/>
                        </a:rPr>
                        <a:t>$57</a:t>
                      </a:r>
                    </a:p>
                  </a:txBody>
                  <a:tcPr marL="54864" marR="54864" marT="27432" marB="27432" anchor="ctr">
                    <a:solidFill>
                      <a:srgbClr val="FFFFFF"/>
                    </a:solidFill>
                  </a:tcPr>
                </a:tc>
                <a:tc>
                  <a:txBody>
                    <a:bodyPr wrap="square"/>
                    <a:lstStyle/>
                    <a:p>
                      <a:pPr algn="r"/>
                      <a:r>
                        <a:rPr sz="1050" b="0">
                          <a:solidFill>
                            <a:srgbClr val="0F172A"/>
                          </a:solidFill>
                          <a:latin typeface="Inter"/>
                        </a:rPr>
                        <a:t>$399</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split king mattress topper</a:t>
                      </a:r>
                    </a:p>
                  </a:txBody>
                  <a:tcPr marL="54864" marR="54864" marT="27432" marB="27432" anchor="ctr">
                    <a:solidFill>
                      <a:srgbClr val="FBFAF7"/>
                    </a:solidFill>
                  </a:tcPr>
                </a:tc>
                <a:tc>
                  <a:txBody>
                    <a:bodyPr wrap="square"/>
                    <a:lstStyle/>
                    <a:p>
                      <a:pPr algn="r"/>
                      <a:r>
                        <a:rPr sz="1050" b="0">
                          <a:solidFill>
                            <a:srgbClr val="0F172A"/>
                          </a:solidFill>
                          <a:latin typeface="Inter"/>
                        </a:rPr>
                        <a:t>SP</a:t>
                      </a:r>
                    </a:p>
                  </a:txBody>
                  <a:tcPr marL="54864" marR="54864" marT="27432" marB="27432" anchor="ctr">
                    <a:solidFill>
                      <a:srgbClr val="FBFAF7"/>
                    </a:solidFill>
                  </a:tcPr>
                </a:tc>
                <a:tc>
                  <a:txBody>
                    <a:bodyPr wrap="square"/>
                    <a:lstStyle/>
                    <a:p>
                      <a:pPr algn="r"/>
                      <a:r>
                        <a:rPr sz="1050" b="0">
                          <a:solidFill>
                            <a:srgbClr val="0F172A"/>
                          </a:solidFill>
                          <a:latin typeface="Inter"/>
                        </a:rPr>
                        <a:t>455</a:t>
                      </a:r>
                    </a:p>
                  </a:txBody>
                  <a:tcPr marL="54864" marR="54864" marT="27432" marB="27432" anchor="ctr">
                    <a:solidFill>
                      <a:srgbClr val="FBFAF7"/>
                    </a:solidFill>
                  </a:tcPr>
                </a:tc>
                <a:tc>
                  <a:txBody>
                    <a:bodyPr wrap="square"/>
                    <a:lstStyle/>
                    <a:p>
                      <a:pPr algn="r"/>
                      <a:r>
                        <a:rPr sz="1050" b="0">
                          <a:solidFill>
                            <a:srgbClr val="0F172A"/>
                          </a:solidFill>
                          <a:latin typeface="Inter"/>
                        </a:rPr>
                        <a:t>3</a:t>
                      </a:r>
                    </a:p>
                  </a:txBody>
                  <a:tcPr marL="54864" marR="54864" marT="27432" marB="27432" anchor="ctr">
                    <a:solidFill>
                      <a:srgbClr val="FBFAF7"/>
                    </a:solidFill>
                  </a:tcPr>
                </a:tc>
                <a:tc>
                  <a:txBody>
                    <a:bodyPr wrap="square"/>
                    <a:lstStyle/>
                    <a:p>
                      <a:pPr algn="r"/>
                      <a:r>
                        <a:rPr sz="1050" b="0">
                          <a:solidFill>
                            <a:srgbClr val="0F172A"/>
                          </a:solidFill>
                          <a:latin typeface="Inter"/>
                        </a:rPr>
                        <a:t>1</a:t>
                      </a:r>
                    </a:p>
                  </a:txBody>
                  <a:tcPr marL="54864" marR="54864" marT="27432" marB="27432" anchor="ctr">
                    <a:solidFill>
                      <a:srgbClr val="FBFAF7"/>
                    </a:solidFill>
                  </a:tcPr>
                </a:tc>
                <a:tc>
                  <a:txBody>
                    <a:bodyPr wrap="square"/>
                    <a:lstStyle/>
                    <a:p>
                      <a:pPr algn="r"/>
                      <a:r>
                        <a:rPr sz="1050" b="0">
                          <a:solidFill>
                            <a:srgbClr val="0F172A"/>
                          </a:solidFill>
                          <a:latin typeface="Inter"/>
                        </a:rPr>
                        <a:t>$6</a:t>
                      </a:r>
                    </a:p>
                  </a:txBody>
                  <a:tcPr marL="54864" marR="54864" marT="27432" marB="27432" anchor="ctr">
                    <a:solidFill>
                      <a:srgbClr val="FBFAF7"/>
                    </a:solidFill>
                  </a:tcPr>
                </a:tc>
                <a:tc>
                  <a:txBody>
                    <a:bodyPr wrap="square"/>
                    <a:lstStyle/>
                    <a:p>
                      <a:pPr algn="r"/>
                      <a:r>
                        <a:rPr sz="1050" b="0">
                          <a:solidFill>
                            <a:srgbClr val="0F172A"/>
                          </a:solidFill>
                          <a:latin typeface="Inter"/>
                        </a:rPr>
                        <a:t>$495</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cooling memory foam mattress topper</a:t>
                      </a:r>
                    </a:p>
                  </a:txBody>
                  <a:tcPr marL="54864" marR="54864" marT="27432" marB="27432" anchor="ctr">
                    <a:solidFill>
                      <a:srgbClr val="FFFFFF"/>
                    </a:solidFill>
                  </a:tcPr>
                </a:tc>
                <a:tc>
                  <a:txBody>
                    <a:bodyPr wrap="square"/>
                    <a:lstStyle/>
                    <a:p>
                      <a:pPr algn="r"/>
                      <a:r>
                        <a:rPr sz="1050" b="0">
                          <a:solidFill>
                            <a:srgbClr val="0F172A"/>
                          </a:solidFill>
                          <a:latin typeface="Inter"/>
                        </a:rPr>
                        <a:t>SP</a:t>
                      </a:r>
                    </a:p>
                  </a:txBody>
                  <a:tcPr marL="54864" marR="54864" marT="27432" marB="27432" anchor="ctr">
                    <a:solidFill>
                      <a:srgbClr val="FFFFFF"/>
                    </a:solidFill>
                  </a:tcPr>
                </a:tc>
                <a:tc>
                  <a:txBody>
                    <a:bodyPr wrap="square"/>
                    <a:lstStyle/>
                    <a:p>
                      <a:pPr algn="r"/>
                      <a:r>
                        <a:rPr sz="1050" b="0">
                          <a:solidFill>
                            <a:srgbClr val="0F172A"/>
                          </a:solidFill>
                          <a:latin typeface="Inter"/>
                        </a:rPr>
                        <a:t>610</a:t>
                      </a:r>
                    </a:p>
                  </a:txBody>
                  <a:tcPr marL="54864" marR="54864" marT="27432" marB="27432" anchor="ctr">
                    <a:solidFill>
                      <a:srgbClr val="FFFFFF"/>
                    </a:solidFill>
                  </a:tcPr>
                </a:tc>
                <a:tc>
                  <a:txBody>
                    <a:bodyPr wrap="square"/>
                    <a:lstStyle/>
                    <a:p>
                      <a:pPr algn="r"/>
                      <a:r>
                        <a:rPr sz="1050" b="0">
                          <a:solidFill>
                            <a:srgbClr val="0F172A"/>
                          </a:solidFill>
                          <a:latin typeface="Inter"/>
                        </a:rPr>
                        <a:t>4</a:t>
                      </a:r>
                    </a:p>
                  </a:txBody>
                  <a:tcPr marL="54864" marR="54864" marT="27432" marB="27432" anchor="ctr">
                    <a:solidFill>
                      <a:srgbClr val="FFFFFF"/>
                    </a:solidFill>
                  </a:tcPr>
                </a:tc>
                <a:tc>
                  <a:txBody>
                    <a:bodyPr wrap="square"/>
                    <a:lstStyle/>
                    <a:p>
                      <a:pPr algn="r"/>
                      <a:r>
                        <a:rPr sz="1050" b="0">
                          <a:solidFill>
                            <a:srgbClr val="0F172A"/>
                          </a:solidFill>
                          <a:latin typeface="Inter"/>
                        </a:rPr>
                        <a:t>1</a:t>
                      </a:r>
                    </a:p>
                  </a:txBody>
                  <a:tcPr marL="54864" marR="54864" marT="27432" marB="27432" anchor="ctr">
                    <a:solidFill>
                      <a:srgbClr val="FFFFFF"/>
                    </a:solidFill>
                  </a:tcPr>
                </a:tc>
                <a:tc>
                  <a:txBody>
                    <a:bodyPr wrap="square"/>
                    <a:lstStyle/>
                    <a:p>
                      <a:pPr algn="r"/>
                      <a:r>
                        <a:rPr sz="1050" b="0">
                          <a:solidFill>
                            <a:srgbClr val="0F172A"/>
                          </a:solidFill>
                          <a:latin typeface="Inter"/>
                        </a:rPr>
                        <a:t>$10</a:t>
                      </a:r>
                    </a:p>
                  </a:txBody>
                  <a:tcPr marL="54864" marR="54864" marT="27432" marB="27432" anchor="ctr">
                    <a:solidFill>
                      <a:srgbClr val="FFFFFF"/>
                    </a:solidFill>
                  </a:tcPr>
                </a:tc>
                <a:tc>
                  <a:txBody>
                    <a:bodyPr wrap="square"/>
                    <a:lstStyle/>
                    <a:p>
                      <a:pPr algn="r"/>
                      <a:r>
                        <a:rPr sz="1050" b="0">
                          <a:solidFill>
                            <a:srgbClr val="0F172A"/>
                          </a:solidFill>
                          <a:latin typeface="Inter"/>
                        </a:rPr>
                        <a:t>$399</a:t>
                      </a:r>
                    </a:p>
                  </a:txBody>
                  <a:tcPr marL="54864" marR="54864" marT="27432" marB="27432" anchor="ctr">
                    <a:solidFill>
                      <a:srgbClr val="FFFFFF"/>
                    </a:solidFill>
                  </a:tcPr>
                </a:tc>
              </a:tr>
              <a:tr h="347472">
                <a:tc>
                  <a:txBody>
                    <a:bodyPr wrap="square"/>
                    <a:lstStyle/>
                    <a:p>
                      <a:pPr algn="l"/>
                      <a:r>
                        <a:rPr sz="1050" b="0">
                          <a:solidFill>
                            <a:srgbClr val="0F172A"/>
                          </a:solidFill>
                          <a:latin typeface="Inter"/>
                        </a:rPr>
                        <a:t>mattress topper queen</a:t>
                      </a:r>
                    </a:p>
                  </a:txBody>
                  <a:tcPr marL="54864" marR="54864" marT="27432" marB="27432" anchor="ctr">
                    <a:solidFill>
                      <a:srgbClr val="FBFAF7"/>
                    </a:solidFill>
                  </a:tcPr>
                </a:tc>
                <a:tc>
                  <a:txBody>
                    <a:bodyPr wrap="square"/>
                    <a:lstStyle/>
                    <a:p>
                      <a:pPr algn="r"/>
                      <a:r>
                        <a:rPr sz="1050" b="0">
                          <a:solidFill>
                            <a:srgbClr val="0F172A"/>
                          </a:solidFill>
                          <a:latin typeface="Inter"/>
                        </a:rPr>
                        <a:t>SB</a:t>
                      </a:r>
                    </a:p>
                  </a:txBody>
                  <a:tcPr marL="54864" marR="54864" marT="27432" marB="27432" anchor="ctr">
                    <a:solidFill>
                      <a:srgbClr val="FBFAF7"/>
                    </a:solidFill>
                  </a:tcPr>
                </a:tc>
                <a:tc>
                  <a:txBody>
                    <a:bodyPr wrap="square"/>
                    <a:lstStyle/>
                    <a:p>
                      <a:pPr algn="r"/>
                      <a:r>
                        <a:rPr sz="1050" b="0">
                          <a:solidFill>
                            <a:srgbClr val="0F172A"/>
                          </a:solidFill>
                          <a:latin typeface="Inter"/>
                        </a:rPr>
                        <a:t>12</a:t>
                      </a:r>
                    </a:p>
                  </a:txBody>
                  <a:tcPr marL="54864" marR="54864" marT="27432" marB="27432" anchor="ctr">
                    <a:solidFill>
                      <a:srgbClr val="FBFAF7"/>
                    </a:solidFill>
                  </a:tcPr>
                </a:tc>
                <a:tc>
                  <a:txBody>
                    <a:bodyPr wrap="square"/>
                    <a:lstStyle/>
                    <a:p>
                      <a:pPr algn="r"/>
                      <a:r>
                        <a:rPr sz="1050" b="0">
                          <a:solidFill>
                            <a:srgbClr val="0F172A"/>
                          </a:solidFill>
                          <a:latin typeface="Inter"/>
                        </a:rPr>
                        <a:t>2</a:t>
                      </a:r>
                    </a:p>
                  </a:txBody>
                  <a:tcPr marL="54864" marR="54864" marT="27432" marB="27432" anchor="ctr">
                    <a:solidFill>
                      <a:srgbClr val="FBFAF7"/>
                    </a:solidFill>
                  </a:tcPr>
                </a:tc>
                <a:tc>
                  <a:txBody>
                    <a:bodyPr wrap="square"/>
                    <a:lstStyle/>
                    <a:p>
                      <a:pPr algn="r"/>
                      <a:r>
                        <a:rPr sz="1050" b="0">
                          <a:solidFill>
                            <a:srgbClr val="0F172A"/>
                          </a:solidFill>
                          <a:latin typeface="Inter"/>
                        </a:rPr>
                        <a:t>1</a:t>
                      </a:r>
                    </a:p>
                  </a:txBody>
                  <a:tcPr marL="54864" marR="54864" marT="27432" marB="27432" anchor="ctr">
                    <a:solidFill>
                      <a:srgbClr val="FBFAF7"/>
                    </a:solidFill>
                  </a:tcPr>
                </a:tc>
                <a:tc>
                  <a:txBody>
                    <a:bodyPr wrap="square"/>
                    <a:lstStyle/>
                    <a:p>
                      <a:pPr algn="r"/>
                      <a:r>
                        <a:rPr sz="1050" b="0">
                          <a:solidFill>
                            <a:srgbClr val="0F172A"/>
                          </a:solidFill>
                          <a:latin typeface="Inter"/>
                        </a:rPr>
                        <a:t>$9</a:t>
                      </a:r>
                    </a:p>
                  </a:txBody>
                  <a:tcPr marL="54864" marR="54864" marT="27432" marB="27432" anchor="ctr">
                    <a:solidFill>
                      <a:srgbClr val="FBFAF7"/>
                    </a:solidFill>
                  </a:tcPr>
                </a:tc>
                <a:tc>
                  <a:txBody>
                    <a:bodyPr wrap="square"/>
                    <a:lstStyle/>
                    <a:p>
                      <a:pPr algn="r"/>
                      <a:r>
                        <a:rPr sz="1050" b="0">
                          <a:solidFill>
                            <a:srgbClr val="0F172A"/>
                          </a:solidFill>
                          <a:latin typeface="Inter"/>
                        </a:rPr>
                        <a:t>$399</a:t>
                      </a:r>
                    </a:p>
                  </a:txBody>
                  <a:tcPr marL="54864" marR="54864" marT="27432" marB="27432" anchor="ctr">
                    <a:solidFill>
                      <a:srgbClr val="FBFAF7"/>
                    </a:solidFill>
                  </a:tcPr>
                </a:tc>
              </a:tr>
              <a:tr h="347472">
                <a:tc>
                  <a:txBody>
                    <a:bodyPr wrap="square"/>
                    <a:lstStyle/>
                    <a:p>
                      <a:pPr algn="l"/>
                      <a:r>
                        <a:rPr sz="1050" b="0">
                          <a:solidFill>
                            <a:srgbClr val="0F172A"/>
                          </a:solidFill>
                          <a:latin typeface="Inter"/>
                        </a:rPr>
                        <a:t>short king mattress topper</a:t>
                      </a:r>
                    </a:p>
                  </a:txBody>
                  <a:tcPr marL="54864" marR="54864" marT="27432" marB="27432" anchor="ctr">
                    <a:solidFill>
                      <a:srgbClr val="FFFFFF"/>
                    </a:solidFill>
                  </a:tcPr>
                </a:tc>
                <a:tc>
                  <a:txBody>
                    <a:bodyPr wrap="square"/>
                    <a:lstStyle/>
                    <a:p>
                      <a:pPr algn="r"/>
                      <a:r>
                        <a:rPr sz="1050" b="0">
                          <a:solidFill>
                            <a:srgbClr val="0F172A"/>
                          </a:solidFill>
                          <a:latin typeface="Inter"/>
                        </a:rPr>
                        <a:t>SP</a:t>
                      </a:r>
                    </a:p>
                  </a:txBody>
                  <a:tcPr marL="54864" marR="54864" marT="27432" marB="27432" anchor="ctr">
                    <a:solidFill>
                      <a:srgbClr val="FFFFFF"/>
                    </a:solidFill>
                  </a:tcPr>
                </a:tc>
                <a:tc>
                  <a:txBody>
                    <a:bodyPr wrap="square"/>
                    <a:lstStyle/>
                    <a:p>
                      <a:pPr algn="r"/>
                      <a:r>
                        <a:rPr sz="1050" b="0">
                          <a:solidFill>
                            <a:srgbClr val="0F172A"/>
                          </a:solidFill>
                          <a:latin typeface="Inter"/>
                        </a:rPr>
                        <a:t>44</a:t>
                      </a:r>
                    </a:p>
                  </a:txBody>
                  <a:tcPr marL="54864" marR="54864" marT="27432" marB="27432" anchor="ctr">
                    <a:solidFill>
                      <a:srgbClr val="FFFFFF"/>
                    </a:solidFill>
                  </a:tcPr>
                </a:tc>
                <a:tc>
                  <a:txBody>
                    <a:bodyPr wrap="square"/>
                    <a:lstStyle/>
                    <a:p>
                      <a:pPr algn="r"/>
                      <a:r>
                        <a:rPr sz="1050" b="0">
                          <a:solidFill>
                            <a:srgbClr val="0F172A"/>
                          </a:solidFill>
                          <a:latin typeface="Inter"/>
                        </a:rPr>
                        <a:t>1</a:t>
                      </a:r>
                    </a:p>
                  </a:txBody>
                  <a:tcPr marL="54864" marR="54864" marT="27432" marB="27432" anchor="ctr">
                    <a:solidFill>
                      <a:srgbClr val="FFFFFF"/>
                    </a:solidFill>
                  </a:tcPr>
                </a:tc>
                <a:tc>
                  <a:txBody>
                    <a:bodyPr wrap="square"/>
                    <a:lstStyle/>
                    <a:p>
                      <a:pPr algn="r"/>
                      <a:r>
                        <a:rPr sz="1050" b="0">
                          <a:solidFill>
                            <a:srgbClr val="0F172A"/>
                          </a:solidFill>
                          <a:latin typeface="Inter"/>
                        </a:rPr>
                        <a:t>1</a:t>
                      </a:r>
                    </a:p>
                  </a:txBody>
                  <a:tcPr marL="54864" marR="54864" marT="27432" marB="27432" anchor="ctr">
                    <a:solidFill>
                      <a:srgbClr val="FFFFFF"/>
                    </a:solidFill>
                  </a:tcPr>
                </a:tc>
                <a:tc>
                  <a:txBody>
                    <a:bodyPr wrap="square"/>
                    <a:lstStyle/>
                    <a:p>
                      <a:pPr algn="r"/>
                      <a:r>
                        <a:rPr sz="1050" b="0">
                          <a:solidFill>
                            <a:srgbClr val="0F172A"/>
                          </a:solidFill>
                          <a:latin typeface="Inter"/>
                        </a:rPr>
                        <a:t>$3</a:t>
                      </a:r>
                    </a:p>
                  </a:txBody>
                  <a:tcPr marL="54864" marR="54864" marT="27432" marB="27432" anchor="ctr">
                    <a:solidFill>
                      <a:srgbClr val="FFFFFF"/>
                    </a:solidFill>
                  </a:tcPr>
                </a:tc>
                <a:tc>
                  <a:txBody>
                    <a:bodyPr wrap="square"/>
                    <a:lstStyle/>
                    <a:p>
                      <a:pPr algn="r"/>
                      <a:r>
                        <a:rPr sz="1050" b="0">
                          <a:solidFill>
                            <a:srgbClr val="0F172A"/>
                          </a:solidFill>
                          <a:latin typeface="Inter"/>
                        </a:rPr>
                        <a:t>$495</a:t>
                      </a:r>
                    </a:p>
                  </a:txBody>
                  <a:tcPr marL="54864" marR="54864" marT="27432" marB="27432" anchor="ctr">
                    <a:solidFill>
                      <a:srgbClr val="FFFFFF"/>
                    </a:solidFill>
                  </a:tcPr>
                </a:tc>
              </a:tr>
            </a:tbl>
          </a:graphicData>
        </a:graphic>
      </p:graphicFrame>
      <p:sp>
        <p:nvSpPr>
          <p:cNvPr id="11" name=""/>
          <p:cNvSpPr/>
          <p:nvPr/>
        </p:nvSpPr>
        <p:spPr>
          <a:xfrm>
            <a:off x="7543800" y="1417320"/>
            <a:ext cx="4096512" cy="4800600"/>
          </a:xfrm>
          <a:prstGeom prst="roundRect">
            <a:avLst>
              <a:gd name="" fmla="val 6000"/>
            </a:avLst>
          </a:prstGeom>
          <a:solidFill>
            <a:srgbClr val="FFFFFF"/>
          </a:solidFill>
          <a:ln w="9525">
            <a:solidFill>
              <a:srgbClr val="E5E0D6"/>
            </a:solidFill>
          </a:ln>
        </p:spPr>
      </p:sp>
      <p:sp>
        <p:nvSpPr>
          <p:cNvPr id="12" name=""/>
          <p:cNvSpPr txBox="1"/>
          <p:nvPr/>
        </p:nvSpPr>
        <p:spPr>
          <a:xfrm>
            <a:off x="7726679" y="1554480"/>
            <a:ext cx="373075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Read-out</a:t>
            </a:r>
          </a:p>
        </p:txBody>
      </p:sp>
      <p:sp>
        <p:nvSpPr>
          <p:cNvPr id="13" name=""/>
          <p:cNvSpPr txBox="1"/>
          <p:nvPr/>
        </p:nvSpPr>
        <p:spPr>
          <a:xfrm>
            <a:off x="7726679" y="1874519"/>
            <a:ext cx="3730752" cy="425196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Non-branded searches are the expensive side of the account: category keywords ran at 39.7% ACoS this week vs 16.7% for branded.</a:t>
            </a:r>
          </a:p>
          <a:p>
            <a:pPr algn="l">
              <a:spcAft>
                <a:spcPts val="500"/>
              </a:spcAft>
            </a:pPr>
            <a:r>
              <a:rPr sz="1050" b="0">
                <a:solidFill>
                  <a:srgbClr val="334155"/>
                </a:solidFill>
                <a:latin typeface="Inter"/>
              </a:rPr>
              <a:t>The generic “mattress +topper” phrase target alone spent $1,191 for 4 orders (73.6% ACoS).</a:t>
            </a:r>
          </a:p>
          <a:p>
            <a:pPr algn="l">
              <a:spcAft>
                <a:spcPts val="500"/>
              </a:spcAft>
            </a:pPr>
            <a:r>
              <a:rPr sz="1050" b="0">
                <a:solidFill>
                  <a:srgbClr val="334155"/>
                </a:solidFill>
                <a:latin typeface="Inter"/>
              </a:rPr>
              <a:t>The searches that did convert are size-specific (“bed toppers queen size”, “split king”, “short king”). Move budget toward size-specific exact keywords and away from the broad generic phrase.</a:t>
            </a:r>
          </a:p>
          <a:p>
            <a:pPr algn="l">
              <a:spcAft>
                <a:spcPts val="500"/>
              </a:spcAft>
            </a:pPr>
            <a:r>
              <a:rPr sz="1050" b="0">
                <a:solidFill>
                  <a:srgbClr val="334155"/>
                </a:solidFill>
                <a:latin typeface="Inter"/>
              </a:rPr>
              <a:t>3 converting searches are ready to add as exact keywords; 19 are candidates for negatives.</a:t>
            </a:r>
          </a:p>
        </p:txBody>
      </p:sp>
      <p:sp>
        <p:nvSpPr>
          <p:cNvPr id="14" name=""/>
          <p:cNvSpPr txBox="1"/>
          <p:nvPr/>
        </p:nvSpPr>
        <p:spPr>
          <a:xfrm>
            <a:off x="548640" y="3593592"/>
            <a:ext cx="6766560" cy="457200"/>
          </a:xfrm>
          <a:prstGeom prst="rect">
            <a:avLst/>
          </a:prstGeom>
          <a:noFill/>
        </p:spPr>
        <p:txBody>
          <a:bodyPr wrap="square" lIns="36576" rIns="36576" tIns="18288" bIns="18288" anchor="t">
            <a:spAutoFit/>
          </a:bodyPr>
          <a:lstStyle/>
          <a:p>
            <a:pPr algn="l"/>
            <a:r>
              <a:rPr sz="900" b="0">
                <a:solidFill>
                  <a:srgbClr val="6B6558"/>
                </a:solidFill>
                <a:latin typeface="Inter"/>
              </a:rPr>
              <a:t>Top category searches by ad sales, Oct 18–24, 2026 (Sponsored Products and Brands search-term report; only searches with at least one click are reported).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Advertising performance — daily, last 2 weeks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10 / 17</a:t>
            </a:r>
          </a:p>
        </p:txBody>
      </p:sp>
      <p:graphicFrame>
        <p:nvGraphicFramePr>
          <p:cNvPr id="10" name=""/>
          <p:cNvGraphicFramePr>
            <a:graphicFrameLocks noGrp="1"/>
          </p:cNvGraphicFramePr>
          <p:nvPr/>
        </p:nvGraphicFramePr>
        <p:xfrm>
          <a:off x="548640" y="1325880"/>
          <a:ext cx="10360152" cy="4197096"/>
        </p:xfrm>
        <a:graphic>
          <a:graphicData uri="http://schemas.openxmlformats.org/drawingml/2006/table">
            <a:tbl>
              <a:tblPr firstRow="1" bandRow="1">
                <a:tableStyleId>{5C22544A-7EE6-4342-B048-85BDC9FD1C3A}</a:tableStyleId>
              </a:tblPr>
              <a:tblGrid>
                <a:gridCol w="1234440"/>
                <a:gridCol w="548640"/>
                <a:gridCol w="1051560"/>
                <a:gridCol w="960120"/>
                <a:gridCol w="960120"/>
                <a:gridCol w="731520"/>
                <a:gridCol w="731520"/>
                <a:gridCol w="731520"/>
                <a:gridCol w="731520"/>
                <a:gridCol w="822960"/>
                <a:gridCol w="1097280"/>
                <a:gridCol w="758952"/>
              </a:tblGrid>
              <a:tr h="246888">
                <a:tc>
                  <a:txBody>
                    <a:bodyPr wrap="square"/>
                    <a:lstStyle/>
                    <a:p>
                      <a:pPr algn="l"/>
                      <a:r>
                        <a:rPr sz="750" b="1">
                          <a:solidFill>
                            <a:srgbClr val="FFFFFF"/>
                          </a:solidFill>
                          <a:latin typeface="Inter"/>
                        </a:rPr>
                        <a:t>Date</a:t>
                      </a:r>
                    </a:p>
                  </a:txBody>
                  <a:tcPr marL="54864" marR="54864" marT="27432" marB="27432" anchor="ctr">
                    <a:solidFill>
                      <a:srgbClr val="0F172A"/>
                    </a:solidFill>
                  </a:tcPr>
                </a:tc>
                <a:tc>
                  <a:txBody>
                    <a:bodyPr wrap="square"/>
                    <a:lstStyle/>
                    <a:p>
                      <a:pPr algn="r"/>
                      <a:r>
                        <a:rPr sz="750" b="1">
                          <a:solidFill>
                            <a:srgbClr val="FFFFFF"/>
                          </a:solidFill>
                          <a:latin typeface="Inter"/>
                        </a:rPr>
                        <a:t>Day</a:t>
                      </a:r>
                    </a:p>
                  </a:txBody>
                  <a:tcPr marL="54864" marR="54864" marT="27432" marB="27432" anchor="ctr">
                    <a:solidFill>
                      <a:srgbClr val="0F172A"/>
                    </a:solidFill>
                  </a:tcPr>
                </a:tc>
                <a:tc>
                  <a:txBody>
                    <a:bodyPr wrap="square"/>
                    <a:lstStyle/>
                    <a:p>
                      <a:pPr algn="r"/>
                      <a:r>
                        <a:rPr sz="750" b="1">
                          <a:solidFill>
                            <a:srgbClr val="FFFFFF"/>
                          </a:solidFill>
                          <a:latin typeface="Inter"/>
                        </a:rPr>
                        <a:t>Total sales</a:t>
                      </a:r>
                    </a:p>
                  </a:txBody>
                  <a:tcPr marL="54864" marR="54864" marT="27432" marB="27432" anchor="ctr">
                    <a:solidFill>
                      <a:srgbClr val="0F172A"/>
                    </a:solidFill>
                  </a:tcPr>
                </a:tc>
                <a:tc>
                  <a:txBody>
                    <a:bodyPr wrap="square"/>
                    <a:lstStyle/>
                    <a:p>
                      <a:pPr algn="r"/>
                      <a:r>
                        <a:rPr sz="750" b="1">
                          <a:solidFill>
                            <a:srgbClr val="FFFFFF"/>
                          </a:solidFill>
                          <a:latin typeface="Inter"/>
                        </a:rPr>
                        <a:t>PPC spend</a:t>
                      </a:r>
                    </a:p>
                  </a:txBody>
                  <a:tcPr marL="54864" marR="54864" marT="27432" marB="27432" anchor="ctr">
                    <a:solidFill>
                      <a:srgbClr val="0F172A"/>
                    </a:solidFill>
                  </a:tcPr>
                </a:tc>
                <a:tc>
                  <a:txBody>
                    <a:bodyPr wrap="square"/>
                    <a:lstStyle/>
                    <a:p>
                      <a:pPr algn="r"/>
                      <a:r>
                        <a:rPr sz="750" b="1">
                          <a:solidFill>
                            <a:srgbClr val="FFFFFF"/>
                          </a:solidFill>
                          <a:latin typeface="Inter"/>
                        </a:rPr>
                        <a:t>PPC sales</a:t>
                      </a:r>
                    </a:p>
                  </a:txBody>
                  <a:tcPr marL="54864" marR="54864" marT="27432" marB="27432" anchor="ctr">
                    <a:solidFill>
                      <a:srgbClr val="0F172A"/>
                    </a:solidFill>
                  </a:tcPr>
                </a:tc>
                <a:tc>
                  <a:txBody>
                    <a:bodyPr wrap="square"/>
                    <a:lstStyle/>
                    <a:p>
                      <a:pPr algn="r"/>
                      <a:r>
                        <a:rPr sz="750" b="1">
                          <a:solidFill>
                            <a:srgbClr val="FFFFFF"/>
                          </a:solidFill>
                          <a:latin typeface="Inter"/>
                        </a:rPr>
                        <a:t>ROAS</a:t>
                      </a:r>
                    </a:p>
                  </a:txBody>
                  <a:tcPr marL="54864" marR="54864" marT="27432" marB="27432" anchor="ctr">
                    <a:solidFill>
                      <a:srgbClr val="0F172A"/>
                    </a:solidFill>
                  </a:tcPr>
                </a:tc>
                <a:tc>
                  <a:txBody>
                    <a:bodyPr wrap="square"/>
                    <a:lstStyle/>
                    <a:p>
                      <a:pPr algn="r"/>
                      <a:r>
                        <a:rPr sz="750" b="1">
                          <a:solidFill>
                            <a:srgbClr val="FFFFFF"/>
                          </a:solidFill>
                          <a:latin typeface="Inter"/>
                        </a:rPr>
                        <a:t>ACoS</a:t>
                      </a:r>
                    </a:p>
                  </a:txBody>
                  <a:tcPr marL="54864" marR="54864" marT="27432" marB="27432" anchor="ctr">
                    <a:solidFill>
                      <a:srgbClr val="0F172A"/>
                    </a:solidFill>
                  </a:tcPr>
                </a:tc>
                <a:tc>
                  <a:txBody>
                    <a:bodyPr wrap="square"/>
                    <a:lstStyle/>
                    <a:p>
                      <a:pPr algn="r"/>
                      <a:r>
                        <a:rPr sz="750" b="1">
                          <a:solidFill>
                            <a:srgbClr val="FFFFFF"/>
                          </a:solidFill>
                          <a:latin typeface="Inter"/>
                        </a:rPr>
                        <a:t>TACoS</a:t>
                      </a:r>
                    </a:p>
                  </a:txBody>
                  <a:tcPr marL="54864" marR="54864" marT="27432" marB="27432" anchor="ctr">
                    <a:solidFill>
                      <a:srgbClr val="0F172A"/>
                    </a:solidFill>
                  </a:tcPr>
                </a:tc>
                <a:tc>
                  <a:txBody>
                    <a:bodyPr wrap="square"/>
                    <a:lstStyle/>
                    <a:p>
                      <a:pPr algn="r"/>
                      <a:r>
                        <a:rPr sz="750" b="1">
                          <a:solidFill>
                            <a:srgbClr val="FFFFFF"/>
                          </a:solidFill>
                          <a:latin typeface="Inter"/>
                        </a:rPr>
                        <a:t>Orders</a:t>
                      </a:r>
                    </a:p>
                  </a:txBody>
                  <a:tcPr marL="54864" marR="54864" marT="27432" marB="27432" anchor="ctr">
                    <a:solidFill>
                      <a:srgbClr val="0F172A"/>
                    </a:solidFill>
                  </a:tcPr>
                </a:tc>
                <a:tc>
                  <a:txBody>
                    <a:bodyPr wrap="square"/>
                    <a:lstStyle/>
                    <a:p>
                      <a:pPr algn="r"/>
                      <a:r>
                        <a:rPr sz="750" b="1">
                          <a:solidFill>
                            <a:srgbClr val="FFFFFF"/>
                          </a:solidFill>
                          <a:latin typeface="Inter"/>
                        </a:rPr>
                        <a:t>Ad orders</a:t>
                      </a:r>
                    </a:p>
                  </a:txBody>
                  <a:tcPr marL="54864" marR="54864" marT="27432" marB="27432" anchor="ctr">
                    <a:solidFill>
                      <a:srgbClr val="0F172A"/>
                    </a:solidFill>
                  </a:tcPr>
                </a:tc>
                <a:tc>
                  <a:txBody>
                    <a:bodyPr wrap="square"/>
                    <a:lstStyle/>
                    <a:p>
                      <a:pPr algn="r"/>
                      <a:r>
                        <a:rPr sz="750" b="1">
                          <a:solidFill>
                            <a:srgbClr val="FFFFFF"/>
                          </a:solidFill>
                          <a:latin typeface="Inter"/>
                        </a:rPr>
                        <a:t>Organic sales</a:t>
                      </a:r>
                    </a:p>
                  </a:txBody>
                  <a:tcPr marL="54864" marR="54864" marT="27432" marB="27432" anchor="ctr">
                    <a:solidFill>
                      <a:srgbClr val="0F172A"/>
                    </a:solidFill>
                  </a:tcPr>
                </a:tc>
                <a:tc>
                  <a:txBody>
                    <a:bodyPr wrap="square"/>
                    <a:lstStyle/>
                    <a:p>
                      <a:pPr algn="r"/>
                      <a:r>
                        <a:rPr sz="750" b="1">
                          <a:solidFill>
                            <a:srgbClr val="FFFFFF"/>
                          </a:solidFill>
                          <a:latin typeface="Inter"/>
                        </a:rPr>
                        <a:t>Ad sales %</a:t>
                      </a:r>
                    </a:p>
                  </a:txBody>
                  <a:tcPr marL="54864" marR="54864" marT="27432" marB="27432" anchor="ctr">
                    <a:solidFill>
                      <a:srgbClr val="0F172A"/>
                    </a:solidFill>
                  </a:tcPr>
                </a:tc>
              </a:tr>
              <a:tr h="246888">
                <a:tc>
                  <a:txBody>
                    <a:bodyPr wrap="square"/>
                    <a:lstStyle/>
                    <a:p>
                      <a:pPr algn="l"/>
                      <a:r>
                        <a:rPr sz="850" b="0">
                          <a:solidFill>
                            <a:srgbClr val="0F172A"/>
                          </a:solidFill>
                          <a:latin typeface="Inter"/>
                        </a:rPr>
                        <a:t>Oct 11</a:t>
                      </a:r>
                    </a:p>
                  </a:txBody>
                  <a:tcPr marL="54864" marR="54864" marT="27432" marB="27432" anchor="ctr">
                    <a:solidFill>
                      <a:srgbClr val="FFFFFF"/>
                    </a:solidFill>
                  </a:tcPr>
                </a:tc>
                <a:tc>
                  <a:txBody>
                    <a:bodyPr wrap="square"/>
                    <a:lstStyle/>
                    <a:p>
                      <a:pPr algn="r"/>
                      <a:r>
                        <a:rPr sz="850" b="0">
                          <a:solidFill>
                            <a:srgbClr val="0F172A"/>
                          </a:solidFill>
                          <a:latin typeface="Inter"/>
                        </a:rPr>
                        <a:t>Sun</a:t>
                      </a:r>
                    </a:p>
                  </a:txBody>
                  <a:tcPr marL="54864" marR="54864" marT="27432" marB="27432" anchor="ctr">
                    <a:solidFill>
                      <a:srgbClr val="FFFFFF"/>
                    </a:solidFill>
                  </a:tcPr>
                </a:tc>
                <a:tc>
                  <a:txBody>
                    <a:bodyPr wrap="square"/>
                    <a:lstStyle/>
                    <a:p>
                      <a:pPr algn="r"/>
                      <a:r>
                        <a:rPr sz="850" b="0">
                          <a:solidFill>
                            <a:srgbClr val="0F172A"/>
                          </a:solidFill>
                          <a:latin typeface="Inter"/>
                        </a:rPr>
                        <a:t>$14,429</a:t>
                      </a:r>
                    </a:p>
                  </a:txBody>
                  <a:tcPr marL="54864" marR="54864" marT="27432" marB="27432" anchor="ctr">
                    <a:solidFill>
                      <a:srgbClr val="FFFFFF"/>
                    </a:solidFill>
                  </a:tcPr>
                </a:tc>
                <a:tc>
                  <a:txBody>
                    <a:bodyPr wrap="square"/>
                    <a:lstStyle/>
                    <a:p>
                      <a:pPr algn="r"/>
                      <a:r>
                        <a:rPr sz="850" b="0">
                          <a:solidFill>
                            <a:srgbClr val="0F172A"/>
                          </a:solidFill>
                          <a:latin typeface="Inter"/>
                        </a:rPr>
                        <a:t>$1,542</a:t>
                      </a:r>
                    </a:p>
                  </a:txBody>
                  <a:tcPr marL="54864" marR="54864" marT="27432" marB="27432" anchor="ctr">
                    <a:solidFill>
                      <a:srgbClr val="FFFFFF"/>
                    </a:solidFill>
                  </a:tcPr>
                </a:tc>
                <a:tc>
                  <a:txBody>
                    <a:bodyPr wrap="square"/>
                    <a:lstStyle/>
                    <a:p>
                      <a:pPr algn="r"/>
                      <a:r>
                        <a:rPr sz="850" b="0">
                          <a:solidFill>
                            <a:srgbClr val="0F172A"/>
                          </a:solidFill>
                          <a:latin typeface="Inter"/>
                        </a:rPr>
                        <a:t>$7,572</a:t>
                      </a:r>
                    </a:p>
                  </a:txBody>
                  <a:tcPr marL="54864" marR="54864" marT="27432" marB="27432" anchor="ctr">
                    <a:solidFill>
                      <a:srgbClr val="FFFFFF"/>
                    </a:solidFill>
                  </a:tcPr>
                </a:tc>
                <a:tc>
                  <a:txBody>
                    <a:bodyPr wrap="square"/>
                    <a:lstStyle/>
                    <a:p>
                      <a:pPr algn="r"/>
                      <a:r>
                        <a:rPr sz="850" b="0">
                          <a:solidFill>
                            <a:srgbClr val="0F172A"/>
                          </a:solidFill>
                          <a:latin typeface="Inter"/>
                        </a:rPr>
                        <a:t>4.91x</a:t>
                      </a:r>
                    </a:p>
                  </a:txBody>
                  <a:tcPr marL="54864" marR="54864" marT="27432" marB="27432" anchor="ctr">
                    <a:solidFill>
                      <a:srgbClr val="FFFFFF"/>
                    </a:solidFill>
                  </a:tcPr>
                </a:tc>
                <a:tc>
                  <a:txBody>
                    <a:bodyPr wrap="square"/>
                    <a:lstStyle/>
                    <a:p>
                      <a:pPr algn="r"/>
                      <a:r>
                        <a:rPr sz="850" b="0">
                          <a:solidFill>
                            <a:srgbClr val="0F172A"/>
                          </a:solidFill>
                          <a:latin typeface="Inter"/>
                        </a:rPr>
                        <a:t>20.4%</a:t>
                      </a:r>
                    </a:p>
                  </a:txBody>
                  <a:tcPr marL="54864" marR="54864" marT="27432" marB="27432" anchor="ctr">
                    <a:solidFill>
                      <a:srgbClr val="FFFFFF"/>
                    </a:solidFill>
                  </a:tcPr>
                </a:tc>
                <a:tc>
                  <a:txBody>
                    <a:bodyPr wrap="square"/>
                    <a:lstStyle/>
                    <a:p>
                      <a:pPr algn="r"/>
                      <a:r>
                        <a:rPr sz="850" b="0">
                          <a:solidFill>
                            <a:srgbClr val="0F172A"/>
                          </a:solidFill>
                          <a:latin typeface="Inter"/>
                        </a:rPr>
                        <a:t>10.7%</a:t>
                      </a:r>
                    </a:p>
                  </a:txBody>
                  <a:tcPr marL="54864" marR="54864" marT="27432" marB="27432" anchor="ctr">
                    <a:solidFill>
                      <a:srgbClr val="FFFFFF"/>
                    </a:solidFill>
                  </a:tcPr>
                </a:tc>
                <a:tc>
                  <a:txBody>
                    <a:bodyPr wrap="square"/>
                    <a:lstStyle/>
                    <a:p>
                      <a:pPr algn="r"/>
                      <a:r>
                        <a:rPr sz="850" b="0">
                          <a:solidFill>
                            <a:srgbClr val="0F172A"/>
                          </a:solidFill>
                          <a:latin typeface="Inter"/>
                        </a:rPr>
                        <a:t>44</a:t>
                      </a:r>
                    </a:p>
                  </a:txBody>
                  <a:tcPr marL="54864" marR="54864" marT="27432" marB="27432" anchor="ctr">
                    <a:solidFill>
                      <a:srgbClr val="FFFFFF"/>
                    </a:solidFill>
                  </a:tcPr>
                </a:tc>
                <a:tc>
                  <a:txBody>
                    <a:bodyPr wrap="square"/>
                    <a:lstStyle/>
                    <a:p>
                      <a:pPr algn="r"/>
                      <a:r>
                        <a:rPr sz="850" b="0">
                          <a:solidFill>
                            <a:srgbClr val="0F172A"/>
                          </a:solidFill>
                          <a:latin typeface="Inter"/>
                        </a:rPr>
                        <a:t>22</a:t>
                      </a:r>
                    </a:p>
                  </a:txBody>
                  <a:tcPr marL="54864" marR="54864" marT="27432" marB="27432" anchor="ctr">
                    <a:solidFill>
                      <a:srgbClr val="FFFFFF"/>
                    </a:solidFill>
                  </a:tcPr>
                </a:tc>
                <a:tc>
                  <a:txBody>
                    <a:bodyPr wrap="square"/>
                    <a:lstStyle/>
                    <a:p>
                      <a:pPr algn="r"/>
                      <a:r>
                        <a:rPr sz="850" b="0">
                          <a:solidFill>
                            <a:srgbClr val="0F172A"/>
                          </a:solidFill>
                          <a:latin typeface="Inter"/>
                        </a:rPr>
                        <a:t>$6,857</a:t>
                      </a:r>
                    </a:p>
                  </a:txBody>
                  <a:tcPr marL="54864" marR="54864" marT="27432" marB="27432" anchor="ctr">
                    <a:solidFill>
                      <a:srgbClr val="FFFFFF"/>
                    </a:solidFill>
                  </a:tcPr>
                </a:tc>
                <a:tc>
                  <a:txBody>
                    <a:bodyPr wrap="square"/>
                    <a:lstStyle/>
                    <a:p>
                      <a:pPr algn="r"/>
                      <a:r>
                        <a:rPr sz="850" b="0">
                          <a:solidFill>
                            <a:srgbClr val="0F172A"/>
                          </a:solidFill>
                          <a:latin typeface="Inter"/>
                        </a:rPr>
                        <a:t>52%</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12</a:t>
                      </a:r>
                    </a:p>
                  </a:txBody>
                  <a:tcPr marL="54864" marR="54864" marT="27432" marB="27432" anchor="ctr">
                    <a:solidFill>
                      <a:srgbClr val="FBFAF7"/>
                    </a:solidFill>
                  </a:tcPr>
                </a:tc>
                <a:tc>
                  <a:txBody>
                    <a:bodyPr wrap="square"/>
                    <a:lstStyle/>
                    <a:p>
                      <a:pPr algn="r"/>
                      <a:r>
                        <a:rPr sz="850" b="0">
                          <a:solidFill>
                            <a:srgbClr val="0F172A"/>
                          </a:solidFill>
                          <a:latin typeface="Inter"/>
                        </a:rPr>
                        <a:t>Mon</a:t>
                      </a:r>
                    </a:p>
                  </a:txBody>
                  <a:tcPr marL="54864" marR="54864" marT="27432" marB="27432" anchor="ctr">
                    <a:solidFill>
                      <a:srgbClr val="FBFAF7"/>
                    </a:solidFill>
                  </a:tcPr>
                </a:tc>
                <a:tc>
                  <a:txBody>
                    <a:bodyPr wrap="square"/>
                    <a:lstStyle/>
                    <a:p>
                      <a:pPr algn="r"/>
                      <a:r>
                        <a:rPr sz="850" b="0">
                          <a:solidFill>
                            <a:srgbClr val="0F172A"/>
                          </a:solidFill>
                          <a:latin typeface="Inter"/>
                        </a:rPr>
                        <a:t>$11,725</a:t>
                      </a:r>
                    </a:p>
                  </a:txBody>
                  <a:tcPr marL="54864" marR="54864" marT="27432" marB="27432" anchor="ctr">
                    <a:solidFill>
                      <a:srgbClr val="FBFAF7"/>
                    </a:solidFill>
                  </a:tcPr>
                </a:tc>
                <a:tc>
                  <a:txBody>
                    <a:bodyPr wrap="square"/>
                    <a:lstStyle/>
                    <a:p>
                      <a:pPr algn="r"/>
                      <a:r>
                        <a:rPr sz="850" b="0">
                          <a:solidFill>
                            <a:srgbClr val="0F172A"/>
                          </a:solidFill>
                          <a:latin typeface="Inter"/>
                        </a:rPr>
                        <a:t>$1,342</a:t>
                      </a:r>
                    </a:p>
                  </a:txBody>
                  <a:tcPr marL="54864" marR="54864" marT="27432" marB="27432" anchor="ctr">
                    <a:solidFill>
                      <a:srgbClr val="FBFAF7"/>
                    </a:solidFill>
                  </a:tcPr>
                </a:tc>
                <a:tc>
                  <a:txBody>
                    <a:bodyPr wrap="square"/>
                    <a:lstStyle/>
                    <a:p>
                      <a:pPr algn="r"/>
                      <a:r>
                        <a:rPr sz="850" b="0">
                          <a:solidFill>
                            <a:srgbClr val="0F172A"/>
                          </a:solidFill>
                          <a:latin typeface="Inter"/>
                        </a:rPr>
                        <a:t>$8,431</a:t>
                      </a:r>
                    </a:p>
                  </a:txBody>
                  <a:tcPr marL="54864" marR="54864" marT="27432" marB="27432" anchor="ctr">
                    <a:solidFill>
                      <a:srgbClr val="FBFAF7"/>
                    </a:solidFill>
                  </a:tcPr>
                </a:tc>
                <a:tc>
                  <a:txBody>
                    <a:bodyPr wrap="square"/>
                    <a:lstStyle/>
                    <a:p>
                      <a:pPr algn="r"/>
                      <a:r>
                        <a:rPr sz="850" b="0">
                          <a:solidFill>
                            <a:srgbClr val="0F172A"/>
                          </a:solidFill>
                          <a:latin typeface="Inter"/>
                        </a:rPr>
                        <a:t>6.28x</a:t>
                      </a:r>
                    </a:p>
                  </a:txBody>
                  <a:tcPr marL="54864" marR="54864" marT="27432" marB="27432" anchor="ctr">
                    <a:solidFill>
                      <a:srgbClr val="FBFAF7"/>
                    </a:solidFill>
                  </a:tcPr>
                </a:tc>
                <a:tc>
                  <a:txBody>
                    <a:bodyPr wrap="square"/>
                    <a:lstStyle/>
                    <a:p>
                      <a:pPr algn="r"/>
                      <a:r>
                        <a:rPr sz="850" b="0">
                          <a:solidFill>
                            <a:srgbClr val="0F172A"/>
                          </a:solidFill>
                          <a:latin typeface="Inter"/>
                        </a:rPr>
                        <a:t>15.9%</a:t>
                      </a:r>
                    </a:p>
                  </a:txBody>
                  <a:tcPr marL="54864" marR="54864" marT="27432" marB="27432" anchor="ctr">
                    <a:solidFill>
                      <a:srgbClr val="FBFAF7"/>
                    </a:solidFill>
                  </a:tcPr>
                </a:tc>
                <a:tc>
                  <a:txBody>
                    <a:bodyPr wrap="square"/>
                    <a:lstStyle/>
                    <a:p>
                      <a:pPr algn="r"/>
                      <a:r>
                        <a:rPr sz="850" b="0">
                          <a:solidFill>
                            <a:srgbClr val="0F172A"/>
                          </a:solidFill>
                          <a:latin typeface="Inter"/>
                        </a:rPr>
                        <a:t>11.4%</a:t>
                      </a:r>
                    </a:p>
                  </a:txBody>
                  <a:tcPr marL="54864" marR="54864" marT="27432" marB="27432" anchor="ctr">
                    <a:solidFill>
                      <a:srgbClr val="FBFAF7"/>
                    </a:solidFill>
                  </a:tcPr>
                </a:tc>
                <a:tc>
                  <a:txBody>
                    <a:bodyPr wrap="square"/>
                    <a:lstStyle/>
                    <a:p>
                      <a:pPr algn="r"/>
                      <a:r>
                        <a:rPr sz="850" b="0">
                          <a:solidFill>
                            <a:srgbClr val="0F172A"/>
                          </a:solidFill>
                          <a:latin typeface="Inter"/>
                        </a:rPr>
                        <a:t>35</a:t>
                      </a:r>
                    </a:p>
                  </a:txBody>
                  <a:tcPr marL="54864" marR="54864" marT="27432" marB="27432" anchor="ctr">
                    <a:solidFill>
                      <a:srgbClr val="FBFAF7"/>
                    </a:solidFill>
                  </a:tcPr>
                </a:tc>
                <a:tc>
                  <a:txBody>
                    <a:bodyPr wrap="square"/>
                    <a:lstStyle/>
                    <a:p>
                      <a:pPr algn="r"/>
                      <a:r>
                        <a:rPr sz="850" b="0">
                          <a:solidFill>
                            <a:srgbClr val="0F172A"/>
                          </a:solidFill>
                          <a:latin typeface="Inter"/>
                        </a:rPr>
                        <a:t>27</a:t>
                      </a:r>
                    </a:p>
                  </a:txBody>
                  <a:tcPr marL="54864" marR="54864" marT="27432" marB="27432" anchor="ctr">
                    <a:solidFill>
                      <a:srgbClr val="FBFAF7"/>
                    </a:solidFill>
                  </a:tcPr>
                </a:tc>
                <a:tc>
                  <a:txBody>
                    <a:bodyPr wrap="square"/>
                    <a:lstStyle/>
                    <a:p>
                      <a:pPr algn="r"/>
                      <a:r>
                        <a:rPr sz="850" b="0">
                          <a:solidFill>
                            <a:srgbClr val="0F172A"/>
                          </a:solidFill>
                          <a:latin typeface="Inter"/>
                        </a:rPr>
                        <a:t>$3,294</a:t>
                      </a:r>
                    </a:p>
                  </a:txBody>
                  <a:tcPr marL="54864" marR="54864" marT="27432" marB="27432" anchor="ctr">
                    <a:solidFill>
                      <a:srgbClr val="FBFAF7"/>
                    </a:solidFill>
                  </a:tcPr>
                </a:tc>
                <a:tc>
                  <a:txBody>
                    <a:bodyPr wrap="square"/>
                    <a:lstStyle/>
                    <a:p>
                      <a:pPr algn="r"/>
                      <a:r>
                        <a:rPr sz="850" b="0">
                          <a:solidFill>
                            <a:srgbClr val="0F172A"/>
                          </a:solidFill>
                          <a:latin typeface="Inter"/>
                        </a:rPr>
                        <a:t>72%</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13</a:t>
                      </a:r>
                    </a:p>
                  </a:txBody>
                  <a:tcPr marL="54864" marR="54864" marT="27432" marB="27432" anchor="ctr">
                    <a:solidFill>
                      <a:srgbClr val="FFFFFF"/>
                    </a:solidFill>
                  </a:tcPr>
                </a:tc>
                <a:tc>
                  <a:txBody>
                    <a:bodyPr wrap="square"/>
                    <a:lstStyle/>
                    <a:p>
                      <a:pPr algn="r"/>
                      <a:r>
                        <a:rPr sz="850" b="0">
                          <a:solidFill>
                            <a:srgbClr val="0F172A"/>
                          </a:solidFill>
                          <a:latin typeface="Inter"/>
                        </a:rPr>
                        <a:t>Tue</a:t>
                      </a:r>
                    </a:p>
                  </a:txBody>
                  <a:tcPr marL="54864" marR="54864" marT="27432" marB="27432" anchor="ctr">
                    <a:solidFill>
                      <a:srgbClr val="FFFFFF"/>
                    </a:solidFill>
                  </a:tcPr>
                </a:tc>
                <a:tc>
                  <a:txBody>
                    <a:bodyPr wrap="square"/>
                    <a:lstStyle/>
                    <a:p>
                      <a:pPr algn="r"/>
                      <a:r>
                        <a:rPr sz="850" b="0">
                          <a:solidFill>
                            <a:srgbClr val="0F172A"/>
                          </a:solidFill>
                          <a:latin typeface="Inter"/>
                        </a:rPr>
                        <a:t>$10,907</a:t>
                      </a:r>
                    </a:p>
                  </a:txBody>
                  <a:tcPr marL="54864" marR="54864" marT="27432" marB="27432" anchor="ctr">
                    <a:solidFill>
                      <a:srgbClr val="FFFFFF"/>
                    </a:solidFill>
                  </a:tcPr>
                </a:tc>
                <a:tc>
                  <a:txBody>
                    <a:bodyPr wrap="square"/>
                    <a:lstStyle/>
                    <a:p>
                      <a:pPr algn="r"/>
                      <a:r>
                        <a:rPr sz="850" b="0">
                          <a:solidFill>
                            <a:srgbClr val="0F172A"/>
                          </a:solidFill>
                          <a:latin typeface="Inter"/>
                        </a:rPr>
                        <a:t>$1,255</a:t>
                      </a:r>
                    </a:p>
                  </a:txBody>
                  <a:tcPr marL="54864" marR="54864" marT="27432" marB="27432" anchor="ctr">
                    <a:solidFill>
                      <a:srgbClr val="FFFFFF"/>
                    </a:solidFill>
                  </a:tcPr>
                </a:tc>
                <a:tc>
                  <a:txBody>
                    <a:bodyPr wrap="square"/>
                    <a:lstStyle/>
                    <a:p>
                      <a:pPr algn="r"/>
                      <a:r>
                        <a:rPr sz="850" b="0">
                          <a:solidFill>
                            <a:srgbClr val="0F172A"/>
                          </a:solidFill>
                          <a:latin typeface="Inter"/>
                        </a:rPr>
                        <a:t>$6,217</a:t>
                      </a:r>
                    </a:p>
                  </a:txBody>
                  <a:tcPr marL="54864" marR="54864" marT="27432" marB="27432" anchor="ctr">
                    <a:solidFill>
                      <a:srgbClr val="FFFFFF"/>
                    </a:solidFill>
                  </a:tcPr>
                </a:tc>
                <a:tc>
                  <a:txBody>
                    <a:bodyPr wrap="square"/>
                    <a:lstStyle/>
                    <a:p>
                      <a:pPr algn="r"/>
                      <a:r>
                        <a:rPr sz="850" b="0">
                          <a:solidFill>
                            <a:srgbClr val="0F172A"/>
                          </a:solidFill>
                          <a:latin typeface="Inter"/>
                        </a:rPr>
                        <a:t>4.95x</a:t>
                      </a:r>
                    </a:p>
                  </a:txBody>
                  <a:tcPr marL="54864" marR="54864" marT="27432" marB="27432" anchor="ctr">
                    <a:solidFill>
                      <a:srgbClr val="FFFFFF"/>
                    </a:solidFill>
                  </a:tcPr>
                </a:tc>
                <a:tc>
                  <a:txBody>
                    <a:bodyPr wrap="square"/>
                    <a:lstStyle/>
                    <a:p>
                      <a:pPr algn="r"/>
                      <a:r>
                        <a:rPr sz="850" b="0">
                          <a:solidFill>
                            <a:srgbClr val="0F172A"/>
                          </a:solidFill>
                          <a:latin typeface="Inter"/>
                        </a:rPr>
                        <a:t>20.2%</a:t>
                      </a:r>
                    </a:p>
                  </a:txBody>
                  <a:tcPr marL="54864" marR="54864" marT="27432" marB="27432" anchor="ctr">
                    <a:solidFill>
                      <a:srgbClr val="FFFFFF"/>
                    </a:solidFill>
                  </a:tcPr>
                </a:tc>
                <a:tc>
                  <a:txBody>
                    <a:bodyPr wrap="square"/>
                    <a:lstStyle/>
                    <a:p>
                      <a:pPr algn="r"/>
                      <a:r>
                        <a:rPr sz="850" b="0">
                          <a:solidFill>
                            <a:srgbClr val="0F172A"/>
                          </a:solidFill>
                          <a:latin typeface="Inter"/>
                        </a:rPr>
                        <a:t>11.5%</a:t>
                      </a:r>
                    </a:p>
                  </a:txBody>
                  <a:tcPr marL="54864" marR="54864" marT="27432" marB="27432" anchor="ctr">
                    <a:solidFill>
                      <a:srgbClr val="FFFFFF"/>
                    </a:solidFill>
                  </a:tcPr>
                </a:tc>
                <a:tc>
                  <a:txBody>
                    <a:bodyPr wrap="square"/>
                    <a:lstStyle/>
                    <a:p>
                      <a:pPr algn="r"/>
                      <a:r>
                        <a:rPr sz="850" b="0">
                          <a:solidFill>
                            <a:srgbClr val="0F172A"/>
                          </a:solidFill>
                          <a:latin typeface="Inter"/>
                        </a:rPr>
                        <a:t>29</a:t>
                      </a:r>
                    </a:p>
                  </a:txBody>
                  <a:tcPr marL="54864" marR="54864" marT="27432" marB="27432" anchor="ctr">
                    <a:solidFill>
                      <a:srgbClr val="FFFFFF"/>
                    </a:solidFill>
                  </a:tcPr>
                </a:tc>
                <a:tc>
                  <a:txBody>
                    <a:bodyPr wrap="square"/>
                    <a:lstStyle/>
                    <a:p>
                      <a:pPr algn="r"/>
                      <a:r>
                        <a:rPr sz="850" b="0">
                          <a:solidFill>
                            <a:srgbClr val="0F172A"/>
                          </a:solidFill>
                          <a:latin typeface="Inter"/>
                        </a:rPr>
                        <a:t>20</a:t>
                      </a:r>
                    </a:p>
                  </a:txBody>
                  <a:tcPr marL="54864" marR="54864" marT="27432" marB="27432" anchor="ctr">
                    <a:solidFill>
                      <a:srgbClr val="FFFFFF"/>
                    </a:solidFill>
                  </a:tcPr>
                </a:tc>
                <a:tc>
                  <a:txBody>
                    <a:bodyPr wrap="square"/>
                    <a:lstStyle/>
                    <a:p>
                      <a:pPr algn="r"/>
                      <a:r>
                        <a:rPr sz="850" b="0">
                          <a:solidFill>
                            <a:srgbClr val="0F172A"/>
                          </a:solidFill>
                          <a:latin typeface="Inter"/>
                        </a:rPr>
                        <a:t>$4,690</a:t>
                      </a:r>
                    </a:p>
                  </a:txBody>
                  <a:tcPr marL="54864" marR="54864" marT="27432" marB="27432" anchor="ctr">
                    <a:solidFill>
                      <a:srgbClr val="FFFFFF"/>
                    </a:solidFill>
                  </a:tcPr>
                </a:tc>
                <a:tc>
                  <a:txBody>
                    <a:bodyPr wrap="square"/>
                    <a:lstStyle/>
                    <a:p>
                      <a:pPr algn="r"/>
                      <a:r>
                        <a:rPr sz="850" b="0">
                          <a:solidFill>
                            <a:srgbClr val="0F172A"/>
                          </a:solidFill>
                          <a:latin typeface="Inter"/>
                        </a:rPr>
                        <a:t>57%</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14</a:t>
                      </a:r>
                    </a:p>
                  </a:txBody>
                  <a:tcPr marL="54864" marR="54864" marT="27432" marB="27432" anchor="ctr">
                    <a:solidFill>
                      <a:srgbClr val="FBFAF7"/>
                    </a:solidFill>
                  </a:tcPr>
                </a:tc>
                <a:tc>
                  <a:txBody>
                    <a:bodyPr wrap="square"/>
                    <a:lstStyle/>
                    <a:p>
                      <a:pPr algn="r"/>
                      <a:r>
                        <a:rPr sz="850" b="0">
                          <a:solidFill>
                            <a:srgbClr val="0F172A"/>
                          </a:solidFill>
                          <a:latin typeface="Inter"/>
                        </a:rPr>
                        <a:t>Wed</a:t>
                      </a:r>
                    </a:p>
                  </a:txBody>
                  <a:tcPr marL="54864" marR="54864" marT="27432" marB="27432" anchor="ctr">
                    <a:solidFill>
                      <a:srgbClr val="FBFAF7"/>
                    </a:solidFill>
                  </a:tcPr>
                </a:tc>
                <a:tc>
                  <a:txBody>
                    <a:bodyPr wrap="square"/>
                    <a:lstStyle/>
                    <a:p>
                      <a:pPr algn="r"/>
                      <a:r>
                        <a:rPr sz="850" b="0">
                          <a:solidFill>
                            <a:srgbClr val="0F172A"/>
                          </a:solidFill>
                          <a:latin typeface="Inter"/>
                        </a:rPr>
                        <a:t>$9,267</a:t>
                      </a:r>
                    </a:p>
                  </a:txBody>
                  <a:tcPr marL="54864" marR="54864" marT="27432" marB="27432" anchor="ctr">
                    <a:solidFill>
                      <a:srgbClr val="FBFAF7"/>
                    </a:solidFill>
                  </a:tcPr>
                </a:tc>
                <a:tc>
                  <a:txBody>
                    <a:bodyPr wrap="square"/>
                    <a:lstStyle/>
                    <a:p>
                      <a:pPr algn="r"/>
                      <a:r>
                        <a:rPr sz="850" b="0">
                          <a:solidFill>
                            <a:srgbClr val="0F172A"/>
                          </a:solidFill>
                          <a:latin typeface="Inter"/>
                        </a:rPr>
                        <a:t>$1,103</a:t>
                      </a:r>
                    </a:p>
                  </a:txBody>
                  <a:tcPr marL="54864" marR="54864" marT="27432" marB="27432" anchor="ctr">
                    <a:solidFill>
                      <a:srgbClr val="FBFAF7"/>
                    </a:solidFill>
                  </a:tcPr>
                </a:tc>
                <a:tc>
                  <a:txBody>
                    <a:bodyPr wrap="square"/>
                    <a:lstStyle/>
                    <a:p>
                      <a:pPr algn="r"/>
                      <a:r>
                        <a:rPr sz="850" b="0">
                          <a:solidFill>
                            <a:srgbClr val="0F172A"/>
                          </a:solidFill>
                          <a:latin typeface="Inter"/>
                        </a:rPr>
                        <a:t>$4,001</a:t>
                      </a:r>
                    </a:p>
                  </a:txBody>
                  <a:tcPr marL="54864" marR="54864" marT="27432" marB="27432" anchor="ctr">
                    <a:solidFill>
                      <a:srgbClr val="FBFAF7"/>
                    </a:solidFill>
                  </a:tcPr>
                </a:tc>
                <a:tc>
                  <a:txBody>
                    <a:bodyPr wrap="square"/>
                    <a:lstStyle/>
                    <a:p>
                      <a:pPr algn="r"/>
                      <a:r>
                        <a:rPr sz="850" b="0">
                          <a:solidFill>
                            <a:srgbClr val="0F172A"/>
                          </a:solidFill>
                          <a:latin typeface="Inter"/>
                        </a:rPr>
                        <a:t>3.63x</a:t>
                      </a:r>
                    </a:p>
                  </a:txBody>
                  <a:tcPr marL="54864" marR="54864" marT="27432" marB="27432" anchor="ctr">
                    <a:solidFill>
                      <a:srgbClr val="FBFAF7"/>
                    </a:solidFill>
                  </a:tcPr>
                </a:tc>
                <a:tc>
                  <a:txBody>
                    <a:bodyPr wrap="square"/>
                    <a:lstStyle/>
                    <a:p>
                      <a:pPr algn="r"/>
                      <a:r>
                        <a:rPr sz="850" b="0">
                          <a:solidFill>
                            <a:srgbClr val="0F172A"/>
                          </a:solidFill>
                          <a:latin typeface="Inter"/>
                        </a:rPr>
                        <a:t>27.6%</a:t>
                      </a:r>
                    </a:p>
                  </a:txBody>
                  <a:tcPr marL="54864" marR="54864" marT="27432" marB="27432" anchor="ctr">
                    <a:solidFill>
                      <a:srgbClr val="FBFAF7"/>
                    </a:solidFill>
                  </a:tcPr>
                </a:tc>
                <a:tc>
                  <a:txBody>
                    <a:bodyPr wrap="square"/>
                    <a:lstStyle/>
                    <a:p>
                      <a:pPr algn="r"/>
                      <a:r>
                        <a:rPr sz="850" b="0">
                          <a:solidFill>
                            <a:srgbClr val="0F172A"/>
                          </a:solidFill>
                          <a:latin typeface="Inter"/>
                        </a:rPr>
                        <a:t>11.9%</a:t>
                      </a:r>
                    </a:p>
                  </a:txBody>
                  <a:tcPr marL="54864" marR="54864" marT="27432" marB="27432" anchor="ctr">
                    <a:solidFill>
                      <a:srgbClr val="FBFAF7"/>
                    </a:solidFill>
                  </a:tcPr>
                </a:tc>
                <a:tc>
                  <a:txBody>
                    <a:bodyPr wrap="square"/>
                    <a:lstStyle/>
                    <a:p>
                      <a:pPr algn="r"/>
                      <a:r>
                        <a:rPr sz="850" b="0">
                          <a:solidFill>
                            <a:srgbClr val="0F172A"/>
                          </a:solidFill>
                          <a:latin typeface="Inter"/>
                        </a:rPr>
                        <a:t>31</a:t>
                      </a:r>
                    </a:p>
                  </a:txBody>
                  <a:tcPr marL="54864" marR="54864" marT="27432" marB="27432" anchor="ctr">
                    <a:solidFill>
                      <a:srgbClr val="FBFAF7"/>
                    </a:solidFill>
                  </a:tcPr>
                </a:tc>
                <a:tc>
                  <a:txBody>
                    <a:bodyPr wrap="square"/>
                    <a:lstStyle/>
                    <a:p>
                      <a:pPr algn="r"/>
                      <a:r>
                        <a:rPr sz="850" b="0">
                          <a:solidFill>
                            <a:srgbClr val="0F172A"/>
                          </a:solidFill>
                          <a:latin typeface="Inter"/>
                        </a:rPr>
                        <a:t>15</a:t>
                      </a:r>
                    </a:p>
                  </a:txBody>
                  <a:tcPr marL="54864" marR="54864" marT="27432" marB="27432" anchor="ctr">
                    <a:solidFill>
                      <a:srgbClr val="FBFAF7"/>
                    </a:solidFill>
                  </a:tcPr>
                </a:tc>
                <a:tc>
                  <a:txBody>
                    <a:bodyPr wrap="square"/>
                    <a:lstStyle/>
                    <a:p>
                      <a:pPr algn="r"/>
                      <a:r>
                        <a:rPr sz="850" b="0">
                          <a:solidFill>
                            <a:srgbClr val="0F172A"/>
                          </a:solidFill>
                          <a:latin typeface="Inter"/>
                        </a:rPr>
                        <a:t>$5,266</a:t>
                      </a:r>
                    </a:p>
                  </a:txBody>
                  <a:tcPr marL="54864" marR="54864" marT="27432" marB="27432" anchor="ctr">
                    <a:solidFill>
                      <a:srgbClr val="FBFAF7"/>
                    </a:solidFill>
                  </a:tcPr>
                </a:tc>
                <a:tc>
                  <a:txBody>
                    <a:bodyPr wrap="square"/>
                    <a:lstStyle/>
                    <a:p>
                      <a:pPr algn="r"/>
                      <a:r>
                        <a:rPr sz="850" b="0">
                          <a:solidFill>
                            <a:srgbClr val="0F172A"/>
                          </a:solidFill>
                          <a:latin typeface="Inter"/>
                        </a:rPr>
                        <a:t>43%</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15</a:t>
                      </a:r>
                    </a:p>
                  </a:txBody>
                  <a:tcPr marL="54864" marR="54864" marT="27432" marB="27432" anchor="ctr">
                    <a:solidFill>
                      <a:srgbClr val="FFFFFF"/>
                    </a:solidFill>
                  </a:tcPr>
                </a:tc>
                <a:tc>
                  <a:txBody>
                    <a:bodyPr wrap="square"/>
                    <a:lstStyle/>
                    <a:p>
                      <a:pPr algn="r"/>
                      <a:r>
                        <a:rPr sz="850" b="0">
                          <a:solidFill>
                            <a:srgbClr val="0F172A"/>
                          </a:solidFill>
                          <a:latin typeface="Inter"/>
                        </a:rPr>
                        <a:t>Thu</a:t>
                      </a:r>
                    </a:p>
                  </a:txBody>
                  <a:tcPr marL="54864" marR="54864" marT="27432" marB="27432" anchor="ctr">
                    <a:solidFill>
                      <a:srgbClr val="FFFFFF"/>
                    </a:solidFill>
                  </a:tcPr>
                </a:tc>
                <a:tc>
                  <a:txBody>
                    <a:bodyPr wrap="square"/>
                    <a:lstStyle/>
                    <a:p>
                      <a:pPr algn="r"/>
                      <a:r>
                        <a:rPr sz="850" b="0">
                          <a:solidFill>
                            <a:srgbClr val="0F172A"/>
                          </a:solidFill>
                          <a:latin typeface="Inter"/>
                        </a:rPr>
                        <a:t>$9,621</a:t>
                      </a:r>
                    </a:p>
                  </a:txBody>
                  <a:tcPr marL="54864" marR="54864" marT="27432" marB="27432" anchor="ctr">
                    <a:solidFill>
                      <a:srgbClr val="FFFFFF"/>
                    </a:solidFill>
                  </a:tcPr>
                </a:tc>
                <a:tc>
                  <a:txBody>
                    <a:bodyPr wrap="square"/>
                    <a:lstStyle/>
                    <a:p>
                      <a:pPr algn="r"/>
                      <a:r>
                        <a:rPr sz="850" b="0">
                          <a:solidFill>
                            <a:srgbClr val="0F172A"/>
                          </a:solidFill>
                          <a:latin typeface="Inter"/>
                        </a:rPr>
                        <a:t>$1,245</a:t>
                      </a:r>
                    </a:p>
                  </a:txBody>
                  <a:tcPr marL="54864" marR="54864" marT="27432" marB="27432" anchor="ctr">
                    <a:solidFill>
                      <a:srgbClr val="FFFFFF"/>
                    </a:solidFill>
                  </a:tcPr>
                </a:tc>
                <a:tc>
                  <a:txBody>
                    <a:bodyPr wrap="square"/>
                    <a:lstStyle/>
                    <a:p>
                      <a:pPr algn="r"/>
                      <a:r>
                        <a:rPr sz="850" b="0">
                          <a:solidFill>
                            <a:srgbClr val="0F172A"/>
                          </a:solidFill>
                          <a:latin typeface="Inter"/>
                        </a:rPr>
                        <a:t>$6,146</a:t>
                      </a:r>
                    </a:p>
                  </a:txBody>
                  <a:tcPr marL="54864" marR="54864" marT="27432" marB="27432" anchor="ctr">
                    <a:solidFill>
                      <a:srgbClr val="FFFFFF"/>
                    </a:solidFill>
                  </a:tcPr>
                </a:tc>
                <a:tc>
                  <a:txBody>
                    <a:bodyPr wrap="square"/>
                    <a:lstStyle/>
                    <a:p>
                      <a:pPr algn="r"/>
                      <a:r>
                        <a:rPr sz="850" b="0">
                          <a:solidFill>
                            <a:srgbClr val="0F172A"/>
                          </a:solidFill>
                          <a:latin typeface="Inter"/>
                        </a:rPr>
                        <a:t>4.94x</a:t>
                      </a:r>
                    </a:p>
                  </a:txBody>
                  <a:tcPr marL="54864" marR="54864" marT="27432" marB="27432" anchor="ctr">
                    <a:solidFill>
                      <a:srgbClr val="FFFFFF"/>
                    </a:solidFill>
                  </a:tcPr>
                </a:tc>
                <a:tc>
                  <a:txBody>
                    <a:bodyPr wrap="square"/>
                    <a:lstStyle/>
                    <a:p>
                      <a:pPr algn="r"/>
                      <a:r>
                        <a:rPr sz="850" b="0">
                          <a:solidFill>
                            <a:srgbClr val="0F172A"/>
                          </a:solidFill>
                          <a:latin typeface="Inter"/>
                        </a:rPr>
                        <a:t>20.3%</a:t>
                      </a:r>
                    </a:p>
                  </a:txBody>
                  <a:tcPr marL="54864" marR="54864" marT="27432" marB="27432" anchor="ctr">
                    <a:solidFill>
                      <a:srgbClr val="FFFFFF"/>
                    </a:solidFill>
                  </a:tcPr>
                </a:tc>
                <a:tc>
                  <a:txBody>
                    <a:bodyPr wrap="square"/>
                    <a:lstStyle/>
                    <a:p>
                      <a:pPr algn="r"/>
                      <a:r>
                        <a:rPr sz="850" b="0">
                          <a:solidFill>
                            <a:srgbClr val="0F172A"/>
                          </a:solidFill>
                          <a:latin typeface="Inter"/>
                        </a:rPr>
                        <a:t>12.9%</a:t>
                      </a:r>
                    </a:p>
                  </a:txBody>
                  <a:tcPr marL="54864" marR="54864" marT="27432" marB="27432" anchor="ctr">
                    <a:solidFill>
                      <a:srgbClr val="FFFFFF"/>
                    </a:solidFill>
                  </a:tcPr>
                </a:tc>
                <a:tc>
                  <a:txBody>
                    <a:bodyPr wrap="square"/>
                    <a:lstStyle/>
                    <a:p>
                      <a:pPr algn="r"/>
                      <a:r>
                        <a:rPr sz="850" b="0">
                          <a:solidFill>
                            <a:srgbClr val="0F172A"/>
                          </a:solidFill>
                          <a:latin typeface="Inter"/>
                        </a:rPr>
                        <a:t>25</a:t>
                      </a:r>
                    </a:p>
                  </a:txBody>
                  <a:tcPr marL="54864" marR="54864" marT="27432" marB="27432" anchor="ctr">
                    <a:solidFill>
                      <a:srgbClr val="FFFFFF"/>
                    </a:solidFill>
                  </a:tcPr>
                </a:tc>
                <a:tc>
                  <a:txBody>
                    <a:bodyPr wrap="square"/>
                    <a:lstStyle/>
                    <a:p>
                      <a:pPr algn="r"/>
                      <a:r>
                        <a:rPr sz="850" b="0">
                          <a:solidFill>
                            <a:srgbClr val="0F172A"/>
                          </a:solidFill>
                          <a:latin typeface="Inter"/>
                        </a:rPr>
                        <a:t>20</a:t>
                      </a:r>
                    </a:p>
                  </a:txBody>
                  <a:tcPr marL="54864" marR="54864" marT="27432" marB="27432" anchor="ctr">
                    <a:solidFill>
                      <a:srgbClr val="FFFFFF"/>
                    </a:solidFill>
                  </a:tcPr>
                </a:tc>
                <a:tc>
                  <a:txBody>
                    <a:bodyPr wrap="square"/>
                    <a:lstStyle/>
                    <a:p>
                      <a:pPr algn="r"/>
                      <a:r>
                        <a:rPr sz="850" b="0">
                          <a:solidFill>
                            <a:srgbClr val="0F172A"/>
                          </a:solidFill>
                          <a:latin typeface="Inter"/>
                        </a:rPr>
                        <a:t>$3,475</a:t>
                      </a:r>
                    </a:p>
                  </a:txBody>
                  <a:tcPr marL="54864" marR="54864" marT="27432" marB="27432" anchor="ctr">
                    <a:solidFill>
                      <a:srgbClr val="FFFFFF"/>
                    </a:solidFill>
                  </a:tcPr>
                </a:tc>
                <a:tc>
                  <a:txBody>
                    <a:bodyPr wrap="square"/>
                    <a:lstStyle/>
                    <a:p>
                      <a:pPr algn="r"/>
                      <a:r>
                        <a:rPr sz="850" b="0">
                          <a:solidFill>
                            <a:srgbClr val="0F172A"/>
                          </a:solidFill>
                          <a:latin typeface="Inter"/>
                        </a:rPr>
                        <a:t>64%</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16</a:t>
                      </a:r>
                    </a:p>
                  </a:txBody>
                  <a:tcPr marL="54864" marR="54864" marT="27432" marB="27432" anchor="ctr">
                    <a:solidFill>
                      <a:srgbClr val="FBFAF7"/>
                    </a:solidFill>
                  </a:tcPr>
                </a:tc>
                <a:tc>
                  <a:txBody>
                    <a:bodyPr wrap="square"/>
                    <a:lstStyle/>
                    <a:p>
                      <a:pPr algn="r"/>
                      <a:r>
                        <a:rPr sz="850" b="0">
                          <a:solidFill>
                            <a:srgbClr val="0F172A"/>
                          </a:solidFill>
                          <a:latin typeface="Inter"/>
                        </a:rPr>
                        <a:t>Fri</a:t>
                      </a:r>
                    </a:p>
                  </a:txBody>
                  <a:tcPr marL="54864" marR="54864" marT="27432" marB="27432" anchor="ctr">
                    <a:solidFill>
                      <a:srgbClr val="FBFAF7"/>
                    </a:solidFill>
                  </a:tcPr>
                </a:tc>
                <a:tc>
                  <a:txBody>
                    <a:bodyPr wrap="square"/>
                    <a:lstStyle/>
                    <a:p>
                      <a:pPr algn="r"/>
                      <a:r>
                        <a:rPr sz="850" b="0">
                          <a:solidFill>
                            <a:srgbClr val="0F172A"/>
                          </a:solidFill>
                          <a:latin typeface="Inter"/>
                        </a:rPr>
                        <a:t>$12,668</a:t>
                      </a:r>
                    </a:p>
                  </a:txBody>
                  <a:tcPr marL="54864" marR="54864" marT="27432" marB="27432" anchor="ctr">
                    <a:solidFill>
                      <a:srgbClr val="FBFAF7"/>
                    </a:solidFill>
                  </a:tcPr>
                </a:tc>
                <a:tc>
                  <a:txBody>
                    <a:bodyPr wrap="square"/>
                    <a:lstStyle/>
                    <a:p>
                      <a:pPr algn="r"/>
                      <a:r>
                        <a:rPr sz="850" b="0">
                          <a:solidFill>
                            <a:srgbClr val="0F172A"/>
                          </a:solidFill>
                          <a:latin typeface="Inter"/>
                        </a:rPr>
                        <a:t>$1,704</a:t>
                      </a:r>
                    </a:p>
                  </a:txBody>
                  <a:tcPr marL="54864" marR="54864" marT="27432" marB="27432" anchor="ctr">
                    <a:solidFill>
                      <a:srgbClr val="FBFAF7"/>
                    </a:solidFill>
                  </a:tcPr>
                </a:tc>
                <a:tc>
                  <a:txBody>
                    <a:bodyPr wrap="square"/>
                    <a:lstStyle/>
                    <a:p>
                      <a:pPr algn="r"/>
                      <a:r>
                        <a:rPr sz="850" b="0">
                          <a:solidFill>
                            <a:srgbClr val="0F172A"/>
                          </a:solidFill>
                          <a:latin typeface="Inter"/>
                        </a:rPr>
                        <a:t>$7,159</a:t>
                      </a:r>
                    </a:p>
                  </a:txBody>
                  <a:tcPr marL="54864" marR="54864" marT="27432" marB="27432" anchor="ctr">
                    <a:solidFill>
                      <a:srgbClr val="FBFAF7"/>
                    </a:solidFill>
                  </a:tcPr>
                </a:tc>
                <a:tc>
                  <a:txBody>
                    <a:bodyPr wrap="square"/>
                    <a:lstStyle/>
                    <a:p>
                      <a:pPr algn="r"/>
                      <a:r>
                        <a:rPr sz="850" b="0">
                          <a:solidFill>
                            <a:srgbClr val="0F172A"/>
                          </a:solidFill>
                          <a:latin typeface="Inter"/>
                        </a:rPr>
                        <a:t>4.20x</a:t>
                      </a:r>
                    </a:p>
                  </a:txBody>
                  <a:tcPr marL="54864" marR="54864" marT="27432" marB="27432" anchor="ctr">
                    <a:solidFill>
                      <a:srgbClr val="FBFAF7"/>
                    </a:solidFill>
                  </a:tcPr>
                </a:tc>
                <a:tc>
                  <a:txBody>
                    <a:bodyPr wrap="square"/>
                    <a:lstStyle/>
                    <a:p>
                      <a:pPr algn="r"/>
                      <a:r>
                        <a:rPr sz="850" b="0">
                          <a:solidFill>
                            <a:srgbClr val="0F172A"/>
                          </a:solidFill>
                          <a:latin typeface="Inter"/>
                        </a:rPr>
                        <a:t>23.8%</a:t>
                      </a:r>
                    </a:p>
                  </a:txBody>
                  <a:tcPr marL="54864" marR="54864" marT="27432" marB="27432" anchor="ctr">
                    <a:solidFill>
                      <a:srgbClr val="FBFAF7"/>
                    </a:solidFill>
                  </a:tcPr>
                </a:tc>
                <a:tc>
                  <a:txBody>
                    <a:bodyPr wrap="square"/>
                    <a:lstStyle/>
                    <a:p>
                      <a:pPr algn="r"/>
                      <a:r>
                        <a:rPr sz="850" b="0">
                          <a:solidFill>
                            <a:srgbClr val="0F172A"/>
                          </a:solidFill>
                          <a:latin typeface="Inter"/>
                        </a:rPr>
                        <a:t>13.4%</a:t>
                      </a:r>
                    </a:p>
                  </a:txBody>
                  <a:tcPr marL="54864" marR="54864" marT="27432" marB="27432" anchor="ctr">
                    <a:solidFill>
                      <a:srgbClr val="FBFAF7"/>
                    </a:solidFill>
                  </a:tcPr>
                </a:tc>
                <a:tc>
                  <a:txBody>
                    <a:bodyPr wrap="square"/>
                    <a:lstStyle/>
                    <a:p>
                      <a:pPr algn="r"/>
                      <a:r>
                        <a:rPr sz="850" b="0">
                          <a:solidFill>
                            <a:srgbClr val="0F172A"/>
                          </a:solidFill>
                          <a:latin typeface="Inter"/>
                        </a:rPr>
                        <a:t>34</a:t>
                      </a:r>
                    </a:p>
                  </a:txBody>
                  <a:tcPr marL="54864" marR="54864" marT="27432" marB="27432" anchor="ctr">
                    <a:solidFill>
                      <a:srgbClr val="FBFAF7"/>
                    </a:solidFill>
                  </a:tcPr>
                </a:tc>
                <a:tc>
                  <a:txBody>
                    <a:bodyPr wrap="square"/>
                    <a:lstStyle/>
                    <a:p>
                      <a:pPr algn="r"/>
                      <a:r>
                        <a:rPr sz="850" b="0">
                          <a:solidFill>
                            <a:srgbClr val="0F172A"/>
                          </a:solidFill>
                          <a:latin typeface="Inter"/>
                        </a:rPr>
                        <a:t>20</a:t>
                      </a:r>
                    </a:p>
                  </a:txBody>
                  <a:tcPr marL="54864" marR="54864" marT="27432" marB="27432" anchor="ctr">
                    <a:solidFill>
                      <a:srgbClr val="FBFAF7"/>
                    </a:solidFill>
                  </a:tcPr>
                </a:tc>
                <a:tc>
                  <a:txBody>
                    <a:bodyPr wrap="square"/>
                    <a:lstStyle/>
                    <a:p>
                      <a:pPr algn="r"/>
                      <a:r>
                        <a:rPr sz="850" b="0">
                          <a:solidFill>
                            <a:srgbClr val="0F172A"/>
                          </a:solidFill>
                          <a:latin typeface="Inter"/>
                        </a:rPr>
                        <a:t>$5,509</a:t>
                      </a:r>
                    </a:p>
                  </a:txBody>
                  <a:tcPr marL="54864" marR="54864" marT="27432" marB="27432" anchor="ctr">
                    <a:solidFill>
                      <a:srgbClr val="FBFAF7"/>
                    </a:solidFill>
                  </a:tcPr>
                </a:tc>
                <a:tc>
                  <a:txBody>
                    <a:bodyPr wrap="square"/>
                    <a:lstStyle/>
                    <a:p>
                      <a:pPr algn="r"/>
                      <a:r>
                        <a:rPr sz="850" b="0">
                          <a:solidFill>
                            <a:srgbClr val="0F172A"/>
                          </a:solidFill>
                          <a:latin typeface="Inter"/>
                        </a:rPr>
                        <a:t>57%</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17</a:t>
                      </a:r>
                    </a:p>
                  </a:txBody>
                  <a:tcPr marL="54864" marR="54864" marT="27432" marB="27432" anchor="ctr">
                    <a:solidFill>
                      <a:srgbClr val="FFFFFF"/>
                    </a:solidFill>
                  </a:tcPr>
                </a:tc>
                <a:tc>
                  <a:txBody>
                    <a:bodyPr wrap="square"/>
                    <a:lstStyle/>
                    <a:p>
                      <a:pPr algn="r"/>
                      <a:r>
                        <a:rPr sz="850" b="0">
                          <a:solidFill>
                            <a:srgbClr val="0F172A"/>
                          </a:solidFill>
                          <a:latin typeface="Inter"/>
                        </a:rPr>
                        <a:t>Sat</a:t>
                      </a:r>
                    </a:p>
                  </a:txBody>
                  <a:tcPr marL="54864" marR="54864" marT="27432" marB="27432" anchor="ctr">
                    <a:solidFill>
                      <a:srgbClr val="FFFFFF"/>
                    </a:solidFill>
                  </a:tcPr>
                </a:tc>
                <a:tc>
                  <a:txBody>
                    <a:bodyPr wrap="square"/>
                    <a:lstStyle/>
                    <a:p>
                      <a:pPr algn="r"/>
                      <a:r>
                        <a:rPr sz="850" b="0">
                          <a:solidFill>
                            <a:srgbClr val="0F172A"/>
                          </a:solidFill>
                          <a:latin typeface="Inter"/>
                        </a:rPr>
                        <a:t>$10,477</a:t>
                      </a:r>
                    </a:p>
                  </a:txBody>
                  <a:tcPr marL="54864" marR="54864" marT="27432" marB="27432" anchor="ctr">
                    <a:solidFill>
                      <a:srgbClr val="FFFFFF"/>
                    </a:solidFill>
                  </a:tcPr>
                </a:tc>
                <a:tc>
                  <a:txBody>
                    <a:bodyPr wrap="square"/>
                    <a:lstStyle/>
                    <a:p>
                      <a:pPr algn="r"/>
                      <a:r>
                        <a:rPr sz="850" b="0">
                          <a:solidFill>
                            <a:srgbClr val="0F172A"/>
                          </a:solidFill>
                          <a:latin typeface="Inter"/>
                        </a:rPr>
                        <a:t>$1,625</a:t>
                      </a:r>
                    </a:p>
                  </a:txBody>
                  <a:tcPr marL="54864" marR="54864" marT="27432" marB="27432" anchor="ctr">
                    <a:solidFill>
                      <a:srgbClr val="FFFFFF"/>
                    </a:solidFill>
                  </a:tcPr>
                </a:tc>
                <a:tc>
                  <a:txBody>
                    <a:bodyPr wrap="square"/>
                    <a:lstStyle/>
                    <a:p>
                      <a:pPr algn="r"/>
                      <a:r>
                        <a:rPr sz="850" b="0">
                          <a:solidFill>
                            <a:srgbClr val="0F172A"/>
                          </a:solidFill>
                          <a:latin typeface="Inter"/>
                        </a:rPr>
                        <a:t>$3,610</a:t>
                      </a:r>
                    </a:p>
                  </a:txBody>
                  <a:tcPr marL="54864" marR="54864" marT="27432" marB="27432" anchor="ctr">
                    <a:solidFill>
                      <a:srgbClr val="FFFFFF"/>
                    </a:solidFill>
                  </a:tcPr>
                </a:tc>
                <a:tc>
                  <a:txBody>
                    <a:bodyPr wrap="square"/>
                    <a:lstStyle/>
                    <a:p>
                      <a:pPr algn="r"/>
                      <a:r>
                        <a:rPr sz="850" b="0">
                          <a:solidFill>
                            <a:srgbClr val="0F172A"/>
                          </a:solidFill>
                          <a:latin typeface="Inter"/>
                        </a:rPr>
                        <a:t>2.22x</a:t>
                      </a:r>
                    </a:p>
                  </a:txBody>
                  <a:tcPr marL="54864" marR="54864" marT="27432" marB="27432" anchor="ctr">
                    <a:solidFill>
                      <a:srgbClr val="FFFFFF"/>
                    </a:solidFill>
                  </a:tcPr>
                </a:tc>
                <a:tc>
                  <a:txBody>
                    <a:bodyPr wrap="square"/>
                    <a:lstStyle/>
                    <a:p>
                      <a:pPr algn="r"/>
                      <a:r>
                        <a:rPr sz="850" b="0">
                          <a:solidFill>
                            <a:srgbClr val="DC2626"/>
                          </a:solidFill>
                          <a:latin typeface="Inter"/>
                        </a:rPr>
                        <a:t>45.0%</a:t>
                      </a:r>
                    </a:p>
                  </a:txBody>
                  <a:tcPr marL="54864" marR="54864" marT="27432" marB="27432" anchor="ctr">
                    <a:solidFill>
                      <a:srgbClr val="FFFFFF"/>
                    </a:solidFill>
                  </a:tcPr>
                </a:tc>
                <a:tc>
                  <a:txBody>
                    <a:bodyPr wrap="square"/>
                    <a:lstStyle/>
                    <a:p>
                      <a:pPr algn="r"/>
                      <a:r>
                        <a:rPr sz="850" b="0">
                          <a:solidFill>
                            <a:srgbClr val="0F172A"/>
                          </a:solidFill>
                          <a:latin typeface="Inter"/>
                        </a:rPr>
                        <a:t>15.5%</a:t>
                      </a:r>
                    </a:p>
                  </a:txBody>
                  <a:tcPr marL="54864" marR="54864" marT="27432" marB="27432" anchor="ctr">
                    <a:solidFill>
                      <a:srgbClr val="FFFFFF"/>
                    </a:solidFill>
                  </a:tcPr>
                </a:tc>
                <a:tc>
                  <a:txBody>
                    <a:bodyPr wrap="square"/>
                    <a:lstStyle/>
                    <a:p>
                      <a:pPr algn="r"/>
                      <a:r>
                        <a:rPr sz="850" b="0">
                          <a:solidFill>
                            <a:srgbClr val="0F172A"/>
                          </a:solidFill>
                          <a:latin typeface="Inter"/>
                        </a:rPr>
                        <a:t>27</a:t>
                      </a:r>
                    </a:p>
                  </a:txBody>
                  <a:tcPr marL="54864" marR="54864" marT="27432" marB="27432" anchor="ctr">
                    <a:solidFill>
                      <a:srgbClr val="FFFFFF"/>
                    </a:solidFill>
                  </a:tcPr>
                </a:tc>
                <a:tc>
                  <a:txBody>
                    <a:bodyPr wrap="square"/>
                    <a:lstStyle/>
                    <a:p>
                      <a:pPr algn="r"/>
                      <a:r>
                        <a:rPr sz="850" b="0">
                          <a:solidFill>
                            <a:srgbClr val="0F172A"/>
                          </a:solidFill>
                          <a:latin typeface="Inter"/>
                        </a:rPr>
                        <a:t>15</a:t>
                      </a:r>
                    </a:p>
                  </a:txBody>
                  <a:tcPr marL="54864" marR="54864" marT="27432" marB="27432" anchor="ctr">
                    <a:solidFill>
                      <a:srgbClr val="FFFFFF"/>
                    </a:solidFill>
                  </a:tcPr>
                </a:tc>
                <a:tc>
                  <a:txBody>
                    <a:bodyPr wrap="square"/>
                    <a:lstStyle/>
                    <a:p>
                      <a:pPr algn="r"/>
                      <a:r>
                        <a:rPr sz="850" b="0">
                          <a:solidFill>
                            <a:srgbClr val="0F172A"/>
                          </a:solidFill>
                          <a:latin typeface="Inter"/>
                        </a:rPr>
                        <a:t>$6,867</a:t>
                      </a:r>
                    </a:p>
                  </a:txBody>
                  <a:tcPr marL="54864" marR="54864" marT="27432" marB="27432" anchor="ctr">
                    <a:solidFill>
                      <a:srgbClr val="FFFFFF"/>
                    </a:solidFill>
                  </a:tcPr>
                </a:tc>
                <a:tc>
                  <a:txBody>
                    <a:bodyPr wrap="square"/>
                    <a:lstStyle/>
                    <a:p>
                      <a:pPr algn="r"/>
                      <a:r>
                        <a:rPr sz="850" b="0">
                          <a:solidFill>
                            <a:srgbClr val="0F172A"/>
                          </a:solidFill>
                          <a:latin typeface="Inter"/>
                        </a:rPr>
                        <a:t>34%</a:t>
                      </a:r>
                    </a:p>
                  </a:txBody>
                  <a:tcPr marL="54864" marR="54864" marT="27432" marB="27432" anchor="ctr">
                    <a:solidFill>
                      <a:srgbClr val="FFFFFF"/>
                    </a:solidFill>
                  </a:tcPr>
                </a:tc>
              </a:tr>
              <a:tr h="246888">
                <a:tc>
                  <a:txBody>
                    <a:bodyPr wrap="square"/>
                    <a:lstStyle/>
                    <a:p>
                      <a:pPr algn="l"/>
                      <a:r>
                        <a:rPr sz="850" b="1">
                          <a:solidFill>
                            <a:srgbClr val="0F172A"/>
                          </a:solidFill>
                          <a:latin typeface="Inter"/>
                        </a:rPr>
                        <a:t>Week Oct 11 – 17</a:t>
                      </a:r>
                    </a:p>
                  </a:txBody>
                  <a:tcPr marL="54864" marR="54864" marT="27432" marB="27432" anchor="ctr">
                    <a:solidFill>
                      <a:srgbClr val="F6F3EC"/>
                    </a:solidFill>
                  </a:tcPr>
                </a:tc>
                <a:tc>
                  <a:txBody>
                    <a:bodyPr wrap="square"/>
                    <a:lstStyle/>
                    <a:p>
                      <a:pPr algn="r"/>
                      <a:r>
                        <a:rPr sz="850" b="1">
                          <a:solidFill>
                            <a:srgbClr val="0F172A"/>
                          </a:solidFill>
                          <a:latin typeface="Inter"/>
                        </a:rPr>
                        <a:t/>
                      </a:r>
                    </a:p>
                  </a:txBody>
                  <a:tcPr marL="54864" marR="54864" marT="27432" marB="27432" anchor="ctr">
                    <a:solidFill>
                      <a:srgbClr val="F6F3EC"/>
                    </a:solidFill>
                  </a:tcPr>
                </a:tc>
                <a:tc>
                  <a:txBody>
                    <a:bodyPr wrap="square"/>
                    <a:lstStyle/>
                    <a:p>
                      <a:pPr algn="r"/>
                      <a:r>
                        <a:rPr sz="850" b="1">
                          <a:solidFill>
                            <a:srgbClr val="0F172A"/>
                          </a:solidFill>
                          <a:latin typeface="Inter"/>
                        </a:rPr>
                        <a:t>$79,095</a:t>
                      </a:r>
                    </a:p>
                  </a:txBody>
                  <a:tcPr marL="54864" marR="54864" marT="27432" marB="27432" anchor="ctr">
                    <a:solidFill>
                      <a:srgbClr val="F6F3EC"/>
                    </a:solidFill>
                  </a:tcPr>
                </a:tc>
                <a:tc>
                  <a:txBody>
                    <a:bodyPr wrap="square"/>
                    <a:lstStyle/>
                    <a:p>
                      <a:pPr algn="r"/>
                      <a:r>
                        <a:rPr sz="850" b="1">
                          <a:solidFill>
                            <a:srgbClr val="0F172A"/>
                          </a:solidFill>
                          <a:latin typeface="Inter"/>
                        </a:rPr>
                        <a:t>$9,816</a:t>
                      </a:r>
                    </a:p>
                  </a:txBody>
                  <a:tcPr marL="54864" marR="54864" marT="27432" marB="27432" anchor="ctr">
                    <a:solidFill>
                      <a:srgbClr val="F6F3EC"/>
                    </a:solidFill>
                  </a:tcPr>
                </a:tc>
                <a:tc>
                  <a:txBody>
                    <a:bodyPr wrap="square"/>
                    <a:lstStyle/>
                    <a:p>
                      <a:pPr algn="r"/>
                      <a:r>
                        <a:rPr sz="850" b="1">
                          <a:solidFill>
                            <a:srgbClr val="0F172A"/>
                          </a:solidFill>
                          <a:latin typeface="Inter"/>
                        </a:rPr>
                        <a:t>$43,135</a:t>
                      </a:r>
                    </a:p>
                  </a:txBody>
                  <a:tcPr marL="54864" marR="54864" marT="27432" marB="27432" anchor="ctr">
                    <a:solidFill>
                      <a:srgbClr val="F6F3EC"/>
                    </a:solidFill>
                  </a:tcPr>
                </a:tc>
                <a:tc>
                  <a:txBody>
                    <a:bodyPr wrap="square"/>
                    <a:lstStyle/>
                    <a:p>
                      <a:pPr algn="r"/>
                      <a:r>
                        <a:rPr sz="850" b="1">
                          <a:solidFill>
                            <a:srgbClr val="0F172A"/>
                          </a:solidFill>
                          <a:latin typeface="Inter"/>
                        </a:rPr>
                        <a:t>4.39x</a:t>
                      </a:r>
                    </a:p>
                  </a:txBody>
                  <a:tcPr marL="54864" marR="54864" marT="27432" marB="27432" anchor="ctr">
                    <a:solidFill>
                      <a:srgbClr val="F6F3EC"/>
                    </a:solidFill>
                  </a:tcPr>
                </a:tc>
                <a:tc>
                  <a:txBody>
                    <a:bodyPr wrap="square"/>
                    <a:lstStyle/>
                    <a:p>
                      <a:pPr algn="r"/>
                      <a:r>
                        <a:rPr sz="850" b="1">
                          <a:solidFill>
                            <a:srgbClr val="0F172A"/>
                          </a:solidFill>
                          <a:latin typeface="Inter"/>
                        </a:rPr>
                        <a:t>22.8%</a:t>
                      </a:r>
                    </a:p>
                  </a:txBody>
                  <a:tcPr marL="54864" marR="54864" marT="27432" marB="27432" anchor="ctr">
                    <a:solidFill>
                      <a:srgbClr val="F6F3EC"/>
                    </a:solidFill>
                  </a:tcPr>
                </a:tc>
                <a:tc>
                  <a:txBody>
                    <a:bodyPr wrap="square"/>
                    <a:lstStyle/>
                    <a:p>
                      <a:pPr algn="r"/>
                      <a:r>
                        <a:rPr sz="850" b="1">
                          <a:solidFill>
                            <a:srgbClr val="0F172A"/>
                          </a:solidFill>
                          <a:latin typeface="Inter"/>
                        </a:rPr>
                        <a:t>12.4%</a:t>
                      </a:r>
                    </a:p>
                  </a:txBody>
                  <a:tcPr marL="54864" marR="54864" marT="27432" marB="27432" anchor="ctr">
                    <a:solidFill>
                      <a:srgbClr val="F6F3EC"/>
                    </a:solidFill>
                  </a:tcPr>
                </a:tc>
                <a:tc>
                  <a:txBody>
                    <a:bodyPr wrap="square"/>
                    <a:lstStyle/>
                    <a:p>
                      <a:pPr algn="r"/>
                      <a:r>
                        <a:rPr sz="850" b="1">
                          <a:solidFill>
                            <a:srgbClr val="0F172A"/>
                          </a:solidFill>
                          <a:latin typeface="Inter"/>
                        </a:rPr>
                        <a:t>225</a:t>
                      </a:r>
                    </a:p>
                  </a:txBody>
                  <a:tcPr marL="54864" marR="54864" marT="27432" marB="27432" anchor="ctr">
                    <a:solidFill>
                      <a:srgbClr val="F6F3EC"/>
                    </a:solidFill>
                  </a:tcPr>
                </a:tc>
                <a:tc>
                  <a:txBody>
                    <a:bodyPr wrap="square"/>
                    <a:lstStyle/>
                    <a:p>
                      <a:pPr algn="r"/>
                      <a:r>
                        <a:rPr sz="850" b="1">
                          <a:solidFill>
                            <a:srgbClr val="0F172A"/>
                          </a:solidFill>
                          <a:latin typeface="Inter"/>
                        </a:rPr>
                        <a:t>139</a:t>
                      </a:r>
                    </a:p>
                  </a:txBody>
                  <a:tcPr marL="54864" marR="54864" marT="27432" marB="27432" anchor="ctr">
                    <a:solidFill>
                      <a:srgbClr val="F6F3EC"/>
                    </a:solidFill>
                  </a:tcPr>
                </a:tc>
                <a:tc>
                  <a:txBody>
                    <a:bodyPr wrap="square"/>
                    <a:lstStyle/>
                    <a:p>
                      <a:pPr algn="r"/>
                      <a:r>
                        <a:rPr sz="850" b="1">
                          <a:solidFill>
                            <a:srgbClr val="0F172A"/>
                          </a:solidFill>
                          <a:latin typeface="Inter"/>
                        </a:rPr>
                        <a:t>$35,960</a:t>
                      </a:r>
                    </a:p>
                  </a:txBody>
                  <a:tcPr marL="54864" marR="54864" marT="27432" marB="27432" anchor="ctr">
                    <a:solidFill>
                      <a:srgbClr val="F6F3EC"/>
                    </a:solidFill>
                  </a:tcPr>
                </a:tc>
                <a:tc>
                  <a:txBody>
                    <a:bodyPr wrap="square"/>
                    <a:lstStyle/>
                    <a:p>
                      <a:pPr algn="r"/>
                      <a:r>
                        <a:rPr sz="850" b="1">
                          <a:solidFill>
                            <a:srgbClr val="0F172A"/>
                          </a:solidFill>
                          <a:latin typeface="Inter"/>
                        </a:rPr>
                        <a:t>55%</a:t>
                      </a:r>
                    </a:p>
                  </a:txBody>
                  <a:tcPr marL="54864" marR="54864" marT="27432" marB="27432" anchor="ctr">
                    <a:solidFill>
                      <a:srgbClr val="F6F3EC"/>
                    </a:solidFill>
                  </a:tcPr>
                </a:tc>
              </a:tr>
              <a:tr h="246888">
                <a:tc>
                  <a:txBody>
                    <a:bodyPr wrap="square"/>
                    <a:lstStyle/>
                    <a:p>
                      <a:pPr algn="l"/>
                      <a:r>
                        <a:rPr sz="850" b="0">
                          <a:solidFill>
                            <a:srgbClr val="0F172A"/>
                          </a:solidFill>
                          <a:latin typeface="Inter"/>
                        </a:rPr>
                        <a:t>Oct 18</a:t>
                      </a:r>
                    </a:p>
                  </a:txBody>
                  <a:tcPr marL="54864" marR="54864" marT="27432" marB="27432" anchor="ctr">
                    <a:solidFill>
                      <a:srgbClr val="FFFFFF"/>
                    </a:solidFill>
                  </a:tcPr>
                </a:tc>
                <a:tc>
                  <a:txBody>
                    <a:bodyPr wrap="square"/>
                    <a:lstStyle/>
                    <a:p>
                      <a:pPr algn="r"/>
                      <a:r>
                        <a:rPr sz="850" b="0">
                          <a:solidFill>
                            <a:srgbClr val="0F172A"/>
                          </a:solidFill>
                          <a:latin typeface="Inter"/>
                        </a:rPr>
                        <a:t>Sun</a:t>
                      </a:r>
                    </a:p>
                  </a:txBody>
                  <a:tcPr marL="54864" marR="54864" marT="27432" marB="27432" anchor="ctr">
                    <a:solidFill>
                      <a:srgbClr val="FFFFFF"/>
                    </a:solidFill>
                  </a:tcPr>
                </a:tc>
                <a:tc>
                  <a:txBody>
                    <a:bodyPr wrap="square"/>
                    <a:lstStyle/>
                    <a:p>
                      <a:pPr algn="r"/>
                      <a:r>
                        <a:rPr sz="850" b="0">
                          <a:solidFill>
                            <a:srgbClr val="0F172A"/>
                          </a:solidFill>
                          <a:latin typeface="Inter"/>
                        </a:rPr>
                        <a:t>$13,022</a:t>
                      </a:r>
                    </a:p>
                  </a:txBody>
                  <a:tcPr marL="54864" marR="54864" marT="27432" marB="27432" anchor="ctr">
                    <a:solidFill>
                      <a:srgbClr val="FFFFFF"/>
                    </a:solidFill>
                  </a:tcPr>
                </a:tc>
                <a:tc>
                  <a:txBody>
                    <a:bodyPr wrap="square"/>
                    <a:lstStyle/>
                    <a:p>
                      <a:pPr algn="r"/>
                      <a:r>
                        <a:rPr sz="850" b="0">
                          <a:solidFill>
                            <a:srgbClr val="0F172A"/>
                          </a:solidFill>
                          <a:latin typeface="Inter"/>
                        </a:rPr>
                        <a:t>$1,315</a:t>
                      </a:r>
                    </a:p>
                  </a:txBody>
                  <a:tcPr marL="54864" marR="54864" marT="27432" marB="27432" anchor="ctr">
                    <a:solidFill>
                      <a:srgbClr val="FFFFFF"/>
                    </a:solidFill>
                  </a:tcPr>
                </a:tc>
                <a:tc>
                  <a:txBody>
                    <a:bodyPr wrap="square"/>
                    <a:lstStyle/>
                    <a:p>
                      <a:pPr algn="r"/>
                      <a:r>
                        <a:rPr sz="850" b="0">
                          <a:solidFill>
                            <a:srgbClr val="0F172A"/>
                          </a:solidFill>
                          <a:latin typeface="Inter"/>
                        </a:rPr>
                        <a:t>$4,502</a:t>
                      </a:r>
                    </a:p>
                  </a:txBody>
                  <a:tcPr marL="54864" marR="54864" marT="27432" marB="27432" anchor="ctr">
                    <a:solidFill>
                      <a:srgbClr val="FFFFFF"/>
                    </a:solidFill>
                  </a:tcPr>
                </a:tc>
                <a:tc>
                  <a:txBody>
                    <a:bodyPr wrap="square"/>
                    <a:lstStyle/>
                    <a:p>
                      <a:pPr algn="r"/>
                      <a:r>
                        <a:rPr sz="850" b="0">
                          <a:solidFill>
                            <a:srgbClr val="0F172A"/>
                          </a:solidFill>
                          <a:latin typeface="Inter"/>
                        </a:rPr>
                        <a:t>3.42x</a:t>
                      </a:r>
                    </a:p>
                  </a:txBody>
                  <a:tcPr marL="54864" marR="54864" marT="27432" marB="27432" anchor="ctr">
                    <a:solidFill>
                      <a:srgbClr val="FFFFFF"/>
                    </a:solidFill>
                  </a:tcPr>
                </a:tc>
                <a:tc>
                  <a:txBody>
                    <a:bodyPr wrap="square"/>
                    <a:lstStyle/>
                    <a:p>
                      <a:pPr algn="r"/>
                      <a:r>
                        <a:rPr sz="850" b="0">
                          <a:solidFill>
                            <a:srgbClr val="0F172A"/>
                          </a:solidFill>
                          <a:latin typeface="Inter"/>
                        </a:rPr>
                        <a:t>29.2%</a:t>
                      </a:r>
                    </a:p>
                  </a:txBody>
                  <a:tcPr marL="54864" marR="54864" marT="27432" marB="27432" anchor="ctr">
                    <a:solidFill>
                      <a:srgbClr val="FFFFFF"/>
                    </a:solidFill>
                  </a:tcPr>
                </a:tc>
                <a:tc>
                  <a:txBody>
                    <a:bodyPr wrap="square"/>
                    <a:lstStyle/>
                    <a:p>
                      <a:pPr algn="r"/>
                      <a:r>
                        <a:rPr sz="850" b="0">
                          <a:solidFill>
                            <a:srgbClr val="0F172A"/>
                          </a:solidFill>
                          <a:latin typeface="Inter"/>
                        </a:rPr>
                        <a:t>10.1%</a:t>
                      </a:r>
                    </a:p>
                  </a:txBody>
                  <a:tcPr marL="54864" marR="54864" marT="27432" marB="27432" anchor="ctr">
                    <a:solidFill>
                      <a:srgbClr val="FFFFFF"/>
                    </a:solidFill>
                  </a:tcPr>
                </a:tc>
                <a:tc>
                  <a:txBody>
                    <a:bodyPr wrap="square"/>
                    <a:lstStyle/>
                    <a:p>
                      <a:pPr algn="r"/>
                      <a:r>
                        <a:rPr sz="850" b="0">
                          <a:solidFill>
                            <a:srgbClr val="0F172A"/>
                          </a:solidFill>
                          <a:latin typeface="Inter"/>
                        </a:rPr>
                        <a:t>41</a:t>
                      </a:r>
                    </a:p>
                  </a:txBody>
                  <a:tcPr marL="54864" marR="54864" marT="27432" marB="27432" anchor="ctr">
                    <a:solidFill>
                      <a:srgbClr val="FFFFFF"/>
                    </a:solidFill>
                  </a:tcPr>
                </a:tc>
                <a:tc>
                  <a:txBody>
                    <a:bodyPr wrap="square"/>
                    <a:lstStyle/>
                    <a:p>
                      <a:pPr algn="r"/>
                      <a:r>
                        <a:rPr sz="850" b="0">
                          <a:solidFill>
                            <a:srgbClr val="0F172A"/>
                          </a:solidFill>
                          <a:latin typeface="Inter"/>
                        </a:rPr>
                        <a:t>17</a:t>
                      </a:r>
                    </a:p>
                  </a:txBody>
                  <a:tcPr marL="54864" marR="54864" marT="27432" marB="27432" anchor="ctr">
                    <a:solidFill>
                      <a:srgbClr val="FFFFFF"/>
                    </a:solidFill>
                  </a:tcPr>
                </a:tc>
                <a:tc>
                  <a:txBody>
                    <a:bodyPr wrap="square"/>
                    <a:lstStyle/>
                    <a:p>
                      <a:pPr algn="r"/>
                      <a:r>
                        <a:rPr sz="850" b="0">
                          <a:solidFill>
                            <a:srgbClr val="0F172A"/>
                          </a:solidFill>
                          <a:latin typeface="Inter"/>
                        </a:rPr>
                        <a:t>$8,520</a:t>
                      </a:r>
                    </a:p>
                  </a:txBody>
                  <a:tcPr marL="54864" marR="54864" marT="27432" marB="27432" anchor="ctr">
                    <a:solidFill>
                      <a:srgbClr val="FFFFFF"/>
                    </a:solidFill>
                  </a:tcPr>
                </a:tc>
                <a:tc>
                  <a:txBody>
                    <a:bodyPr wrap="square"/>
                    <a:lstStyle/>
                    <a:p>
                      <a:pPr algn="r"/>
                      <a:r>
                        <a:rPr sz="850" b="0">
                          <a:solidFill>
                            <a:srgbClr val="0F172A"/>
                          </a:solidFill>
                          <a:latin typeface="Inter"/>
                        </a:rPr>
                        <a:t>35%</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19</a:t>
                      </a:r>
                    </a:p>
                  </a:txBody>
                  <a:tcPr marL="54864" marR="54864" marT="27432" marB="27432" anchor="ctr">
                    <a:solidFill>
                      <a:srgbClr val="FBFAF7"/>
                    </a:solidFill>
                  </a:tcPr>
                </a:tc>
                <a:tc>
                  <a:txBody>
                    <a:bodyPr wrap="square"/>
                    <a:lstStyle/>
                    <a:p>
                      <a:pPr algn="r"/>
                      <a:r>
                        <a:rPr sz="850" b="0">
                          <a:solidFill>
                            <a:srgbClr val="0F172A"/>
                          </a:solidFill>
                          <a:latin typeface="Inter"/>
                        </a:rPr>
                        <a:t>Mon</a:t>
                      </a:r>
                    </a:p>
                  </a:txBody>
                  <a:tcPr marL="54864" marR="54864" marT="27432" marB="27432" anchor="ctr">
                    <a:solidFill>
                      <a:srgbClr val="FBFAF7"/>
                    </a:solidFill>
                  </a:tcPr>
                </a:tc>
                <a:tc>
                  <a:txBody>
                    <a:bodyPr wrap="square"/>
                    <a:lstStyle/>
                    <a:p>
                      <a:pPr algn="r"/>
                      <a:r>
                        <a:rPr sz="850" b="0">
                          <a:solidFill>
                            <a:srgbClr val="0F172A"/>
                          </a:solidFill>
                          <a:latin typeface="Inter"/>
                        </a:rPr>
                        <a:t>$10,204</a:t>
                      </a:r>
                    </a:p>
                  </a:txBody>
                  <a:tcPr marL="54864" marR="54864" marT="27432" marB="27432" anchor="ctr">
                    <a:solidFill>
                      <a:srgbClr val="FBFAF7"/>
                    </a:solidFill>
                  </a:tcPr>
                </a:tc>
                <a:tc>
                  <a:txBody>
                    <a:bodyPr wrap="square"/>
                    <a:lstStyle/>
                    <a:p>
                      <a:pPr algn="r"/>
                      <a:r>
                        <a:rPr sz="850" b="0">
                          <a:solidFill>
                            <a:srgbClr val="0F172A"/>
                          </a:solidFill>
                          <a:latin typeface="Inter"/>
                        </a:rPr>
                        <a:t>$949</a:t>
                      </a:r>
                    </a:p>
                  </a:txBody>
                  <a:tcPr marL="54864" marR="54864" marT="27432" marB="27432" anchor="ctr">
                    <a:solidFill>
                      <a:srgbClr val="FBFAF7"/>
                    </a:solidFill>
                  </a:tcPr>
                </a:tc>
                <a:tc>
                  <a:txBody>
                    <a:bodyPr wrap="square"/>
                    <a:lstStyle/>
                    <a:p>
                      <a:pPr algn="r"/>
                      <a:r>
                        <a:rPr sz="850" b="0">
                          <a:solidFill>
                            <a:srgbClr val="0F172A"/>
                          </a:solidFill>
                          <a:latin typeface="Inter"/>
                        </a:rPr>
                        <a:t>$5,455</a:t>
                      </a:r>
                    </a:p>
                  </a:txBody>
                  <a:tcPr marL="54864" marR="54864" marT="27432" marB="27432" anchor="ctr">
                    <a:solidFill>
                      <a:srgbClr val="FBFAF7"/>
                    </a:solidFill>
                  </a:tcPr>
                </a:tc>
                <a:tc>
                  <a:txBody>
                    <a:bodyPr wrap="square"/>
                    <a:lstStyle/>
                    <a:p>
                      <a:pPr algn="r"/>
                      <a:r>
                        <a:rPr sz="850" b="0">
                          <a:solidFill>
                            <a:srgbClr val="0F172A"/>
                          </a:solidFill>
                          <a:latin typeface="Inter"/>
                        </a:rPr>
                        <a:t>5.75x</a:t>
                      </a:r>
                    </a:p>
                  </a:txBody>
                  <a:tcPr marL="54864" marR="54864" marT="27432" marB="27432" anchor="ctr">
                    <a:solidFill>
                      <a:srgbClr val="FBFAF7"/>
                    </a:solidFill>
                  </a:tcPr>
                </a:tc>
                <a:tc>
                  <a:txBody>
                    <a:bodyPr wrap="square"/>
                    <a:lstStyle/>
                    <a:p>
                      <a:pPr algn="r"/>
                      <a:r>
                        <a:rPr sz="850" b="0">
                          <a:solidFill>
                            <a:srgbClr val="0F172A"/>
                          </a:solidFill>
                          <a:latin typeface="Inter"/>
                        </a:rPr>
                        <a:t>17.4%</a:t>
                      </a:r>
                    </a:p>
                  </a:txBody>
                  <a:tcPr marL="54864" marR="54864" marT="27432" marB="27432" anchor="ctr">
                    <a:solidFill>
                      <a:srgbClr val="FBFAF7"/>
                    </a:solidFill>
                  </a:tcPr>
                </a:tc>
                <a:tc>
                  <a:txBody>
                    <a:bodyPr wrap="square"/>
                    <a:lstStyle/>
                    <a:p>
                      <a:pPr algn="r"/>
                      <a:r>
                        <a:rPr sz="850" b="0">
                          <a:solidFill>
                            <a:srgbClr val="0F172A"/>
                          </a:solidFill>
                          <a:latin typeface="Inter"/>
                        </a:rPr>
                        <a:t>9.3%</a:t>
                      </a:r>
                    </a:p>
                  </a:txBody>
                  <a:tcPr marL="54864" marR="54864" marT="27432" marB="27432" anchor="ctr">
                    <a:solidFill>
                      <a:srgbClr val="FBFAF7"/>
                    </a:solidFill>
                  </a:tcPr>
                </a:tc>
                <a:tc>
                  <a:txBody>
                    <a:bodyPr wrap="square"/>
                    <a:lstStyle/>
                    <a:p>
                      <a:pPr algn="r"/>
                      <a:r>
                        <a:rPr sz="850" b="0">
                          <a:solidFill>
                            <a:srgbClr val="0F172A"/>
                          </a:solidFill>
                          <a:latin typeface="Inter"/>
                        </a:rPr>
                        <a:t>26</a:t>
                      </a:r>
                    </a:p>
                  </a:txBody>
                  <a:tcPr marL="54864" marR="54864" marT="27432" marB="27432" anchor="ctr">
                    <a:solidFill>
                      <a:srgbClr val="FBFAF7"/>
                    </a:solidFill>
                  </a:tcPr>
                </a:tc>
                <a:tc>
                  <a:txBody>
                    <a:bodyPr wrap="square"/>
                    <a:lstStyle/>
                    <a:p>
                      <a:pPr algn="r"/>
                      <a:r>
                        <a:rPr sz="850" b="0">
                          <a:solidFill>
                            <a:srgbClr val="0F172A"/>
                          </a:solidFill>
                          <a:latin typeface="Inter"/>
                        </a:rPr>
                        <a:t>15</a:t>
                      </a:r>
                    </a:p>
                  </a:txBody>
                  <a:tcPr marL="54864" marR="54864" marT="27432" marB="27432" anchor="ctr">
                    <a:solidFill>
                      <a:srgbClr val="FBFAF7"/>
                    </a:solidFill>
                  </a:tcPr>
                </a:tc>
                <a:tc>
                  <a:txBody>
                    <a:bodyPr wrap="square"/>
                    <a:lstStyle/>
                    <a:p>
                      <a:pPr algn="r"/>
                      <a:r>
                        <a:rPr sz="850" b="0">
                          <a:solidFill>
                            <a:srgbClr val="0F172A"/>
                          </a:solidFill>
                          <a:latin typeface="Inter"/>
                        </a:rPr>
                        <a:t>$4,750</a:t>
                      </a:r>
                    </a:p>
                  </a:txBody>
                  <a:tcPr marL="54864" marR="54864" marT="27432" marB="27432" anchor="ctr">
                    <a:solidFill>
                      <a:srgbClr val="FBFAF7"/>
                    </a:solidFill>
                  </a:tcPr>
                </a:tc>
                <a:tc>
                  <a:txBody>
                    <a:bodyPr wrap="square"/>
                    <a:lstStyle/>
                    <a:p>
                      <a:pPr algn="r"/>
                      <a:r>
                        <a:rPr sz="850" b="0">
                          <a:solidFill>
                            <a:srgbClr val="0F172A"/>
                          </a:solidFill>
                          <a:latin typeface="Inter"/>
                        </a:rPr>
                        <a:t>53%</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20</a:t>
                      </a:r>
                    </a:p>
                  </a:txBody>
                  <a:tcPr marL="54864" marR="54864" marT="27432" marB="27432" anchor="ctr">
                    <a:solidFill>
                      <a:srgbClr val="FFFFFF"/>
                    </a:solidFill>
                  </a:tcPr>
                </a:tc>
                <a:tc>
                  <a:txBody>
                    <a:bodyPr wrap="square"/>
                    <a:lstStyle/>
                    <a:p>
                      <a:pPr algn="r"/>
                      <a:r>
                        <a:rPr sz="850" b="0">
                          <a:solidFill>
                            <a:srgbClr val="0F172A"/>
                          </a:solidFill>
                          <a:latin typeface="Inter"/>
                        </a:rPr>
                        <a:t>Tue</a:t>
                      </a:r>
                    </a:p>
                  </a:txBody>
                  <a:tcPr marL="54864" marR="54864" marT="27432" marB="27432" anchor="ctr">
                    <a:solidFill>
                      <a:srgbClr val="FFFFFF"/>
                    </a:solidFill>
                  </a:tcPr>
                </a:tc>
                <a:tc>
                  <a:txBody>
                    <a:bodyPr wrap="square"/>
                    <a:lstStyle/>
                    <a:p>
                      <a:pPr algn="r"/>
                      <a:r>
                        <a:rPr sz="850" b="0">
                          <a:solidFill>
                            <a:srgbClr val="0F172A"/>
                          </a:solidFill>
                          <a:latin typeface="Inter"/>
                        </a:rPr>
                        <a:t>$8,027</a:t>
                      </a:r>
                    </a:p>
                  </a:txBody>
                  <a:tcPr marL="54864" marR="54864" marT="27432" marB="27432" anchor="ctr">
                    <a:solidFill>
                      <a:srgbClr val="FFFFFF"/>
                    </a:solidFill>
                  </a:tcPr>
                </a:tc>
                <a:tc>
                  <a:txBody>
                    <a:bodyPr wrap="square"/>
                    <a:lstStyle/>
                    <a:p>
                      <a:pPr algn="r"/>
                      <a:r>
                        <a:rPr sz="850" b="0">
                          <a:solidFill>
                            <a:srgbClr val="0F172A"/>
                          </a:solidFill>
                          <a:latin typeface="Inter"/>
                        </a:rPr>
                        <a:t>$1,021</a:t>
                      </a:r>
                    </a:p>
                  </a:txBody>
                  <a:tcPr marL="54864" marR="54864" marT="27432" marB="27432" anchor="ctr">
                    <a:solidFill>
                      <a:srgbClr val="FFFFFF"/>
                    </a:solidFill>
                  </a:tcPr>
                </a:tc>
                <a:tc>
                  <a:txBody>
                    <a:bodyPr wrap="square"/>
                    <a:lstStyle/>
                    <a:p>
                      <a:pPr algn="r"/>
                      <a:r>
                        <a:rPr sz="850" b="0">
                          <a:solidFill>
                            <a:srgbClr val="0F172A"/>
                          </a:solidFill>
                          <a:latin typeface="Inter"/>
                        </a:rPr>
                        <a:t>$5,187</a:t>
                      </a:r>
                    </a:p>
                  </a:txBody>
                  <a:tcPr marL="54864" marR="54864" marT="27432" marB="27432" anchor="ctr">
                    <a:solidFill>
                      <a:srgbClr val="FFFFFF"/>
                    </a:solidFill>
                  </a:tcPr>
                </a:tc>
                <a:tc>
                  <a:txBody>
                    <a:bodyPr wrap="square"/>
                    <a:lstStyle/>
                    <a:p>
                      <a:pPr algn="r"/>
                      <a:r>
                        <a:rPr sz="850" b="0">
                          <a:solidFill>
                            <a:srgbClr val="0F172A"/>
                          </a:solidFill>
                          <a:latin typeface="Inter"/>
                        </a:rPr>
                        <a:t>5.08x</a:t>
                      </a:r>
                    </a:p>
                  </a:txBody>
                  <a:tcPr marL="54864" marR="54864" marT="27432" marB="27432" anchor="ctr">
                    <a:solidFill>
                      <a:srgbClr val="FFFFFF"/>
                    </a:solidFill>
                  </a:tcPr>
                </a:tc>
                <a:tc>
                  <a:txBody>
                    <a:bodyPr wrap="square"/>
                    <a:lstStyle/>
                    <a:p>
                      <a:pPr algn="r"/>
                      <a:r>
                        <a:rPr sz="850" b="0">
                          <a:solidFill>
                            <a:srgbClr val="0F172A"/>
                          </a:solidFill>
                          <a:latin typeface="Inter"/>
                        </a:rPr>
                        <a:t>19.7%</a:t>
                      </a:r>
                    </a:p>
                  </a:txBody>
                  <a:tcPr marL="54864" marR="54864" marT="27432" marB="27432" anchor="ctr">
                    <a:solidFill>
                      <a:srgbClr val="FFFFFF"/>
                    </a:solidFill>
                  </a:tcPr>
                </a:tc>
                <a:tc>
                  <a:txBody>
                    <a:bodyPr wrap="square"/>
                    <a:lstStyle/>
                    <a:p>
                      <a:pPr algn="r"/>
                      <a:r>
                        <a:rPr sz="850" b="0">
                          <a:solidFill>
                            <a:srgbClr val="0F172A"/>
                          </a:solidFill>
                          <a:latin typeface="Inter"/>
                        </a:rPr>
                        <a:t>12.7%</a:t>
                      </a:r>
                    </a:p>
                  </a:txBody>
                  <a:tcPr marL="54864" marR="54864" marT="27432" marB="27432" anchor="ctr">
                    <a:solidFill>
                      <a:srgbClr val="FFFFFF"/>
                    </a:solidFill>
                  </a:tcPr>
                </a:tc>
                <a:tc>
                  <a:txBody>
                    <a:bodyPr wrap="square"/>
                    <a:lstStyle/>
                    <a:p>
                      <a:pPr algn="r"/>
                      <a:r>
                        <a:rPr sz="850" b="0">
                          <a:solidFill>
                            <a:srgbClr val="0F172A"/>
                          </a:solidFill>
                          <a:latin typeface="Inter"/>
                        </a:rPr>
                        <a:t>22</a:t>
                      </a:r>
                    </a:p>
                  </a:txBody>
                  <a:tcPr marL="54864" marR="54864" marT="27432" marB="27432" anchor="ctr">
                    <a:solidFill>
                      <a:srgbClr val="FFFFFF"/>
                    </a:solidFill>
                  </a:tcPr>
                </a:tc>
                <a:tc>
                  <a:txBody>
                    <a:bodyPr wrap="square"/>
                    <a:lstStyle/>
                    <a:p>
                      <a:pPr algn="r"/>
                      <a:r>
                        <a:rPr sz="850" b="0">
                          <a:solidFill>
                            <a:srgbClr val="0F172A"/>
                          </a:solidFill>
                          <a:latin typeface="Inter"/>
                        </a:rPr>
                        <a:t>14</a:t>
                      </a:r>
                    </a:p>
                  </a:txBody>
                  <a:tcPr marL="54864" marR="54864" marT="27432" marB="27432" anchor="ctr">
                    <a:solidFill>
                      <a:srgbClr val="FFFFFF"/>
                    </a:solidFill>
                  </a:tcPr>
                </a:tc>
                <a:tc>
                  <a:txBody>
                    <a:bodyPr wrap="square"/>
                    <a:lstStyle/>
                    <a:p>
                      <a:pPr algn="r"/>
                      <a:r>
                        <a:rPr sz="850" b="0">
                          <a:solidFill>
                            <a:srgbClr val="0F172A"/>
                          </a:solidFill>
                          <a:latin typeface="Inter"/>
                        </a:rPr>
                        <a:t>$2,840</a:t>
                      </a:r>
                    </a:p>
                  </a:txBody>
                  <a:tcPr marL="54864" marR="54864" marT="27432" marB="27432" anchor="ctr">
                    <a:solidFill>
                      <a:srgbClr val="FFFFFF"/>
                    </a:solidFill>
                  </a:tcPr>
                </a:tc>
                <a:tc>
                  <a:txBody>
                    <a:bodyPr wrap="square"/>
                    <a:lstStyle/>
                    <a:p>
                      <a:pPr algn="r"/>
                      <a:r>
                        <a:rPr sz="850" b="0">
                          <a:solidFill>
                            <a:srgbClr val="0F172A"/>
                          </a:solidFill>
                          <a:latin typeface="Inter"/>
                        </a:rPr>
                        <a:t>65%</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21</a:t>
                      </a:r>
                    </a:p>
                  </a:txBody>
                  <a:tcPr marL="54864" marR="54864" marT="27432" marB="27432" anchor="ctr">
                    <a:solidFill>
                      <a:srgbClr val="FBFAF7"/>
                    </a:solidFill>
                  </a:tcPr>
                </a:tc>
                <a:tc>
                  <a:txBody>
                    <a:bodyPr wrap="square"/>
                    <a:lstStyle/>
                    <a:p>
                      <a:pPr algn="r"/>
                      <a:r>
                        <a:rPr sz="850" b="0">
                          <a:solidFill>
                            <a:srgbClr val="0F172A"/>
                          </a:solidFill>
                          <a:latin typeface="Inter"/>
                        </a:rPr>
                        <a:t>Wed</a:t>
                      </a:r>
                    </a:p>
                  </a:txBody>
                  <a:tcPr marL="54864" marR="54864" marT="27432" marB="27432" anchor="ctr">
                    <a:solidFill>
                      <a:srgbClr val="FBFAF7"/>
                    </a:solidFill>
                  </a:tcPr>
                </a:tc>
                <a:tc>
                  <a:txBody>
                    <a:bodyPr wrap="square"/>
                    <a:lstStyle/>
                    <a:p>
                      <a:pPr algn="r"/>
                      <a:r>
                        <a:rPr sz="850" b="0">
                          <a:solidFill>
                            <a:srgbClr val="0F172A"/>
                          </a:solidFill>
                          <a:latin typeface="Inter"/>
                        </a:rPr>
                        <a:t>$9,338</a:t>
                      </a:r>
                    </a:p>
                  </a:txBody>
                  <a:tcPr marL="54864" marR="54864" marT="27432" marB="27432" anchor="ctr">
                    <a:solidFill>
                      <a:srgbClr val="FBFAF7"/>
                    </a:solidFill>
                  </a:tcPr>
                </a:tc>
                <a:tc>
                  <a:txBody>
                    <a:bodyPr wrap="square"/>
                    <a:lstStyle/>
                    <a:p>
                      <a:pPr algn="r"/>
                      <a:r>
                        <a:rPr sz="850" b="0">
                          <a:solidFill>
                            <a:srgbClr val="0F172A"/>
                          </a:solidFill>
                          <a:latin typeface="Inter"/>
                        </a:rPr>
                        <a:t>$950</a:t>
                      </a:r>
                    </a:p>
                  </a:txBody>
                  <a:tcPr marL="54864" marR="54864" marT="27432" marB="27432" anchor="ctr">
                    <a:solidFill>
                      <a:srgbClr val="FBFAF7"/>
                    </a:solidFill>
                  </a:tcPr>
                </a:tc>
                <a:tc>
                  <a:txBody>
                    <a:bodyPr wrap="square"/>
                    <a:lstStyle/>
                    <a:p>
                      <a:pPr algn="r"/>
                      <a:r>
                        <a:rPr sz="850" b="0">
                          <a:solidFill>
                            <a:srgbClr val="0F172A"/>
                          </a:solidFill>
                          <a:latin typeface="Inter"/>
                        </a:rPr>
                        <a:t>$3,514</a:t>
                      </a:r>
                    </a:p>
                  </a:txBody>
                  <a:tcPr marL="54864" marR="54864" marT="27432" marB="27432" anchor="ctr">
                    <a:solidFill>
                      <a:srgbClr val="FBFAF7"/>
                    </a:solidFill>
                  </a:tcPr>
                </a:tc>
                <a:tc>
                  <a:txBody>
                    <a:bodyPr wrap="square"/>
                    <a:lstStyle/>
                    <a:p>
                      <a:pPr algn="r"/>
                      <a:r>
                        <a:rPr sz="850" b="0">
                          <a:solidFill>
                            <a:srgbClr val="0F172A"/>
                          </a:solidFill>
                          <a:latin typeface="Inter"/>
                        </a:rPr>
                        <a:t>3.70x</a:t>
                      </a:r>
                    </a:p>
                  </a:txBody>
                  <a:tcPr marL="54864" marR="54864" marT="27432" marB="27432" anchor="ctr">
                    <a:solidFill>
                      <a:srgbClr val="FBFAF7"/>
                    </a:solidFill>
                  </a:tcPr>
                </a:tc>
                <a:tc>
                  <a:txBody>
                    <a:bodyPr wrap="square"/>
                    <a:lstStyle/>
                    <a:p>
                      <a:pPr algn="r"/>
                      <a:r>
                        <a:rPr sz="850" b="0">
                          <a:solidFill>
                            <a:srgbClr val="0F172A"/>
                          </a:solidFill>
                          <a:latin typeface="Inter"/>
                        </a:rPr>
                        <a:t>27.0%</a:t>
                      </a:r>
                    </a:p>
                  </a:txBody>
                  <a:tcPr marL="54864" marR="54864" marT="27432" marB="27432" anchor="ctr">
                    <a:solidFill>
                      <a:srgbClr val="FBFAF7"/>
                    </a:solidFill>
                  </a:tcPr>
                </a:tc>
                <a:tc>
                  <a:txBody>
                    <a:bodyPr wrap="square"/>
                    <a:lstStyle/>
                    <a:p>
                      <a:pPr algn="r"/>
                      <a:r>
                        <a:rPr sz="850" b="0">
                          <a:solidFill>
                            <a:srgbClr val="0F172A"/>
                          </a:solidFill>
                          <a:latin typeface="Inter"/>
                        </a:rPr>
                        <a:t>10.2%</a:t>
                      </a:r>
                    </a:p>
                  </a:txBody>
                  <a:tcPr marL="54864" marR="54864" marT="27432" marB="27432" anchor="ctr">
                    <a:solidFill>
                      <a:srgbClr val="FBFAF7"/>
                    </a:solidFill>
                  </a:tcPr>
                </a:tc>
                <a:tc>
                  <a:txBody>
                    <a:bodyPr wrap="square"/>
                    <a:lstStyle/>
                    <a:p>
                      <a:pPr algn="r"/>
                      <a:r>
                        <a:rPr sz="850" b="0">
                          <a:solidFill>
                            <a:srgbClr val="0F172A"/>
                          </a:solidFill>
                          <a:latin typeface="Inter"/>
                        </a:rPr>
                        <a:t>26</a:t>
                      </a:r>
                    </a:p>
                  </a:txBody>
                  <a:tcPr marL="54864" marR="54864" marT="27432" marB="27432" anchor="ctr">
                    <a:solidFill>
                      <a:srgbClr val="FBFAF7"/>
                    </a:solidFill>
                  </a:tcPr>
                </a:tc>
                <a:tc>
                  <a:txBody>
                    <a:bodyPr wrap="square"/>
                    <a:lstStyle/>
                    <a:p>
                      <a:pPr algn="r"/>
                      <a:r>
                        <a:rPr sz="850" b="0">
                          <a:solidFill>
                            <a:srgbClr val="0F172A"/>
                          </a:solidFill>
                          <a:latin typeface="Inter"/>
                        </a:rPr>
                        <a:t>11</a:t>
                      </a:r>
                    </a:p>
                  </a:txBody>
                  <a:tcPr marL="54864" marR="54864" marT="27432" marB="27432" anchor="ctr">
                    <a:solidFill>
                      <a:srgbClr val="FBFAF7"/>
                    </a:solidFill>
                  </a:tcPr>
                </a:tc>
                <a:tc>
                  <a:txBody>
                    <a:bodyPr wrap="square"/>
                    <a:lstStyle/>
                    <a:p>
                      <a:pPr algn="r"/>
                      <a:r>
                        <a:rPr sz="850" b="0">
                          <a:solidFill>
                            <a:srgbClr val="0F172A"/>
                          </a:solidFill>
                          <a:latin typeface="Inter"/>
                        </a:rPr>
                        <a:t>$5,824</a:t>
                      </a:r>
                    </a:p>
                  </a:txBody>
                  <a:tcPr marL="54864" marR="54864" marT="27432" marB="27432" anchor="ctr">
                    <a:solidFill>
                      <a:srgbClr val="FBFAF7"/>
                    </a:solidFill>
                  </a:tcPr>
                </a:tc>
                <a:tc>
                  <a:txBody>
                    <a:bodyPr wrap="square"/>
                    <a:lstStyle/>
                    <a:p>
                      <a:pPr algn="r"/>
                      <a:r>
                        <a:rPr sz="850" b="0">
                          <a:solidFill>
                            <a:srgbClr val="0F172A"/>
                          </a:solidFill>
                          <a:latin typeface="Inter"/>
                        </a:rPr>
                        <a:t>38%</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22</a:t>
                      </a:r>
                    </a:p>
                  </a:txBody>
                  <a:tcPr marL="54864" marR="54864" marT="27432" marB="27432" anchor="ctr">
                    <a:solidFill>
                      <a:srgbClr val="FFFFFF"/>
                    </a:solidFill>
                  </a:tcPr>
                </a:tc>
                <a:tc>
                  <a:txBody>
                    <a:bodyPr wrap="square"/>
                    <a:lstStyle/>
                    <a:p>
                      <a:pPr algn="r"/>
                      <a:r>
                        <a:rPr sz="850" b="0">
                          <a:solidFill>
                            <a:srgbClr val="0F172A"/>
                          </a:solidFill>
                          <a:latin typeface="Inter"/>
                        </a:rPr>
                        <a:t>Thu</a:t>
                      </a:r>
                    </a:p>
                  </a:txBody>
                  <a:tcPr marL="54864" marR="54864" marT="27432" marB="27432" anchor="ctr">
                    <a:solidFill>
                      <a:srgbClr val="FFFFFF"/>
                    </a:solidFill>
                  </a:tcPr>
                </a:tc>
                <a:tc>
                  <a:txBody>
                    <a:bodyPr wrap="square"/>
                    <a:lstStyle/>
                    <a:p>
                      <a:pPr algn="r"/>
                      <a:r>
                        <a:rPr sz="850" b="0">
                          <a:solidFill>
                            <a:srgbClr val="0F172A"/>
                          </a:solidFill>
                          <a:latin typeface="Inter"/>
                        </a:rPr>
                        <a:t>$5,560</a:t>
                      </a:r>
                    </a:p>
                  </a:txBody>
                  <a:tcPr marL="54864" marR="54864" marT="27432" marB="27432" anchor="ctr">
                    <a:solidFill>
                      <a:srgbClr val="FFFFFF"/>
                    </a:solidFill>
                  </a:tcPr>
                </a:tc>
                <a:tc>
                  <a:txBody>
                    <a:bodyPr wrap="square"/>
                    <a:lstStyle/>
                    <a:p>
                      <a:pPr algn="r"/>
                      <a:r>
                        <a:rPr sz="850" b="0">
                          <a:solidFill>
                            <a:srgbClr val="0F172A"/>
                          </a:solidFill>
                          <a:latin typeface="Inter"/>
                        </a:rPr>
                        <a:t>$938</a:t>
                      </a:r>
                    </a:p>
                  </a:txBody>
                  <a:tcPr marL="54864" marR="54864" marT="27432" marB="27432" anchor="ctr">
                    <a:solidFill>
                      <a:srgbClr val="FFFFFF"/>
                    </a:solidFill>
                  </a:tcPr>
                </a:tc>
                <a:tc>
                  <a:txBody>
                    <a:bodyPr wrap="square"/>
                    <a:lstStyle/>
                    <a:p>
                      <a:pPr algn="r"/>
                      <a:r>
                        <a:rPr sz="850" b="0">
                          <a:solidFill>
                            <a:srgbClr val="0F172A"/>
                          </a:solidFill>
                          <a:latin typeface="Inter"/>
                        </a:rPr>
                        <a:t>$2,001</a:t>
                      </a:r>
                    </a:p>
                  </a:txBody>
                  <a:tcPr marL="54864" marR="54864" marT="27432" marB="27432" anchor="ctr">
                    <a:solidFill>
                      <a:srgbClr val="FFFFFF"/>
                    </a:solidFill>
                  </a:tcPr>
                </a:tc>
                <a:tc>
                  <a:txBody>
                    <a:bodyPr wrap="square"/>
                    <a:lstStyle/>
                    <a:p>
                      <a:pPr algn="r"/>
                      <a:r>
                        <a:rPr sz="850" b="0">
                          <a:solidFill>
                            <a:srgbClr val="0F172A"/>
                          </a:solidFill>
                          <a:latin typeface="Inter"/>
                        </a:rPr>
                        <a:t>2.13x</a:t>
                      </a:r>
                    </a:p>
                  </a:txBody>
                  <a:tcPr marL="54864" marR="54864" marT="27432" marB="27432" anchor="ctr">
                    <a:solidFill>
                      <a:srgbClr val="FFFFFF"/>
                    </a:solidFill>
                  </a:tcPr>
                </a:tc>
                <a:tc>
                  <a:txBody>
                    <a:bodyPr wrap="square"/>
                    <a:lstStyle/>
                    <a:p>
                      <a:pPr algn="r"/>
                      <a:r>
                        <a:rPr sz="850" b="0">
                          <a:solidFill>
                            <a:srgbClr val="DC2626"/>
                          </a:solidFill>
                          <a:latin typeface="Inter"/>
                        </a:rPr>
                        <a:t>46.9%</a:t>
                      </a:r>
                    </a:p>
                  </a:txBody>
                  <a:tcPr marL="54864" marR="54864" marT="27432" marB="27432" anchor="ctr">
                    <a:solidFill>
                      <a:srgbClr val="FFFFFF"/>
                    </a:solidFill>
                  </a:tcPr>
                </a:tc>
                <a:tc>
                  <a:txBody>
                    <a:bodyPr wrap="square"/>
                    <a:lstStyle/>
                    <a:p>
                      <a:pPr algn="r"/>
                      <a:r>
                        <a:rPr sz="850" b="0">
                          <a:solidFill>
                            <a:srgbClr val="0F172A"/>
                          </a:solidFill>
                          <a:latin typeface="Inter"/>
                        </a:rPr>
                        <a:t>16.9%</a:t>
                      </a:r>
                    </a:p>
                  </a:txBody>
                  <a:tcPr marL="54864" marR="54864" marT="27432" marB="27432" anchor="ctr">
                    <a:solidFill>
                      <a:srgbClr val="FFFFFF"/>
                    </a:solidFill>
                  </a:tcPr>
                </a:tc>
                <a:tc>
                  <a:txBody>
                    <a:bodyPr wrap="square"/>
                    <a:lstStyle/>
                    <a:p>
                      <a:pPr algn="r"/>
                      <a:r>
                        <a:rPr sz="850" b="0">
                          <a:solidFill>
                            <a:srgbClr val="0F172A"/>
                          </a:solidFill>
                          <a:latin typeface="Inter"/>
                        </a:rPr>
                        <a:t>17</a:t>
                      </a:r>
                    </a:p>
                  </a:txBody>
                  <a:tcPr marL="54864" marR="54864" marT="27432" marB="27432" anchor="ctr">
                    <a:solidFill>
                      <a:srgbClr val="FFFFFF"/>
                    </a:solidFill>
                  </a:tcPr>
                </a:tc>
                <a:tc>
                  <a:txBody>
                    <a:bodyPr wrap="square"/>
                    <a:lstStyle/>
                    <a:p>
                      <a:pPr algn="r"/>
                      <a:r>
                        <a:rPr sz="850" b="0">
                          <a:solidFill>
                            <a:srgbClr val="0F172A"/>
                          </a:solidFill>
                          <a:latin typeface="Inter"/>
                        </a:rPr>
                        <a:t>7</a:t>
                      </a:r>
                    </a:p>
                  </a:txBody>
                  <a:tcPr marL="54864" marR="54864" marT="27432" marB="27432" anchor="ctr">
                    <a:solidFill>
                      <a:srgbClr val="FFFFFF"/>
                    </a:solidFill>
                  </a:tcPr>
                </a:tc>
                <a:tc>
                  <a:txBody>
                    <a:bodyPr wrap="square"/>
                    <a:lstStyle/>
                    <a:p>
                      <a:pPr algn="r"/>
                      <a:r>
                        <a:rPr sz="850" b="0">
                          <a:solidFill>
                            <a:srgbClr val="0F172A"/>
                          </a:solidFill>
                          <a:latin typeface="Inter"/>
                        </a:rPr>
                        <a:t>$3,559</a:t>
                      </a:r>
                    </a:p>
                  </a:txBody>
                  <a:tcPr marL="54864" marR="54864" marT="27432" marB="27432" anchor="ctr">
                    <a:solidFill>
                      <a:srgbClr val="FFFFFF"/>
                    </a:solidFill>
                  </a:tcPr>
                </a:tc>
                <a:tc>
                  <a:txBody>
                    <a:bodyPr wrap="square"/>
                    <a:lstStyle/>
                    <a:p>
                      <a:pPr algn="r"/>
                      <a:r>
                        <a:rPr sz="850" b="0">
                          <a:solidFill>
                            <a:srgbClr val="0F172A"/>
                          </a:solidFill>
                          <a:latin typeface="Inter"/>
                        </a:rPr>
                        <a:t>36%</a:t>
                      </a:r>
                    </a:p>
                  </a:txBody>
                  <a:tcPr marL="54864" marR="54864" marT="27432" marB="27432" anchor="ctr">
                    <a:solidFill>
                      <a:srgbClr val="FFFFFF"/>
                    </a:solidFill>
                  </a:tcPr>
                </a:tc>
              </a:tr>
              <a:tr h="246888">
                <a:tc>
                  <a:txBody>
                    <a:bodyPr wrap="square"/>
                    <a:lstStyle/>
                    <a:p>
                      <a:pPr algn="l"/>
                      <a:r>
                        <a:rPr sz="850" b="0">
                          <a:solidFill>
                            <a:srgbClr val="0F172A"/>
                          </a:solidFill>
                          <a:latin typeface="Inter"/>
                        </a:rPr>
                        <a:t>Oct 23</a:t>
                      </a:r>
                    </a:p>
                  </a:txBody>
                  <a:tcPr marL="54864" marR="54864" marT="27432" marB="27432" anchor="ctr">
                    <a:solidFill>
                      <a:srgbClr val="FBFAF7"/>
                    </a:solidFill>
                  </a:tcPr>
                </a:tc>
                <a:tc>
                  <a:txBody>
                    <a:bodyPr wrap="square"/>
                    <a:lstStyle/>
                    <a:p>
                      <a:pPr algn="r"/>
                      <a:r>
                        <a:rPr sz="850" b="0">
                          <a:solidFill>
                            <a:srgbClr val="0F172A"/>
                          </a:solidFill>
                          <a:latin typeface="Inter"/>
                        </a:rPr>
                        <a:t>Fri</a:t>
                      </a:r>
                    </a:p>
                  </a:txBody>
                  <a:tcPr marL="54864" marR="54864" marT="27432" marB="27432" anchor="ctr">
                    <a:solidFill>
                      <a:srgbClr val="FBFAF7"/>
                    </a:solidFill>
                  </a:tcPr>
                </a:tc>
                <a:tc>
                  <a:txBody>
                    <a:bodyPr wrap="square"/>
                    <a:lstStyle/>
                    <a:p>
                      <a:pPr algn="r"/>
                      <a:r>
                        <a:rPr sz="850" b="0">
                          <a:solidFill>
                            <a:srgbClr val="0F172A"/>
                          </a:solidFill>
                          <a:latin typeface="Inter"/>
                        </a:rPr>
                        <a:t>$6,075</a:t>
                      </a:r>
                    </a:p>
                  </a:txBody>
                  <a:tcPr marL="54864" marR="54864" marT="27432" marB="27432" anchor="ctr">
                    <a:solidFill>
                      <a:srgbClr val="FBFAF7"/>
                    </a:solidFill>
                  </a:tcPr>
                </a:tc>
                <a:tc>
                  <a:txBody>
                    <a:bodyPr wrap="square"/>
                    <a:lstStyle/>
                    <a:p>
                      <a:pPr algn="r"/>
                      <a:r>
                        <a:rPr sz="850" b="0">
                          <a:solidFill>
                            <a:srgbClr val="0F172A"/>
                          </a:solidFill>
                          <a:latin typeface="Inter"/>
                        </a:rPr>
                        <a:t>$890</a:t>
                      </a:r>
                    </a:p>
                  </a:txBody>
                  <a:tcPr marL="54864" marR="54864" marT="27432" marB="27432" anchor="ctr">
                    <a:solidFill>
                      <a:srgbClr val="FBFAF7"/>
                    </a:solidFill>
                  </a:tcPr>
                </a:tc>
                <a:tc>
                  <a:txBody>
                    <a:bodyPr wrap="square"/>
                    <a:lstStyle/>
                    <a:p>
                      <a:pPr algn="r"/>
                      <a:r>
                        <a:rPr sz="850" b="0">
                          <a:solidFill>
                            <a:srgbClr val="0F172A"/>
                          </a:solidFill>
                          <a:latin typeface="Inter"/>
                        </a:rPr>
                        <a:t>$3,584</a:t>
                      </a:r>
                    </a:p>
                  </a:txBody>
                  <a:tcPr marL="54864" marR="54864" marT="27432" marB="27432" anchor="ctr">
                    <a:solidFill>
                      <a:srgbClr val="FBFAF7"/>
                    </a:solidFill>
                  </a:tcPr>
                </a:tc>
                <a:tc>
                  <a:txBody>
                    <a:bodyPr wrap="square"/>
                    <a:lstStyle/>
                    <a:p>
                      <a:pPr algn="r"/>
                      <a:r>
                        <a:rPr sz="850" b="0">
                          <a:solidFill>
                            <a:srgbClr val="0F172A"/>
                          </a:solidFill>
                          <a:latin typeface="Inter"/>
                        </a:rPr>
                        <a:t>4.03x</a:t>
                      </a:r>
                    </a:p>
                  </a:txBody>
                  <a:tcPr marL="54864" marR="54864" marT="27432" marB="27432" anchor="ctr">
                    <a:solidFill>
                      <a:srgbClr val="FBFAF7"/>
                    </a:solidFill>
                  </a:tcPr>
                </a:tc>
                <a:tc>
                  <a:txBody>
                    <a:bodyPr wrap="square"/>
                    <a:lstStyle/>
                    <a:p>
                      <a:pPr algn="r"/>
                      <a:r>
                        <a:rPr sz="850" b="0">
                          <a:solidFill>
                            <a:srgbClr val="0F172A"/>
                          </a:solidFill>
                          <a:latin typeface="Inter"/>
                        </a:rPr>
                        <a:t>24.8%</a:t>
                      </a:r>
                    </a:p>
                  </a:txBody>
                  <a:tcPr marL="54864" marR="54864" marT="27432" marB="27432" anchor="ctr">
                    <a:solidFill>
                      <a:srgbClr val="FBFAF7"/>
                    </a:solidFill>
                  </a:tcPr>
                </a:tc>
                <a:tc>
                  <a:txBody>
                    <a:bodyPr wrap="square"/>
                    <a:lstStyle/>
                    <a:p>
                      <a:pPr algn="r"/>
                      <a:r>
                        <a:rPr sz="850" b="0">
                          <a:solidFill>
                            <a:srgbClr val="0F172A"/>
                          </a:solidFill>
                          <a:latin typeface="Inter"/>
                        </a:rPr>
                        <a:t>14.7%</a:t>
                      </a:r>
                    </a:p>
                  </a:txBody>
                  <a:tcPr marL="54864" marR="54864" marT="27432" marB="27432" anchor="ctr">
                    <a:solidFill>
                      <a:srgbClr val="FBFAF7"/>
                    </a:solidFill>
                  </a:tcPr>
                </a:tc>
                <a:tc>
                  <a:txBody>
                    <a:bodyPr wrap="square"/>
                    <a:lstStyle/>
                    <a:p>
                      <a:pPr algn="r"/>
                      <a:r>
                        <a:rPr sz="850" b="0">
                          <a:solidFill>
                            <a:srgbClr val="0F172A"/>
                          </a:solidFill>
                          <a:latin typeface="Inter"/>
                        </a:rPr>
                        <a:t>13</a:t>
                      </a:r>
                    </a:p>
                  </a:txBody>
                  <a:tcPr marL="54864" marR="54864" marT="27432" marB="27432" anchor="ctr">
                    <a:solidFill>
                      <a:srgbClr val="FBFAF7"/>
                    </a:solidFill>
                  </a:tcPr>
                </a:tc>
                <a:tc>
                  <a:txBody>
                    <a:bodyPr wrap="square"/>
                    <a:lstStyle/>
                    <a:p>
                      <a:pPr algn="r"/>
                      <a:r>
                        <a:rPr sz="850" b="0">
                          <a:solidFill>
                            <a:srgbClr val="0F172A"/>
                          </a:solidFill>
                          <a:latin typeface="Inter"/>
                        </a:rPr>
                        <a:t>8</a:t>
                      </a:r>
                    </a:p>
                  </a:txBody>
                  <a:tcPr marL="54864" marR="54864" marT="27432" marB="27432" anchor="ctr">
                    <a:solidFill>
                      <a:srgbClr val="FBFAF7"/>
                    </a:solidFill>
                  </a:tcPr>
                </a:tc>
                <a:tc>
                  <a:txBody>
                    <a:bodyPr wrap="square"/>
                    <a:lstStyle/>
                    <a:p>
                      <a:pPr algn="r"/>
                      <a:r>
                        <a:rPr sz="850" b="0">
                          <a:solidFill>
                            <a:srgbClr val="0F172A"/>
                          </a:solidFill>
                          <a:latin typeface="Inter"/>
                        </a:rPr>
                        <a:t>$2,491</a:t>
                      </a:r>
                    </a:p>
                  </a:txBody>
                  <a:tcPr marL="54864" marR="54864" marT="27432" marB="27432" anchor="ctr">
                    <a:solidFill>
                      <a:srgbClr val="FBFAF7"/>
                    </a:solidFill>
                  </a:tcPr>
                </a:tc>
                <a:tc>
                  <a:txBody>
                    <a:bodyPr wrap="square"/>
                    <a:lstStyle/>
                    <a:p>
                      <a:pPr algn="r"/>
                      <a:r>
                        <a:rPr sz="850" b="0">
                          <a:solidFill>
                            <a:srgbClr val="0F172A"/>
                          </a:solidFill>
                          <a:latin typeface="Inter"/>
                        </a:rPr>
                        <a:t>59%</a:t>
                      </a:r>
                    </a:p>
                  </a:txBody>
                  <a:tcPr marL="54864" marR="54864" marT="27432" marB="27432" anchor="ctr">
                    <a:solidFill>
                      <a:srgbClr val="FBFAF7"/>
                    </a:solidFill>
                  </a:tcPr>
                </a:tc>
              </a:tr>
              <a:tr h="246888">
                <a:tc>
                  <a:txBody>
                    <a:bodyPr wrap="square"/>
                    <a:lstStyle/>
                    <a:p>
                      <a:pPr algn="l"/>
                      <a:r>
                        <a:rPr sz="850" b="0">
                          <a:solidFill>
                            <a:srgbClr val="0F172A"/>
                          </a:solidFill>
                          <a:latin typeface="Inter"/>
                        </a:rPr>
                        <a:t>Oct 24</a:t>
                      </a:r>
                    </a:p>
                  </a:txBody>
                  <a:tcPr marL="54864" marR="54864" marT="27432" marB="27432" anchor="ctr">
                    <a:solidFill>
                      <a:srgbClr val="FFFFFF"/>
                    </a:solidFill>
                  </a:tcPr>
                </a:tc>
                <a:tc>
                  <a:txBody>
                    <a:bodyPr wrap="square"/>
                    <a:lstStyle/>
                    <a:p>
                      <a:pPr algn="r"/>
                      <a:r>
                        <a:rPr sz="850" b="0">
                          <a:solidFill>
                            <a:srgbClr val="0F172A"/>
                          </a:solidFill>
                          <a:latin typeface="Inter"/>
                        </a:rPr>
                        <a:t>Sat</a:t>
                      </a:r>
                    </a:p>
                  </a:txBody>
                  <a:tcPr marL="54864" marR="54864" marT="27432" marB="27432" anchor="ctr">
                    <a:solidFill>
                      <a:srgbClr val="FFFFFF"/>
                    </a:solidFill>
                  </a:tcPr>
                </a:tc>
                <a:tc>
                  <a:txBody>
                    <a:bodyPr wrap="square"/>
                    <a:lstStyle/>
                    <a:p>
                      <a:pPr algn="r"/>
                      <a:r>
                        <a:rPr sz="850" b="0">
                          <a:solidFill>
                            <a:srgbClr val="0F172A"/>
                          </a:solidFill>
                          <a:latin typeface="Inter"/>
                        </a:rPr>
                        <a:t>$10,494</a:t>
                      </a:r>
                    </a:p>
                  </a:txBody>
                  <a:tcPr marL="54864" marR="54864" marT="27432" marB="27432" anchor="ctr">
                    <a:solidFill>
                      <a:srgbClr val="FFFFFF"/>
                    </a:solidFill>
                  </a:tcPr>
                </a:tc>
                <a:tc>
                  <a:txBody>
                    <a:bodyPr wrap="square"/>
                    <a:lstStyle/>
                    <a:p>
                      <a:pPr algn="r"/>
                      <a:r>
                        <a:rPr sz="850" b="0">
                          <a:solidFill>
                            <a:srgbClr val="0F172A"/>
                          </a:solidFill>
                          <a:latin typeface="Inter"/>
                        </a:rPr>
                        <a:t>$1,071</a:t>
                      </a:r>
                    </a:p>
                  </a:txBody>
                  <a:tcPr marL="54864" marR="54864" marT="27432" marB="27432" anchor="ctr">
                    <a:solidFill>
                      <a:srgbClr val="FFFFFF"/>
                    </a:solidFill>
                  </a:tcPr>
                </a:tc>
                <a:tc>
                  <a:txBody>
                    <a:bodyPr wrap="square"/>
                    <a:lstStyle/>
                    <a:p>
                      <a:pPr algn="r"/>
                      <a:r>
                        <a:rPr sz="850" b="0">
                          <a:solidFill>
                            <a:srgbClr val="0F172A"/>
                          </a:solidFill>
                          <a:latin typeface="Inter"/>
                        </a:rPr>
                        <a:t>$5,479</a:t>
                      </a:r>
                    </a:p>
                  </a:txBody>
                  <a:tcPr marL="54864" marR="54864" marT="27432" marB="27432" anchor="ctr">
                    <a:solidFill>
                      <a:srgbClr val="FFFFFF"/>
                    </a:solidFill>
                  </a:tcPr>
                </a:tc>
                <a:tc>
                  <a:txBody>
                    <a:bodyPr wrap="square"/>
                    <a:lstStyle/>
                    <a:p>
                      <a:pPr algn="r"/>
                      <a:r>
                        <a:rPr sz="850" b="0">
                          <a:solidFill>
                            <a:srgbClr val="0F172A"/>
                          </a:solidFill>
                          <a:latin typeface="Inter"/>
                        </a:rPr>
                        <a:t>5.12x</a:t>
                      </a:r>
                    </a:p>
                  </a:txBody>
                  <a:tcPr marL="54864" marR="54864" marT="27432" marB="27432" anchor="ctr">
                    <a:solidFill>
                      <a:srgbClr val="FFFFFF"/>
                    </a:solidFill>
                  </a:tcPr>
                </a:tc>
                <a:tc>
                  <a:txBody>
                    <a:bodyPr wrap="square"/>
                    <a:lstStyle/>
                    <a:p>
                      <a:pPr algn="r"/>
                      <a:r>
                        <a:rPr sz="850" b="0">
                          <a:solidFill>
                            <a:srgbClr val="0F172A"/>
                          </a:solidFill>
                          <a:latin typeface="Inter"/>
                        </a:rPr>
                        <a:t>19.5%</a:t>
                      </a:r>
                    </a:p>
                  </a:txBody>
                  <a:tcPr marL="54864" marR="54864" marT="27432" marB="27432" anchor="ctr">
                    <a:solidFill>
                      <a:srgbClr val="FFFFFF"/>
                    </a:solidFill>
                  </a:tcPr>
                </a:tc>
                <a:tc>
                  <a:txBody>
                    <a:bodyPr wrap="square"/>
                    <a:lstStyle/>
                    <a:p>
                      <a:pPr algn="r"/>
                      <a:r>
                        <a:rPr sz="850" b="0">
                          <a:solidFill>
                            <a:srgbClr val="0F172A"/>
                          </a:solidFill>
                          <a:latin typeface="Inter"/>
                        </a:rPr>
                        <a:t>10.2%</a:t>
                      </a:r>
                    </a:p>
                  </a:txBody>
                  <a:tcPr marL="54864" marR="54864" marT="27432" marB="27432" anchor="ctr">
                    <a:solidFill>
                      <a:srgbClr val="FFFFFF"/>
                    </a:solidFill>
                  </a:tcPr>
                </a:tc>
                <a:tc>
                  <a:txBody>
                    <a:bodyPr wrap="square"/>
                    <a:lstStyle/>
                    <a:p>
                      <a:pPr algn="r"/>
                      <a:r>
                        <a:rPr sz="850" b="0">
                          <a:solidFill>
                            <a:srgbClr val="0F172A"/>
                          </a:solidFill>
                          <a:latin typeface="Inter"/>
                        </a:rPr>
                        <a:t>29</a:t>
                      </a:r>
                    </a:p>
                  </a:txBody>
                  <a:tcPr marL="54864" marR="54864" marT="27432" marB="27432" anchor="ctr">
                    <a:solidFill>
                      <a:srgbClr val="FFFFFF"/>
                    </a:solidFill>
                  </a:tcPr>
                </a:tc>
                <a:tc>
                  <a:txBody>
                    <a:bodyPr wrap="square"/>
                    <a:lstStyle/>
                    <a:p>
                      <a:pPr algn="r"/>
                      <a:r>
                        <a:rPr sz="850" b="0">
                          <a:solidFill>
                            <a:srgbClr val="0F172A"/>
                          </a:solidFill>
                          <a:latin typeface="Inter"/>
                        </a:rPr>
                        <a:t>18</a:t>
                      </a:r>
                    </a:p>
                  </a:txBody>
                  <a:tcPr marL="54864" marR="54864" marT="27432" marB="27432" anchor="ctr">
                    <a:solidFill>
                      <a:srgbClr val="FFFFFF"/>
                    </a:solidFill>
                  </a:tcPr>
                </a:tc>
                <a:tc>
                  <a:txBody>
                    <a:bodyPr wrap="square"/>
                    <a:lstStyle/>
                    <a:p>
                      <a:pPr algn="r"/>
                      <a:r>
                        <a:rPr sz="850" b="0">
                          <a:solidFill>
                            <a:srgbClr val="0F172A"/>
                          </a:solidFill>
                          <a:latin typeface="Inter"/>
                        </a:rPr>
                        <a:t>$5,015</a:t>
                      </a:r>
                    </a:p>
                  </a:txBody>
                  <a:tcPr marL="54864" marR="54864" marT="27432" marB="27432" anchor="ctr">
                    <a:solidFill>
                      <a:srgbClr val="FFFFFF"/>
                    </a:solidFill>
                  </a:tcPr>
                </a:tc>
                <a:tc>
                  <a:txBody>
                    <a:bodyPr wrap="square"/>
                    <a:lstStyle/>
                    <a:p>
                      <a:pPr algn="r"/>
                      <a:r>
                        <a:rPr sz="850" b="0">
                          <a:solidFill>
                            <a:srgbClr val="0F172A"/>
                          </a:solidFill>
                          <a:latin typeface="Inter"/>
                        </a:rPr>
                        <a:t>52%</a:t>
                      </a:r>
                    </a:p>
                  </a:txBody>
                  <a:tcPr marL="54864" marR="54864" marT="27432" marB="27432" anchor="ctr">
                    <a:solidFill>
                      <a:srgbClr val="FFFFFF"/>
                    </a:solidFill>
                  </a:tcPr>
                </a:tc>
              </a:tr>
              <a:tr h="246888">
                <a:tc>
                  <a:txBody>
                    <a:bodyPr wrap="square"/>
                    <a:lstStyle/>
                    <a:p>
                      <a:pPr algn="l"/>
                      <a:r>
                        <a:rPr sz="850" b="1">
                          <a:solidFill>
                            <a:srgbClr val="0F172A"/>
                          </a:solidFill>
                          <a:latin typeface="Inter"/>
                        </a:rPr>
                        <a:t>Week Oct 18 – 24</a:t>
                      </a:r>
                    </a:p>
                  </a:txBody>
                  <a:tcPr marL="54864" marR="54864" marT="27432" marB="27432" anchor="ctr">
                    <a:solidFill>
                      <a:srgbClr val="F6F3EC"/>
                    </a:solidFill>
                  </a:tcPr>
                </a:tc>
                <a:tc>
                  <a:txBody>
                    <a:bodyPr wrap="square"/>
                    <a:lstStyle/>
                    <a:p>
                      <a:pPr algn="r"/>
                      <a:r>
                        <a:rPr sz="850" b="1">
                          <a:solidFill>
                            <a:srgbClr val="0F172A"/>
                          </a:solidFill>
                          <a:latin typeface="Inter"/>
                        </a:rPr>
                        <a:t/>
                      </a:r>
                    </a:p>
                  </a:txBody>
                  <a:tcPr marL="54864" marR="54864" marT="27432" marB="27432" anchor="ctr">
                    <a:solidFill>
                      <a:srgbClr val="F6F3EC"/>
                    </a:solidFill>
                  </a:tcPr>
                </a:tc>
                <a:tc>
                  <a:txBody>
                    <a:bodyPr wrap="square"/>
                    <a:lstStyle/>
                    <a:p>
                      <a:pPr algn="r"/>
                      <a:r>
                        <a:rPr sz="850" b="1">
                          <a:solidFill>
                            <a:srgbClr val="0F172A"/>
                          </a:solidFill>
                          <a:latin typeface="Inter"/>
                        </a:rPr>
                        <a:t>$62,720</a:t>
                      </a:r>
                    </a:p>
                  </a:txBody>
                  <a:tcPr marL="54864" marR="54864" marT="27432" marB="27432" anchor="ctr">
                    <a:solidFill>
                      <a:srgbClr val="F6F3EC"/>
                    </a:solidFill>
                  </a:tcPr>
                </a:tc>
                <a:tc>
                  <a:txBody>
                    <a:bodyPr wrap="square"/>
                    <a:lstStyle/>
                    <a:p>
                      <a:pPr algn="r"/>
                      <a:r>
                        <a:rPr sz="850" b="1">
                          <a:solidFill>
                            <a:srgbClr val="0F172A"/>
                          </a:solidFill>
                          <a:latin typeface="Inter"/>
                        </a:rPr>
                        <a:t>$7,135</a:t>
                      </a:r>
                    </a:p>
                  </a:txBody>
                  <a:tcPr marL="54864" marR="54864" marT="27432" marB="27432" anchor="ctr">
                    <a:solidFill>
                      <a:srgbClr val="F6F3EC"/>
                    </a:solidFill>
                  </a:tcPr>
                </a:tc>
                <a:tc>
                  <a:txBody>
                    <a:bodyPr wrap="square"/>
                    <a:lstStyle/>
                    <a:p>
                      <a:pPr algn="r"/>
                      <a:r>
                        <a:rPr sz="850" b="1">
                          <a:solidFill>
                            <a:srgbClr val="0F172A"/>
                          </a:solidFill>
                          <a:latin typeface="Inter"/>
                        </a:rPr>
                        <a:t>$29,722</a:t>
                      </a:r>
                    </a:p>
                  </a:txBody>
                  <a:tcPr marL="54864" marR="54864" marT="27432" marB="27432" anchor="ctr">
                    <a:solidFill>
                      <a:srgbClr val="F6F3EC"/>
                    </a:solidFill>
                  </a:tcPr>
                </a:tc>
                <a:tc>
                  <a:txBody>
                    <a:bodyPr wrap="square"/>
                    <a:lstStyle/>
                    <a:p>
                      <a:pPr algn="r"/>
                      <a:r>
                        <a:rPr sz="850" b="1">
                          <a:solidFill>
                            <a:srgbClr val="0F172A"/>
                          </a:solidFill>
                          <a:latin typeface="Inter"/>
                        </a:rPr>
                        <a:t>4.17x</a:t>
                      </a:r>
                    </a:p>
                  </a:txBody>
                  <a:tcPr marL="54864" marR="54864" marT="27432" marB="27432" anchor="ctr">
                    <a:solidFill>
                      <a:srgbClr val="F6F3EC"/>
                    </a:solidFill>
                  </a:tcPr>
                </a:tc>
                <a:tc>
                  <a:txBody>
                    <a:bodyPr wrap="square"/>
                    <a:lstStyle/>
                    <a:p>
                      <a:pPr algn="r"/>
                      <a:r>
                        <a:rPr sz="850" b="1">
                          <a:solidFill>
                            <a:srgbClr val="0F172A"/>
                          </a:solidFill>
                          <a:latin typeface="Inter"/>
                        </a:rPr>
                        <a:t>24.0%</a:t>
                      </a:r>
                    </a:p>
                  </a:txBody>
                  <a:tcPr marL="54864" marR="54864" marT="27432" marB="27432" anchor="ctr">
                    <a:solidFill>
                      <a:srgbClr val="F6F3EC"/>
                    </a:solidFill>
                  </a:tcPr>
                </a:tc>
                <a:tc>
                  <a:txBody>
                    <a:bodyPr wrap="square"/>
                    <a:lstStyle/>
                    <a:p>
                      <a:pPr algn="r"/>
                      <a:r>
                        <a:rPr sz="850" b="1">
                          <a:solidFill>
                            <a:srgbClr val="0F172A"/>
                          </a:solidFill>
                          <a:latin typeface="Inter"/>
                        </a:rPr>
                        <a:t>11.4%</a:t>
                      </a:r>
                    </a:p>
                  </a:txBody>
                  <a:tcPr marL="54864" marR="54864" marT="27432" marB="27432" anchor="ctr">
                    <a:solidFill>
                      <a:srgbClr val="F6F3EC"/>
                    </a:solidFill>
                  </a:tcPr>
                </a:tc>
                <a:tc>
                  <a:txBody>
                    <a:bodyPr wrap="square"/>
                    <a:lstStyle/>
                    <a:p>
                      <a:pPr algn="r"/>
                      <a:r>
                        <a:rPr sz="850" b="1">
                          <a:solidFill>
                            <a:srgbClr val="0F172A"/>
                          </a:solidFill>
                          <a:latin typeface="Inter"/>
                        </a:rPr>
                        <a:t>174</a:t>
                      </a:r>
                    </a:p>
                  </a:txBody>
                  <a:tcPr marL="54864" marR="54864" marT="27432" marB="27432" anchor="ctr">
                    <a:solidFill>
                      <a:srgbClr val="F6F3EC"/>
                    </a:solidFill>
                  </a:tcPr>
                </a:tc>
                <a:tc>
                  <a:txBody>
                    <a:bodyPr wrap="square"/>
                    <a:lstStyle/>
                    <a:p>
                      <a:pPr algn="r"/>
                      <a:r>
                        <a:rPr sz="850" b="1">
                          <a:solidFill>
                            <a:srgbClr val="0F172A"/>
                          </a:solidFill>
                          <a:latin typeface="Inter"/>
                        </a:rPr>
                        <a:t>90</a:t>
                      </a:r>
                    </a:p>
                  </a:txBody>
                  <a:tcPr marL="54864" marR="54864" marT="27432" marB="27432" anchor="ctr">
                    <a:solidFill>
                      <a:srgbClr val="F6F3EC"/>
                    </a:solidFill>
                  </a:tcPr>
                </a:tc>
                <a:tc>
                  <a:txBody>
                    <a:bodyPr wrap="square"/>
                    <a:lstStyle/>
                    <a:p>
                      <a:pPr algn="r"/>
                      <a:r>
                        <a:rPr sz="850" b="1">
                          <a:solidFill>
                            <a:srgbClr val="0F172A"/>
                          </a:solidFill>
                          <a:latin typeface="Inter"/>
                        </a:rPr>
                        <a:t>$32,998</a:t>
                      </a:r>
                    </a:p>
                  </a:txBody>
                  <a:tcPr marL="54864" marR="54864" marT="27432" marB="27432" anchor="ctr">
                    <a:solidFill>
                      <a:srgbClr val="F6F3EC"/>
                    </a:solidFill>
                  </a:tcPr>
                </a:tc>
                <a:tc>
                  <a:txBody>
                    <a:bodyPr wrap="square"/>
                    <a:lstStyle/>
                    <a:p>
                      <a:pPr algn="r"/>
                      <a:r>
                        <a:rPr sz="850" b="1">
                          <a:solidFill>
                            <a:srgbClr val="0F172A"/>
                          </a:solidFill>
                          <a:latin typeface="Inter"/>
                        </a:rPr>
                        <a:t>47%</a:t>
                      </a:r>
                    </a:p>
                  </a:txBody>
                  <a:tcPr marL="54864" marR="54864" marT="27432" marB="27432" anchor="ctr">
                    <a:solidFill>
                      <a:srgbClr val="F6F3EC"/>
                    </a:solidFill>
                  </a:tcPr>
                </a:tc>
              </a:tr>
            </a:tbl>
          </a:graphicData>
        </a:graphic>
      </p:graphicFrame>
      <p:sp>
        <p:nvSpPr>
          <p:cNvPr id="11" name=""/>
          <p:cNvSpPr txBox="1"/>
          <p:nvPr/>
        </p:nvSpPr>
        <p:spPr>
          <a:xfrm>
            <a:off x="548640" y="5943600"/>
            <a:ext cx="11091672" cy="411480"/>
          </a:xfrm>
          <a:prstGeom prst="rect">
            <a:avLst/>
          </a:prstGeom>
          <a:noFill/>
        </p:spPr>
        <p:txBody>
          <a:bodyPr wrap="square" lIns="36576" rIns="36576" tIns="18288" bIns="18288" anchor="t">
            <a:spAutoFit/>
          </a:bodyPr>
          <a:lstStyle/>
          <a:p>
            <a:pPr algn="l"/>
            <a:r>
              <a:rPr sz="900" b="0">
                <a:solidFill>
                  <a:srgbClr val="6B6558"/>
                </a:solidFill>
                <a:latin typeface="Inter"/>
              </a:rPr>
              <a:t>Organic sales = total sales minus ad-attributed sales (floored at $0). Daily clicks and impressions aren't in the Sellerise daily feed; weekly totals: 3,574 clicks / 698,297 impressions this week vs 4,658 / 816,947.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MARKETING</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Coupons, promotions &amp; upcoming events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11 / 17</a:t>
            </a:r>
          </a:p>
        </p:txBody>
      </p:sp>
      <p:sp>
        <p:nvSpPr>
          <p:cNvPr id="10" name=""/>
          <p:cNvSpPr/>
          <p:nvPr/>
        </p:nvSpPr>
        <p:spPr>
          <a:xfrm>
            <a:off x="548640" y="1371600"/>
            <a:ext cx="11091672" cy="502920"/>
          </a:xfrm>
          <a:prstGeom prst="roundRect">
            <a:avLst>
              <a:gd name="" fmla="val 6000"/>
            </a:avLst>
          </a:prstGeom>
          <a:solidFill>
            <a:srgbClr val="EEF2FF"/>
          </a:solidFill>
          <a:ln>
            <a:noFill/>
          </a:ln>
        </p:spPr>
      </p:sp>
      <p:sp>
        <p:nvSpPr>
          <p:cNvPr id="11" name=""/>
          <p:cNvSpPr txBox="1"/>
          <p:nvPr/>
        </p:nvSpPr>
        <p:spPr>
          <a:xfrm>
            <a:off x="731520" y="1371600"/>
            <a:ext cx="10789920" cy="502920"/>
          </a:xfrm>
          <a:prstGeom prst="rect">
            <a:avLst/>
          </a:prstGeom>
          <a:noFill/>
        </p:spPr>
        <p:txBody>
          <a:bodyPr wrap="square" lIns="36576" rIns="36576" tIns="18288" bIns="18288" anchor="ctr">
            <a:spAutoFit/>
          </a:bodyPr>
          <a:lstStyle/>
          <a:p>
            <a:pPr algn="l"/>
            <a:r>
              <a:rPr sz="1050" b="0">
                <a:solidFill>
                  <a:srgbClr val="2447FF"/>
                </a:solidFill>
                <a:latin typeface="Inter"/>
              </a:rPr>
              <a:t>Data source: Sellerise promotion totals. Coupon and deal names aren't in the feed, so set-up details come from the account team.</a:t>
            </a:r>
          </a:p>
        </p:txBody>
      </p:sp>
      <p:sp>
        <p:nvSpPr>
          <p:cNvPr id="12" name=""/>
          <p:cNvSpPr/>
          <p:nvPr/>
        </p:nvSpPr>
        <p:spPr>
          <a:xfrm>
            <a:off x="548640" y="2057400"/>
            <a:ext cx="3611880" cy="4160520"/>
          </a:xfrm>
          <a:prstGeom prst="roundRect">
            <a:avLst>
              <a:gd name="" fmla="val 6000"/>
            </a:avLst>
          </a:prstGeom>
          <a:solidFill>
            <a:srgbClr val="FFFFFF"/>
          </a:solidFill>
          <a:ln w="9525">
            <a:solidFill>
              <a:srgbClr val="E5E0D6"/>
            </a:solidFill>
          </a:ln>
        </p:spPr>
      </p:sp>
      <p:sp>
        <p:nvSpPr>
          <p:cNvPr id="13" name=""/>
          <p:cNvSpPr txBox="1"/>
          <p:nvPr/>
        </p:nvSpPr>
        <p:spPr>
          <a:xfrm>
            <a:off x="731520"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Coupons</a:t>
            </a:r>
          </a:p>
        </p:txBody>
      </p:sp>
      <p:sp>
        <p:nvSpPr>
          <p:cNvPr id="14" name=""/>
          <p:cNvSpPr txBox="1"/>
          <p:nvPr/>
        </p:nvSpPr>
        <p:spPr>
          <a:xfrm>
            <a:off x="731520"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This week: no coupon redemptions.</a:t>
            </a:r>
          </a:p>
          <a:p>
            <a:pPr algn="l">
              <a:spcAft>
                <a:spcPts val="500"/>
              </a:spcAft>
            </a:pPr>
            <a:r>
              <a:rPr sz="1050" b="0">
                <a:solidFill>
                  <a:srgbClr val="334155"/>
                </a:solidFill>
                <a:latin typeface="Inter"/>
              </a:rPr>
              <a:t>Last week: 28 coupon redemptions.</a:t>
            </a:r>
          </a:p>
          <a:p>
            <a:pPr algn="l">
              <a:spcAft>
                <a:spcPts val="500"/>
              </a:spcAft>
            </a:pPr>
            <a:r>
              <a:rPr sz="1050" b="0">
                <a:solidFill>
                  <a:srgbClr val="334155"/>
                </a:solidFill>
                <a:latin typeface="Inter"/>
              </a:rPr>
              <a:t>October to date: 127 coupon redemptions, mostly during Prime Big Deal Days.</a:t>
            </a:r>
          </a:p>
        </p:txBody>
      </p:sp>
      <p:sp>
        <p:nvSpPr>
          <p:cNvPr id="15" name=""/>
          <p:cNvSpPr/>
          <p:nvPr/>
        </p:nvSpPr>
        <p:spPr>
          <a:xfrm>
            <a:off x="4288536" y="2057400"/>
            <a:ext cx="3611880" cy="4160520"/>
          </a:xfrm>
          <a:prstGeom prst="roundRect">
            <a:avLst>
              <a:gd name="" fmla="val 6000"/>
            </a:avLst>
          </a:prstGeom>
          <a:solidFill>
            <a:srgbClr val="FFFFFF"/>
          </a:solidFill>
          <a:ln w="9525">
            <a:solidFill>
              <a:srgbClr val="E5E0D6"/>
            </a:solidFill>
          </a:ln>
        </p:spPr>
      </p:sp>
      <p:sp>
        <p:nvSpPr>
          <p:cNvPr id="16" name=""/>
          <p:cNvSpPr txBox="1"/>
          <p:nvPr/>
        </p:nvSpPr>
        <p:spPr>
          <a:xfrm>
            <a:off x="4471416"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Promotions</a:t>
            </a:r>
          </a:p>
        </p:txBody>
      </p:sp>
      <p:sp>
        <p:nvSpPr>
          <p:cNvPr id="17" name=""/>
          <p:cNvSpPr txBox="1"/>
          <p:nvPr/>
        </p:nvSpPr>
        <p:spPr>
          <a:xfrm>
            <a:off x="4471416"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This week: 11 promotion orders, $332 in promotional discounts (vs $1,656 last week).</a:t>
            </a:r>
          </a:p>
          <a:p>
            <a:pPr algn="l">
              <a:spcAft>
                <a:spcPts val="500"/>
              </a:spcAft>
            </a:pPr>
            <a:r>
              <a:rPr sz="1050" b="0">
                <a:solidFill>
                  <a:srgbClr val="334155"/>
                </a:solidFill>
                <a:latin typeface="Inter"/>
              </a:rPr>
              <a:t>Discounting has stepped down since the Prime event, which helps margin but removes a conversion lever while the Queen is out of stock.</a:t>
            </a:r>
          </a:p>
        </p:txBody>
      </p:sp>
      <p:sp>
        <p:nvSpPr>
          <p:cNvPr id="18" name=""/>
          <p:cNvSpPr/>
          <p:nvPr/>
        </p:nvSpPr>
        <p:spPr>
          <a:xfrm>
            <a:off x="8028431" y="2057400"/>
            <a:ext cx="3611880" cy="4160520"/>
          </a:xfrm>
          <a:prstGeom prst="roundRect">
            <a:avLst>
              <a:gd name="" fmla="val 6000"/>
            </a:avLst>
          </a:prstGeom>
          <a:solidFill>
            <a:srgbClr val="FFFFFF"/>
          </a:solidFill>
          <a:ln w="9525">
            <a:solidFill>
              <a:srgbClr val="E5E0D6"/>
            </a:solidFill>
          </a:ln>
        </p:spPr>
      </p:sp>
      <p:sp>
        <p:nvSpPr>
          <p:cNvPr id="19" name=""/>
          <p:cNvSpPr txBox="1"/>
          <p:nvPr/>
        </p:nvSpPr>
        <p:spPr>
          <a:xfrm>
            <a:off x="8211311" y="21945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Upcoming events</a:t>
            </a:r>
          </a:p>
        </p:txBody>
      </p:sp>
      <p:sp>
        <p:nvSpPr>
          <p:cNvPr id="20" name=""/>
          <p:cNvSpPr txBox="1"/>
          <p:nvPr/>
        </p:nvSpPr>
        <p:spPr>
          <a:xfrm>
            <a:off x="8211311" y="2514600"/>
            <a:ext cx="3246120" cy="36118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Black Friday / Cyber Monday: Nov 27 – Nov 30.</a:t>
            </a:r>
          </a:p>
          <a:p>
            <a:pPr algn="l">
              <a:spcAft>
                <a:spcPts val="500"/>
              </a:spcAft>
            </a:pPr>
            <a:r>
              <a:rPr sz="1050" b="0">
                <a:solidFill>
                  <a:srgbClr val="334155"/>
                </a:solidFill>
                <a:latin typeface="Inter"/>
              </a:rPr>
              <a:t>Deal and coupon set-up deadlines: to confirm with the account team.</a:t>
            </a:r>
          </a:p>
          <a:p>
            <a:pPr algn="l">
              <a:spcAft>
                <a:spcPts val="500"/>
              </a:spcAft>
            </a:pPr>
            <a:r>
              <a:rPr sz="1050" b="0">
                <a:solidFill>
                  <a:srgbClr val="334155"/>
                </a:solidFill>
                <a:latin typeface="Inter"/>
              </a:rPr>
              <a:t>Priority: have the Queen and King toppers in stock at FBA before Nov 20 so BF/CM traffic converts.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INVENTORY</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Stock position — week 43 inventory update (10/19/2026)</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12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OUT OF STOCK</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2</a:t>
            </a:r>
          </a:p>
        </p:txBody>
      </p:sp>
      <p:sp>
        <p:nvSpPr>
          <p:cNvPr id="13" name=""/>
          <p:cNvSpPr txBox="1"/>
          <p:nvPr/>
        </p:nvSpPr>
        <p:spPr>
          <a:xfrm>
            <a:off x="713232" y="2377439"/>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selling ASINs at 0 units</a:t>
            </a:r>
          </a:p>
        </p:txBody>
      </p:sp>
      <p:sp>
        <p:nvSpPr>
          <p:cNvPr id="14" name=""/>
          <p:cNvSpPr/>
          <p:nvPr/>
        </p:nvSpPr>
        <p:spPr>
          <a:xfrm>
            <a:off x="548640" y="2926080"/>
            <a:ext cx="2651760" cy="1417320"/>
          </a:xfrm>
          <a:prstGeom prst="roundRect">
            <a:avLst>
              <a:gd name="" fmla="val 6000"/>
            </a:avLst>
          </a:prstGeom>
          <a:solidFill>
            <a:srgbClr val="F6F3EC"/>
          </a:solidFill>
          <a:ln>
            <a:noFill/>
          </a:ln>
        </p:spPr>
      </p:sp>
      <p:sp>
        <p:nvSpPr>
          <p:cNvPr id="15" name=""/>
          <p:cNvSpPr txBox="1"/>
          <p:nvPr/>
        </p:nvSpPr>
        <p:spPr>
          <a:xfrm>
            <a:off x="713232" y="305409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LOW STOCK</a:t>
            </a:r>
          </a:p>
        </p:txBody>
      </p:sp>
      <p:sp>
        <p:nvSpPr>
          <p:cNvPr id="16" name=""/>
          <p:cNvSpPr txBox="1"/>
          <p:nvPr/>
        </p:nvSpPr>
        <p:spPr>
          <a:xfrm>
            <a:off x="713232" y="3310128"/>
            <a:ext cx="2377440" cy="548640"/>
          </a:xfrm>
          <a:prstGeom prst="rect">
            <a:avLst/>
          </a:prstGeom>
          <a:noFill/>
        </p:spPr>
        <p:txBody>
          <a:bodyPr wrap="square" lIns="36576" rIns="36576" tIns="18288" bIns="18288" anchor="t">
            <a:spAutoFit/>
          </a:bodyPr>
          <a:lstStyle/>
          <a:p>
            <a:pPr algn="l"/>
            <a:r>
              <a:rPr sz="2600" b="1">
                <a:solidFill>
                  <a:srgbClr val="D97706"/>
                </a:solidFill>
                <a:latin typeface="Space Grotesk"/>
              </a:rPr>
              <a:t>6</a:t>
            </a:r>
          </a:p>
        </p:txBody>
      </p:sp>
      <p:sp>
        <p:nvSpPr>
          <p:cNvPr id="17" name=""/>
          <p:cNvSpPr txBox="1"/>
          <p:nvPr/>
        </p:nvSpPr>
        <p:spPr>
          <a:xfrm>
            <a:off x="713232" y="39319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under ~30 days of supply</a:t>
            </a:r>
          </a:p>
        </p:txBody>
      </p:sp>
      <p:sp>
        <p:nvSpPr>
          <p:cNvPr id="18" name=""/>
          <p:cNvSpPr/>
          <p:nvPr/>
        </p:nvSpPr>
        <p:spPr>
          <a:xfrm>
            <a:off x="548640" y="4480560"/>
            <a:ext cx="2651760" cy="1737360"/>
          </a:xfrm>
          <a:prstGeom prst="roundRect">
            <a:avLst>
              <a:gd name="" fmla="val 6000"/>
            </a:avLst>
          </a:prstGeom>
          <a:solidFill>
            <a:srgbClr val="F6F3EC"/>
          </a:solidFill>
          <a:ln>
            <a:noFill/>
          </a:ln>
        </p:spPr>
      </p:sp>
      <p:sp>
        <p:nvSpPr>
          <p:cNvPr id="19" name=""/>
          <p:cNvSpPr txBox="1"/>
          <p:nvPr/>
        </p:nvSpPr>
        <p:spPr>
          <a:xfrm>
            <a:off x="713232" y="460857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FLAGGED BY SELLERISE</a:t>
            </a:r>
          </a:p>
        </p:txBody>
      </p:sp>
      <p:sp>
        <p:nvSpPr>
          <p:cNvPr id="20" name=""/>
          <p:cNvSpPr txBox="1"/>
          <p:nvPr/>
        </p:nvSpPr>
        <p:spPr>
          <a:xfrm>
            <a:off x="713232" y="486460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27</a:t>
            </a:r>
          </a:p>
        </p:txBody>
      </p:sp>
      <p:sp>
        <p:nvSpPr>
          <p:cNvPr id="21" name=""/>
          <p:cNvSpPr txBox="1"/>
          <p:nvPr/>
        </p:nvSpPr>
        <p:spPr>
          <a:xfrm>
            <a:off x="713232" y="580644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ASINs with an inventory risk</a:t>
            </a:r>
          </a:p>
        </p:txBody>
      </p:sp>
      <p:sp>
        <p:nvSpPr>
          <p:cNvPr id="22" name=""/>
          <p:cNvSpPr txBox="1"/>
          <p:nvPr/>
        </p:nvSpPr>
        <p:spPr>
          <a:xfrm>
            <a:off x="3429000" y="1371600"/>
            <a:ext cx="4754880" cy="274320"/>
          </a:xfrm>
          <a:prstGeom prst="rect">
            <a:avLst/>
          </a:prstGeom>
          <a:noFill/>
        </p:spPr>
        <p:txBody>
          <a:bodyPr wrap="square" lIns="36576" rIns="36576" tIns="18288" bIns="18288" anchor="t">
            <a:spAutoFit/>
          </a:bodyPr>
          <a:lstStyle/>
          <a:p>
            <a:pPr algn="l"/>
            <a:r>
              <a:rPr sz="1100" b="1">
                <a:solidFill>
                  <a:srgbClr val="0F172A"/>
                </a:solidFill>
                <a:latin typeface="Inter"/>
              </a:rPr>
              <a:t>Weeks of supply at FBA (available ÷ weekly sales)</a:t>
            </a:r>
          </a:p>
        </p:txBody>
      </p:sp>
      <p:sp>
        <p:nvSpPr>
          <p:cNvPr id="23" name=""/>
          <p:cNvSpPr txBox="1"/>
          <p:nvPr/>
        </p:nvSpPr>
        <p:spPr>
          <a:xfrm>
            <a:off x="3429000" y="169164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Queen</a:t>
            </a:r>
          </a:p>
        </p:txBody>
      </p:sp>
      <p:sp>
        <p:nvSpPr>
          <p:cNvPr id="24" name=""/>
          <p:cNvSpPr/>
          <p:nvPr/>
        </p:nvSpPr>
        <p:spPr>
          <a:xfrm>
            <a:off x="5257800" y="1814855"/>
            <a:ext cx="27432" cy="313639"/>
          </a:xfrm>
          <a:prstGeom prst="rect">
            <a:avLst/>
          </a:prstGeom>
          <a:solidFill>
            <a:srgbClr val="DC2626"/>
          </a:solidFill>
          <a:ln>
            <a:noFill/>
          </a:ln>
        </p:spPr>
      </p:sp>
      <p:sp>
        <p:nvSpPr>
          <p:cNvPr id="25" name=""/>
          <p:cNvSpPr txBox="1"/>
          <p:nvPr/>
        </p:nvSpPr>
        <p:spPr>
          <a:xfrm>
            <a:off x="5340096" y="169164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0.0 wk</a:t>
            </a:r>
          </a:p>
        </p:txBody>
      </p:sp>
      <p:sp>
        <p:nvSpPr>
          <p:cNvPr id="26" name=""/>
          <p:cNvSpPr txBox="1"/>
          <p:nvPr/>
        </p:nvSpPr>
        <p:spPr>
          <a:xfrm>
            <a:off x="3429000" y="225171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King</a:t>
            </a:r>
          </a:p>
        </p:txBody>
      </p:sp>
      <p:sp>
        <p:nvSpPr>
          <p:cNvPr id="27" name=""/>
          <p:cNvSpPr/>
          <p:nvPr/>
        </p:nvSpPr>
        <p:spPr>
          <a:xfrm>
            <a:off x="5257800" y="2374925"/>
            <a:ext cx="268224" cy="313639"/>
          </a:xfrm>
          <a:prstGeom prst="rect">
            <a:avLst/>
          </a:prstGeom>
          <a:solidFill>
            <a:srgbClr val="D97706"/>
          </a:solidFill>
          <a:ln>
            <a:noFill/>
          </a:ln>
        </p:spPr>
      </p:sp>
      <p:sp>
        <p:nvSpPr>
          <p:cNvPr id="28" name=""/>
          <p:cNvSpPr txBox="1"/>
          <p:nvPr/>
        </p:nvSpPr>
        <p:spPr>
          <a:xfrm>
            <a:off x="5580887" y="225171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1.6 wk</a:t>
            </a:r>
          </a:p>
        </p:txBody>
      </p:sp>
      <p:sp>
        <p:nvSpPr>
          <p:cNvPr id="29" name=""/>
          <p:cNvSpPr txBox="1"/>
          <p:nvPr/>
        </p:nvSpPr>
        <p:spPr>
          <a:xfrm>
            <a:off x="3429000" y="281178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Full</a:t>
            </a:r>
          </a:p>
        </p:txBody>
      </p:sp>
      <p:sp>
        <p:nvSpPr>
          <p:cNvPr id="30" name=""/>
          <p:cNvSpPr/>
          <p:nvPr/>
        </p:nvSpPr>
        <p:spPr>
          <a:xfrm>
            <a:off x="5257800" y="2934995"/>
            <a:ext cx="663575" cy="313639"/>
          </a:xfrm>
          <a:prstGeom prst="rect">
            <a:avLst/>
          </a:prstGeom>
          <a:solidFill>
            <a:srgbClr val="2447FF"/>
          </a:solidFill>
          <a:ln>
            <a:noFill/>
          </a:ln>
        </p:spPr>
      </p:sp>
      <p:sp>
        <p:nvSpPr>
          <p:cNvPr id="31" name=""/>
          <p:cNvSpPr txBox="1"/>
          <p:nvPr/>
        </p:nvSpPr>
        <p:spPr>
          <a:xfrm>
            <a:off x="5976239" y="281178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4.0 wk</a:t>
            </a:r>
          </a:p>
        </p:txBody>
      </p:sp>
      <p:sp>
        <p:nvSpPr>
          <p:cNvPr id="32" name=""/>
          <p:cNvSpPr txBox="1"/>
          <p:nvPr/>
        </p:nvSpPr>
        <p:spPr>
          <a:xfrm>
            <a:off x="3429000" y="337185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Twin &amp; XL</a:t>
            </a:r>
          </a:p>
        </p:txBody>
      </p:sp>
      <p:sp>
        <p:nvSpPr>
          <p:cNvPr id="33" name=""/>
          <p:cNvSpPr/>
          <p:nvPr/>
        </p:nvSpPr>
        <p:spPr>
          <a:xfrm>
            <a:off x="5257800" y="3495065"/>
            <a:ext cx="907228" cy="313639"/>
          </a:xfrm>
          <a:prstGeom prst="rect">
            <a:avLst/>
          </a:prstGeom>
          <a:solidFill>
            <a:srgbClr val="2447FF"/>
          </a:solidFill>
          <a:ln>
            <a:noFill/>
          </a:ln>
        </p:spPr>
      </p:sp>
      <p:sp>
        <p:nvSpPr>
          <p:cNvPr id="34" name=""/>
          <p:cNvSpPr txBox="1"/>
          <p:nvPr/>
        </p:nvSpPr>
        <p:spPr>
          <a:xfrm>
            <a:off x="6219892" y="337185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5.4 wk</a:t>
            </a:r>
          </a:p>
        </p:txBody>
      </p:sp>
      <p:sp>
        <p:nvSpPr>
          <p:cNvPr id="35" name=""/>
          <p:cNvSpPr txBox="1"/>
          <p:nvPr/>
        </p:nvSpPr>
        <p:spPr>
          <a:xfrm>
            <a:off x="3429000" y="393192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Octaspring Cal/Split/RV</a:t>
            </a:r>
          </a:p>
        </p:txBody>
      </p:sp>
      <p:sp>
        <p:nvSpPr>
          <p:cNvPr id="36" name=""/>
          <p:cNvSpPr/>
          <p:nvPr/>
        </p:nvSpPr>
        <p:spPr>
          <a:xfrm>
            <a:off x="5257800" y="4055135"/>
            <a:ext cx="458216" cy="313639"/>
          </a:xfrm>
          <a:prstGeom prst="rect">
            <a:avLst/>
          </a:prstGeom>
          <a:solidFill>
            <a:srgbClr val="D97706"/>
          </a:solidFill>
          <a:ln>
            <a:noFill/>
          </a:ln>
        </p:spPr>
      </p:sp>
      <p:sp>
        <p:nvSpPr>
          <p:cNvPr id="37" name=""/>
          <p:cNvSpPr txBox="1"/>
          <p:nvPr/>
        </p:nvSpPr>
        <p:spPr>
          <a:xfrm>
            <a:off x="5770880" y="393192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2.7 wk</a:t>
            </a:r>
          </a:p>
        </p:txBody>
      </p:sp>
      <p:sp>
        <p:nvSpPr>
          <p:cNvPr id="38" name=""/>
          <p:cNvSpPr txBox="1"/>
          <p:nvPr/>
        </p:nvSpPr>
        <p:spPr>
          <a:xfrm>
            <a:off x="3429000" y="449199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SnowTek &amp; Essentials</a:t>
            </a:r>
          </a:p>
        </p:txBody>
      </p:sp>
      <p:sp>
        <p:nvSpPr>
          <p:cNvPr id="39" name=""/>
          <p:cNvSpPr/>
          <p:nvPr/>
        </p:nvSpPr>
        <p:spPr>
          <a:xfrm>
            <a:off x="5257800" y="4615205"/>
            <a:ext cx="886097" cy="313639"/>
          </a:xfrm>
          <a:prstGeom prst="rect">
            <a:avLst/>
          </a:prstGeom>
          <a:solidFill>
            <a:srgbClr val="2447FF"/>
          </a:solidFill>
          <a:ln>
            <a:noFill/>
          </a:ln>
        </p:spPr>
      </p:sp>
      <p:sp>
        <p:nvSpPr>
          <p:cNvPr id="40" name=""/>
          <p:cNvSpPr txBox="1"/>
          <p:nvPr/>
        </p:nvSpPr>
        <p:spPr>
          <a:xfrm>
            <a:off x="6198761" y="449199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5.3 wk</a:t>
            </a:r>
          </a:p>
        </p:txBody>
      </p:sp>
      <p:sp>
        <p:nvSpPr>
          <p:cNvPr id="41" name=""/>
          <p:cNvSpPr txBox="1"/>
          <p:nvPr/>
        </p:nvSpPr>
        <p:spPr>
          <a:xfrm>
            <a:off x="3429000" y="505206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Pillows</a:t>
            </a:r>
          </a:p>
        </p:txBody>
      </p:sp>
      <p:sp>
        <p:nvSpPr>
          <p:cNvPr id="42" name=""/>
          <p:cNvSpPr/>
          <p:nvPr/>
        </p:nvSpPr>
        <p:spPr>
          <a:xfrm>
            <a:off x="5257800" y="5175275"/>
            <a:ext cx="387667" cy="313639"/>
          </a:xfrm>
          <a:prstGeom prst="rect">
            <a:avLst/>
          </a:prstGeom>
          <a:solidFill>
            <a:srgbClr val="D97706"/>
          </a:solidFill>
          <a:ln>
            <a:noFill/>
          </a:ln>
        </p:spPr>
      </p:sp>
      <p:sp>
        <p:nvSpPr>
          <p:cNvPr id="43" name=""/>
          <p:cNvSpPr txBox="1"/>
          <p:nvPr/>
        </p:nvSpPr>
        <p:spPr>
          <a:xfrm>
            <a:off x="5700331" y="505206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2.3 wk</a:t>
            </a:r>
          </a:p>
        </p:txBody>
      </p:sp>
      <p:sp>
        <p:nvSpPr>
          <p:cNvPr id="44" name=""/>
          <p:cNvSpPr txBox="1"/>
          <p:nvPr/>
        </p:nvSpPr>
        <p:spPr>
          <a:xfrm>
            <a:off x="3429000" y="5612130"/>
            <a:ext cx="1828800" cy="560070"/>
          </a:xfrm>
          <a:prstGeom prst="rect">
            <a:avLst/>
          </a:prstGeom>
          <a:noFill/>
        </p:spPr>
        <p:txBody>
          <a:bodyPr wrap="square" lIns="36576" rIns="36576" tIns="18288" bIns="18288" anchor="ctr">
            <a:spAutoFit/>
          </a:bodyPr>
          <a:lstStyle/>
          <a:p>
            <a:pPr algn="l"/>
            <a:r>
              <a:rPr sz="1000" b="0">
                <a:solidFill>
                  <a:srgbClr val="0F172A"/>
                </a:solidFill>
                <a:latin typeface="Inter"/>
              </a:rPr>
              <a:t>Protectors &amp; Sheets</a:t>
            </a:r>
          </a:p>
        </p:txBody>
      </p:sp>
      <p:sp>
        <p:nvSpPr>
          <p:cNvPr id="45" name=""/>
          <p:cNvSpPr/>
          <p:nvPr/>
        </p:nvSpPr>
        <p:spPr>
          <a:xfrm>
            <a:off x="5257800" y="5735345"/>
            <a:ext cx="2011680" cy="313639"/>
          </a:xfrm>
          <a:prstGeom prst="rect">
            <a:avLst/>
          </a:prstGeom>
          <a:solidFill>
            <a:srgbClr val="2447FF"/>
          </a:solidFill>
          <a:ln>
            <a:noFill/>
          </a:ln>
        </p:spPr>
      </p:sp>
      <p:sp>
        <p:nvSpPr>
          <p:cNvPr id="46" name=""/>
          <p:cNvSpPr txBox="1"/>
          <p:nvPr/>
        </p:nvSpPr>
        <p:spPr>
          <a:xfrm>
            <a:off x="7324344" y="5612130"/>
            <a:ext cx="914400" cy="560070"/>
          </a:xfrm>
          <a:prstGeom prst="rect">
            <a:avLst/>
          </a:prstGeom>
          <a:noFill/>
        </p:spPr>
        <p:txBody>
          <a:bodyPr wrap="square" lIns="36576" rIns="36576" tIns="18288" bIns="18288" anchor="ctr">
            <a:spAutoFit/>
          </a:bodyPr>
          <a:lstStyle/>
          <a:p>
            <a:pPr algn="l"/>
            <a:r>
              <a:rPr sz="1000" b="1">
                <a:solidFill>
                  <a:srgbClr val="0F172A"/>
                </a:solidFill>
                <a:latin typeface="Inter"/>
              </a:rPr>
              <a:t>12+ wk</a:t>
            </a:r>
          </a:p>
        </p:txBody>
      </p:sp>
      <p:sp>
        <p:nvSpPr>
          <p:cNvPr id="47" name=""/>
          <p:cNvSpPr/>
          <p:nvPr/>
        </p:nvSpPr>
        <p:spPr>
          <a:xfrm>
            <a:off x="8366760" y="1371600"/>
            <a:ext cx="3273552" cy="4846320"/>
          </a:xfrm>
          <a:prstGeom prst="roundRect">
            <a:avLst>
              <a:gd name="" fmla="val 6000"/>
            </a:avLst>
          </a:prstGeom>
          <a:solidFill>
            <a:srgbClr val="FFFFFF"/>
          </a:solidFill>
          <a:ln w="9525">
            <a:solidFill>
              <a:srgbClr val="E5E0D6"/>
            </a:solidFill>
          </a:ln>
        </p:spPr>
      </p:sp>
      <p:sp>
        <p:nvSpPr>
          <p:cNvPr id="48" name=""/>
          <p:cNvSpPr txBox="1"/>
          <p:nvPr/>
        </p:nvSpPr>
        <p:spPr>
          <a:xfrm>
            <a:off x="8549640" y="1508760"/>
            <a:ext cx="290779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Read-out</a:t>
            </a:r>
          </a:p>
        </p:txBody>
      </p:sp>
      <p:sp>
        <p:nvSpPr>
          <p:cNvPr id="49" name=""/>
          <p:cNvSpPr txBox="1"/>
          <p:nvPr/>
        </p:nvSpPr>
        <p:spPr>
          <a:xfrm>
            <a:off x="8549640" y="1828800"/>
            <a:ext cx="2907792" cy="429768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Octaspring Queen: 0 available, 400 inbound, ~100 sold per week. Its 30-day sales were $152,600, so every week out costs real revenue.</a:t>
            </a:r>
          </a:p>
          <a:p>
            <a:pPr algn="l">
              <a:spcAft>
                <a:spcPts val="500"/>
              </a:spcAft>
            </a:pPr>
            <a:r>
              <a:rPr sz="1050" b="0">
                <a:solidFill>
                  <a:srgbClr val="334155"/>
                </a:solidFill>
                <a:latin typeface="Inter"/>
              </a:rPr>
              <a:t>Octaspring King is next: about 1.6 weeks available at FBA with 227 inbound.</a:t>
            </a:r>
          </a:p>
          <a:p>
            <a:pPr algn="l">
              <a:spcAft>
                <a:spcPts val="500"/>
              </a:spcAft>
            </a:pPr>
            <a:r>
              <a:rPr sz="1050" b="0">
                <a:solidFill>
                  <a:srgbClr val="334155"/>
                </a:solidFill>
                <a:latin typeface="Inter"/>
              </a:rPr>
              <a:t>Premium Cal King is down to 1 unit.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REVIEWS &amp; ACCOUNT HEALTH</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Rating &amp; review trend</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13 / 17</a:t>
            </a:r>
          </a:p>
        </p:txBody>
      </p:sp>
      <p:sp>
        <p:nvSpPr>
          <p:cNvPr id="10" name=""/>
          <p:cNvSpPr/>
          <p:nvPr/>
        </p:nvSpPr>
        <p:spPr>
          <a:xfrm>
            <a:off x="548640" y="1417320"/>
            <a:ext cx="5486400" cy="4800600"/>
          </a:xfrm>
          <a:prstGeom prst="roundRect">
            <a:avLst>
              <a:gd name="" fmla="val 6000"/>
            </a:avLst>
          </a:prstGeom>
          <a:solidFill>
            <a:srgbClr val="F6F3EC"/>
          </a:solidFill>
          <a:ln>
            <a:noFill/>
          </a:ln>
        </p:spPr>
      </p:sp>
      <p:sp>
        <p:nvSpPr>
          <p:cNvPr id="11" name=""/>
          <p:cNvSpPr txBox="1"/>
          <p:nvPr/>
        </p:nvSpPr>
        <p:spPr>
          <a:xfrm>
            <a:off x="777240" y="1645920"/>
            <a:ext cx="5029200" cy="365760"/>
          </a:xfrm>
          <a:prstGeom prst="rect">
            <a:avLst/>
          </a:prstGeom>
          <a:noFill/>
        </p:spPr>
        <p:txBody>
          <a:bodyPr wrap="square" lIns="36576" rIns="36576" tIns="18288" bIns="18288" anchor="t">
            <a:spAutoFit/>
          </a:bodyPr>
          <a:lstStyle/>
          <a:p>
            <a:pPr algn="l"/>
            <a:r>
              <a:rPr sz="1100" b="1">
                <a:solidFill>
                  <a:srgbClr val="D97706"/>
                </a:solidFill>
                <a:latin typeface="Inter"/>
              </a:rPr>
              <a:t>LAST 90 DAYS</a:t>
            </a:r>
          </a:p>
        </p:txBody>
      </p:sp>
      <p:sp>
        <p:nvSpPr>
          <p:cNvPr id="12" name=""/>
          <p:cNvSpPr txBox="1"/>
          <p:nvPr/>
        </p:nvSpPr>
        <p:spPr>
          <a:xfrm>
            <a:off x="777240" y="2011680"/>
            <a:ext cx="5029200" cy="731520"/>
          </a:xfrm>
          <a:prstGeom prst="rect">
            <a:avLst/>
          </a:prstGeom>
          <a:noFill/>
        </p:spPr>
        <p:txBody>
          <a:bodyPr wrap="square" lIns="36576" rIns="36576" tIns="18288" bIns="18288" anchor="t">
            <a:spAutoFit/>
          </a:bodyPr>
          <a:lstStyle/>
          <a:p>
            <a:pPr algn="l"/>
            <a:r>
              <a:rPr sz="2400" b="1">
                <a:solidFill>
                  <a:srgbClr val="0F172A"/>
                </a:solidFill>
                <a:latin typeface="Space Grotesk"/>
              </a:rPr>
              <a:t>No review data in Sellerise</a:t>
            </a:r>
          </a:p>
        </p:txBody>
      </p:sp>
      <p:sp>
        <p:nvSpPr>
          <p:cNvPr id="13" name=""/>
          <p:cNvSpPr txBox="1"/>
          <p:nvPr/>
        </p:nvSpPr>
        <p:spPr>
          <a:xfrm>
            <a:off x="777240" y="2926080"/>
            <a:ext cx="5029200" cy="3108960"/>
          </a:xfrm>
          <a:prstGeom prst="rect">
            <a:avLst/>
          </a:prstGeom>
          <a:noFill/>
        </p:spPr>
        <p:txBody>
          <a:bodyPr wrap="square" lIns="36576" rIns="36576" tIns="18288" bIns="18288" anchor="t">
            <a:spAutoFit/>
          </a:bodyPr>
          <a:lstStyle/>
          <a:p>
            <a:pPr algn="l">
              <a:spcAft>
                <a:spcPts val="800"/>
              </a:spcAft>
            </a:pPr>
            <a:r>
              <a:rPr sz="1150" b="0">
                <a:solidFill>
                  <a:srgbClr val="334155"/>
                </a:solidFill>
                <a:latin typeface="Inter"/>
              </a:rPr>
              <a:t>Sellerise returned no review records, rating trend or negative reviews for the 33 Dormeo US products over the last 90 days.</a:t>
            </a:r>
          </a:p>
          <a:p>
            <a:pPr algn="l">
              <a:spcAft>
                <a:spcPts val="800"/>
              </a:spcAft>
            </a:pPr>
            <a:r>
              <a:rPr sz="1150" b="0">
                <a:solidFill>
                  <a:srgbClr val="334155"/>
                </a:solidFill>
                <a:latin typeface="Inter"/>
              </a:rPr>
              <a:t>That means the review tracker isn't pulling for this account, not that there were no reviews.</a:t>
            </a:r>
          </a:p>
        </p:txBody>
      </p:sp>
      <p:sp>
        <p:nvSpPr>
          <p:cNvPr id="14" name=""/>
          <p:cNvSpPr/>
          <p:nvPr/>
        </p:nvSpPr>
        <p:spPr>
          <a:xfrm>
            <a:off x="6263640" y="1417320"/>
            <a:ext cx="5376672" cy="4800600"/>
          </a:xfrm>
          <a:prstGeom prst="roundRect">
            <a:avLst>
              <a:gd name="" fmla="val 6000"/>
            </a:avLst>
          </a:prstGeom>
          <a:solidFill>
            <a:srgbClr val="FFFFFF"/>
          </a:solidFill>
          <a:ln w="9525">
            <a:solidFill>
              <a:srgbClr val="E5E0D6"/>
            </a:solidFill>
          </a:ln>
        </p:spPr>
      </p:sp>
      <p:sp>
        <p:nvSpPr>
          <p:cNvPr id="15" name=""/>
          <p:cNvSpPr txBox="1"/>
          <p:nvPr/>
        </p:nvSpPr>
        <p:spPr>
          <a:xfrm>
            <a:off x="6446520" y="1554480"/>
            <a:ext cx="501091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Recommendation</a:t>
            </a:r>
          </a:p>
        </p:txBody>
      </p:sp>
      <p:sp>
        <p:nvSpPr>
          <p:cNvPr id="16" name=""/>
          <p:cNvSpPr txBox="1"/>
          <p:nvPr/>
        </p:nvSpPr>
        <p:spPr>
          <a:xfrm>
            <a:off x="6446520" y="1874519"/>
            <a:ext cx="5010912" cy="4251960"/>
          </a:xfrm>
          <a:prstGeom prst="rect">
            <a:avLst/>
          </a:prstGeom>
          <a:noFill/>
        </p:spPr>
        <p:txBody>
          <a:bodyPr wrap="square" lIns="36576" rIns="36576" tIns="18288" bIns="18288" anchor="t">
            <a:spAutoFit/>
          </a:bodyPr>
          <a:lstStyle/>
          <a:p>
            <a:pPr algn="l">
              <a:spcAft>
                <a:spcPts val="500"/>
              </a:spcAft>
            </a:pPr>
            <a:r>
              <a:rPr sz="1100" b="0">
                <a:solidFill>
                  <a:srgbClr val="334155"/>
                </a:solidFill>
                <a:latin typeface="Inter"/>
              </a:rPr>
              <a:t>Turn on review tracking for Dormeo US in Sellerise (or pull Amazon's Customer Reviews report) so next week's deck shows star rating and review count per line.</a:t>
            </a:r>
          </a:p>
          <a:p>
            <a:pPr algn="l">
              <a:spcAft>
                <a:spcPts val="500"/>
              </a:spcAft>
            </a:pPr>
            <a:r>
              <a:rPr sz="1100" b="0">
                <a:solidFill>
                  <a:srgbClr val="334155"/>
                </a:solidFill>
                <a:latin typeface="Inter"/>
              </a:rPr>
              <a:t>With the refund rate at 23.0% this week, reading the newest 1–3 star reviews for the Queen and King toppers is the quickest way to see whether the returns share a cause.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REVIEWS &amp; ACCOUNT HEALTH</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Alerts &amp; Buy Box — last 30 days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14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TOTAL ALERTS</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262</a:t>
            </a:r>
          </a:p>
        </p:txBody>
      </p:sp>
      <p:sp>
        <p:nvSpPr>
          <p:cNvPr id="13" name=""/>
          <p:cNvSpPr txBox="1"/>
          <p:nvPr/>
        </p:nvSpPr>
        <p:spPr>
          <a:xfrm>
            <a:off x="713232" y="2377439"/>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open, incl. log events</a:t>
            </a:r>
          </a:p>
        </p:txBody>
      </p:sp>
      <p:sp>
        <p:nvSpPr>
          <p:cNvPr id="14" name=""/>
          <p:cNvSpPr/>
          <p:nvPr/>
        </p:nvSpPr>
        <p:spPr>
          <a:xfrm>
            <a:off x="548640" y="2926080"/>
            <a:ext cx="2651760" cy="1417320"/>
          </a:xfrm>
          <a:prstGeom prst="roundRect">
            <a:avLst>
              <a:gd name="" fmla="val 6000"/>
            </a:avLst>
          </a:prstGeom>
          <a:solidFill>
            <a:srgbClr val="F6F3EC"/>
          </a:solidFill>
          <a:ln>
            <a:noFill/>
          </a:ln>
        </p:spPr>
      </p:sp>
      <p:sp>
        <p:nvSpPr>
          <p:cNvPr id="15" name=""/>
          <p:cNvSpPr txBox="1"/>
          <p:nvPr/>
        </p:nvSpPr>
        <p:spPr>
          <a:xfrm>
            <a:off x="713232" y="305409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ACTIONABLE</a:t>
            </a:r>
          </a:p>
        </p:txBody>
      </p:sp>
      <p:sp>
        <p:nvSpPr>
          <p:cNvPr id="16" name=""/>
          <p:cNvSpPr txBox="1"/>
          <p:nvPr/>
        </p:nvSpPr>
        <p:spPr>
          <a:xfrm>
            <a:off x="713232" y="3310128"/>
            <a:ext cx="2377440" cy="548640"/>
          </a:xfrm>
          <a:prstGeom prst="rect">
            <a:avLst/>
          </a:prstGeom>
          <a:noFill/>
        </p:spPr>
        <p:txBody>
          <a:bodyPr wrap="square" lIns="36576" rIns="36576" tIns="18288" bIns="18288" anchor="t">
            <a:spAutoFit/>
          </a:bodyPr>
          <a:lstStyle/>
          <a:p>
            <a:pPr algn="l"/>
            <a:r>
              <a:rPr sz="2600" b="1">
                <a:solidFill>
                  <a:srgbClr val="D97706"/>
                </a:solidFill>
                <a:latin typeface="Space Grotesk"/>
              </a:rPr>
              <a:t>40</a:t>
            </a:r>
          </a:p>
        </p:txBody>
      </p:sp>
      <p:sp>
        <p:nvSpPr>
          <p:cNvPr id="17" name=""/>
          <p:cNvSpPr txBox="1"/>
          <p:nvPr/>
        </p:nvSpPr>
        <p:spPr>
          <a:xfrm>
            <a:off x="713232" y="393192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warnings + critical</a:t>
            </a:r>
          </a:p>
        </p:txBody>
      </p:sp>
      <p:sp>
        <p:nvSpPr>
          <p:cNvPr id="18" name=""/>
          <p:cNvSpPr/>
          <p:nvPr/>
        </p:nvSpPr>
        <p:spPr>
          <a:xfrm>
            <a:off x="548640" y="4480560"/>
            <a:ext cx="2651760" cy="1737360"/>
          </a:xfrm>
          <a:prstGeom prst="roundRect">
            <a:avLst>
              <a:gd name="" fmla="val 6000"/>
            </a:avLst>
          </a:prstGeom>
          <a:solidFill>
            <a:srgbClr val="F6F3EC"/>
          </a:solidFill>
          <a:ln>
            <a:noFill/>
          </a:ln>
        </p:spPr>
      </p:sp>
      <p:sp>
        <p:nvSpPr>
          <p:cNvPr id="19" name=""/>
          <p:cNvSpPr txBox="1"/>
          <p:nvPr/>
        </p:nvSpPr>
        <p:spPr>
          <a:xfrm>
            <a:off x="713232" y="460857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CRITICAL</a:t>
            </a:r>
          </a:p>
        </p:txBody>
      </p:sp>
      <p:sp>
        <p:nvSpPr>
          <p:cNvPr id="20" name=""/>
          <p:cNvSpPr txBox="1"/>
          <p:nvPr/>
        </p:nvSpPr>
        <p:spPr>
          <a:xfrm>
            <a:off x="713232" y="4864608"/>
            <a:ext cx="2377440" cy="548640"/>
          </a:xfrm>
          <a:prstGeom prst="rect">
            <a:avLst/>
          </a:prstGeom>
          <a:noFill/>
        </p:spPr>
        <p:txBody>
          <a:bodyPr wrap="square" lIns="36576" rIns="36576" tIns="18288" bIns="18288" anchor="t">
            <a:spAutoFit/>
          </a:bodyPr>
          <a:lstStyle/>
          <a:p>
            <a:pPr algn="l"/>
            <a:r>
              <a:rPr sz="2600" b="1">
                <a:solidFill>
                  <a:srgbClr val="DC2626"/>
                </a:solidFill>
                <a:latin typeface="Space Grotesk"/>
              </a:rPr>
              <a:t>25</a:t>
            </a:r>
          </a:p>
        </p:txBody>
      </p:sp>
      <p:sp>
        <p:nvSpPr>
          <p:cNvPr id="21" name=""/>
          <p:cNvSpPr txBox="1"/>
          <p:nvPr/>
        </p:nvSpPr>
        <p:spPr>
          <a:xfrm>
            <a:off x="713232" y="5806440"/>
            <a:ext cx="2377440" cy="320040"/>
          </a:xfrm>
          <a:prstGeom prst="rect">
            <a:avLst/>
          </a:prstGeom>
          <a:noFill/>
        </p:spPr>
        <p:txBody>
          <a:bodyPr wrap="square" lIns="36576" rIns="36576" tIns="18288" bIns="18288" anchor="t">
            <a:spAutoFit/>
          </a:bodyPr>
          <a:lstStyle/>
          <a:p>
            <a:pPr algn="l"/>
            <a:r>
              <a:rPr sz="1000" b="0">
                <a:solidFill>
                  <a:srgbClr val="6B6558"/>
                </a:solidFill>
                <a:latin typeface="Inter"/>
              </a:rPr>
              <a:t>Buy Box, stock, inactive</a:t>
            </a:r>
          </a:p>
        </p:txBody>
      </p:sp>
      <p:sp>
        <p:nvSpPr>
          <p:cNvPr id="22" name=""/>
          <p:cNvSpPr txBox="1"/>
          <p:nvPr/>
        </p:nvSpPr>
        <p:spPr>
          <a:xfrm>
            <a:off x="3429000" y="1371600"/>
            <a:ext cx="4754880" cy="274320"/>
          </a:xfrm>
          <a:prstGeom prst="rect">
            <a:avLst/>
          </a:prstGeom>
          <a:noFill/>
        </p:spPr>
        <p:txBody>
          <a:bodyPr wrap="square" lIns="36576" rIns="36576" tIns="18288" bIns="18288" anchor="t">
            <a:spAutoFit/>
          </a:bodyPr>
          <a:lstStyle/>
          <a:p>
            <a:pPr algn="l"/>
            <a:r>
              <a:rPr sz="1100" b="1">
                <a:solidFill>
                  <a:srgbClr val="0F172A"/>
                </a:solidFill>
                <a:latin typeface="Inter"/>
              </a:rPr>
              <a:t>Alerts by type</a:t>
            </a:r>
          </a:p>
        </p:txBody>
      </p:sp>
      <p:sp>
        <p:nvSpPr>
          <p:cNvPr id="23" name=""/>
          <p:cNvSpPr txBox="1"/>
          <p:nvPr/>
        </p:nvSpPr>
        <p:spPr>
          <a:xfrm>
            <a:off x="3429000" y="1691640"/>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Listing images</a:t>
            </a:r>
          </a:p>
        </p:txBody>
      </p:sp>
      <p:sp>
        <p:nvSpPr>
          <p:cNvPr id="24" name=""/>
          <p:cNvSpPr/>
          <p:nvPr/>
        </p:nvSpPr>
        <p:spPr>
          <a:xfrm>
            <a:off x="5257800" y="1790212"/>
            <a:ext cx="2011680" cy="250911"/>
          </a:xfrm>
          <a:prstGeom prst="rect">
            <a:avLst/>
          </a:prstGeom>
          <a:solidFill>
            <a:srgbClr val="2447FF"/>
          </a:solidFill>
          <a:ln>
            <a:noFill/>
          </a:ln>
        </p:spPr>
      </p:sp>
      <p:sp>
        <p:nvSpPr>
          <p:cNvPr id="25" name=""/>
          <p:cNvSpPr txBox="1"/>
          <p:nvPr/>
        </p:nvSpPr>
        <p:spPr>
          <a:xfrm>
            <a:off x="7324344" y="1691640"/>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118</a:t>
            </a:r>
          </a:p>
        </p:txBody>
      </p:sp>
      <p:sp>
        <p:nvSpPr>
          <p:cNvPr id="26" name=""/>
          <p:cNvSpPr txBox="1"/>
          <p:nvPr/>
        </p:nvSpPr>
        <p:spPr>
          <a:xfrm>
            <a:off x="3429000" y="2139696"/>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Listing price</a:t>
            </a:r>
          </a:p>
        </p:txBody>
      </p:sp>
      <p:sp>
        <p:nvSpPr>
          <p:cNvPr id="27" name=""/>
          <p:cNvSpPr/>
          <p:nvPr/>
        </p:nvSpPr>
        <p:spPr>
          <a:xfrm>
            <a:off x="5257800" y="2238268"/>
            <a:ext cx="750117" cy="250911"/>
          </a:xfrm>
          <a:prstGeom prst="rect">
            <a:avLst/>
          </a:prstGeom>
          <a:solidFill>
            <a:srgbClr val="2447FF"/>
          </a:solidFill>
          <a:ln>
            <a:noFill/>
          </a:ln>
        </p:spPr>
      </p:sp>
      <p:sp>
        <p:nvSpPr>
          <p:cNvPr id="28" name=""/>
          <p:cNvSpPr txBox="1"/>
          <p:nvPr/>
        </p:nvSpPr>
        <p:spPr>
          <a:xfrm>
            <a:off x="6062781" y="2139696"/>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44</a:t>
            </a:r>
          </a:p>
        </p:txBody>
      </p:sp>
      <p:sp>
        <p:nvSpPr>
          <p:cNvPr id="29" name=""/>
          <p:cNvSpPr txBox="1"/>
          <p:nvPr/>
        </p:nvSpPr>
        <p:spPr>
          <a:xfrm>
            <a:off x="3429000" y="2587752"/>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Title</a:t>
            </a:r>
          </a:p>
        </p:txBody>
      </p:sp>
      <p:sp>
        <p:nvSpPr>
          <p:cNvPr id="30" name=""/>
          <p:cNvSpPr/>
          <p:nvPr/>
        </p:nvSpPr>
        <p:spPr>
          <a:xfrm>
            <a:off x="5257800" y="2686324"/>
            <a:ext cx="409155" cy="250911"/>
          </a:xfrm>
          <a:prstGeom prst="rect">
            <a:avLst/>
          </a:prstGeom>
          <a:solidFill>
            <a:srgbClr val="2447FF"/>
          </a:solidFill>
          <a:ln>
            <a:noFill/>
          </a:ln>
        </p:spPr>
      </p:sp>
      <p:sp>
        <p:nvSpPr>
          <p:cNvPr id="31" name=""/>
          <p:cNvSpPr txBox="1"/>
          <p:nvPr/>
        </p:nvSpPr>
        <p:spPr>
          <a:xfrm>
            <a:off x="5721819" y="2587752"/>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24</a:t>
            </a:r>
          </a:p>
        </p:txBody>
      </p:sp>
      <p:sp>
        <p:nvSpPr>
          <p:cNvPr id="32" name=""/>
          <p:cNvSpPr txBox="1"/>
          <p:nvPr/>
        </p:nvSpPr>
        <p:spPr>
          <a:xfrm>
            <a:off x="3429000" y="3035808"/>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Inactive</a:t>
            </a:r>
          </a:p>
        </p:txBody>
      </p:sp>
      <p:sp>
        <p:nvSpPr>
          <p:cNvPr id="33" name=""/>
          <p:cNvSpPr/>
          <p:nvPr/>
        </p:nvSpPr>
        <p:spPr>
          <a:xfrm>
            <a:off x="5257800" y="3134380"/>
            <a:ext cx="187529" cy="250911"/>
          </a:xfrm>
          <a:prstGeom prst="rect">
            <a:avLst/>
          </a:prstGeom>
          <a:solidFill>
            <a:srgbClr val="DC2626"/>
          </a:solidFill>
          <a:ln>
            <a:noFill/>
          </a:ln>
        </p:spPr>
      </p:sp>
      <p:sp>
        <p:nvSpPr>
          <p:cNvPr id="34" name=""/>
          <p:cNvSpPr txBox="1"/>
          <p:nvPr/>
        </p:nvSpPr>
        <p:spPr>
          <a:xfrm>
            <a:off x="5500193" y="3035808"/>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11</a:t>
            </a:r>
          </a:p>
        </p:txBody>
      </p:sp>
      <p:sp>
        <p:nvSpPr>
          <p:cNvPr id="35" name=""/>
          <p:cNvSpPr txBox="1"/>
          <p:nvPr/>
        </p:nvSpPr>
        <p:spPr>
          <a:xfrm>
            <a:off x="3429000" y="3483864"/>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Buy Box lost</a:t>
            </a:r>
          </a:p>
        </p:txBody>
      </p:sp>
      <p:sp>
        <p:nvSpPr>
          <p:cNvPr id="36" name=""/>
          <p:cNvSpPr/>
          <p:nvPr/>
        </p:nvSpPr>
        <p:spPr>
          <a:xfrm>
            <a:off x="5257800" y="3582436"/>
            <a:ext cx="170481" cy="250911"/>
          </a:xfrm>
          <a:prstGeom prst="rect">
            <a:avLst/>
          </a:prstGeom>
          <a:solidFill>
            <a:srgbClr val="DC2626"/>
          </a:solidFill>
          <a:ln>
            <a:noFill/>
          </a:ln>
        </p:spPr>
      </p:sp>
      <p:sp>
        <p:nvSpPr>
          <p:cNvPr id="37" name=""/>
          <p:cNvSpPr txBox="1"/>
          <p:nvPr/>
        </p:nvSpPr>
        <p:spPr>
          <a:xfrm>
            <a:off x="5483145" y="3483864"/>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10</a:t>
            </a:r>
          </a:p>
        </p:txBody>
      </p:sp>
      <p:sp>
        <p:nvSpPr>
          <p:cNvPr id="38" name=""/>
          <p:cNvSpPr txBox="1"/>
          <p:nvPr/>
        </p:nvSpPr>
        <p:spPr>
          <a:xfrm>
            <a:off x="3429000" y="3931920"/>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Buy Box gained</a:t>
            </a:r>
          </a:p>
        </p:txBody>
      </p:sp>
      <p:sp>
        <p:nvSpPr>
          <p:cNvPr id="39" name=""/>
          <p:cNvSpPr/>
          <p:nvPr/>
        </p:nvSpPr>
        <p:spPr>
          <a:xfrm>
            <a:off x="5257800" y="4030492"/>
            <a:ext cx="170481" cy="250911"/>
          </a:xfrm>
          <a:prstGeom prst="rect">
            <a:avLst/>
          </a:prstGeom>
          <a:solidFill>
            <a:srgbClr val="2447FF"/>
          </a:solidFill>
          <a:ln>
            <a:noFill/>
          </a:ln>
        </p:spPr>
      </p:sp>
      <p:sp>
        <p:nvSpPr>
          <p:cNvPr id="40" name=""/>
          <p:cNvSpPr txBox="1"/>
          <p:nvPr/>
        </p:nvSpPr>
        <p:spPr>
          <a:xfrm>
            <a:off x="5483145" y="3931920"/>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10</a:t>
            </a:r>
          </a:p>
        </p:txBody>
      </p:sp>
      <p:sp>
        <p:nvSpPr>
          <p:cNvPr id="41" name=""/>
          <p:cNvSpPr txBox="1"/>
          <p:nvPr/>
        </p:nvSpPr>
        <p:spPr>
          <a:xfrm>
            <a:off x="3429000" y="4379976"/>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Low inventory fee</a:t>
            </a:r>
          </a:p>
        </p:txBody>
      </p:sp>
      <p:sp>
        <p:nvSpPr>
          <p:cNvPr id="42" name=""/>
          <p:cNvSpPr/>
          <p:nvPr/>
        </p:nvSpPr>
        <p:spPr>
          <a:xfrm>
            <a:off x="5257800" y="4478548"/>
            <a:ext cx="153433" cy="250911"/>
          </a:xfrm>
          <a:prstGeom prst="rect">
            <a:avLst/>
          </a:prstGeom>
          <a:solidFill>
            <a:srgbClr val="2447FF"/>
          </a:solidFill>
          <a:ln>
            <a:noFill/>
          </a:ln>
        </p:spPr>
      </p:sp>
      <p:sp>
        <p:nvSpPr>
          <p:cNvPr id="43" name=""/>
          <p:cNvSpPr txBox="1"/>
          <p:nvPr/>
        </p:nvSpPr>
        <p:spPr>
          <a:xfrm>
            <a:off x="5466097" y="4379976"/>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9</a:t>
            </a:r>
          </a:p>
        </p:txBody>
      </p:sp>
      <p:sp>
        <p:nvSpPr>
          <p:cNvPr id="44" name=""/>
          <p:cNvSpPr txBox="1"/>
          <p:nvPr/>
        </p:nvSpPr>
        <p:spPr>
          <a:xfrm>
            <a:off x="3429000" y="4828032"/>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Reimbursable units</a:t>
            </a:r>
          </a:p>
        </p:txBody>
      </p:sp>
      <p:sp>
        <p:nvSpPr>
          <p:cNvPr id="45" name=""/>
          <p:cNvSpPr/>
          <p:nvPr/>
        </p:nvSpPr>
        <p:spPr>
          <a:xfrm>
            <a:off x="5257800" y="4926604"/>
            <a:ext cx="136385" cy="250911"/>
          </a:xfrm>
          <a:prstGeom prst="rect">
            <a:avLst/>
          </a:prstGeom>
          <a:solidFill>
            <a:srgbClr val="2447FF"/>
          </a:solidFill>
          <a:ln>
            <a:noFill/>
          </a:ln>
        </p:spPr>
      </p:sp>
      <p:sp>
        <p:nvSpPr>
          <p:cNvPr id="46" name=""/>
          <p:cNvSpPr txBox="1"/>
          <p:nvPr/>
        </p:nvSpPr>
        <p:spPr>
          <a:xfrm>
            <a:off x="5449049" y="4828032"/>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8</a:t>
            </a:r>
          </a:p>
        </p:txBody>
      </p:sp>
      <p:sp>
        <p:nvSpPr>
          <p:cNvPr id="47" name=""/>
          <p:cNvSpPr txBox="1"/>
          <p:nvPr/>
        </p:nvSpPr>
        <p:spPr>
          <a:xfrm>
            <a:off x="3429000" y="5276088"/>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Low stock</a:t>
            </a:r>
          </a:p>
        </p:txBody>
      </p:sp>
      <p:sp>
        <p:nvSpPr>
          <p:cNvPr id="48" name=""/>
          <p:cNvSpPr/>
          <p:nvPr/>
        </p:nvSpPr>
        <p:spPr>
          <a:xfrm>
            <a:off x="5257800" y="5374660"/>
            <a:ext cx="85240" cy="250911"/>
          </a:xfrm>
          <a:prstGeom prst="rect">
            <a:avLst/>
          </a:prstGeom>
          <a:solidFill>
            <a:srgbClr val="2447FF"/>
          </a:solidFill>
          <a:ln>
            <a:noFill/>
          </a:ln>
        </p:spPr>
      </p:sp>
      <p:sp>
        <p:nvSpPr>
          <p:cNvPr id="49" name=""/>
          <p:cNvSpPr txBox="1"/>
          <p:nvPr/>
        </p:nvSpPr>
        <p:spPr>
          <a:xfrm>
            <a:off x="5397904" y="5276088"/>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5</a:t>
            </a:r>
          </a:p>
        </p:txBody>
      </p:sp>
      <p:sp>
        <p:nvSpPr>
          <p:cNvPr id="50" name=""/>
          <p:cNvSpPr txBox="1"/>
          <p:nvPr/>
        </p:nvSpPr>
        <p:spPr>
          <a:xfrm>
            <a:off x="3429000" y="5724144"/>
            <a:ext cx="1828800" cy="448056"/>
          </a:xfrm>
          <a:prstGeom prst="rect">
            <a:avLst/>
          </a:prstGeom>
          <a:noFill/>
        </p:spPr>
        <p:txBody>
          <a:bodyPr wrap="square" lIns="36576" rIns="36576" tIns="18288" bIns="18288" anchor="ctr">
            <a:spAutoFit/>
          </a:bodyPr>
          <a:lstStyle/>
          <a:p>
            <a:pPr algn="l"/>
            <a:r>
              <a:rPr sz="1000" b="0">
                <a:solidFill>
                  <a:srgbClr val="0F172A"/>
                </a:solidFill>
                <a:latin typeface="Inter"/>
              </a:rPr>
              <a:t>Out of stock</a:t>
            </a:r>
          </a:p>
        </p:txBody>
      </p:sp>
      <p:sp>
        <p:nvSpPr>
          <p:cNvPr id="51" name=""/>
          <p:cNvSpPr/>
          <p:nvPr/>
        </p:nvSpPr>
        <p:spPr>
          <a:xfrm>
            <a:off x="5257800" y="5822716"/>
            <a:ext cx="85240" cy="250911"/>
          </a:xfrm>
          <a:prstGeom prst="rect">
            <a:avLst/>
          </a:prstGeom>
          <a:solidFill>
            <a:srgbClr val="DC2626"/>
          </a:solidFill>
          <a:ln>
            <a:noFill/>
          </a:ln>
        </p:spPr>
      </p:sp>
      <p:sp>
        <p:nvSpPr>
          <p:cNvPr id="52" name=""/>
          <p:cNvSpPr txBox="1"/>
          <p:nvPr/>
        </p:nvSpPr>
        <p:spPr>
          <a:xfrm>
            <a:off x="5397904" y="5724144"/>
            <a:ext cx="914400" cy="448056"/>
          </a:xfrm>
          <a:prstGeom prst="rect">
            <a:avLst/>
          </a:prstGeom>
          <a:noFill/>
        </p:spPr>
        <p:txBody>
          <a:bodyPr wrap="square" lIns="36576" rIns="36576" tIns="18288" bIns="18288" anchor="ctr">
            <a:spAutoFit/>
          </a:bodyPr>
          <a:lstStyle/>
          <a:p>
            <a:pPr algn="l"/>
            <a:r>
              <a:rPr sz="1000" b="1">
                <a:solidFill>
                  <a:srgbClr val="0F172A"/>
                </a:solidFill>
                <a:latin typeface="Inter"/>
              </a:rPr>
              <a:t>5</a:t>
            </a:r>
          </a:p>
        </p:txBody>
      </p:sp>
      <p:sp>
        <p:nvSpPr>
          <p:cNvPr id="53" name=""/>
          <p:cNvSpPr/>
          <p:nvPr/>
        </p:nvSpPr>
        <p:spPr>
          <a:xfrm>
            <a:off x="8366760" y="1371600"/>
            <a:ext cx="3273552" cy="4846320"/>
          </a:xfrm>
          <a:prstGeom prst="roundRect">
            <a:avLst>
              <a:gd name="" fmla="val 6000"/>
            </a:avLst>
          </a:prstGeom>
          <a:solidFill>
            <a:srgbClr val="FFFFFF"/>
          </a:solidFill>
          <a:ln w="9525">
            <a:solidFill>
              <a:srgbClr val="E5E0D6"/>
            </a:solidFill>
          </a:ln>
        </p:spPr>
      </p:sp>
      <p:sp>
        <p:nvSpPr>
          <p:cNvPr id="54" name=""/>
          <p:cNvSpPr txBox="1"/>
          <p:nvPr/>
        </p:nvSpPr>
        <p:spPr>
          <a:xfrm>
            <a:off x="8549640" y="1508760"/>
            <a:ext cx="2907792" cy="274320"/>
          </a:xfrm>
          <a:prstGeom prst="rect">
            <a:avLst/>
          </a:prstGeom>
          <a:noFill/>
        </p:spPr>
        <p:txBody>
          <a:bodyPr wrap="square" lIns="36576" rIns="36576" tIns="18288" bIns="18288" anchor="t">
            <a:spAutoFit/>
          </a:bodyPr>
          <a:lstStyle/>
          <a:p>
            <a:pPr algn="l"/>
            <a:r>
              <a:rPr sz="1200" b="1">
                <a:solidFill>
                  <a:srgbClr val="0F172A"/>
                </a:solidFill>
                <a:latin typeface="Space Grotesk"/>
              </a:rPr>
              <a:t>Read-out</a:t>
            </a:r>
          </a:p>
        </p:txBody>
      </p:sp>
      <p:sp>
        <p:nvSpPr>
          <p:cNvPr id="55" name=""/>
          <p:cNvSpPr txBox="1"/>
          <p:nvPr/>
        </p:nvSpPr>
        <p:spPr>
          <a:xfrm>
            <a:off x="8549640" y="1828800"/>
            <a:ext cx="2907792" cy="4297680"/>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Most alerts are routine listing changes (images, price, title).</a:t>
            </a:r>
          </a:p>
          <a:p>
            <a:pPr algn="l">
              <a:spcAft>
                <a:spcPts val="500"/>
              </a:spcAft>
            </a:pPr>
            <a:r>
              <a:rPr sz="1050" b="0">
                <a:solidFill>
                  <a:srgbClr val="334155"/>
                </a:solidFill>
                <a:latin typeface="Inter"/>
              </a:rPr>
              <a:t>Buy Box: lost 10 times and regained 10 times. The latest Buy Box alert (Oct 26) is on the Premium Queen topper, the out-of-stock ASIN.</a:t>
            </a:r>
          </a:p>
          <a:p>
            <a:pPr algn="l">
              <a:spcAft>
                <a:spcPts val="500"/>
              </a:spcAft>
            </a:pPr>
            <a:r>
              <a:rPr sz="1050" b="0">
                <a:solidFill>
                  <a:srgbClr val="334155"/>
                </a:solidFill>
                <a:latin typeface="Inter"/>
              </a:rPr>
              <a:t>11 inactive and 5 out-of-stock alerts line up with the inventory gaps on the previous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NEXT STEPS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This week's recommendations</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15 / 17</a:t>
            </a:r>
          </a:p>
        </p:txBody>
      </p:sp>
      <p:graphicFrame>
        <p:nvGraphicFramePr>
          <p:cNvPr id="10" name=""/>
          <p:cNvGraphicFramePr>
            <a:graphicFrameLocks noGrp="1"/>
          </p:cNvGraphicFramePr>
          <p:nvPr/>
        </p:nvGraphicFramePr>
        <p:xfrm>
          <a:off x="548640" y="1371600"/>
          <a:ext cx="11091672" cy="4535424"/>
        </p:xfrm>
        <a:graphic>
          <a:graphicData uri="http://schemas.openxmlformats.org/drawingml/2006/table">
            <a:tbl>
              <a:tblPr firstRow="1" bandRow="1">
                <a:tableStyleId>{5C22544A-7EE6-4342-B048-85BDC9FD1C3A}</a:tableStyleId>
              </a:tblPr>
              <a:tblGrid>
                <a:gridCol w="1463040"/>
                <a:gridCol w="7068312"/>
                <a:gridCol w="1371600"/>
                <a:gridCol w="1188720"/>
              </a:tblGrid>
              <a:tr h="566928">
                <a:tc>
                  <a:txBody>
                    <a:bodyPr wrap="square"/>
                    <a:lstStyle/>
                    <a:p>
                      <a:pPr algn="l"/>
                      <a:r>
                        <a:rPr sz="1000" b="1">
                          <a:solidFill>
                            <a:srgbClr val="FFFFFF"/>
                          </a:solidFill>
                          <a:latin typeface="Inter"/>
                        </a:rPr>
                        <a:t>Area</a:t>
                      </a:r>
                    </a:p>
                  </a:txBody>
                  <a:tcPr marL="54864" marR="54864" marT="27432" marB="27432" anchor="ctr">
                    <a:solidFill>
                      <a:srgbClr val="0F172A"/>
                    </a:solidFill>
                  </a:tcPr>
                </a:tc>
                <a:tc>
                  <a:txBody>
                    <a:bodyPr wrap="square"/>
                    <a:lstStyle/>
                    <a:p>
                      <a:pPr algn="l"/>
                      <a:r>
                        <a:rPr sz="1000" b="1">
                          <a:solidFill>
                            <a:srgbClr val="FFFFFF"/>
                          </a:solidFill>
                          <a:latin typeface="Inter"/>
                        </a:rPr>
                        <a:t>Recommendation</a:t>
                      </a:r>
                    </a:p>
                  </a:txBody>
                  <a:tcPr marL="54864" marR="54864" marT="27432" marB="27432" anchor="ctr">
                    <a:solidFill>
                      <a:srgbClr val="0F172A"/>
                    </a:solidFill>
                  </a:tcPr>
                </a:tc>
                <a:tc>
                  <a:txBody>
                    <a:bodyPr wrap="square"/>
                    <a:lstStyle/>
                    <a:p>
                      <a:pPr algn="l"/>
                      <a:r>
                        <a:rPr sz="1000" b="1">
                          <a:solidFill>
                            <a:srgbClr val="FFFFFF"/>
                          </a:solidFill>
                          <a:latin typeface="Inter"/>
                        </a:rPr>
                        <a:t>Owner</a:t>
                      </a:r>
                    </a:p>
                  </a:txBody>
                  <a:tcPr marL="54864" marR="54864" marT="27432" marB="27432" anchor="ctr">
                    <a:solidFill>
                      <a:srgbClr val="0F172A"/>
                    </a:solidFill>
                  </a:tcPr>
                </a:tc>
                <a:tc>
                  <a:txBody>
                    <a:bodyPr wrap="square"/>
                    <a:lstStyle/>
                    <a:p>
                      <a:pPr algn="l"/>
                      <a:r>
                        <a:rPr sz="1000" b="1">
                          <a:solidFill>
                            <a:srgbClr val="FFFFFF"/>
                          </a:solidFill>
                          <a:latin typeface="Inter"/>
                        </a:rPr>
                        <a:t>Timing</a:t>
                      </a:r>
                    </a:p>
                  </a:txBody>
                  <a:tcPr marL="54864" marR="54864" marT="27432" marB="27432" anchor="ctr">
                    <a:solidFill>
                      <a:srgbClr val="0F172A"/>
                    </a:solidFill>
                  </a:tcPr>
                </a:tc>
              </a:tr>
              <a:tr h="566928">
                <a:tc>
                  <a:txBody>
                    <a:bodyPr wrap="square"/>
                    <a:lstStyle/>
                    <a:p>
                      <a:pPr algn="l"/>
                      <a:r>
                        <a:rPr sz="1100" b="0">
                          <a:solidFill>
                            <a:srgbClr val="0F172A"/>
                          </a:solidFill>
                          <a:latin typeface="Inter"/>
                        </a:rPr>
                        <a:t>Inventory</a:t>
                      </a:r>
                    </a:p>
                  </a:txBody>
                  <a:tcPr marL="54864" marR="54864" marT="27432" marB="27432" anchor="ctr">
                    <a:solidFill>
                      <a:srgbClr val="FFFFFF"/>
                    </a:solidFill>
                  </a:tcPr>
                </a:tc>
                <a:tc>
                  <a:txBody>
                    <a:bodyPr wrap="square"/>
                    <a:lstStyle/>
                    <a:p>
                      <a:pPr algn="l"/>
                      <a:r>
                        <a:rPr sz="1100" b="0">
                          <a:solidFill>
                            <a:srgbClr val="0F172A"/>
                          </a:solidFill>
                          <a:latin typeface="Inter"/>
                        </a:rPr>
                        <a:t>Get the 400 inbound Queen toppers checked in at FBA; confirm the ETA and follow up on any receiving delay.</a:t>
                      </a:r>
                    </a:p>
                  </a:txBody>
                  <a:tcPr marL="54864" marR="54864" marT="27432" marB="27432" anchor="ctr">
                    <a:solidFill>
                      <a:srgbClr val="FFFFFF"/>
                    </a:solidFill>
                  </a:tcPr>
                </a:tc>
                <a:tc>
                  <a:txBody>
                    <a:bodyPr wrap="square"/>
                    <a:lstStyle/>
                    <a:p>
                      <a:pPr algn="l"/>
                      <a:r>
                        <a:rPr sz="1100" b="0">
                          <a:solidFill>
                            <a:srgbClr val="0F172A"/>
                          </a:solidFill>
                          <a:latin typeface="Inter"/>
                        </a:rPr>
                        <a:t>Account team</a:t>
                      </a:r>
                    </a:p>
                  </a:txBody>
                  <a:tcPr marL="54864" marR="54864" marT="27432" marB="27432" anchor="ctr">
                    <a:solidFill>
                      <a:srgbClr val="FFFFFF"/>
                    </a:solidFill>
                  </a:tcPr>
                </a:tc>
                <a:tc>
                  <a:txBody>
                    <a:bodyPr wrap="square"/>
                    <a:lstStyle/>
                    <a:p>
                      <a:pPr algn="l"/>
                      <a:r>
                        <a:rPr sz="1100" b="0">
                          <a:solidFill>
                            <a:srgbClr val="0F172A"/>
                          </a:solidFill>
                          <a:latin typeface="Inter"/>
                        </a:rPr>
                        <a:t>This week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Inventory</a:t>
                      </a:r>
                    </a:p>
                  </a:txBody>
                  <a:tcPr marL="54864" marR="54864" marT="27432" marB="27432" anchor="ctr">
                    <a:solidFill>
                      <a:srgbClr val="FBFAF7"/>
                    </a:solidFill>
                  </a:tcPr>
                </a:tc>
                <a:tc>
                  <a:txBody>
                    <a:bodyPr wrap="square"/>
                    <a:lstStyle/>
                    <a:p>
                      <a:pPr algn="l"/>
                      <a:r>
                        <a:rPr sz="1100" b="0">
                          <a:solidFill>
                            <a:srgbClr val="0F172A"/>
                          </a:solidFill>
                          <a:latin typeface="Inter"/>
                        </a:rPr>
                        <a:t>Send King (1.6 wk) and Cal King (1 unit) replenishment so neither stocks out before BF/CM.</a:t>
                      </a:r>
                    </a:p>
                  </a:txBody>
                  <a:tcPr marL="54864" marR="54864" marT="27432" marB="27432" anchor="ctr">
                    <a:solidFill>
                      <a:srgbClr val="FBFAF7"/>
                    </a:solidFill>
                  </a:tcPr>
                </a:tc>
                <a:tc>
                  <a:txBody>
                    <a:bodyPr wrap="square"/>
                    <a:lstStyle/>
                    <a:p>
                      <a:pPr algn="l"/>
                      <a:r>
                        <a:rPr sz="1100" b="0">
                          <a:solidFill>
                            <a:srgbClr val="0F172A"/>
                          </a:solidFill>
                          <a:latin typeface="Inter"/>
                        </a:rPr>
                        <a:t>Account team</a:t>
                      </a:r>
                    </a:p>
                  </a:txBody>
                  <a:tcPr marL="54864" marR="54864" marT="27432" marB="27432" anchor="ctr">
                    <a:solidFill>
                      <a:srgbClr val="FBFAF7"/>
                    </a:solidFill>
                  </a:tcPr>
                </a:tc>
                <a:tc>
                  <a:txBody>
                    <a:bodyPr wrap="square"/>
                    <a:lstStyle/>
                    <a:p>
                      <a:pPr algn="l"/>
                      <a:r>
                        <a:rPr sz="1100" b="0">
                          <a:solidFill>
                            <a:srgbClr val="0F172A"/>
                          </a:solidFill>
                          <a:latin typeface="Inter"/>
                        </a:rPr>
                        <a:t>By Nov 6</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FFFFF"/>
                    </a:solidFill>
                  </a:tcPr>
                </a:tc>
                <a:tc>
                  <a:txBody>
                    <a:bodyPr wrap="square"/>
                    <a:lstStyle/>
                    <a:p>
                      <a:pPr algn="l"/>
                      <a:r>
                        <a:rPr sz="1100" b="0">
                          <a:solidFill>
                            <a:srgbClr val="0F172A"/>
                          </a:solidFill>
                          <a:latin typeface="Inter"/>
                        </a:rPr>
                        <a:t>Lower bids on the generic “mattress +topper” phrase target and the “dormeo” phrase targets running above 35% ACoS.</a:t>
                      </a:r>
                    </a:p>
                  </a:txBody>
                  <a:tcPr marL="54864" marR="54864" marT="27432" marB="27432" anchor="ctr">
                    <a:solidFill>
                      <a:srgbClr val="FFFFFF"/>
                    </a:solidFill>
                  </a:tcPr>
                </a:tc>
                <a:tc>
                  <a:txBody>
                    <a:bodyPr wrap="square"/>
                    <a:lstStyle/>
                    <a:p>
                      <a:pPr algn="l"/>
                      <a:r>
                        <a:rPr sz="1100" b="0">
                          <a:solidFill>
                            <a:srgbClr val="0F172A"/>
                          </a:solidFill>
                          <a:latin typeface="Inter"/>
                        </a:rPr>
                        <a:t>Ads team</a:t>
                      </a:r>
                    </a:p>
                  </a:txBody>
                  <a:tcPr marL="54864" marR="54864" marT="27432" marB="27432" anchor="ctr">
                    <a:solidFill>
                      <a:srgbClr val="FFFFFF"/>
                    </a:solidFill>
                  </a:tcPr>
                </a:tc>
                <a:tc>
                  <a:txBody>
                    <a:bodyPr wrap="square"/>
                    <a:lstStyle/>
                    <a:p>
                      <a:pPr algn="l"/>
                      <a:r>
                        <a:rPr sz="1100" b="0">
                          <a:solidFill>
                            <a:srgbClr val="0F172A"/>
                          </a:solidFill>
                          <a:latin typeface="Inter"/>
                        </a:rPr>
                        <a:t>This week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BFAF7"/>
                    </a:solidFill>
                  </a:tcPr>
                </a:tc>
                <a:tc>
                  <a:txBody>
                    <a:bodyPr wrap="square"/>
                    <a:lstStyle/>
                    <a:p>
                      <a:pPr algn="l"/>
                      <a:r>
                        <a:rPr sz="1100" b="0">
                          <a:solidFill>
                            <a:srgbClr val="0F172A"/>
                          </a:solidFill>
                          <a:latin typeface="Inter"/>
                        </a:rPr>
                        <a:t>Add the 3 converting searches as exact keywords; negate the 19 no-sale search terms after review.</a:t>
                      </a:r>
                    </a:p>
                  </a:txBody>
                  <a:tcPr marL="54864" marR="54864" marT="27432" marB="27432" anchor="ctr">
                    <a:solidFill>
                      <a:srgbClr val="FBFAF7"/>
                    </a:solidFill>
                  </a:tcPr>
                </a:tc>
                <a:tc>
                  <a:txBody>
                    <a:bodyPr wrap="square"/>
                    <a:lstStyle/>
                    <a:p>
                      <a:pPr algn="l"/>
                      <a:r>
                        <a:rPr sz="1100" b="0">
                          <a:solidFill>
                            <a:srgbClr val="0F172A"/>
                          </a:solidFill>
                          <a:latin typeface="Inter"/>
                        </a:rPr>
                        <a:t>Ads team</a:t>
                      </a:r>
                    </a:p>
                  </a:txBody>
                  <a:tcPr marL="54864" marR="54864" marT="27432" marB="27432" anchor="ctr">
                    <a:solidFill>
                      <a:srgbClr val="FBFAF7"/>
                    </a:solidFill>
                  </a:tcPr>
                </a:tc>
                <a:tc>
                  <a:txBody>
                    <a:bodyPr wrap="square"/>
                    <a:lstStyle/>
                    <a:p>
                      <a:pPr algn="l"/>
                      <a:r>
                        <a:rPr sz="1100" b="0">
                          <a:solidFill>
                            <a:srgbClr val="0F172A"/>
                          </a:solidFill>
                          <a:latin typeface="Inter"/>
                        </a:rPr>
                        <a:t>This week</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Ads</a:t>
                      </a:r>
                    </a:p>
                  </a:txBody>
                  <a:tcPr marL="54864" marR="54864" marT="27432" marB="27432" anchor="ctr">
                    <a:solidFill>
                      <a:srgbClr val="FFFFFF"/>
                    </a:solidFill>
                  </a:tcPr>
                </a:tc>
                <a:tc>
                  <a:txBody>
                    <a:bodyPr wrap="square"/>
                    <a:lstStyle/>
                    <a:p>
                      <a:pPr algn="l"/>
                      <a:r>
                        <a:rPr sz="1100" b="0">
                          <a:solidFill>
                            <a:srgbClr val="0F172A"/>
                          </a:solidFill>
                          <a:latin typeface="Inter"/>
                        </a:rPr>
                        <a:t>While Queen is out of stock, shift Queen-campaign budget to King and Full, which are in stock and grew this week.</a:t>
                      </a:r>
                    </a:p>
                  </a:txBody>
                  <a:tcPr marL="54864" marR="54864" marT="27432" marB="27432" anchor="ctr">
                    <a:solidFill>
                      <a:srgbClr val="FFFFFF"/>
                    </a:solidFill>
                  </a:tcPr>
                </a:tc>
                <a:tc>
                  <a:txBody>
                    <a:bodyPr wrap="square"/>
                    <a:lstStyle/>
                    <a:p>
                      <a:pPr algn="l"/>
                      <a:r>
                        <a:rPr sz="1100" b="0">
                          <a:solidFill>
                            <a:srgbClr val="0F172A"/>
                          </a:solidFill>
                          <a:latin typeface="Inter"/>
                        </a:rPr>
                        <a:t>Ads team</a:t>
                      </a:r>
                    </a:p>
                  </a:txBody>
                  <a:tcPr marL="54864" marR="54864" marT="27432" marB="27432" anchor="ctr">
                    <a:solidFill>
                      <a:srgbClr val="FFFFFF"/>
                    </a:solidFill>
                  </a:tcPr>
                </a:tc>
                <a:tc>
                  <a:txBody>
                    <a:bodyPr wrap="square"/>
                    <a:lstStyle/>
                    <a:p>
                      <a:pPr algn="l"/>
                      <a:r>
                        <a:rPr sz="1100" b="0">
                          <a:solidFill>
                            <a:srgbClr val="0F172A"/>
                          </a:solidFill>
                          <a:latin typeface="Inter"/>
                        </a:rPr>
                        <a:t>Until restock</a:t>
                      </a:r>
                    </a:p>
                  </a:txBody>
                  <a:tcPr marL="54864" marR="54864" marT="27432" marB="27432" anchor="ctr">
                    <a:solidFill>
                      <a:srgbClr val="FFFFFF"/>
                    </a:solidFill>
                  </a:tcPr>
                </a:tc>
              </a:tr>
              <a:tr h="566928">
                <a:tc>
                  <a:txBody>
                    <a:bodyPr wrap="square"/>
                    <a:lstStyle/>
                    <a:p>
                      <a:pPr algn="l"/>
                      <a:r>
                        <a:rPr sz="1100" b="0">
                          <a:solidFill>
                            <a:srgbClr val="0F172A"/>
                          </a:solidFill>
                          <a:latin typeface="Inter"/>
                        </a:rPr>
                        <a:t>Marketing</a:t>
                      </a:r>
                    </a:p>
                  </a:txBody>
                  <a:tcPr marL="54864" marR="54864" marT="27432" marB="27432" anchor="ctr">
                    <a:solidFill>
                      <a:srgbClr val="FBFAF7"/>
                    </a:solidFill>
                  </a:tcPr>
                </a:tc>
                <a:tc>
                  <a:txBody>
                    <a:bodyPr wrap="square"/>
                    <a:lstStyle/>
                    <a:p>
                      <a:pPr algn="l"/>
                      <a:r>
                        <a:rPr sz="1100" b="0">
                          <a:solidFill>
                            <a:srgbClr val="0F172A"/>
                          </a:solidFill>
                          <a:latin typeface="Inter"/>
                        </a:rPr>
                        <a:t>Plan BF/CM coupons and deals for the toppers (Nov 27–30) and confirm submission deadlines.</a:t>
                      </a:r>
                    </a:p>
                  </a:txBody>
                  <a:tcPr marL="54864" marR="54864" marT="27432" marB="27432" anchor="ctr">
                    <a:solidFill>
                      <a:srgbClr val="FBFAF7"/>
                    </a:solidFill>
                  </a:tcPr>
                </a:tc>
                <a:tc>
                  <a:txBody>
                    <a:bodyPr wrap="square"/>
                    <a:lstStyle/>
                    <a:p>
                      <a:pPr algn="l"/>
                      <a:r>
                        <a:rPr sz="1100" b="0">
                          <a:solidFill>
                            <a:srgbClr val="0F172A"/>
                          </a:solidFill>
                          <a:latin typeface="Inter"/>
                        </a:rPr>
                        <a:t>Account team</a:t>
                      </a:r>
                    </a:p>
                  </a:txBody>
                  <a:tcPr marL="54864" marR="54864" marT="27432" marB="27432" anchor="ctr">
                    <a:solidFill>
                      <a:srgbClr val="FBFAF7"/>
                    </a:solidFill>
                  </a:tcPr>
                </a:tc>
                <a:tc>
                  <a:txBody>
                    <a:bodyPr wrap="square"/>
                    <a:lstStyle/>
                    <a:p>
                      <a:pPr algn="l"/>
                      <a:r>
                        <a:rPr sz="1100" b="0">
                          <a:solidFill>
                            <a:srgbClr val="0F172A"/>
                          </a:solidFill>
                          <a:latin typeface="Inter"/>
                        </a:rPr>
                        <a:t>By Nov 6</a:t>
                      </a:r>
                    </a:p>
                  </a:txBody>
                  <a:tcPr marL="54864" marR="54864" marT="27432" marB="27432" anchor="ctr">
                    <a:solidFill>
                      <a:srgbClr val="FBFAF7"/>
                    </a:solidFill>
                  </a:tcPr>
                </a:tc>
              </a:tr>
              <a:tr h="566928">
                <a:tc>
                  <a:txBody>
                    <a:bodyPr wrap="square"/>
                    <a:lstStyle/>
                    <a:p>
                      <a:pPr algn="l"/>
                      <a:r>
                        <a:rPr sz="1100" b="0">
                          <a:solidFill>
                            <a:srgbClr val="0F172A"/>
                          </a:solidFill>
                          <a:latin typeface="Inter"/>
                        </a:rPr>
                        <a:t>Account health</a:t>
                      </a:r>
                    </a:p>
                  </a:txBody>
                  <a:tcPr marL="54864" marR="54864" marT="27432" marB="27432" anchor="ctr">
                    <a:solidFill>
                      <a:srgbClr val="FFFFFF"/>
                    </a:solidFill>
                  </a:tcPr>
                </a:tc>
                <a:tc>
                  <a:txBody>
                    <a:bodyPr wrap="square"/>
                    <a:lstStyle/>
                    <a:p>
                      <a:pPr algn="l"/>
                      <a:r>
                        <a:rPr sz="1100" b="0">
                          <a:solidFill>
                            <a:srgbClr val="0F172A"/>
                          </a:solidFill>
                          <a:latin typeface="Inter"/>
                        </a:rPr>
                        <a:t>Turn on review tracking and review return reasons behind the 23% refund rate.</a:t>
                      </a:r>
                    </a:p>
                  </a:txBody>
                  <a:tcPr marL="54864" marR="54864" marT="27432" marB="27432" anchor="ctr">
                    <a:solidFill>
                      <a:srgbClr val="FFFFFF"/>
                    </a:solidFill>
                  </a:tcPr>
                </a:tc>
                <a:tc>
                  <a:txBody>
                    <a:bodyPr wrap="square"/>
                    <a:lstStyle/>
                    <a:p>
                      <a:pPr algn="l"/>
                      <a:r>
                        <a:rPr sz="1100" b="0">
                          <a:solidFill>
                            <a:srgbClr val="0F172A"/>
                          </a:solidFill>
                          <a:latin typeface="Inter"/>
                        </a:rPr>
                        <a:t>Account team</a:t>
                      </a:r>
                    </a:p>
                  </a:txBody>
                  <a:tcPr marL="54864" marR="54864" marT="27432" marB="27432" anchor="ctr">
                    <a:solidFill>
                      <a:srgbClr val="FFFFFF"/>
                    </a:solidFill>
                  </a:tcPr>
                </a:tc>
                <a:tc>
                  <a:txBody>
                    <a:bodyPr wrap="square"/>
                    <a:lstStyle/>
                    <a:p>
                      <a:pPr algn="l"/>
                      <a:r>
                        <a:rPr sz="1100" b="0">
                          <a:solidFill>
                            <a:srgbClr val="0F172A"/>
                          </a:solidFill>
                          <a:latin typeface="Inter"/>
                        </a:rPr>
                        <a:t>Next week</a:t>
                      </a:r>
                    </a:p>
                  </a:txBody>
                  <a:tcPr marL="54864" marR="54864"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6F3EC"/>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2296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AMAZON ADS</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Ad spend performance — this week vs last</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1417320"/>
            <a:ext cx="2651760" cy="1554480"/>
          </a:xfrm>
          <a:prstGeom prst="roundRect">
            <a:avLst>
              <a:gd name="" fmla="val 6000"/>
            </a:avLst>
          </a:prstGeom>
          <a:solidFill>
            <a:srgbClr val="FFFFFF"/>
          </a:solidFill>
          <a:ln>
            <a:noFill/>
          </a:ln>
        </p:spPr>
      </p:sp>
      <p:sp>
        <p:nvSpPr>
          <p:cNvPr id="8" name=""/>
          <p:cNvSpPr txBox="1"/>
          <p:nvPr/>
        </p:nvSpPr>
        <p:spPr>
          <a:xfrm>
            <a:off x="713232"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AD SPEND</a:t>
            </a:r>
          </a:p>
        </p:txBody>
      </p:sp>
      <p:sp>
        <p:nvSpPr>
          <p:cNvPr id="9" name=""/>
          <p:cNvSpPr txBox="1"/>
          <p:nvPr/>
        </p:nvSpPr>
        <p:spPr>
          <a:xfrm>
            <a:off x="713232"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$7,135</a:t>
            </a:r>
          </a:p>
        </p:txBody>
      </p:sp>
      <p:sp>
        <p:nvSpPr>
          <p:cNvPr id="10" name=""/>
          <p:cNvSpPr txBox="1"/>
          <p:nvPr/>
        </p:nvSpPr>
        <p:spPr>
          <a:xfrm>
            <a:off x="713232"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-27% vs $9,816</a:t>
            </a:r>
          </a:p>
        </p:txBody>
      </p:sp>
      <p:sp>
        <p:nvSpPr>
          <p:cNvPr id="11" name=""/>
          <p:cNvSpPr/>
          <p:nvPr/>
        </p:nvSpPr>
        <p:spPr>
          <a:xfrm>
            <a:off x="3364992" y="1417320"/>
            <a:ext cx="2651760" cy="1554480"/>
          </a:xfrm>
          <a:prstGeom prst="roundRect">
            <a:avLst>
              <a:gd name="" fmla="val 6000"/>
            </a:avLst>
          </a:prstGeom>
          <a:solidFill>
            <a:srgbClr val="FFFFFF"/>
          </a:solidFill>
          <a:ln>
            <a:noFill/>
          </a:ln>
        </p:spPr>
      </p:sp>
      <p:sp>
        <p:nvSpPr>
          <p:cNvPr id="12" name=""/>
          <p:cNvSpPr txBox="1"/>
          <p:nvPr/>
        </p:nvSpPr>
        <p:spPr>
          <a:xfrm>
            <a:off x="3529584"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AD SALES</a:t>
            </a:r>
          </a:p>
        </p:txBody>
      </p:sp>
      <p:sp>
        <p:nvSpPr>
          <p:cNvPr id="13" name=""/>
          <p:cNvSpPr txBox="1"/>
          <p:nvPr/>
        </p:nvSpPr>
        <p:spPr>
          <a:xfrm>
            <a:off x="3529584"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$29,722</a:t>
            </a:r>
          </a:p>
        </p:txBody>
      </p:sp>
      <p:sp>
        <p:nvSpPr>
          <p:cNvPr id="14" name=""/>
          <p:cNvSpPr txBox="1"/>
          <p:nvPr/>
        </p:nvSpPr>
        <p:spPr>
          <a:xfrm>
            <a:off x="3529584" y="2560320"/>
            <a:ext cx="2377440" cy="320040"/>
          </a:xfrm>
          <a:prstGeom prst="rect">
            <a:avLst/>
          </a:prstGeom>
          <a:noFill/>
        </p:spPr>
        <p:txBody>
          <a:bodyPr wrap="square" lIns="36576" rIns="36576" tIns="18288" bIns="18288" anchor="t">
            <a:spAutoFit/>
          </a:bodyPr>
          <a:lstStyle/>
          <a:p>
            <a:pPr algn="l"/>
            <a:r>
              <a:rPr sz="1000" b="0">
                <a:solidFill>
                  <a:srgbClr val="DC2626"/>
                </a:solidFill>
                <a:latin typeface="Inter"/>
              </a:rPr>
              <a:t>-31% vs $43,135</a:t>
            </a:r>
          </a:p>
        </p:txBody>
      </p:sp>
      <p:sp>
        <p:nvSpPr>
          <p:cNvPr id="15" name=""/>
          <p:cNvSpPr/>
          <p:nvPr/>
        </p:nvSpPr>
        <p:spPr>
          <a:xfrm>
            <a:off x="6181344" y="1417320"/>
            <a:ext cx="2651760" cy="1554480"/>
          </a:xfrm>
          <a:prstGeom prst="roundRect">
            <a:avLst>
              <a:gd name="" fmla="val 6000"/>
            </a:avLst>
          </a:prstGeom>
          <a:solidFill>
            <a:srgbClr val="FFFFFF"/>
          </a:solidFill>
          <a:ln>
            <a:noFill/>
          </a:ln>
        </p:spPr>
      </p:sp>
      <p:sp>
        <p:nvSpPr>
          <p:cNvPr id="16" name=""/>
          <p:cNvSpPr txBox="1"/>
          <p:nvPr/>
        </p:nvSpPr>
        <p:spPr>
          <a:xfrm>
            <a:off x="6345936"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ACOS</a:t>
            </a:r>
          </a:p>
        </p:txBody>
      </p:sp>
      <p:sp>
        <p:nvSpPr>
          <p:cNvPr id="17" name=""/>
          <p:cNvSpPr txBox="1"/>
          <p:nvPr/>
        </p:nvSpPr>
        <p:spPr>
          <a:xfrm>
            <a:off x="6345936"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24.0%</a:t>
            </a:r>
          </a:p>
        </p:txBody>
      </p:sp>
      <p:sp>
        <p:nvSpPr>
          <p:cNvPr id="18" name=""/>
          <p:cNvSpPr txBox="1"/>
          <p:nvPr/>
        </p:nvSpPr>
        <p:spPr>
          <a:xfrm>
            <a:off x="6345936" y="2560320"/>
            <a:ext cx="2377440" cy="320040"/>
          </a:xfrm>
          <a:prstGeom prst="rect">
            <a:avLst/>
          </a:prstGeom>
          <a:noFill/>
        </p:spPr>
        <p:txBody>
          <a:bodyPr wrap="square" lIns="36576" rIns="36576" tIns="18288" bIns="18288" anchor="t">
            <a:spAutoFit/>
          </a:bodyPr>
          <a:lstStyle/>
          <a:p>
            <a:pPr algn="l"/>
            <a:r>
              <a:rPr sz="1000" b="0">
                <a:solidFill>
                  <a:srgbClr val="DC2626"/>
                </a:solidFill>
                <a:latin typeface="Inter"/>
              </a:rPr>
              <a:t>+1.2 pts vs 22.8%</a:t>
            </a:r>
          </a:p>
        </p:txBody>
      </p:sp>
      <p:sp>
        <p:nvSpPr>
          <p:cNvPr id="19" name=""/>
          <p:cNvSpPr/>
          <p:nvPr/>
        </p:nvSpPr>
        <p:spPr>
          <a:xfrm>
            <a:off x="8997696" y="1417320"/>
            <a:ext cx="2651760" cy="1554480"/>
          </a:xfrm>
          <a:prstGeom prst="roundRect">
            <a:avLst>
              <a:gd name="" fmla="val 6000"/>
            </a:avLst>
          </a:prstGeom>
          <a:solidFill>
            <a:srgbClr val="FFFFFF"/>
          </a:solidFill>
          <a:ln>
            <a:noFill/>
          </a:ln>
        </p:spPr>
      </p:sp>
      <p:sp>
        <p:nvSpPr>
          <p:cNvPr id="20" name=""/>
          <p:cNvSpPr txBox="1"/>
          <p:nvPr/>
        </p:nvSpPr>
        <p:spPr>
          <a:xfrm>
            <a:off x="9162288" y="154533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TACOS</a:t>
            </a:r>
          </a:p>
        </p:txBody>
      </p:sp>
      <p:sp>
        <p:nvSpPr>
          <p:cNvPr id="21" name=""/>
          <p:cNvSpPr txBox="1"/>
          <p:nvPr/>
        </p:nvSpPr>
        <p:spPr>
          <a:xfrm>
            <a:off x="9162288" y="180136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11.4%</a:t>
            </a:r>
          </a:p>
        </p:txBody>
      </p:sp>
      <p:sp>
        <p:nvSpPr>
          <p:cNvPr id="22" name=""/>
          <p:cNvSpPr txBox="1"/>
          <p:nvPr/>
        </p:nvSpPr>
        <p:spPr>
          <a:xfrm>
            <a:off x="9162288" y="2560320"/>
            <a:ext cx="2377440" cy="320040"/>
          </a:xfrm>
          <a:prstGeom prst="rect">
            <a:avLst/>
          </a:prstGeom>
          <a:noFill/>
        </p:spPr>
        <p:txBody>
          <a:bodyPr wrap="square" lIns="36576" rIns="36576" tIns="18288" bIns="18288" anchor="t">
            <a:spAutoFit/>
          </a:bodyPr>
          <a:lstStyle/>
          <a:p>
            <a:pPr algn="l"/>
            <a:r>
              <a:rPr sz="1000" b="0">
                <a:solidFill>
                  <a:srgbClr val="16A34A"/>
                </a:solidFill>
                <a:latin typeface="Inter"/>
              </a:rPr>
              <a:t>-1.0 pts vs 12.4%</a:t>
            </a:r>
          </a:p>
        </p:txBody>
      </p:sp>
      <p:sp>
        <p:nvSpPr>
          <p:cNvPr id="23" name=""/>
          <p:cNvSpPr txBox="1"/>
          <p:nvPr/>
        </p:nvSpPr>
        <p:spPr>
          <a:xfrm>
            <a:off x="548640"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Ad spend</a:t>
            </a:r>
          </a:p>
        </p:txBody>
      </p:sp>
      <p:sp>
        <p:nvSpPr>
          <p:cNvPr id="24" name=""/>
          <p:cNvSpPr/>
          <p:nvPr/>
        </p:nvSpPr>
        <p:spPr>
          <a:xfrm>
            <a:off x="914400" y="3840479"/>
            <a:ext cx="1005840" cy="2148840"/>
          </a:xfrm>
          <a:prstGeom prst="rect">
            <a:avLst/>
          </a:prstGeom>
          <a:solidFill>
            <a:srgbClr val="C7D2FE"/>
          </a:solidFill>
          <a:ln>
            <a:noFill/>
          </a:ln>
        </p:spPr>
      </p:sp>
      <p:sp>
        <p:nvSpPr>
          <p:cNvPr id="25" name=""/>
          <p:cNvSpPr txBox="1"/>
          <p:nvPr/>
        </p:nvSpPr>
        <p:spPr>
          <a:xfrm>
            <a:off x="731520"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$9.8K</a:t>
            </a:r>
          </a:p>
        </p:txBody>
      </p:sp>
      <p:sp>
        <p:nvSpPr>
          <p:cNvPr id="26" name=""/>
          <p:cNvSpPr txBox="1"/>
          <p:nvPr/>
        </p:nvSpPr>
        <p:spPr>
          <a:xfrm>
            <a:off x="73152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27" name=""/>
          <p:cNvSpPr/>
          <p:nvPr/>
        </p:nvSpPr>
        <p:spPr>
          <a:xfrm>
            <a:off x="2286000" y="4427440"/>
            <a:ext cx="1005840" cy="1561879"/>
          </a:xfrm>
          <a:prstGeom prst="rect">
            <a:avLst/>
          </a:prstGeom>
          <a:solidFill>
            <a:srgbClr val="2447FF"/>
          </a:solidFill>
          <a:ln>
            <a:noFill/>
          </a:ln>
        </p:spPr>
      </p:sp>
      <p:sp>
        <p:nvSpPr>
          <p:cNvPr id="28" name=""/>
          <p:cNvSpPr txBox="1"/>
          <p:nvPr/>
        </p:nvSpPr>
        <p:spPr>
          <a:xfrm>
            <a:off x="2103120" y="4153120"/>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$7.1K</a:t>
            </a:r>
          </a:p>
        </p:txBody>
      </p:sp>
      <p:sp>
        <p:nvSpPr>
          <p:cNvPr id="29" name=""/>
          <p:cNvSpPr txBox="1"/>
          <p:nvPr/>
        </p:nvSpPr>
        <p:spPr>
          <a:xfrm>
            <a:off x="210312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30" name=""/>
          <p:cNvSpPr txBox="1"/>
          <p:nvPr/>
        </p:nvSpPr>
        <p:spPr>
          <a:xfrm>
            <a:off x="4297679"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Ad sales</a:t>
            </a:r>
          </a:p>
        </p:txBody>
      </p:sp>
      <p:sp>
        <p:nvSpPr>
          <p:cNvPr id="31" name=""/>
          <p:cNvSpPr/>
          <p:nvPr/>
        </p:nvSpPr>
        <p:spPr>
          <a:xfrm>
            <a:off x="4663440" y="3840479"/>
            <a:ext cx="1005840" cy="2148840"/>
          </a:xfrm>
          <a:prstGeom prst="rect">
            <a:avLst/>
          </a:prstGeom>
          <a:solidFill>
            <a:srgbClr val="C7D2FE"/>
          </a:solidFill>
          <a:ln>
            <a:noFill/>
          </a:ln>
        </p:spPr>
      </p:sp>
      <p:sp>
        <p:nvSpPr>
          <p:cNvPr id="32" name=""/>
          <p:cNvSpPr txBox="1"/>
          <p:nvPr/>
        </p:nvSpPr>
        <p:spPr>
          <a:xfrm>
            <a:off x="4480559"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$43.1K</a:t>
            </a:r>
          </a:p>
        </p:txBody>
      </p:sp>
      <p:sp>
        <p:nvSpPr>
          <p:cNvPr id="33" name=""/>
          <p:cNvSpPr txBox="1"/>
          <p:nvPr/>
        </p:nvSpPr>
        <p:spPr>
          <a:xfrm>
            <a:off x="4480559"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34" name=""/>
          <p:cNvSpPr/>
          <p:nvPr/>
        </p:nvSpPr>
        <p:spPr>
          <a:xfrm>
            <a:off x="6035040" y="4508699"/>
            <a:ext cx="1005840" cy="1480620"/>
          </a:xfrm>
          <a:prstGeom prst="rect">
            <a:avLst/>
          </a:prstGeom>
          <a:solidFill>
            <a:srgbClr val="2447FF"/>
          </a:solidFill>
          <a:ln>
            <a:noFill/>
          </a:ln>
        </p:spPr>
      </p:sp>
      <p:sp>
        <p:nvSpPr>
          <p:cNvPr id="35" name=""/>
          <p:cNvSpPr txBox="1"/>
          <p:nvPr/>
        </p:nvSpPr>
        <p:spPr>
          <a:xfrm>
            <a:off x="5852159" y="423437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$29.7K</a:t>
            </a:r>
          </a:p>
        </p:txBody>
      </p:sp>
      <p:sp>
        <p:nvSpPr>
          <p:cNvPr id="36" name=""/>
          <p:cNvSpPr txBox="1"/>
          <p:nvPr/>
        </p:nvSpPr>
        <p:spPr>
          <a:xfrm>
            <a:off x="5852159"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37" name=""/>
          <p:cNvSpPr txBox="1"/>
          <p:nvPr/>
        </p:nvSpPr>
        <p:spPr>
          <a:xfrm>
            <a:off x="8046719" y="3154680"/>
            <a:ext cx="34747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Total sales</a:t>
            </a:r>
          </a:p>
        </p:txBody>
      </p:sp>
      <p:sp>
        <p:nvSpPr>
          <p:cNvPr id="38" name=""/>
          <p:cNvSpPr/>
          <p:nvPr/>
        </p:nvSpPr>
        <p:spPr>
          <a:xfrm>
            <a:off x="8412480" y="3840479"/>
            <a:ext cx="1005840" cy="2148840"/>
          </a:xfrm>
          <a:prstGeom prst="rect">
            <a:avLst/>
          </a:prstGeom>
          <a:solidFill>
            <a:srgbClr val="C7D2FE"/>
          </a:solidFill>
          <a:ln>
            <a:noFill/>
          </a:ln>
        </p:spPr>
      </p:sp>
      <p:sp>
        <p:nvSpPr>
          <p:cNvPr id="39" name=""/>
          <p:cNvSpPr txBox="1"/>
          <p:nvPr/>
        </p:nvSpPr>
        <p:spPr>
          <a:xfrm>
            <a:off x="8229600" y="3566159"/>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$79.1K</a:t>
            </a:r>
          </a:p>
        </p:txBody>
      </p:sp>
      <p:sp>
        <p:nvSpPr>
          <p:cNvPr id="40" name=""/>
          <p:cNvSpPr txBox="1"/>
          <p:nvPr/>
        </p:nvSpPr>
        <p:spPr>
          <a:xfrm>
            <a:off x="822960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11 – 17</a:t>
            </a:r>
          </a:p>
        </p:txBody>
      </p:sp>
      <p:sp>
        <p:nvSpPr>
          <p:cNvPr id="41" name=""/>
          <p:cNvSpPr/>
          <p:nvPr/>
        </p:nvSpPr>
        <p:spPr>
          <a:xfrm>
            <a:off x="9784080" y="4285360"/>
            <a:ext cx="1005840" cy="1703959"/>
          </a:xfrm>
          <a:prstGeom prst="rect">
            <a:avLst/>
          </a:prstGeom>
          <a:solidFill>
            <a:srgbClr val="2447FF"/>
          </a:solidFill>
          <a:ln>
            <a:noFill/>
          </a:ln>
        </p:spPr>
      </p:sp>
      <p:sp>
        <p:nvSpPr>
          <p:cNvPr id="42" name=""/>
          <p:cNvSpPr txBox="1"/>
          <p:nvPr/>
        </p:nvSpPr>
        <p:spPr>
          <a:xfrm>
            <a:off x="9601200" y="4011040"/>
            <a:ext cx="1371600" cy="256032"/>
          </a:xfrm>
          <a:prstGeom prst="rect">
            <a:avLst/>
          </a:prstGeom>
          <a:noFill/>
        </p:spPr>
        <p:txBody>
          <a:bodyPr wrap="square" lIns="36576" rIns="36576" tIns="18288" bIns="18288" anchor="t">
            <a:spAutoFit/>
          </a:bodyPr>
          <a:lstStyle/>
          <a:p>
            <a:pPr algn="ctr"/>
            <a:r>
              <a:rPr sz="1000" b="1">
                <a:solidFill>
                  <a:srgbClr val="0F172A"/>
                </a:solidFill>
                <a:latin typeface="Inter"/>
              </a:rPr>
              <a:t>$62.7K</a:t>
            </a:r>
          </a:p>
        </p:txBody>
      </p:sp>
      <p:sp>
        <p:nvSpPr>
          <p:cNvPr id="43" name=""/>
          <p:cNvSpPr txBox="1"/>
          <p:nvPr/>
        </p:nvSpPr>
        <p:spPr>
          <a:xfrm>
            <a:off x="9601200" y="6035040"/>
            <a:ext cx="1371600" cy="256032"/>
          </a:xfrm>
          <a:prstGeom prst="rect">
            <a:avLst/>
          </a:prstGeom>
          <a:noFill/>
        </p:spPr>
        <p:txBody>
          <a:bodyPr wrap="square" lIns="36576" rIns="36576" tIns="18288" bIns="18288" anchor="t">
            <a:spAutoFit/>
          </a:bodyPr>
          <a:lstStyle/>
          <a:p>
            <a:pPr algn="ctr"/>
            <a:r>
              <a:rPr sz="900" b="0">
                <a:solidFill>
                  <a:srgbClr val="6B6558"/>
                </a:solidFill>
                <a:latin typeface="Inter"/>
              </a:rPr>
              <a:t>Oct 18 – 24</a:t>
            </a:r>
          </a:p>
        </p:txBody>
      </p:sp>
      <p:sp>
        <p:nvSpPr>
          <p:cNvPr id="44"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45"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
          <p:cNvSpPr/>
          <p:nvPr/>
        </p:nvSpPr>
        <p:spPr>
          <a:xfrm>
            <a:off x="0" y="0"/>
            <a:ext cx="12191695" cy="6858000"/>
          </a:xfrm>
          <a:prstGeom prst="rect">
            <a:avLst/>
          </a:prstGeom>
          <a:solidFill>
            <a:srgbClr val="FFFFFF"/>
          </a:solidFill>
          <a:ln>
            <a:noFill/>
          </a:ln>
        </p:spPr>
      </p:sp>
      <p:sp>
        <p:nvSpPr>
          <p:cNvPr id="3" name=""/>
          <p:cNvSpPr/>
          <p:nvPr/>
        </p:nvSpPr>
        <p:spPr>
          <a:xfrm>
            <a:off x="548640" y="502920"/>
            <a:ext cx="73152" cy="566928"/>
          </a:xfrm>
          <a:prstGeom prst="rect">
            <a:avLst/>
          </a:prstGeom>
          <a:solidFill>
            <a:srgbClr val="2447FF"/>
          </a:solidFill>
          <a:ln>
            <a:noFill/>
          </a:ln>
        </p:spPr>
      </p:sp>
      <p:sp>
        <p:nvSpPr>
          <p:cNvPr id="4" name=""/>
          <p:cNvSpPr txBox="1"/>
          <p:nvPr/>
        </p:nvSpPr>
        <p:spPr>
          <a:xfrm>
            <a:off x="731520" y="384048"/>
            <a:ext cx="8686800" cy="274320"/>
          </a:xfrm>
          <a:prstGeom prst="rect">
            <a:avLst/>
          </a:prstGeom>
          <a:noFill/>
        </p:spPr>
        <p:txBody>
          <a:bodyPr wrap="square" lIns="36576" rIns="36576" tIns="18288" bIns="18288" anchor="t">
            <a:spAutoFit/>
          </a:bodyPr>
          <a:lstStyle/>
          <a:p>
            <a:pPr algn="l"/>
            <a:r>
              <a:rPr sz="1000" b="1">
                <a:solidFill>
                  <a:srgbClr val="2447FF"/>
                </a:solidFill>
                <a:latin typeface="Space Grotesk"/>
              </a:rPr>
              <a:t>PATH FORWARD</a:t>
            </a:r>
          </a:p>
        </p:txBody>
      </p:sp>
      <p:sp>
        <p:nvSpPr>
          <p:cNvPr id="5" name=""/>
          <p:cNvSpPr txBox="1"/>
          <p:nvPr/>
        </p:nvSpPr>
        <p:spPr>
          <a:xfrm>
            <a:off x="731520" y="603504"/>
            <a:ext cx="9601200" cy="548640"/>
          </a:xfrm>
          <a:prstGeom prst="rect">
            <a:avLst/>
          </a:prstGeom>
          <a:noFill/>
        </p:spPr>
        <p:txBody>
          <a:bodyPr wrap="square" lIns="36576" rIns="36576" tIns="18288" bIns="18288" anchor="t">
            <a:spAutoFit/>
          </a:bodyPr>
          <a:lstStyle/>
          <a:p>
            <a:pPr algn="l"/>
            <a:r>
              <a:rPr sz="2600" b="1">
                <a:solidFill>
                  <a:srgbClr val="0F172A"/>
                </a:solidFill>
                <a:latin typeface="Space Grotesk"/>
              </a:rPr>
              <a:t>Where we stand and what's next</a:t>
            </a:r>
          </a:p>
        </p:txBody>
      </p:sp>
      <p:pic>
        <p:nvPicPr>
          <p:cNvPr id="6" name="" descr="logo_s.png"/>
          <p:cNvPicPr>
            <a:picLocks noChangeAspect="1"/>
          </p:cNvPicPr>
          <p:nvPr/>
        </p:nvPicPr>
        <p:blipFill>
          <a:blip r:embed="rId2"/>
          <a:stretch>
            <a:fillRect/>
          </a:stretch>
        </p:blipFill>
        <p:spPr>
          <a:xfrm>
            <a:off x="10195560" y="457200"/>
            <a:ext cx="1463040" cy="256032"/>
          </a:xfrm>
          <a:prstGeom prst="rect">
            <a:avLst/>
          </a:prstGeom>
        </p:spPr>
      </p:pic>
      <p:sp>
        <p:nvSpPr>
          <p:cNvPr id="7" name=""/>
          <p:cNvSpPr/>
          <p:nvPr/>
        </p:nvSpPr>
        <p:spPr>
          <a:xfrm>
            <a:off x="548640" y="6400800"/>
            <a:ext cx="11091672" cy="10972"/>
          </a:xfrm>
          <a:prstGeom prst="rect">
            <a:avLst/>
          </a:prstGeom>
          <a:solidFill>
            <a:srgbClr val="E5E0D6"/>
          </a:solidFill>
          <a:ln>
            <a:noFill/>
          </a:ln>
        </p:spPr>
      </p:sp>
      <p:sp>
        <p:nvSpPr>
          <p:cNvPr id="8" name=""/>
          <p:cNvSpPr txBox="1"/>
          <p:nvPr/>
        </p:nvSpPr>
        <p:spPr>
          <a:xfrm>
            <a:off x="548640" y="6455664"/>
            <a:ext cx="8229600" cy="274320"/>
          </a:xfrm>
          <a:prstGeom prst="rect">
            <a:avLst/>
          </a:prstGeom>
          <a:noFill/>
        </p:spPr>
        <p:txBody>
          <a:bodyPr wrap="square" lIns="36576" rIns="36576" tIns="18288" bIns="18288" anchor="t">
            <a:spAutoFit/>
          </a:bodyPr>
          <a:lstStyle/>
          <a:p>
            <a:pPr algn="l"/>
            <a:r>
              <a:rPr sz="900" b="0">
                <a:solidFill>
                  <a:srgbClr val="6B6558"/>
                </a:solidFill>
                <a:latin typeface="Inter"/>
              </a:rPr>
              <a:t>Dormeo US · Weekly Business Review · Week 43 (Oct 18–24, 2026)</a:t>
            </a:r>
          </a:p>
        </p:txBody>
      </p:sp>
      <p:sp>
        <p:nvSpPr>
          <p:cNvPr id="9" name=""/>
          <p:cNvSpPr txBox="1"/>
          <p:nvPr/>
        </p:nvSpPr>
        <p:spPr>
          <a:xfrm>
            <a:off x="10241280" y="6455664"/>
            <a:ext cx="1399032" cy="274320"/>
          </a:xfrm>
          <a:prstGeom prst="rect">
            <a:avLst/>
          </a:prstGeom>
          <a:noFill/>
        </p:spPr>
        <p:txBody>
          <a:bodyPr wrap="square" lIns="36576" rIns="36576" tIns="18288" bIns="18288" anchor="t">
            <a:spAutoFit/>
          </a:bodyPr>
          <a:lstStyle/>
          <a:p>
            <a:pPr algn="r"/>
            <a:r>
              <a:rPr sz="900" b="0">
                <a:solidFill>
                  <a:srgbClr val="6B6558"/>
                </a:solidFill>
                <a:latin typeface="Inter"/>
              </a:rPr>
              <a:t>17 / 17</a:t>
            </a:r>
          </a:p>
        </p:txBody>
      </p:sp>
      <p:sp>
        <p:nvSpPr>
          <p:cNvPr id="10" name=""/>
          <p:cNvSpPr/>
          <p:nvPr/>
        </p:nvSpPr>
        <p:spPr>
          <a:xfrm>
            <a:off x="548640" y="1371600"/>
            <a:ext cx="2651760" cy="1417320"/>
          </a:xfrm>
          <a:prstGeom prst="roundRect">
            <a:avLst>
              <a:gd name="" fmla="val 6000"/>
            </a:avLst>
          </a:prstGeom>
          <a:solidFill>
            <a:srgbClr val="F6F3EC"/>
          </a:solidFill>
          <a:ln>
            <a:noFill/>
          </a:ln>
        </p:spPr>
      </p:sp>
      <p:sp>
        <p:nvSpPr>
          <p:cNvPr id="11" name=""/>
          <p:cNvSpPr txBox="1"/>
          <p:nvPr/>
        </p:nvSpPr>
        <p:spPr>
          <a:xfrm>
            <a:off x="713232"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AD SPEND</a:t>
            </a:r>
          </a:p>
        </p:txBody>
      </p:sp>
      <p:sp>
        <p:nvSpPr>
          <p:cNvPr id="12" name=""/>
          <p:cNvSpPr txBox="1"/>
          <p:nvPr/>
        </p:nvSpPr>
        <p:spPr>
          <a:xfrm>
            <a:off x="713232"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$34.0K</a:t>
            </a:r>
          </a:p>
        </p:txBody>
      </p:sp>
      <p:sp>
        <p:nvSpPr>
          <p:cNvPr id="13" name=""/>
          <p:cNvSpPr/>
          <p:nvPr/>
        </p:nvSpPr>
        <p:spPr>
          <a:xfrm>
            <a:off x="3364992" y="1371600"/>
            <a:ext cx="2651760" cy="1417320"/>
          </a:xfrm>
          <a:prstGeom prst="roundRect">
            <a:avLst>
              <a:gd name="" fmla="val 6000"/>
            </a:avLst>
          </a:prstGeom>
          <a:solidFill>
            <a:srgbClr val="F6F3EC"/>
          </a:solidFill>
          <a:ln>
            <a:noFill/>
          </a:ln>
        </p:spPr>
      </p:sp>
      <p:sp>
        <p:nvSpPr>
          <p:cNvPr id="14" name=""/>
          <p:cNvSpPr txBox="1"/>
          <p:nvPr/>
        </p:nvSpPr>
        <p:spPr>
          <a:xfrm>
            <a:off x="3529584"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PROJECTED SPEND</a:t>
            </a:r>
          </a:p>
        </p:txBody>
      </p:sp>
      <p:sp>
        <p:nvSpPr>
          <p:cNvPr id="15" name=""/>
          <p:cNvSpPr txBox="1"/>
          <p:nvPr/>
        </p:nvSpPr>
        <p:spPr>
          <a:xfrm>
            <a:off x="3529584"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$42.2K</a:t>
            </a:r>
          </a:p>
        </p:txBody>
      </p:sp>
      <p:sp>
        <p:nvSpPr>
          <p:cNvPr id="16" name=""/>
          <p:cNvSpPr/>
          <p:nvPr/>
        </p:nvSpPr>
        <p:spPr>
          <a:xfrm>
            <a:off x="6181344" y="1371600"/>
            <a:ext cx="2651760" cy="1417320"/>
          </a:xfrm>
          <a:prstGeom prst="roundRect">
            <a:avLst>
              <a:gd name="" fmla="val 6000"/>
            </a:avLst>
          </a:prstGeom>
          <a:solidFill>
            <a:srgbClr val="F6F3EC"/>
          </a:solidFill>
          <a:ln>
            <a:noFill/>
          </a:ln>
        </p:spPr>
      </p:sp>
      <p:sp>
        <p:nvSpPr>
          <p:cNvPr id="17" name=""/>
          <p:cNvSpPr txBox="1"/>
          <p:nvPr/>
        </p:nvSpPr>
        <p:spPr>
          <a:xfrm>
            <a:off x="6345936" y="1499616"/>
            <a:ext cx="2377440" cy="274320"/>
          </a:xfrm>
          <a:prstGeom prst="rect">
            <a:avLst/>
          </a:prstGeom>
          <a:noFill/>
        </p:spPr>
        <p:txBody>
          <a:bodyPr wrap="square" lIns="36576" rIns="36576" tIns="18288" bIns="18288" anchor="t">
            <a:spAutoFit/>
          </a:bodyPr>
          <a:lstStyle/>
          <a:p>
            <a:pPr algn="l"/>
            <a:r>
              <a:rPr sz="900" b="1">
                <a:solidFill>
                  <a:srgbClr val="6B6558"/>
                </a:solidFill>
                <a:latin typeface="Inter"/>
              </a:rPr>
              <a:t>MTD ACOS</a:t>
            </a:r>
          </a:p>
        </p:txBody>
      </p:sp>
      <p:sp>
        <p:nvSpPr>
          <p:cNvPr id="18" name=""/>
          <p:cNvSpPr txBox="1"/>
          <p:nvPr/>
        </p:nvSpPr>
        <p:spPr>
          <a:xfrm>
            <a:off x="6345936" y="1755648"/>
            <a:ext cx="2377440" cy="548640"/>
          </a:xfrm>
          <a:prstGeom prst="rect">
            <a:avLst/>
          </a:prstGeom>
          <a:noFill/>
        </p:spPr>
        <p:txBody>
          <a:bodyPr wrap="square" lIns="36576" rIns="36576" tIns="18288" bIns="18288" anchor="t">
            <a:spAutoFit/>
          </a:bodyPr>
          <a:lstStyle/>
          <a:p>
            <a:pPr algn="l"/>
            <a:r>
              <a:rPr sz="2600" b="1">
                <a:solidFill>
                  <a:srgbClr val="2447FF"/>
                </a:solidFill>
                <a:latin typeface="Space Grotesk"/>
              </a:rPr>
              <a:t>18.7%</a:t>
            </a:r>
          </a:p>
        </p:txBody>
      </p:sp>
      <p:sp>
        <p:nvSpPr>
          <p:cNvPr id="19" name=""/>
          <p:cNvSpPr/>
          <p:nvPr/>
        </p:nvSpPr>
        <p:spPr>
          <a:xfrm>
            <a:off x="8997696" y="1371600"/>
            <a:ext cx="2642616" cy="1417320"/>
          </a:xfrm>
          <a:prstGeom prst="roundRect">
            <a:avLst>
              <a:gd name="" fmla="val 6000"/>
            </a:avLst>
          </a:prstGeom>
          <a:solidFill>
            <a:srgbClr val="F6F3EC"/>
          </a:solidFill>
          <a:ln>
            <a:noFill/>
          </a:ln>
        </p:spPr>
      </p:sp>
      <p:sp>
        <p:nvSpPr>
          <p:cNvPr id="20" name=""/>
          <p:cNvSpPr txBox="1"/>
          <p:nvPr/>
        </p:nvSpPr>
        <p:spPr>
          <a:xfrm>
            <a:off x="9162288" y="1499616"/>
            <a:ext cx="2368296" cy="274320"/>
          </a:xfrm>
          <a:prstGeom prst="rect">
            <a:avLst/>
          </a:prstGeom>
          <a:noFill/>
        </p:spPr>
        <p:txBody>
          <a:bodyPr wrap="square" lIns="36576" rIns="36576" tIns="18288" bIns="18288" anchor="t">
            <a:spAutoFit/>
          </a:bodyPr>
          <a:lstStyle/>
          <a:p>
            <a:pPr algn="l"/>
            <a:r>
              <a:rPr sz="900" b="1">
                <a:solidFill>
                  <a:srgbClr val="6B6558"/>
                </a:solidFill>
                <a:latin typeface="Inter"/>
              </a:rPr>
              <a:t>DAYS LEFT IN OCT</a:t>
            </a:r>
          </a:p>
        </p:txBody>
      </p:sp>
      <p:sp>
        <p:nvSpPr>
          <p:cNvPr id="21" name=""/>
          <p:cNvSpPr txBox="1"/>
          <p:nvPr/>
        </p:nvSpPr>
        <p:spPr>
          <a:xfrm>
            <a:off x="9162288" y="1755648"/>
            <a:ext cx="2368296" cy="548640"/>
          </a:xfrm>
          <a:prstGeom prst="rect">
            <a:avLst/>
          </a:prstGeom>
          <a:noFill/>
        </p:spPr>
        <p:txBody>
          <a:bodyPr wrap="square" lIns="36576" rIns="36576" tIns="18288" bIns="18288" anchor="t">
            <a:spAutoFit/>
          </a:bodyPr>
          <a:lstStyle/>
          <a:p>
            <a:pPr algn="l"/>
            <a:r>
              <a:rPr sz="2600" b="1">
                <a:solidFill>
                  <a:srgbClr val="2447FF"/>
                </a:solidFill>
                <a:latin typeface="Space Grotesk"/>
              </a:rPr>
              <a:t>6</a:t>
            </a:r>
          </a:p>
        </p:txBody>
      </p:sp>
      <p:sp>
        <p:nvSpPr>
          <p:cNvPr id="22" name=""/>
          <p:cNvSpPr/>
          <p:nvPr/>
        </p:nvSpPr>
        <p:spPr>
          <a:xfrm>
            <a:off x="548640" y="2971800"/>
            <a:ext cx="3611880" cy="3246120"/>
          </a:xfrm>
          <a:prstGeom prst="roundRect">
            <a:avLst>
              <a:gd name="" fmla="val 6000"/>
            </a:avLst>
          </a:prstGeom>
          <a:solidFill>
            <a:srgbClr val="FFFFFF"/>
          </a:solidFill>
          <a:ln w="9525">
            <a:solidFill>
              <a:srgbClr val="E5E0D6"/>
            </a:solidFill>
          </a:ln>
        </p:spPr>
      </p:sp>
      <p:sp>
        <p:nvSpPr>
          <p:cNvPr id="23" name=""/>
          <p:cNvSpPr txBox="1"/>
          <p:nvPr/>
        </p:nvSpPr>
        <p:spPr>
          <a:xfrm>
            <a:off x="731520"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Position</a:t>
            </a:r>
          </a:p>
        </p:txBody>
      </p:sp>
      <p:sp>
        <p:nvSpPr>
          <p:cNvPr id="24" name=""/>
          <p:cNvSpPr txBox="1"/>
          <p:nvPr/>
        </p:nvSpPr>
        <p:spPr>
          <a:xfrm>
            <a:off x="731520"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October is +51% ahead of last year to date and pacing to about $437.2K.</a:t>
            </a:r>
          </a:p>
          <a:p>
            <a:pPr algn="l">
              <a:spcAft>
                <a:spcPts val="500"/>
              </a:spcAft>
            </a:pPr>
            <a:r>
              <a:rPr sz="1050" b="0">
                <a:solidFill>
                  <a:srgbClr val="334155"/>
                </a:solidFill>
                <a:latin typeface="Inter"/>
              </a:rPr>
              <a:t>This week slowed to $62.7K because the Queen topper, the top seller, was out of stock all week.</a:t>
            </a:r>
          </a:p>
        </p:txBody>
      </p:sp>
      <p:sp>
        <p:nvSpPr>
          <p:cNvPr id="25" name=""/>
          <p:cNvSpPr/>
          <p:nvPr/>
        </p:nvSpPr>
        <p:spPr>
          <a:xfrm>
            <a:off x="4288536" y="2971800"/>
            <a:ext cx="3611880" cy="3246120"/>
          </a:xfrm>
          <a:prstGeom prst="roundRect">
            <a:avLst>
              <a:gd name="" fmla="val 6000"/>
            </a:avLst>
          </a:prstGeom>
          <a:solidFill>
            <a:srgbClr val="FFFFFF"/>
          </a:solidFill>
          <a:ln w="9525">
            <a:solidFill>
              <a:srgbClr val="E5E0D6"/>
            </a:solidFill>
          </a:ln>
        </p:spPr>
      </p:sp>
      <p:sp>
        <p:nvSpPr>
          <p:cNvPr id="26" name=""/>
          <p:cNvSpPr txBox="1"/>
          <p:nvPr/>
        </p:nvSpPr>
        <p:spPr>
          <a:xfrm>
            <a:off x="4471416"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Next steps</a:t>
            </a:r>
          </a:p>
        </p:txBody>
      </p:sp>
      <p:sp>
        <p:nvSpPr>
          <p:cNvPr id="27" name=""/>
          <p:cNvSpPr txBox="1"/>
          <p:nvPr/>
        </p:nvSpPr>
        <p:spPr>
          <a:xfrm>
            <a:off x="4471416"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1. Restock Queen at FBA; protect King and Cal King.</a:t>
            </a:r>
          </a:p>
          <a:p>
            <a:pPr algn="l">
              <a:spcAft>
                <a:spcPts val="500"/>
              </a:spcAft>
            </a:pPr>
            <a:r>
              <a:rPr sz="1050" b="0">
                <a:solidFill>
                  <a:srgbClr val="334155"/>
                </a:solidFill>
                <a:latin typeface="Inter"/>
              </a:rPr>
              <a:t>2. Trim spend on generic and no-sale targets.</a:t>
            </a:r>
          </a:p>
          <a:p>
            <a:pPr algn="l">
              <a:spcAft>
                <a:spcPts val="500"/>
              </a:spcAft>
            </a:pPr>
            <a:r>
              <a:rPr sz="1050" b="0">
                <a:solidFill>
                  <a:srgbClr val="334155"/>
                </a:solidFill>
                <a:latin typeface="Inter"/>
              </a:rPr>
              <a:t>3. Lock BF/CM coupons and deals.</a:t>
            </a:r>
          </a:p>
          <a:p>
            <a:pPr algn="l">
              <a:spcAft>
                <a:spcPts val="500"/>
              </a:spcAft>
            </a:pPr>
            <a:r>
              <a:rPr sz="1050" b="0">
                <a:solidFill>
                  <a:srgbClr val="334155"/>
                </a:solidFill>
                <a:latin typeface="Inter"/>
              </a:rPr>
              <a:t>4. Look into the refund spike.</a:t>
            </a:r>
          </a:p>
        </p:txBody>
      </p:sp>
      <p:sp>
        <p:nvSpPr>
          <p:cNvPr id="28" name=""/>
          <p:cNvSpPr/>
          <p:nvPr/>
        </p:nvSpPr>
        <p:spPr>
          <a:xfrm>
            <a:off x="8028431" y="2971800"/>
            <a:ext cx="3611880" cy="3246120"/>
          </a:xfrm>
          <a:prstGeom prst="roundRect">
            <a:avLst>
              <a:gd name="" fmla="val 6000"/>
            </a:avLst>
          </a:prstGeom>
          <a:solidFill>
            <a:srgbClr val="FFFFFF"/>
          </a:solidFill>
          <a:ln w="9525">
            <a:solidFill>
              <a:srgbClr val="E5E0D6"/>
            </a:solidFill>
          </a:ln>
        </p:spPr>
      </p:sp>
      <p:sp>
        <p:nvSpPr>
          <p:cNvPr id="29" name=""/>
          <p:cNvSpPr txBox="1"/>
          <p:nvPr/>
        </p:nvSpPr>
        <p:spPr>
          <a:xfrm>
            <a:off x="8211311" y="3108960"/>
            <a:ext cx="3246120" cy="274320"/>
          </a:xfrm>
          <a:prstGeom prst="rect">
            <a:avLst/>
          </a:prstGeom>
          <a:noFill/>
        </p:spPr>
        <p:txBody>
          <a:bodyPr wrap="square" lIns="36576" rIns="36576" tIns="18288" bIns="18288" anchor="t">
            <a:spAutoFit/>
          </a:bodyPr>
          <a:lstStyle/>
          <a:p>
            <a:pPr algn="l"/>
            <a:r>
              <a:rPr sz="1200" b="1">
                <a:solidFill>
                  <a:srgbClr val="0F172A"/>
                </a:solidFill>
                <a:latin typeface="Space Grotesk"/>
              </a:rPr>
              <a:t>Data ask</a:t>
            </a:r>
          </a:p>
        </p:txBody>
      </p:sp>
      <p:sp>
        <p:nvSpPr>
          <p:cNvPr id="30" name=""/>
          <p:cNvSpPr txBox="1"/>
          <p:nvPr/>
        </p:nvSpPr>
        <p:spPr>
          <a:xfrm>
            <a:off x="8211311" y="3429000"/>
            <a:ext cx="3246120" cy="2697479"/>
          </a:xfrm>
          <a:prstGeom prst="rect">
            <a:avLst/>
          </a:prstGeom>
          <a:noFill/>
        </p:spPr>
        <p:txBody>
          <a:bodyPr wrap="square" lIns="36576" rIns="36576" tIns="18288" bIns="18288" anchor="t">
            <a:spAutoFit/>
          </a:bodyPr>
          <a:lstStyle/>
          <a:p>
            <a:pPr algn="l">
              <a:spcAft>
                <a:spcPts val="500"/>
              </a:spcAft>
            </a:pPr>
            <a:r>
              <a:rPr sz="1050" b="0">
                <a:solidFill>
                  <a:srgbClr val="334155"/>
                </a:solidFill>
                <a:latin typeface="Inter"/>
              </a:rPr>
              <a:t>Queen inbound ETA and PO dates.</a:t>
            </a:r>
          </a:p>
          <a:p>
            <a:pPr algn="l">
              <a:spcAft>
                <a:spcPts val="500"/>
              </a:spcAft>
            </a:pPr>
            <a:r>
              <a:rPr sz="1050" b="0">
                <a:solidFill>
                  <a:srgbClr val="334155"/>
                </a:solidFill>
                <a:latin typeface="Inter"/>
              </a:rPr>
              <a:t>BF/CM deal and coupon plan.</a:t>
            </a:r>
          </a:p>
          <a:p>
            <a:pPr algn="l">
              <a:spcAft>
                <a:spcPts val="500"/>
              </a:spcAft>
            </a:pPr>
            <a:r>
              <a:rPr sz="1050" b="0">
                <a:solidFill>
                  <a:srgbClr val="334155"/>
                </a:solidFill>
                <a:latin typeface="Inter"/>
              </a:rPr>
              <a:t>Review tracking turned on in Sellerise.</a:t>
            </a:r>
          </a:p>
          <a:p>
            <a:pPr algn="l">
              <a:spcAft>
                <a:spcPts val="500"/>
              </a:spcAft>
            </a:pPr>
            <a:r>
              <a:rPr sz="1050" b="0">
                <a:solidFill>
                  <a:srgbClr val="334155"/>
                </a:solidFill>
                <a:latin typeface="Inter"/>
              </a:rPr>
              <a:t>Category / brand impression share (Brand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