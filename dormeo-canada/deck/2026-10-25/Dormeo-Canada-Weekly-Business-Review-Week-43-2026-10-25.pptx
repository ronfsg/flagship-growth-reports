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presProps" Target="presProps.xml"/><Relationship Id="rId25" Type="http://schemas.openxmlformats.org/officeDocument/2006/relationships/viewProps" Target="viewProps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pic>
        <p:nvPicPr>
          <p:cNvPr id="4" name="Shape 4" descr="logo_dark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77240"/>
            <a:ext cx="2560320" cy="312928"/>
          </a:xfrm>
          <a:prstGeom prst="rect">
            <a:avLst/>
          </a:prstGeom>
        </p:spPr>
      </p:pic>
      <p:sp>
        <p:nvSpPr>
          <p:cNvPr id="5" name="Shape 5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7EB8F7"/>
                </a:solidFill>
                <a:latin typeface="Space Grotesk"/>
              </a:rPr>
              <a:t>WEEKLY PERFORMANCE &amp; GROWTH REVIEW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pace Grotesk"/>
              </a:rPr>
              <a:t>Dormeo Canada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pace Grotesk"/>
              </a:rPr>
              <a:t>Amazon Business Review · Week 43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EB8F7"/>
                </a:solidFill>
                <a:latin typeface="Inter"/>
              </a:rPr>
              <a:t>Week ending Sunday, October 25, 2026  ·  Oct 19–25, 2026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EB8F7"/>
                </a:solidFill>
                <a:latin typeface="Inter"/>
              </a:rPr>
              <a:t>All amounts in CAD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TODAY'S AGENDA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What we'll cover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2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600200"/>
            <a:ext cx="3566160" cy="20116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77240" y="1783080"/>
            <a:ext cx="1371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447FF"/>
                </a:solidFill>
                <a:latin typeface="Space Grotesk"/>
              </a:rPr>
              <a:t>01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77240" y="24688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pace Grotesk"/>
              </a:rPr>
              <a:t>Sales overview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558"/>
                </a:solidFill>
                <a:latin typeface="Inter"/>
              </a:rPr>
              <a:t>Four-week channel performance, price and refunds</a:t>
            </a:r>
          </a:p>
        </p:txBody>
      </p:sp>
      <p:sp>
        <p:nvSpPr>
          <p:cNvPr id="14" name="Shape 14"/>
          <p:cNvSpPr/>
          <p:nvPr/>
        </p:nvSpPr>
        <p:spPr>
          <a:xfrm>
            <a:off x="4279392" y="1600200"/>
            <a:ext cx="3566160" cy="20116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4507992" y="1783080"/>
            <a:ext cx="1371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447FF"/>
                </a:solidFill>
                <a:latin typeface="Space Grotesk"/>
              </a:rPr>
              <a:t>02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4507992" y="24688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pace Grotesk"/>
              </a:rPr>
              <a:t>Sales pacing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4507992" y="28803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558"/>
                </a:solidFill>
                <a:latin typeface="Inter"/>
              </a:rPr>
              <a:t>October month to date vs last month and last year</a:t>
            </a:r>
          </a:p>
        </p:txBody>
      </p:sp>
      <p:sp>
        <p:nvSpPr>
          <p:cNvPr id="18" name="Shape 18"/>
          <p:cNvSpPr/>
          <p:nvPr/>
        </p:nvSpPr>
        <p:spPr>
          <a:xfrm>
            <a:off x="8010144" y="1600200"/>
            <a:ext cx="3566160" cy="20116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8238744" y="1783080"/>
            <a:ext cx="1371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447FF"/>
                </a:solidFill>
                <a:latin typeface="Space Grotesk"/>
              </a:rPr>
              <a:t>03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8238744" y="24688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pace Grotesk"/>
              </a:rPr>
              <a:t>Amazon Ads results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8238744" y="28803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558"/>
                </a:solidFill>
                <a:latin typeface="Inter"/>
              </a:rPr>
              <a:t>Spend, efficiency, brand vs category, keywords</a:t>
            </a:r>
          </a:p>
        </p:txBody>
      </p:sp>
      <p:sp>
        <p:nvSpPr>
          <p:cNvPr id="22" name="Shape 22"/>
          <p:cNvSpPr/>
          <p:nvPr/>
        </p:nvSpPr>
        <p:spPr>
          <a:xfrm>
            <a:off x="548640" y="3840480"/>
            <a:ext cx="3566160" cy="20116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777240" y="4023360"/>
            <a:ext cx="1371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447FF"/>
                </a:solidFill>
                <a:latin typeface="Space Grotesk"/>
              </a:rPr>
              <a:t>04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pace Grotesk"/>
              </a:rPr>
              <a:t>Marketing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777240" y="512064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558"/>
                </a:solidFill>
                <a:latin typeface="Inter"/>
              </a:rPr>
              <a:t>Coupons, promotions and upcoming events</a:t>
            </a:r>
          </a:p>
        </p:txBody>
      </p:sp>
      <p:sp>
        <p:nvSpPr>
          <p:cNvPr id="26" name="Shape 26"/>
          <p:cNvSpPr/>
          <p:nvPr/>
        </p:nvSpPr>
        <p:spPr>
          <a:xfrm>
            <a:off x="4279392" y="3840480"/>
            <a:ext cx="3566160" cy="20116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4507992" y="4023360"/>
            <a:ext cx="1371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447FF"/>
                </a:solidFill>
                <a:latin typeface="Space Grotesk"/>
              </a:rPr>
              <a:t>05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4507992" y="470916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pace Grotesk"/>
              </a:rPr>
              <a:t>Inventory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4507992" y="512064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558"/>
                </a:solidFill>
                <a:latin typeface="Inter"/>
              </a:rPr>
              <a:t>Stock position, weeks of supply, restock risk</a:t>
            </a:r>
          </a:p>
        </p:txBody>
      </p:sp>
      <p:sp>
        <p:nvSpPr>
          <p:cNvPr id="30" name="Shape 30"/>
          <p:cNvSpPr/>
          <p:nvPr/>
        </p:nvSpPr>
        <p:spPr>
          <a:xfrm>
            <a:off x="8010144" y="3840480"/>
            <a:ext cx="3566160" cy="20116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8238744" y="4023360"/>
            <a:ext cx="1371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447FF"/>
                </a:solidFill>
                <a:latin typeface="Space Grotesk"/>
              </a:rPr>
              <a:t>06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8238744" y="470916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pace Grotesk"/>
              </a:rPr>
              <a:t>Reviews &amp; account health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8238744" y="512064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558"/>
                </a:solidFill>
                <a:latin typeface="Inter"/>
              </a:rPr>
              <a:t>Ratings, alerts and Buy 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SALES OVERVIEW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Amazon channel performance — last 4 weeks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3 / 17</a:t>
            </a:r>
          </a:p>
        </p:txBody>
      </p:sp>
      <p:graphicFrame>
        <p:nvGraphicFramePr>
          <p:cNvPr id="10" name="Shape 10"/>
          <p:cNvGraphicFramePr>
            <a:graphicFrameLocks noGrp="1"/>
          </p:cNvGraphicFramePr>
          <p:nvPr/>
        </p:nvGraphicFramePr>
        <p:xfrm>
          <a:off x="548640" y="1417320"/>
          <a:ext cx="110916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011680"/>
                <a:gridCol w="1371600"/>
                <a:gridCol w="1280160"/>
                <a:gridCol w="1737360"/>
                <a:gridCol w="1371600"/>
                <a:gridCol w="139903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Ordered product 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Units ordered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ASP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Ad impressions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Units refunded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Refund rate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Sep 28 – Oct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$61,420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$491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712,277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6.50%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Oct 5 – 11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$115,039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272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$423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1,267,680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3.37%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Oct 12 – 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$51,480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$425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678,399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18.64%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Oct 19 – 25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$57,017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112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$509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589,224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DC2626"/>
                          </a:solidFill>
                          <a:latin typeface="Inter"/>
                        </a:rPr>
                        <a:t>10.09%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4-week total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$284,956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630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$452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3,247,580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50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11" name="Shape 11"/>
          <p:cNvSpPr/>
          <p:nvPr/>
        </p:nvSpPr>
        <p:spPr>
          <a:xfrm>
            <a:off x="548640" y="3886200"/>
            <a:ext cx="5440680" cy="23317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731520" y="4023360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What happened this week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31520" y="4343400"/>
            <a:ext cx="5074920" cy="17830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Sales were $57,017, +11% vs the prior week ($51,480), on 112 units (-7%).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Revenue rose 11% to $57.0K, led by Octaspring Queen: 42 units vs 26 the week before (+60%), 46% of sales.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SnowTek &amp; Essentials fell 40% (18 units vs 37) with the SnowTek Full and Twin toppers out of stock.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3886200"/>
            <a:ext cx="5440680" cy="23317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6382512" y="4023360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Refunds eased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382512" y="4343400"/>
            <a:ext cx="5074920" cy="17830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11 units were refunded this week (10.1% refund rate), vs 22 (18.6%) the week before.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Refunds were $2.8K, 10.1% of revenue, down from 18.6% last week as the Prime Big Deal Days returns worked through.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SALES PACING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October month to date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4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REVENUE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$260.5K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13232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Oct 1–25 · 574 orders</a:t>
            </a:r>
          </a:p>
        </p:txBody>
      </p:sp>
      <p:sp>
        <p:nvSpPr>
          <p:cNvPr id="14" name="Shape 14"/>
          <p:cNvSpPr/>
          <p:nvPr/>
        </p:nvSpPr>
        <p:spPr>
          <a:xfrm>
            <a:off x="3364992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3529584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AD SPEND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529584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$18.4K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3529584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ACoS 10.9%</a:t>
            </a:r>
          </a:p>
        </p:txBody>
      </p:sp>
      <p:sp>
        <p:nvSpPr>
          <p:cNvPr id="18" name="Shape 18"/>
          <p:cNvSpPr/>
          <p:nvPr/>
        </p:nvSpPr>
        <p:spPr>
          <a:xfrm>
            <a:off x="6181344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345936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TACOS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345936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7.1%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345936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ad spend ÷ total sales</a:t>
            </a:r>
          </a:p>
        </p:txBody>
      </p:sp>
      <p:sp>
        <p:nvSpPr>
          <p:cNvPr id="22" name="Shape 22"/>
          <p:cNvSpPr/>
          <p:nvPr/>
        </p:nvSpPr>
        <p:spPr>
          <a:xfrm>
            <a:off x="8997696" y="1417320"/>
            <a:ext cx="2642616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9162288" y="1545336"/>
            <a:ext cx="23682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VS LAST YEAR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9162288" y="1801368"/>
            <a:ext cx="2368296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C2626"/>
                </a:solidFill>
                <a:latin typeface="Space Grotesk"/>
              </a:rPr>
              <a:t>-16%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9162288" y="2560320"/>
            <a:ext cx="236829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Inter"/>
              </a:rPr>
              <a:t>Oct 1–25, 2025: $310.4K</a:t>
            </a:r>
          </a:p>
        </p:txBody>
      </p:sp>
      <p:sp>
        <p:nvSpPr>
          <p:cNvPr id="26" name="Shape 26"/>
          <p:cNvSpPr/>
          <p:nvPr/>
        </p:nvSpPr>
        <p:spPr>
          <a:xfrm>
            <a:off x="807872" y="3474720"/>
            <a:ext cx="921715" cy="2468879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548640" y="3200400"/>
            <a:ext cx="14401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Inter"/>
              </a:rPr>
              <a:t>$350.6K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548640" y="5961888"/>
            <a:ext cx="14401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2025</a:t>
            </a:r>
          </a:p>
        </p:txBody>
      </p:sp>
      <p:sp>
        <p:nvSpPr>
          <p:cNvPr id="29" name="Shape 29"/>
          <p:cNvSpPr/>
          <p:nvPr/>
        </p:nvSpPr>
        <p:spPr>
          <a:xfrm>
            <a:off x="2248052" y="4117013"/>
            <a:ext cx="921715" cy="1826586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0" name="Shape 30"/>
          <p:cNvSpPr txBox="1"/>
          <p:nvPr/>
        </p:nvSpPr>
        <p:spPr>
          <a:xfrm>
            <a:off x="1988819" y="3842693"/>
            <a:ext cx="14401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Inter"/>
              </a:rPr>
              <a:t>$259.4K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1988819" y="5961888"/>
            <a:ext cx="14401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Sep 2026</a:t>
            </a:r>
          </a:p>
        </p:txBody>
      </p:sp>
      <p:sp>
        <p:nvSpPr>
          <p:cNvPr id="32" name="Shape 32"/>
          <p:cNvSpPr/>
          <p:nvPr/>
        </p:nvSpPr>
        <p:spPr>
          <a:xfrm>
            <a:off x="3688232" y="4109388"/>
            <a:ext cx="921715" cy="1834211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3" name="Shape 33"/>
          <p:cNvSpPr txBox="1"/>
          <p:nvPr/>
        </p:nvSpPr>
        <p:spPr>
          <a:xfrm>
            <a:off x="3429000" y="3835068"/>
            <a:ext cx="14401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Inter"/>
              </a:rPr>
              <a:t>$260.5K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3429000" y="5961888"/>
            <a:ext cx="14401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MTD</a:t>
            </a:r>
          </a:p>
        </p:txBody>
      </p:sp>
      <p:sp>
        <p:nvSpPr>
          <p:cNvPr id="35" name="Shape 35"/>
          <p:cNvSpPr/>
          <p:nvPr/>
        </p:nvSpPr>
        <p:spPr>
          <a:xfrm>
            <a:off x="5128412" y="3763703"/>
            <a:ext cx="921715" cy="2179896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36" name="Shape 36"/>
          <p:cNvSpPr txBox="1"/>
          <p:nvPr/>
        </p:nvSpPr>
        <p:spPr>
          <a:xfrm>
            <a:off x="4869179" y="3489383"/>
            <a:ext cx="14401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Inter"/>
              </a:rPr>
              <a:t>$309.6K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4869179" y="5961888"/>
            <a:ext cx="14401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pace</a:t>
            </a:r>
          </a:p>
        </p:txBody>
      </p:sp>
      <p:sp>
        <p:nvSpPr>
          <p:cNvPr id="38" name="Shape 38"/>
          <p:cNvSpPr/>
          <p:nvPr/>
        </p:nvSpPr>
        <p:spPr>
          <a:xfrm>
            <a:off x="548640" y="5943600"/>
            <a:ext cx="5760720" cy="9144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39" name="Shape 39"/>
          <p:cNvSpPr/>
          <p:nvPr/>
        </p:nvSpPr>
        <p:spPr>
          <a:xfrm>
            <a:off x="6583680" y="3200400"/>
            <a:ext cx="5056632" cy="13258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40" name="Shape 40"/>
          <p:cNvSpPr txBox="1"/>
          <p:nvPr/>
        </p:nvSpPr>
        <p:spPr>
          <a:xfrm>
            <a:off x="6766560" y="3337560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Full-month pace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6766560" y="3657600"/>
            <a:ext cx="4690872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October is pacing to about $309.6K: $260.5K so far plus 6 days at $8.2K/day (the October daily average without the 2 event days).</a:t>
            </a:r>
          </a:p>
        </p:txBody>
      </p:sp>
      <p:sp>
        <p:nvSpPr>
          <p:cNvPr id="42" name="Shape 42"/>
          <p:cNvSpPr/>
          <p:nvPr/>
        </p:nvSpPr>
        <p:spPr>
          <a:xfrm>
            <a:off x="6583680" y="4663440"/>
            <a:ext cx="5056632" cy="1554480"/>
          </a:xfrm>
          <a:prstGeom prst="roundRect">
            <a:avLst>
              <a:gd name="" fmla="val 6000"/>
            </a:avLst>
          </a:prstGeom>
          <a:solidFill>
            <a:srgbClr val="FEF2F2"/>
          </a:solidFill>
          <a:ln>
            <a:noFill/>
          </a:ln>
        </p:spPr>
      </p:sp>
      <p:sp>
        <p:nvSpPr>
          <p:cNvPr id="43" name="Shape 43"/>
          <p:cNvSpPr txBox="1"/>
          <p:nvPr/>
        </p:nvSpPr>
        <p:spPr>
          <a:xfrm>
            <a:off x="6766560" y="4773168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Space Grotesk"/>
              </a:rPr>
              <a:t>Recommendation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6766560" y="5074920"/>
            <a:ext cx="47548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Inter"/>
              </a:rPr>
              <a:t>Pace is +19% vs Sep. October is behind last year on the same days. Keeping the Queen topper in stock is the biggest lever: 23 units available, under a week of 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SALES PACING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Ad spend pacing — month to date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5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AD SPEND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$18.4K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13232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$737 per day</a:t>
            </a:r>
          </a:p>
        </p:txBody>
      </p:sp>
      <p:sp>
        <p:nvSpPr>
          <p:cNvPr id="14" name="Shape 14"/>
          <p:cNvSpPr/>
          <p:nvPr/>
        </p:nvSpPr>
        <p:spPr>
          <a:xfrm>
            <a:off x="3364992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3529584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PROJECTED SPEND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529584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$22.8K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3529584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if the daily rate holds to Oct 31</a:t>
            </a:r>
          </a:p>
        </p:txBody>
      </p:sp>
      <p:sp>
        <p:nvSpPr>
          <p:cNvPr id="18" name="Shape 18"/>
          <p:cNvSpPr/>
          <p:nvPr/>
        </p:nvSpPr>
        <p:spPr>
          <a:xfrm>
            <a:off x="6181344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345936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TACOS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345936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7.1%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345936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this week 6.3%</a:t>
            </a:r>
          </a:p>
        </p:txBody>
      </p:sp>
      <p:sp>
        <p:nvSpPr>
          <p:cNvPr id="22" name="Shape 22"/>
          <p:cNvSpPr/>
          <p:nvPr/>
        </p:nvSpPr>
        <p:spPr>
          <a:xfrm>
            <a:off x="8997696" y="1417320"/>
            <a:ext cx="2642616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9162288" y="1545336"/>
            <a:ext cx="23682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ACOS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9162288" y="1801368"/>
            <a:ext cx="2368296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10.9%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9162288" y="2560320"/>
            <a:ext cx="236829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this week 10.2%</a:t>
            </a:r>
          </a:p>
        </p:txBody>
      </p:sp>
      <p:sp>
        <p:nvSpPr>
          <p:cNvPr id="26" name="Shape 26"/>
          <p:cNvSpPr/>
          <p:nvPr/>
        </p:nvSpPr>
        <p:spPr>
          <a:xfrm>
            <a:off x="548640" y="3200400"/>
            <a:ext cx="3611880" cy="30175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27" name="Shape 27"/>
          <p:cNvSpPr txBox="1"/>
          <p:nvPr/>
        </p:nvSpPr>
        <p:spPr>
          <a:xfrm>
            <a:off x="731520" y="33375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MTD performance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731520" y="3657600"/>
            <a:ext cx="3246120" cy="2468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$168.8K in ad sales on $18.4K spend, a 9.2x return.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Ads drove 65% of October sales.</a:t>
            </a:r>
          </a:p>
        </p:txBody>
      </p:sp>
      <p:sp>
        <p:nvSpPr>
          <p:cNvPr id="29" name="Shape 29"/>
          <p:cNvSpPr/>
          <p:nvPr/>
        </p:nvSpPr>
        <p:spPr>
          <a:xfrm>
            <a:off x="4288536" y="3200400"/>
            <a:ext cx="3611880" cy="30175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30" name="Shape 30"/>
          <p:cNvSpPr txBox="1"/>
          <p:nvPr/>
        </p:nvSpPr>
        <p:spPr>
          <a:xfrm>
            <a:off x="4471416" y="33375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Context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4471416" y="3657600"/>
            <a:ext cx="3246120" cy="2468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Ad spend fell 23% to $3.6K while ad sales rose 9%; ACoS dropped to 10.2% from 14.6%.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TACoS was 6.3%; ads drove 61% of revenue.</a:t>
            </a:r>
          </a:p>
        </p:txBody>
      </p:sp>
      <p:sp>
        <p:nvSpPr>
          <p:cNvPr id="32" name="Shape 32"/>
          <p:cNvSpPr/>
          <p:nvPr/>
        </p:nvSpPr>
        <p:spPr>
          <a:xfrm>
            <a:off x="8028431" y="3200400"/>
            <a:ext cx="3611880" cy="30175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33" name="Shape 33"/>
          <p:cNvSpPr txBox="1"/>
          <p:nvPr/>
        </p:nvSpPr>
        <p:spPr>
          <a:xfrm>
            <a:off x="8211311" y="33375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This week's efficiency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8211311" y="3657600"/>
            <a:ext cx="3246120" cy="2468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Spend $3,589 (-23%), ad sales $35,039 (+9%).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ACoS 10.2% (-4.3 pts); TACoS 6.3% (-2.8 pts).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CPC $1.41, 75 ad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AMAZON ADS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Brand vs. category spend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6 / 17</a:t>
            </a:r>
          </a:p>
        </p:txBody>
      </p:sp>
      <p:graphicFrame>
        <p:nvGraphicFramePr>
          <p:cNvPr id="10" name="Shape 10"/>
          <p:cNvGraphicFramePr>
            <a:graphicFrameLocks noGrp="1"/>
          </p:cNvGraphicFramePr>
          <p:nvPr/>
        </p:nvGraphicFramePr>
        <p:xfrm>
          <a:off x="548640" y="1417320"/>
          <a:ext cx="676656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914400"/>
                <a:gridCol w="914400"/>
                <a:gridCol w="731520"/>
                <a:gridCol w="777240"/>
                <a:gridCol w="77724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Ad spend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Ad 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ROAS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ACoS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Branded keywords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$1,560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$26,530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17.01x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5.9%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Audience / category display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$943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$1,079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1.14x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DC2626"/>
                          </a:solidFill>
                          <a:latin typeface="Inter"/>
                        </a:rPr>
                        <a:t>87.4%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Category keywords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$538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$1,751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3.25x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30.8%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Brand defense (product targets)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$221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$4,392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19.83x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5.0%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Other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$165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$1,133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6.87x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14.6%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Competitor targeting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$87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0.00x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Auto targeting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$53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$154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2.89x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34.6%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All campaigns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$3,579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$35,039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9.79x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10.2%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75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11" name="Shape 11"/>
          <p:cNvSpPr/>
          <p:nvPr/>
        </p:nvSpPr>
        <p:spPr>
          <a:xfrm>
            <a:off x="7543800" y="1417320"/>
            <a:ext cx="4096512" cy="24688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7726679" y="1554480"/>
            <a:ext cx="373075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What it says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726679" y="1874519"/>
            <a:ext cx="3730752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Branded keywords brought $26.5K in sales on $1.6K (5.9% ACoS) and 56 of 75 ad orders.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Category keywords spent $538 for $1.8K (30.8% ACoS); spend there was cut 52% vs last week.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Streaming TV spent $898 this week with no attributed sales (and $896 the week before).</a:t>
            </a:r>
          </a:p>
        </p:txBody>
      </p:sp>
      <p:sp>
        <p:nvSpPr>
          <p:cNvPr id="14" name="Shape 14"/>
          <p:cNvSpPr/>
          <p:nvPr/>
        </p:nvSpPr>
        <p:spPr>
          <a:xfrm>
            <a:off x="7543800" y="4023360"/>
            <a:ext cx="4096512" cy="219456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7726679" y="4160520"/>
            <a:ext cx="373075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Coverage note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726679" y="4480560"/>
            <a:ext cx="3730752" cy="1645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34155"/>
                </a:solidFill>
                <a:latin typeface="Inter"/>
              </a:rPr>
              <a:t>Strategy is read from the campaign names (Brand / Category / Auto / Audience).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34155"/>
                </a:solidFill>
                <a:latin typeface="Inter"/>
              </a:rPr>
              <a:t>Campaign totals come from the campaign report and can differ slightly from account totals.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AMAZON ADS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Bid optimization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7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2651760" cy="14630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TARGETS TRACKED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522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13232" y="246888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keywords and product targets</a:t>
            </a:r>
          </a:p>
        </p:txBody>
      </p:sp>
      <p:sp>
        <p:nvSpPr>
          <p:cNvPr id="14" name="Shape 14"/>
          <p:cNvSpPr/>
          <p:nvPr/>
        </p:nvSpPr>
        <p:spPr>
          <a:xfrm>
            <a:off x="3364992" y="1417320"/>
            <a:ext cx="2651760" cy="14630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3529584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WINNERS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529584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A34A"/>
                </a:solidFill>
                <a:latin typeface="Space Grotesk"/>
              </a:rPr>
              <a:t>23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3529584" y="246888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converting at or under 35% ACoS</a:t>
            </a:r>
          </a:p>
        </p:txBody>
      </p:sp>
      <p:sp>
        <p:nvSpPr>
          <p:cNvPr id="18" name="Shape 18"/>
          <p:cNvSpPr/>
          <p:nvPr/>
        </p:nvSpPr>
        <p:spPr>
          <a:xfrm>
            <a:off x="6181344" y="1417320"/>
            <a:ext cx="2651760" cy="14630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345936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NEED ATTENTION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345936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C2626"/>
                </a:solidFill>
                <a:latin typeface="Space Grotesk"/>
              </a:rPr>
              <a:t>105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345936" y="246888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1 high ACoS · 10 no sales</a:t>
            </a:r>
          </a:p>
        </p:txBody>
      </p:sp>
      <p:sp>
        <p:nvSpPr>
          <p:cNvPr id="22" name="Shape 22"/>
          <p:cNvSpPr/>
          <p:nvPr/>
        </p:nvSpPr>
        <p:spPr>
          <a:xfrm>
            <a:off x="8997696" y="1417320"/>
            <a:ext cx="2642616" cy="14630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9162288" y="1545336"/>
            <a:ext cx="23682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LOW CLICK RATE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9162288" y="1801368"/>
            <a:ext cx="2368296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97706"/>
                </a:solidFill>
                <a:latin typeface="Space Grotesk"/>
              </a:rPr>
              <a:t>55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9162288" y="2468880"/>
            <a:ext cx="236829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seen but rarely clicked</a:t>
            </a:r>
          </a:p>
        </p:txBody>
      </p:sp>
      <p:graphicFrame>
        <p:nvGraphicFramePr>
          <p:cNvPr id="26" name="Shape 26"/>
          <p:cNvGraphicFramePr>
            <a:graphicFrameLocks noGrp="1"/>
          </p:cNvGraphicFramePr>
          <p:nvPr/>
        </p:nvGraphicFramePr>
        <p:xfrm>
          <a:off x="548640" y="3063240"/>
          <a:ext cx="72237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731520"/>
                <a:gridCol w="822960"/>
                <a:gridCol w="822960"/>
                <a:gridCol w="822960"/>
                <a:gridCol w="822960"/>
                <a:gridCol w="640080"/>
                <a:gridCol w="6400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Match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Spend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ACoS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Clicks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dormeo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Phrase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Brand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$221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$420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Inter"/>
                        </a:rPr>
                        <a:t>52.6%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164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mattress +topper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Phrase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$155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Inter"/>
                        </a:rPr>
                        <a:t>no sales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141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dormeo mattress topper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Broad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Brand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$140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$1,351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Inter"/>
                        </a:rPr>
                        <a:t>10.3%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135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mattress +topper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Exact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$86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Inter"/>
                        </a:rPr>
                        <a:t>no sales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dormeo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Phrase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Brand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$398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Inter"/>
                        </a:rPr>
                        <a:t>13.7%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71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7"/>
          <p:cNvSpPr/>
          <p:nvPr/>
        </p:nvSpPr>
        <p:spPr>
          <a:xfrm>
            <a:off x="8001000" y="3063240"/>
            <a:ext cx="3639312" cy="31546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28" name="Shape 28"/>
          <p:cNvSpPr txBox="1"/>
          <p:nvPr/>
        </p:nvSpPr>
        <p:spPr>
          <a:xfrm>
            <a:off x="8183879" y="3200400"/>
            <a:ext cx="327355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Next moves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8183879" y="3520440"/>
            <a:ext cx="3273552" cy="2606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Review the Streaming TV audience campaign for the Queen topper: about $1.8K over two weeks with no attributed sales.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Pause or negate “mattress +topper” (phrase $155, exact $86) and “sur matelas dormeo” (exact, $50): clicks, no sales.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Impression share and bid-change history are not in the Sellerise report, so they aren't tracked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AMAZON ADS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Brand keywords — top customer searches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8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371600"/>
            <a:ext cx="3566160" cy="10058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4630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Inter"/>
              </a:rPr>
              <a:t>“dormeo mattress topper” · SB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755648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47FF"/>
                </a:solidFill>
                <a:latin typeface="Space Grotesk"/>
              </a:rPr>
              <a:t>$9,723</a:t>
            </a:r>
            <a:r>
              <a:rPr sz="1000" b="0">
                <a:solidFill>
                  <a:srgbClr val="6B6558"/>
                </a:solidFill>
                <a:latin typeface="Inter"/>
              </a:rPr>
              <a:t>   201 clicks · 18 orders · CVR 9.0%</a:t>
            </a:r>
          </a:p>
        </p:txBody>
      </p:sp>
      <p:sp>
        <p:nvSpPr>
          <p:cNvPr id="13" name="Shape 13"/>
          <p:cNvSpPr/>
          <p:nvPr/>
        </p:nvSpPr>
        <p:spPr>
          <a:xfrm>
            <a:off x="4279392" y="1371600"/>
            <a:ext cx="3566160" cy="10058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4443983" y="14630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Inter"/>
              </a:rPr>
              <a:t>“dormeo mattress topper queen” · SB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443983" y="1755648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47FF"/>
                </a:solidFill>
                <a:latin typeface="Space Grotesk"/>
              </a:rPr>
              <a:t>$2,216</a:t>
            </a:r>
            <a:r>
              <a:rPr sz="1000" b="0">
                <a:solidFill>
                  <a:srgbClr val="6B6558"/>
                </a:solidFill>
                <a:latin typeface="Inter"/>
              </a:rPr>
              <a:t>   26 clicks · 4 orders · CVR 15.4%</a:t>
            </a:r>
          </a:p>
        </p:txBody>
      </p:sp>
      <p:sp>
        <p:nvSpPr>
          <p:cNvPr id="16" name="Shape 16"/>
          <p:cNvSpPr/>
          <p:nvPr/>
        </p:nvSpPr>
        <p:spPr>
          <a:xfrm>
            <a:off x="8010144" y="1371600"/>
            <a:ext cx="3566160" cy="10058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7" name="Shape 17"/>
          <p:cNvSpPr txBox="1"/>
          <p:nvPr/>
        </p:nvSpPr>
        <p:spPr>
          <a:xfrm>
            <a:off x="8174736" y="14630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Inter"/>
              </a:rPr>
              <a:t>“dormeo mattress topper queen” · SP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174736" y="1755648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47FF"/>
                </a:solidFill>
                <a:latin typeface="Space Grotesk"/>
              </a:rPr>
              <a:t>$1,662</a:t>
            </a:r>
            <a:r>
              <a:rPr sz="1000" b="0">
                <a:solidFill>
                  <a:srgbClr val="6B6558"/>
                </a:solidFill>
                <a:latin typeface="Inter"/>
              </a:rPr>
              <a:t>   61 clicks · 3 orders · CVR 4.9%</a:t>
            </a:r>
          </a:p>
        </p:txBody>
      </p:sp>
      <p:sp>
        <p:nvSpPr>
          <p:cNvPr id="19" name="Shape 19"/>
          <p:cNvSpPr/>
          <p:nvPr/>
        </p:nvSpPr>
        <p:spPr>
          <a:xfrm>
            <a:off x="548640" y="2514600"/>
            <a:ext cx="3566160" cy="10058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713232" y="26060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Inter"/>
              </a:rPr>
              <a:t>“dormeo mattress topper king size” · SP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713232" y="2898648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47FF"/>
                </a:solidFill>
                <a:latin typeface="Space Grotesk"/>
              </a:rPr>
              <a:t>$1,199</a:t>
            </a:r>
            <a:r>
              <a:rPr sz="1000" b="0">
                <a:solidFill>
                  <a:srgbClr val="6B6558"/>
                </a:solidFill>
                <a:latin typeface="Inter"/>
              </a:rPr>
              <a:t>   12 clicks · 2 orders · CVR 16.7%</a:t>
            </a:r>
          </a:p>
        </p:txBody>
      </p:sp>
      <p:sp>
        <p:nvSpPr>
          <p:cNvPr id="22" name="Shape 22"/>
          <p:cNvSpPr/>
          <p:nvPr/>
        </p:nvSpPr>
        <p:spPr>
          <a:xfrm>
            <a:off x="4279392" y="2514600"/>
            <a:ext cx="3566160" cy="10058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4443983" y="26060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Inter"/>
              </a:rPr>
              <a:t>“dormeo” · SP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4443983" y="2898648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47FF"/>
                </a:solidFill>
                <a:latin typeface="Space Grotesk"/>
              </a:rPr>
              <a:t>$1,092</a:t>
            </a:r>
            <a:r>
              <a:rPr sz="1000" b="0">
                <a:solidFill>
                  <a:srgbClr val="6B6558"/>
                </a:solidFill>
                <a:latin typeface="Inter"/>
              </a:rPr>
              <a:t>   59 clicks · 3 orders · CVR 5.1%</a:t>
            </a:r>
          </a:p>
        </p:txBody>
      </p:sp>
      <p:sp>
        <p:nvSpPr>
          <p:cNvPr id="25" name="Shape 25"/>
          <p:cNvSpPr/>
          <p:nvPr/>
        </p:nvSpPr>
        <p:spPr>
          <a:xfrm>
            <a:off x="8010144" y="2514600"/>
            <a:ext cx="3566160" cy="10058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6" name="Shape 26"/>
          <p:cNvSpPr txBox="1"/>
          <p:nvPr/>
        </p:nvSpPr>
        <p:spPr>
          <a:xfrm>
            <a:off x="8174736" y="26060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Inter"/>
              </a:rPr>
              <a:t>“dormeo mattress topper” · SP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8174736" y="2898648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47FF"/>
                </a:solidFill>
                <a:latin typeface="Space Grotesk"/>
              </a:rPr>
              <a:t>$953</a:t>
            </a:r>
            <a:r>
              <a:rPr sz="1000" b="0">
                <a:solidFill>
                  <a:srgbClr val="6B6558"/>
                </a:solidFill>
                <a:latin typeface="Inter"/>
              </a:rPr>
              <a:t>   203 clicks · 2 orders · CVR 1.0%</a:t>
            </a:r>
          </a:p>
        </p:txBody>
      </p:sp>
      <p:graphicFrame>
        <p:nvGraphicFramePr>
          <p:cNvPr id="28" name="Shape 28"/>
          <p:cNvGraphicFramePr>
            <a:graphicFrameLocks noGrp="1"/>
          </p:cNvGraphicFramePr>
          <p:nvPr/>
        </p:nvGraphicFramePr>
        <p:xfrm>
          <a:off x="548640" y="3749039"/>
          <a:ext cx="1109167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48640"/>
                <a:gridCol w="1143000"/>
                <a:gridCol w="822960"/>
                <a:gridCol w="822960"/>
                <a:gridCol w="822960"/>
                <a:gridCol w="1188720"/>
                <a:gridCol w="1188720"/>
                <a:gridCol w="126187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Search term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Ad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Impressions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Clicks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CVR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Spend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ACoS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mattress topper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5,279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9.0%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$286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$9,723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mattress topper queen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SB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392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15.4%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$34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$2,216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1.6%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mattress topper queen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4,197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61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4.9%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$74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$1,662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4.5%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mattress topper king size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285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16.7%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$28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$1,199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2.3%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2,725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$1,092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5.2%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mattress topper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13,271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203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1.0%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$214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$953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22.5%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topper queen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50.0%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$952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0.5%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SB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1,626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45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4.4%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$68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$924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7.4%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AMAZON ADS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Category keywords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9 / 17</a:t>
            </a:r>
          </a:p>
        </p:txBody>
      </p:sp>
      <p:graphicFrame>
        <p:nvGraphicFramePr>
          <p:cNvPr id="10" name="Shape 10"/>
          <p:cNvGraphicFramePr>
            <a:graphicFrameLocks noGrp="1"/>
          </p:cNvGraphicFramePr>
          <p:nvPr/>
        </p:nvGraphicFramePr>
        <p:xfrm>
          <a:off x="548640" y="1417320"/>
          <a:ext cx="1109167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112"/>
                <a:gridCol w="914400"/>
                <a:gridCol w="1463040"/>
                <a:gridCol w="1097280"/>
                <a:gridCol w="1097280"/>
                <a:gridCol w="109728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Search term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Ad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Impressions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Clicks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Spend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memory foam mattress topper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439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$554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octaspring mattress topper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$554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topper for mattress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$554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best mattress topper for back and hip pain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$398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11" name="Shape 11"/>
          <p:cNvSpPr txBox="1"/>
          <p:nvPr/>
        </p:nvSpPr>
        <p:spPr>
          <a:xfrm>
            <a:off x="548640" y="3474720"/>
            <a:ext cx="1109167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Top category searches by ad sales, Oct 19–25, 2026 (Sponsored Products and Brands search-term report; only searches with at least one click are reported).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AMAZON ADS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Advertising performance — daily, last 2 weeks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10 / 17</a:t>
            </a:r>
          </a:p>
        </p:txBody>
      </p:sp>
      <p:graphicFrame>
        <p:nvGraphicFramePr>
          <p:cNvPr id="10" name="Shape 10"/>
          <p:cNvGraphicFramePr>
            <a:graphicFrameLocks noGrp="1"/>
          </p:cNvGraphicFramePr>
          <p:nvPr/>
        </p:nvGraphicFramePr>
        <p:xfrm>
          <a:off x="548640" y="1325880"/>
          <a:ext cx="10360152" cy="419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548640"/>
                <a:gridCol w="1051560"/>
                <a:gridCol w="960120"/>
                <a:gridCol w="960120"/>
                <a:gridCol w="731520"/>
                <a:gridCol w="731520"/>
                <a:gridCol w="731520"/>
                <a:gridCol w="731520"/>
                <a:gridCol w="822960"/>
                <a:gridCol w="1097280"/>
                <a:gridCol w="758952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Day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Total 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PPC spend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PPC 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ROAS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ACoS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TACoS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Ad orders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Organic 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Ad sales %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Mon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$6,329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$928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$3,341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3.60x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27.8%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14.7%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$2,988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Tue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$4,135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$704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$3,125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4.44x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22.5%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17.0%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$1,010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76%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Wed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$8,377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$6,124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10.97x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9.1%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$2,253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Thu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$6,160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$507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$3,203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6.32x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15.8%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8.2%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$2,957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52%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Fri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$3,225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$1,912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3.31x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30.2%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17.9%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$1,313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Sat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$12,682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$716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$7,800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10.89x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9.2%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5.6%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$4,882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62%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Sun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$10,572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$6,640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9.61x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10.4%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$3,932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Week Oct 12 – 18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$51,480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$4,682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$32,145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6.87x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14.6%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9.1%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118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85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$19,335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62%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Mon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$7,654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$474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$5,395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11.39x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8.8%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$2,260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70%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20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Tue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$8,864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$458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$5,446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11.88x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8.4%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5.2%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$3,418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61%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Wed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$8,931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$399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$3,987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9.99x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4.5%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$4,944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45%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22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Thu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$4,779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$503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$3,662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7.28x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13.7%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10.5%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$1,117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77%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Fri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$6,997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$443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$4,588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10.36x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9.6%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$2,410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24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Sat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$9,865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$644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$4,978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7.73x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12.9%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6.5%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$4,887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50%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Sun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$9,926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$668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$6,983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10.45x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9.6%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$2,943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70%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Week Oct 19 – 25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$57,017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$3,589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$35,039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9.76x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10.2%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6.3%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109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75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$21,978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61%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11" name="Shape 11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Organic sales = total sales minus ad-attributed sales (floored at $0). Daily clicks and impressions aren't in the Sellerise daily feed; weekly totals: 2,548 clicks / 589,224 impressions this week vs 3,193 / 678,399.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MARKETING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Coupons, promotions &amp; upcoming events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11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371600"/>
            <a:ext cx="11091672" cy="502920"/>
          </a:xfrm>
          <a:prstGeom prst="roundRect">
            <a:avLst>
              <a:gd name="" fmla="val 6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31520" y="1371600"/>
            <a:ext cx="10789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2447FF"/>
                </a:solidFill>
                <a:latin typeface="Inter"/>
              </a:rPr>
              <a:t>Data source: Sellerise promotion totals. Coupon and deal names aren't in the feed, so set-up details come from the account team.</a:t>
            </a:r>
          </a:p>
        </p:txBody>
      </p:sp>
      <p:sp>
        <p:nvSpPr>
          <p:cNvPr id="12" name="Shape 12"/>
          <p:cNvSpPr/>
          <p:nvPr/>
        </p:nvSpPr>
        <p:spPr>
          <a:xfrm>
            <a:off x="548640" y="2057400"/>
            <a:ext cx="3611880" cy="41605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731520" y="21945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Coupons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731520" y="2514600"/>
            <a:ext cx="3246120" cy="3611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This week: no coupon redemptions.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Last week: no coupon redemptions.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October to date: 83 coupon redemptions, all before Oct 12.</a:t>
            </a:r>
          </a:p>
        </p:txBody>
      </p:sp>
      <p:sp>
        <p:nvSpPr>
          <p:cNvPr id="15" name="Shape 15"/>
          <p:cNvSpPr/>
          <p:nvPr/>
        </p:nvSpPr>
        <p:spPr>
          <a:xfrm>
            <a:off x="4288536" y="2057400"/>
            <a:ext cx="3611880" cy="41605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4471416" y="21945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Promotions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4471416" y="2514600"/>
            <a:ext cx="3246120" cy="3611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This week: 15 promotion orders, $83 in promotional discounts (vs 21 orders and $109 last week).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Discounting is now minimal since the Prime event.</a:t>
            </a:r>
          </a:p>
        </p:txBody>
      </p:sp>
      <p:sp>
        <p:nvSpPr>
          <p:cNvPr id="18" name="Shape 18"/>
          <p:cNvSpPr/>
          <p:nvPr/>
        </p:nvSpPr>
        <p:spPr>
          <a:xfrm>
            <a:off x="8028431" y="2057400"/>
            <a:ext cx="3611880" cy="41605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8211311" y="21945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Upcoming events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8211311" y="2514600"/>
            <a:ext cx="3246120" cy="3611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Black Friday / Cyber Monday: Nov 27 – Nov 30.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Boxing Day / Boxing Week: Dec 26.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Deal and coupon set-up deadlines: to confirm with the account team.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Priority: Queen topper and the SnowTek line in stock at FBA before Nov 20.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INVENTORY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Stock position — week 44 inventory update (10/26/2026)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12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37160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49961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OUT OF STOCK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75564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C2626"/>
                </a:solidFill>
                <a:latin typeface="Space Grotesk"/>
              </a:rPr>
              <a:t>4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13232" y="2377439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of 15 selling SKUs, 0 at FBA</a:t>
            </a:r>
          </a:p>
        </p:txBody>
      </p:sp>
      <p:sp>
        <p:nvSpPr>
          <p:cNvPr id="14" name="Shape 14"/>
          <p:cNvSpPr/>
          <p:nvPr/>
        </p:nvSpPr>
        <p:spPr>
          <a:xfrm>
            <a:off x="548640" y="292608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713232" y="305409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LOW STOCK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13232" y="331012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97706"/>
                </a:solidFill>
                <a:latin typeface="Space Grotesk"/>
              </a:rPr>
              <a:t>1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713232" y="39319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4 weeks of stock or less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4480560"/>
            <a:ext cx="2651760" cy="173736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713232" y="460857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UNITS INBOUND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713232" y="486460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440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713232" y="580644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on the way to FBA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3429000" y="1371600"/>
            <a:ext cx="821131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Weeks of supply at FBA (available ÷ weekly sales)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3429000" y="169164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Octaspring Queen</a:t>
            </a:r>
          </a:p>
        </p:txBody>
      </p:sp>
      <p:sp>
        <p:nvSpPr>
          <p:cNvPr id="24" name="Shape 24"/>
          <p:cNvSpPr/>
          <p:nvPr/>
        </p:nvSpPr>
        <p:spPr>
          <a:xfrm>
            <a:off x="5257800" y="1814855"/>
            <a:ext cx="349351" cy="313639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5" name="Shape 25"/>
          <p:cNvSpPr txBox="1"/>
          <p:nvPr/>
        </p:nvSpPr>
        <p:spPr>
          <a:xfrm>
            <a:off x="5662015" y="169164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0.8 wk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3429000" y="225171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Octaspring King</a:t>
            </a:r>
          </a:p>
        </p:txBody>
      </p:sp>
      <p:sp>
        <p:nvSpPr>
          <p:cNvPr id="27" name="Shape 27"/>
          <p:cNvSpPr/>
          <p:nvPr/>
        </p:nvSpPr>
        <p:spPr>
          <a:xfrm>
            <a:off x="5257800" y="2374925"/>
            <a:ext cx="4511192" cy="313639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28" name="Shape 28"/>
          <p:cNvSpPr txBox="1"/>
          <p:nvPr/>
        </p:nvSpPr>
        <p:spPr>
          <a:xfrm>
            <a:off x="9823856" y="225171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9.9 wk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3429000" y="281178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Octaspring Full</a:t>
            </a:r>
          </a:p>
        </p:txBody>
      </p:sp>
      <p:sp>
        <p:nvSpPr>
          <p:cNvPr id="30" name="Shape 30"/>
          <p:cNvSpPr/>
          <p:nvPr/>
        </p:nvSpPr>
        <p:spPr>
          <a:xfrm>
            <a:off x="5257800" y="2934995"/>
            <a:ext cx="5468112" cy="313639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10780776" y="281178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12+ wk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3429000" y="337185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Octaspring Twin &amp; XL</a:t>
            </a:r>
          </a:p>
        </p:txBody>
      </p:sp>
      <p:sp>
        <p:nvSpPr>
          <p:cNvPr id="33" name="Shape 33"/>
          <p:cNvSpPr/>
          <p:nvPr/>
        </p:nvSpPr>
        <p:spPr>
          <a:xfrm>
            <a:off x="5257800" y="3495065"/>
            <a:ext cx="3018853" cy="313639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34" name="Shape 34"/>
          <p:cNvSpPr txBox="1"/>
          <p:nvPr/>
        </p:nvSpPr>
        <p:spPr>
          <a:xfrm>
            <a:off x="8331517" y="337185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6.6 wk</a:t>
            </a:r>
          </a:p>
        </p:txBody>
      </p:sp>
      <p:sp>
        <p:nvSpPr>
          <p:cNvPr id="35" name="Shape 35"/>
          <p:cNvSpPr txBox="1"/>
          <p:nvPr/>
        </p:nvSpPr>
        <p:spPr>
          <a:xfrm>
            <a:off x="3429000" y="393192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Octaspring Cal/Split/RV</a:t>
            </a:r>
          </a:p>
        </p:txBody>
      </p:sp>
      <p:sp>
        <p:nvSpPr>
          <p:cNvPr id="36" name="Shape 36"/>
          <p:cNvSpPr/>
          <p:nvPr/>
        </p:nvSpPr>
        <p:spPr>
          <a:xfrm>
            <a:off x="5257800" y="4055135"/>
            <a:ext cx="4404868" cy="313639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37" name="Shape 37"/>
          <p:cNvSpPr txBox="1"/>
          <p:nvPr/>
        </p:nvSpPr>
        <p:spPr>
          <a:xfrm>
            <a:off x="9717532" y="393192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9.7 wk</a:t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3429000" y="449199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SnowTek &amp; Essentials</a:t>
            </a:r>
          </a:p>
        </p:txBody>
      </p:sp>
      <p:sp>
        <p:nvSpPr>
          <p:cNvPr id="39" name="Shape 39"/>
          <p:cNvSpPr/>
          <p:nvPr/>
        </p:nvSpPr>
        <p:spPr>
          <a:xfrm>
            <a:off x="5257800" y="4615205"/>
            <a:ext cx="1686001" cy="313639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0" name="Shape 40"/>
          <p:cNvSpPr txBox="1"/>
          <p:nvPr/>
        </p:nvSpPr>
        <p:spPr>
          <a:xfrm>
            <a:off x="6998665" y="449199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3.7 wk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3429000" y="505206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Pillows</a:t>
            </a:r>
          </a:p>
        </p:txBody>
      </p:sp>
      <p:sp>
        <p:nvSpPr>
          <p:cNvPr id="42" name="Shape 42"/>
          <p:cNvSpPr/>
          <p:nvPr/>
        </p:nvSpPr>
        <p:spPr>
          <a:xfrm>
            <a:off x="5257800" y="5175275"/>
            <a:ext cx="5126355" cy="313639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3" name="Shape 43"/>
          <p:cNvSpPr txBox="1"/>
          <p:nvPr/>
        </p:nvSpPr>
        <p:spPr>
          <a:xfrm>
            <a:off x="10439019" y="505206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11.2 wk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3429000" y="561213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Protectors &amp; Sheets</a:t>
            </a:r>
          </a:p>
        </p:txBody>
      </p:sp>
      <p:sp>
        <p:nvSpPr>
          <p:cNvPr id="45" name="Shape 45"/>
          <p:cNvSpPr/>
          <p:nvPr/>
        </p:nvSpPr>
        <p:spPr>
          <a:xfrm>
            <a:off x="5257800" y="5735345"/>
            <a:ext cx="5468112" cy="313639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6" name="Shape 46"/>
          <p:cNvSpPr txBox="1"/>
          <p:nvPr/>
        </p:nvSpPr>
        <p:spPr>
          <a:xfrm>
            <a:off x="10780776" y="561213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12+ wk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REVIEWS &amp; ACCOUNT HEALTH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Rating &amp; review trend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13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5486400" cy="480060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Inter"/>
              </a:rPr>
              <a:t>LAST 90 DAYS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77240" y="2011680"/>
            <a:ext cx="50292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pace Grotesk"/>
              </a:rPr>
              <a:t>No review data in Sellerise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77240" y="2926080"/>
            <a:ext cx="502920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334155"/>
                </a:solidFill>
                <a:latin typeface="Inter"/>
              </a:rPr>
              <a:t>Sellerise returned no review records for Dormeo Canada over the last 90 days.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334155"/>
                </a:solidFill>
                <a:latin typeface="Inter"/>
              </a:rPr>
              <a:t>That means review tracking isn't pulling for this marketplace, not that there were no reviews.</a:t>
            </a:r>
          </a:p>
        </p:txBody>
      </p:sp>
      <p:sp>
        <p:nvSpPr>
          <p:cNvPr id="14" name="Shape 14"/>
          <p:cNvSpPr/>
          <p:nvPr/>
        </p:nvSpPr>
        <p:spPr>
          <a:xfrm>
            <a:off x="6263640" y="1417320"/>
            <a:ext cx="5376672" cy="480060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6446520" y="1554480"/>
            <a:ext cx="501091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Recommendation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446520" y="1874519"/>
            <a:ext cx="5010912" cy="4251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Turn on review tracking for Dormeo Canada in Sellerise (or pull Amazon's Customer Reviews report) so the deck can show star rating and review count per line.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Read the newest 1–3 star reviews on the Queen topper, now almost half of sales.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REVIEWS &amp; ACCOUNT HEALTH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Alerts &amp; Buy Box — last 30 days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14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37160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49961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TOTAL ALERTS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75564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107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13232" y="2377439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open, incl. log events</a:t>
            </a:r>
          </a:p>
        </p:txBody>
      </p:sp>
      <p:sp>
        <p:nvSpPr>
          <p:cNvPr id="14" name="Shape 14"/>
          <p:cNvSpPr/>
          <p:nvPr/>
        </p:nvSpPr>
        <p:spPr>
          <a:xfrm>
            <a:off x="548640" y="292608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713232" y="305409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ACTIONABLE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13232" y="331012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97706"/>
                </a:solidFill>
                <a:latin typeface="Space Grotesk"/>
              </a:rPr>
              <a:t>23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713232" y="39319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warnings + critical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4480560"/>
            <a:ext cx="2651760" cy="173736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713232" y="460857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CRITICAL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713232" y="486460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C2626"/>
                </a:solidFill>
                <a:latin typeface="Space Grotesk"/>
              </a:rPr>
              <a:t>15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713232" y="580644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Buy Box, stock, inactive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3429000" y="1371600"/>
            <a:ext cx="821131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Alerts by type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3429000" y="1691640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Title</a:t>
            </a:r>
          </a:p>
        </p:txBody>
      </p:sp>
      <p:sp>
        <p:nvSpPr>
          <p:cNvPr id="24" name="Shape 24"/>
          <p:cNvSpPr/>
          <p:nvPr/>
        </p:nvSpPr>
        <p:spPr>
          <a:xfrm>
            <a:off x="5257800" y="1790212"/>
            <a:ext cx="5468112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25" name="Shape 25"/>
          <p:cNvSpPr txBox="1"/>
          <p:nvPr/>
        </p:nvSpPr>
        <p:spPr>
          <a:xfrm>
            <a:off x="10780776" y="1691640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26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3429000" y="2139696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Listing price</a:t>
            </a:r>
          </a:p>
        </p:txBody>
      </p:sp>
      <p:sp>
        <p:nvSpPr>
          <p:cNvPr id="27" name="Shape 27"/>
          <p:cNvSpPr/>
          <p:nvPr/>
        </p:nvSpPr>
        <p:spPr>
          <a:xfrm>
            <a:off x="5257800" y="2238268"/>
            <a:ext cx="4626864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28" name="Shape 28"/>
          <p:cNvSpPr txBox="1"/>
          <p:nvPr/>
        </p:nvSpPr>
        <p:spPr>
          <a:xfrm>
            <a:off x="9939528" y="2139696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22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3429000" y="2587752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Inactive</a:t>
            </a:r>
          </a:p>
        </p:txBody>
      </p:sp>
      <p:sp>
        <p:nvSpPr>
          <p:cNvPr id="30" name="Shape 30"/>
          <p:cNvSpPr/>
          <p:nvPr/>
        </p:nvSpPr>
        <p:spPr>
          <a:xfrm>
            <a:off x="5257800" y="2686324"/>
            <a:ext cx="2734056" cy="250911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8046720" y="2587752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13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3429000" y="3035808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Listing images</a:t>
            </a:r>
          </a:p>
        </p:txBody>
      </p:sp>
      <p:sp>
        <p:nvSpPr>
          <p:cNvPr id="33" name="Shape 33"/>
          <p:cNvSpPr/>
          <p:nvPr/>
        </p:nvSpPr>
        <p:spPr>
          <a:xfrm>
            <a:off x="5257800" y="3134380"/>
            <a:ext cx="2103120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34" name="Shape 34"/>
          <p:cNvSpPr txBox="1"/>
          <p:nvPr/>
        </p:nvSpPr>
        <p:spPr>
          <a:xfrm>
            <a:off x="7415784" y="3035808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10</a:t>
            </a:r>
          </a:p>
        </p:txBody>
      </p:sp>
      <p:sp>
        <p:nvSpPr>
          <p:cNvPr id="35" name="Shape 35"/>
          <p:cNvSpPr txBox="1"/>
          <p:nvPr/>
        </p:nvSpPr>
        <p:spPr>
          <a:xfrm>
            <a:off x="3429000" y="3483864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Buy Box gained</a:t>
            </a:r>
          </a:p>
        </p:txBody>
      </p:sp>
      <p:sp>
        <p:nvSpPr>
          <p:cNvPr id="36" name="Shape 36"/>
          <p:cNvSpPr/>
          <p:nvPr/>
        </p:nvSpPr>
        <p:spPr>
          <a:xfrm>
            <a:off x="5257800" y="3582436"/>
            <a:ext cx="1892808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37" name="Shape 37"/>
          <p:cNvSpPr txBox="1"/>
          <p:nvPr/>
        </p:nvSpPr>
        <p:spPr>
          <a:xfrm>
            <a:off x="7205472" y="3483864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9</a:t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3429000" y="3931920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Buy Box lost</a:t>
            </a:r>
          </a:p>
        </p:txBody>
      </p:sp>
      <p:sp>
        <p:nvSpPr>
          <p:cNvPr id="39" name="Shape 39"/>
          <p:cNvSpPr/>
          <p:nvPr/>
        </p:nvSpPr>
        <p:spPr>
          <a:xfrm>
            <a:off x="5257800" y="4030492"/>
            <a:ext cx="1892808" cy="250911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0" name="Shape 40"/>
          <p:cNvSpPr txBox="1"/>
          <p:nvPr/>
        </p:nvSpPr>
        <p:spPr>
          <a:xfrm>
            <a:off x="7205472" y="3931920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9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3429000" y="4379976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Out of stock</a:t>
            </a:r>
          </a:p>
        </p:txBody>
      </p:sp>
      <p:sp>
        <p:nvSpPr>
          <p:cNvPr id="42" name="Shape 42"/>
          <p:cNvSpPr/>
          <p:nvPr/>
        </p:nvSpPr>
        <p:spPr>
          <a:xfrm>
            <a:off x="5257800" y="4478548"/>
            <a:ext cx="1261872" cy="250911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3" name="Shape 43"/>
          <p:cNvSpPr txBox="1"/>
          <p:nvPr/>
        </p:nvSpPr>
        <p:spPr>
          <a:xfrm>
            <a:off x="6574536" y="4379976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6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3429000" y="4828032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Hijacker</a:t>
            </a:r>
          </a:p>
        </p:txBody>
      </p:sp>
      <p:sp>
        <p:nvSpPr>
          <p:cNvPr id="45" name="Shape 45"/>
          <p:cNvSpPr/>
          <p:nvPr/>
        </p:nvSpPr>
        <p:spPr>
          <a:xfrm>
            <a:off x="5257800" y="4926604"/>
            <a:ext cx="630936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6" name="Shape 46"/>
          <p:cNvSpPr txBox="1"/>
          <p:nvPr/>
        </p:nvSpPr>
        <p:spPr>
          <a:xfrm>
            <a:off x="5943600" y="4828032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3</a:t>
            </a:r>
          </a:p>
        </p:txBody>
      </p:sp>
      <p:sp>
        <p:nvSpPr>
          <p:cNvPr id="47" name="Shape 47"/>
          <p:cNvSpPr txBox="1"/>
          <p:nvPr/>
        </p:nvSpPr>
        <p:spPr>
          <a:xfrm>
            <a:off x="3429000" y="5276088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Hijacker liquidation</a:t>
            </a:r>
          </a:p>
        </p:txBody>
      </p:sp>
      <p:sp>
        <p:nvSpPr>
          <p:cNvPr id="48" name="Shape 48"/>
          <p:cNvSpPr/>
          <p:nvPr/>
        </p:nvSpPr>
        <p:spPr>
          <a:xfrm>
            <a:off x="5257800" y="5374660"/>
            <a:ext cx="420624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9" name="Shape 49"/>
          <p:cNvSpPr txBox="1"/>
          <p:nvPr/>
        </p:nvSpPr>
        <p:spPr>
          <a:xfrm>
            <a:off x="5733288" y="5276088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2</a:t>
            </a:r>
          </a:p>
        </p:txBody>
      </p:sp>
      <p:sp>
        <p:nvSpPr>
          <p:cNvPr id="50" name="Shape 50"/>
          <p:cNvSpPr txBox="1"/>
          <p:nvPr/>
        </p:nvSpPr>
        <p:spPr>
          <a:xfrm>
            <a:off x="3429000" y="5724144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Low stock</a:t>
            </a:r>
          </a:p>
        </p:txBody>
      </p:sp>
      <p:sp>
        <p:nvSpPr>
          <p:cNvPr id="51" name="Shape 51"/>
          <p:cNvSpPr/>
          <p:nvPr/>
        </p:nvSpPr>
        <p:spPr>
          <a:xfrm>
            <a:off x="5257800" y="5822716"/>
            <a:ext cx="420624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52" name="Shape 52"/>
          <p:cNvSpPr txBox="1"/>
          <p:nvPr/>
        </p:nvSpPr>
        <p:spPr>
          <a:xfrm>
            <a:off x="5733288" y="5724144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NEXT STEPS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This week's recommendations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15 / 17</a:t>
            </a:r>
          </a:p>
        </p:txBody>
      </p:sp>
      <p:graphicFrame>
        <p:nvGraphicFramePr>
          <p:cNvPr id="10" name="Shape 10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068312"/>
                <a:gridCol w="1371600"/>
                <a:gridCol w="11887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Recommendation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Inventory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Get the 170 inbound Queen toppers checked in at FBA; only 23 are available (under a week of sales).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Account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This week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Inventory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Restock SnowTek (Full and Twin out, King at 9 units) and Essentials Queen (out); none has stock inbound.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Account team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By Nov 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Review the Streaming TV audience campaign: about $1.8K over two weeks with no attributed sales.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This week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Pause or negate the no-sale “mattress +topper” and “sur matelas dormeo” targets; 121 campaigns spent $2.0K with no sales this week.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 team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This week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Add “dormeo mattress topper queen” and “dormeo topper queen” (Sponsored Brands searches) as exact keywords.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This week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Marketing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Plan BF/CM (Nov 27–30) and Boxing Day deals and coupons; confirm submission deadlines.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Account team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By Nov 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Account health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Turn on review tracking and work through the Buy Box and hijacker alerts.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Account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Next week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AMAZON ADS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Ad spend performance — this week vs last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713232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AD SPEND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13232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$3,589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13232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  <a:latin typeface="Inter"/>
              </a:rPr>
              <a:t>-23% vs $4,682</a:t>
            </a:r>
          </a:p>
        </p:txBody>
      </p:sp>
      <p:sp>
        <p:nvSpPr>
          <p:cNvPr id="11" name="Shape 11"/>
          <p:cNvSpPr/>
          <p:nvPr/>
        </p:nvSpPr>
        <p:spPr>
          <a:xfrm>
            <a:off x="3364992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3529584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AD SALES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3529584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$35,039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3529584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  <a:latin typeface="Inter"/>
              </a:rPr>
              <a:t>+9% vs $32,145</a:t>
            </a:r>
          </a:p>
        </p:txBody>
      </p:sp>
      <p:sp>
        <p:nvSpPr>
          <p:cNvPr id="15" name="Shape 15"/>
          <p:cNvSpPr/>
          <p:nvPr/>
        </p:nvSpPr>
        <p:spPr>
          <a:xfrm>
            <a:off x="6181344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345936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ACOS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345936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10.2%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6345936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  <a:latin typeface="Inter"/>
              </a:rPr>
              <a:t>-4.3 pts vs 14.6%</a:t>
            </a:r>
          </a:p>
        </p:txBody>
      </p:sp>
      <p:sp>
        <p:nvSpPr>
          <p:cNvPr id="19" name="Shape 19"/>
          <p:cNvSpPr/>
          <p:nvPr/>
        </p:nvSpPr>
        <p:spPr>
          <a:xfrm>
            <a:off x="8997696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9162288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TACOS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9162288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6.3%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9162288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  <a:latin typeface="Inter"/>
              </a:rPr>
              <a:t>-2.8 pts vs 9.1%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48640" y="315468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Ad spend</a:t>
            </a:r>
          </a:p>
        </p:txBody>
      </p:sp>
      <p:sp>
        <p:nvSpPr>
          <p:cNvPr id="24" name="Shape 24"/>
          <p:cNvSpPr/>
          <p:nvPr/>
        </p:nvSpPr>
        <p:spPr>
          <a:xfrm>
            <a:off x="914400" y="3840479"/>
            <a:ext cx="1005840" cy="2148840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25" name="Shape 25"/>
          <p:cNvSpPr txBox="1"/>
          <p:nvPr/>
        </p:nvSpPr>
        <p:spPr>
          <a:xfrm>
            <a:off x="731520" y="3566159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$4.7K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731520" y="603504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12 – 18</a:t>
            </a:r>
          </a:p>
        </p:txBody>
      </p:sp>
      <p:sp>
        <p:nvSpPr>
          <p:cNvPr id="27" name="Shape 27"/>
          <p:cNvSpPr/>
          <p:nvPr/>
        </p:nvSpPr>
        <p:spPr>
          <a:xfrm>
            <a:off x="2286000" y="4342176"/>
            <a:ext cx="1005840" cy="1647143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28" name="Shape 28"/>
          <p:cNvSpPr txBox="1"/>
          <p:nvPr/>
        </p:nvSpPr>
        <p:spPr>
          <a:xfrm>
            <a:off x="2103120" y="4067856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$3.6K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2103120" y="603504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19 – 25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4297679" y="315468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Ad sales</a:t>
            </a:r>
          </a:p>
        </p:txBody>
      </p:sp>
      <p:sp>
        <p:nvSpPr>
          <p:cNvPr id="31" name="Shape 31"/>
          <p:cNvSpPr/>
          <p:nvPr/>
        </p:nvSpPr>
        <p:spPr>
          <a:xfrm>
            <a:off x="4663440" y="4017958"/>
            <a:ext cx="1005840" cy="1971361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2" name="Shape 32"/>
          <p:cNvSpPr txBox="1"/>
          <p:nvPr/>
        </p:nvSpPr>
        <p:spPr>
          <a:xfrm>
            <a:off x="4480559" y="3743638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$32.1K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4480559" y="603504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12 – 18</a:t>
            </a:r>
          </a:p>
        </p:txBody>
      </p:sp>
      <p:sp>
        <p:nvSpPr>
          <p:cNvPr id="34" name="Shape 34"/>
          <p:cNvSpPr/>
          <p:nvPr/>
        </p:nvSpPr>
        <p:spPr>
          <a:xfrm>
            <a:off x="6035040" y="3840479"/>
            <a:ext cx="1005840" cy="2148840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35" name="Shape 35"/>
          <p:cNvSpPr txBox="1"/>
          <p:nvPr/>
        </p:nvSpPr>
        <p:spPr>
          <a:xfrm>
            <a:off x="5852159" y="3566159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$35.0K</a:t>
            </a:r>
          </a:p>
        </p:txBody>
      </p:sp>
      <p:sp>
        <p:nvSpPr>
          <p:cNvPr id="36" name="Shape 36"/>
          <p:cNvSpPr txBox="1"/>
          <p:nvPr/>
        </p:nvSpPr>
        <p:spPr>
          <a:xfrm>
            <a:off x="5852159" y="603504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19 – 25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8046719" y="315468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Total sales</a:t>
            </a:r>
          </a:p>
        </p:txBody>
      </p:sp>
      <p:sp>
        <p:nvSpPr>
          <p:cNvPr id="38" name="Shape 38"/>
          <p:cNvSpPr/>
          <p:nvPr/>
        </p:nvSpPr>
        <p:spPr>
          <a:xfrm>
            <a:off x="8412480" y="4049164"/>
            <a:ext cx="1005840" cy="1940155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9" name="Shape 39"/>
          <p:cNvSpPr txBox="1"/>
          <p:nvPr/>
        </p:nvSpPr>
        <p:spPr>
          <a:xfrm>
            <a:off x="8229600" y="3774844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$51.5K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8229600" y="603504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12 – 18</a:t>
            </a:r>
          </a:p>
        </p:txBody>
      </p:sp>
      <p:sp>
        <p:nvSpPr>
          <p:cNvPr id="41" name="Shape 41"/>
          <p:cNvSpPr/>
          <p:nvPr/>
        </p:nvSpPr>
        <p:spPr>
          <a:xfrm>
            <a:off x="9784080" y="3840479"/>
            <a:ext cx="1005840" cy="2148840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2" name="Shape 42"/>
          <p:cNvSpPr txBox="1"/>
          <p:nvPr/>
        </p:nvSpPr>
        <p:spPr>
          <a:xfrm>
            <a:off x="9601200" y="3566159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$57.0K</a:t>
            </a:r>
          </a:p>
        </p:txBody>
      </p:sp>
      <p:sp>
        <p:nvSpPr>
          <p:cNvPr id="43" name="Shape 43"/>
          <p:cNvSpPr txBox="1"/>
          <p:nvPr/>
        </p:nvSpPr>
        <p:spPr>
          <a:xfrm>
            <a:off x="9601200" y="603504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19 – 25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45" name="Shape 45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PATH FORWARD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Where we stand and what's next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Canada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17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37160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49961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AD SPEND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75564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$18.4K</a:t>
            </a:r>
          </a:p>
        </p:txBody>
      </p:sp>
      <p:sp>
        <p:nvSpPr>
          <p:cNvPr id="13" name="Shape 13"/>
          <p:cNvSpPr/>
          <p:nvPr/>
        </p:nvSpPr>
        <p:spPr>
          <a:xfrm>
            <a:off x="3364992" y="137160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3529584" y="149961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PROJECTED SPEND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3529584" y="175564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$22.8K</a:t>
            </a:r>
          </a:p>
        </p:txBody>
      </p:sp>
      <p:sp>
        <p:nvSpPr>
          <p:cNvPr id="16" name="Shape 16"/>
          <p:cNvSpPr/>
          <p:nvPr/>
        </p:nvSpPr>
        <p:spPr>
          <a:xfrm>
            <a:off x="6181344" y="137160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7" name="Shape 17"/>
          <p:cNvSpPr txBox="1"/>
          <p:nvPr/>
        </p:nvSpPr>
        <p:spPr>
          <a:xfrm>
            <a:off x="6345936" y="149961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ACOS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6345936" y="175564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10.9%</a:t>
            </a:r>
          </a:p>
        </p:txBody>
      </p:sp>
      <p:sp>
        <p:nvSpPr>
          <p:cNvPr id="19" name="Shape 19"/>
          <p:cNvSpPr/>
          <p:nvPr/>
        </p:nvSpPr>
        <p:spPr>
          <a:xfrm>
            <a:off x="8997696" y="1371600"/>
            <a:ext cx="2642616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9162288" y="1499616"/>
            <a:ext cx="23682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DAYS LEFT IN OCT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9162288" y="1755648"/>
            <a:ext cx="2368296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6</a:t>
            </a:r>
          </a:p>
        </p:txBody>
      </p:sp>
      <p:sp>
        <p:nvSpPr>
          <p:cNvPr id="22" name="Shape 22"/>
          <p:cNvSpPr/>
          <p:nvPr/>
        </p:nvSpPr>
        <p:spPr>
          <a:xfrm>
            <a:off x="548640" y="2971800"/>
            <a:ext cx="3611880" cy="32461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731520" y="31089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Position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731520" y="3429000"/>
            <a:ext cx="3246120" cy="26974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October is 16% behind last year to date and pacing to about $309.6K (last October: $350.6K).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This week grew 11% to $57.0K, led by the Queen topper.</a:t>
            </a:r>
          </a:p>
        </p:txBody>
      </p:sp>
      <p:sp>
        <p:nvSpPr>
          <p:cNvPr id="25" name="Shape 25"/>
          <p:cNvSpPr/>
          <p:nvPr/>
        </p:nvSpPr>
        <p:spPr>
          <a:xfrm>
            <a:off x="4288536" y="2971800"/>
            <a:ext cx="3611880" cy="32461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26" name="Shape 26"/>
          <p:cNvSpPr txBox="1"/>
          <p:nvPr/>
        </p:nvSpPr>
        <p:spPr>
          <a:xfrm>
            <a:off x="4471416" y="31089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Next steps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4471416" y="3429000"/>
            <a:ext cx="3246120" cy="26974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1. Restock Queen at FBA; restock SnowTek and Essentials.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2. Review Streaming TV and no-sale targets.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3. Lock BF/CM and Boxing Day deals.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4. Fix Buy Box and hijacker alerts.</a:t>
            </a:r>
          </a:p>
        </p:txBody>
      </p:sp>
      <p:sp>
        <p:nvSpPr>
          <p:cNvPr id="28" name="Shape 28"/>
          <p:cNvSpPr/>
          <p:nvPr/>
        </p:nvSpPr>
        <p:spPr>
          <a:xfrm>
            <a:off x="8028431" y="2971800"/>
            <a:ext cx="3611880" cy="32461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8211311" y="31089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Data ask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8211311" y="3429000"/>
            <a:ext cx="3246120" cy="26974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Queen inbound ETA and PO dates.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SnowTek and Essentials replenishment plan.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BF/CM and Boxing Day deal and coupon plan.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Review tracking turned on in Sellerise.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