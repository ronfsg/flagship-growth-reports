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presProps" Target="presProps.xml"/><Relationship Id="rId25" Type="http://schemas.openxmlformats.org/officeDocument/2006/relationships/viewProps" Target="viewProps.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0F172A"/>
          </a:solidFill>
          <a:ln>
            <a:noFill/>
          </a:ln>
        </p:spPr>
      </p:sp>
      <p:sp>
        <p:nvSpPr>
          <p:cNvPr id="3" name="Shape 3"/>
          <p:cNvSpPr/>
          <p:nvPr/>
        </p:nvSpPr>
        <p:spPr>
          <a:xfrm>
            <a:off x="0" y="0"/>
            <a:ext cx="164592" cy="6858000"/>
          </a:xfrm>
          <a:prstGeom prst="rect">
            <a:avLst/>
          </a:prstGeom>
          <a:solidFill>
            <a:srgbClr val="2447FF"/>
          </a:solidFill>
          <a:ln>
            <a:noFill/>
          </a:ln>
        </p:spPr>
      </p:sp>
      <p:pic>
        <p:nvPicPr>
          <p:cNvPr id="4" name="Shape 4" descr="logo_dark_s.png"/>
          <p:cNvPicPr>
            <a:picLocks noChangeAspect="1"/>
          </p:cNvPicPr>
          <p:nvPr/>
        </p:nvPicPr>
        <p:blipFill>
          <a:blip r:embed="rId2"/>
          <a:stretch>
            <a:fillRect/>
          </a:stretch>
        </p:blipFill>
        <p:spPr>
          <a:xfrm>
            <a:off x="822960" y="777240"/>
            <a:ext cx="2560320" cy="312928"/>
          </a:xfrm>
          <a:prstGeom prst="rect">
            <a:avLst/>
          </a:prstGeom>
        </p:spPr>
      </p:pic>
      <p:sp>
        <p:nvSpPr>
          <p:cNvPr id="5" name="Shape 5"/>
          <p:cNvSpPr txBox="1"/>
          <p:nvPr/>
        </p:nvSpPr>
        <p:spPr>
          <a:xfrm>
            <a:off x="822960" y="2148840"/>
            <a:ext cx="10058400" cy="365760"/>
          </a:xfrm>
          <a:prstGeom prst="rect">
            <a:avLst/>
          </a:prstGeom>
          <a:noFill/>
        </p:spPr>
        <p:txBody>
          <a:bodyPr wrap="square" lIns="36576" rIns="36576" tIns="18288" bIns="18288" anchor="t">
            <a:spAutoFit/>
          </a:bodyPr>
          <a:lstStyle/>
          <a:p>
            <a:pPr algn="l"/>
            <a:r>
              <a:rPr sz="1400" b="1">
                <a:solidFill>
                  <a:srgbClr val="7EB8F7"/>
                </a:solidFill>
                <a:latin typeface="Space Grotesk"/>
              </a:rPr>
              <a:t>WEEKLY PERFORMANCE &amp; GROWTH REVIEW</a:t>
            </a:r>
          </a:p>
        </p:txBody>
      </p:sp>
      <p:sp>
        <p:nvSpPr>
          <p:cNvPr id="6" name="Shape 6"/>
          <p:cNvSpPr txBox="1"/>
          <p:nvPr/>
        </p:nvSpPr>
        <p:spPr>
          <a:xfrm>
            <a:off x="822960" y="2560320"/>
            <a:ext cx="10058400" cy="1097280"/>
          </a:xfrm>
          <a:prstGeom prst="rect">
            <a:avLst/>
          </a:prstGeom>
          <a:noFill/>
        </p:spPr>
        <p:txBody>
          <a:bodyPr wrap="square" lIns="36576" rIns="36576" tIns="18288" bIns="18288" anchor="t">
            <a:spAutoFit/>
          </a:bodyPr>
          <a:lstStyle/>
          <a:p>
            <a:pPr algn="l"/>
            <a:r>
              <a:rPr sz="6000" b="1">
                <a:solidFill>
                  <a:srgbClr val="FFFFFF"/>
                </a:solidFill>
                <a:latin typeface="Space Grotesk"/>
              </a:rPr>
              <a:t>Dormeo Canada</a:t>
            </a:r>
          </a:p>
        </p:txBody>
      </p:sp>
      <p:sp>
        <p:nvSpPr>
          <p:cNvPr id="7" name="Shape 7"/>
          <p:cNvSpPr txBox="1"/>
          <p:nvPr/>
        </p:nvSpPr>
        <p:spPr>
          <a:xfrm>
            <a:off x="822960" y="3703320"/>
            <a:ext cx="10058400" cy="457200"/>
          </a:xfrm>
          <a:prstGeom prst="rect">
            <a:avLst/>
          </a:prstGeom>
          <a:noFill/>
        </p:spPr>
        <p:txBody>
          <a:bodyPr wrap="square" lIns="36576" rIns="36576" tIns="18288" bIns="18288" anchor="t">
            <a:spAutoFit/>
          </a:bodyPr>
          <a:lstStyle/>
          <a:p>
            <a:pPr algn="l"/>
            <a:r>
              <a:rPr sz="2200" b="0">
                <a:solidFill>
                  <a:srgbClr val="FFFFFF"/>
                </a:solidFill>
                <a:latin typeface="Space Grotesk"/>
              </a:rPr>
              <a:t>Amazon Business Review · Week 43</a:t>
            </a:r>
          </a:p>
        </p:txBody>
      </p:sp>
      <p:sp>
        <p:nvSpPr>
          <p:cNvPr id="8" name="Shape 8"/>
          <p:cNvSpPr txBox="1"/>
          <p:nvPr/>
        </p:nvSpPr>
        <p:spPr>
          <a:xfrm>
            <a:off x="822960" y="4297680"/>
            <a:ext cx="10058400" cy="365760"/>
          </a:xfrm>
          <a:prstGeom prst="rect">
            <a:avLst/>
          </a:prstGeom>
          <a:noFill/>
        </p:spPr>
        <p:txBody>
          <a:bodyPr wrap="square" lIns="36576" rIns="36576" tIns="18288" bIns="18288" anchor="t">
            <a:spAutoFit/>
          </a:bodyPr>
          <a:lstStyle/>
          <a:p>
            <a:pPr algn="l"/>
            <a:r>
              <a:rPr sz="1400" b="0">
                <a:solidFill>
                  <a:srgbClr val="7EB8F7"/>
                </a:solidFill>
                <a:latin typeface="Inter"/>
              </a:rPr>
              <a:t>Week ending Saturday, October 24, 2026  ·  Oct 18–24, 2026</a:t>
            </a:r>
          </a:p>
        </p:txBody>
      </p:sp>
      <p:sp>
        <p:nvSpPr>
          <p:cNvPr id="9" name="Shape 9"/>
          <p:cNvSpPr txBox="1"/>
          <p:nvPr/>
        </p:nvSpPr>
        <p:spPr>
          <a:xfrm>
            <a:off x="822960" y="4754880"/>
            <a:ext cx="10058400" cy="365760"/>
          </a:xfrm>
          <a:prstGeom prst="rect">
            <a:avLst/>
          </a:prstGeom>
          <a:noFill/>
        </p:spPr>
        <p:txBody>
          <a:bodyPr wrap="square" lIns="36576" rIns="36576" tIns="18288" bIns="18288" anchor="t">
            <a:spAutoFit/>
          </a:bodyPr>
          <a:lstStyle/>
          <a:p>
            <a:pPr algn="l"/>
            <a:r>
              <a:rPr sz="1200" b="0">
                <a:solidFill>
                  <a:srgbClr val="7EB8F7"/>
                </a:solidFill>
                <a:latin typeface="Inter"/>
              </a:rPr>
              <a:t>All amounts in CAD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TODAY'S AGENDA</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What we'll cover</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2 / 17</a:t>
            </a:r>
          </a:p>
        </p:txBody>
      </p:sp>
      <p:sp>
        <p:nvSpPr>
          <p:cNvPr id="10" name="Shape 10"/>
          <p:cNvSpPr/>
          <p:nvPr/>
        </p:nvSpPr>
        <p:spPr>
          <a:xfrm>
            <a:off x="548640" y="1600200"/>
            <a:ext cx="3566160" cy="2011680"/>
          </a:xfrm>
          <a:prstGeom prst="roundRect">
            <a:avLst>
              <a:gd name="" fmla="val 6000"/>
            </a:avLst>
          </a:prstGeom>
          <a:solidFill>
            <a:srgbClr val="F6F3EC"/>
          </a:solidFill>
          <a:ln>
            <a:noFill/>
          </a:ln>
        </p:spPr>
      </p:sp>
      <p:sp>
        <p:nvSpPr>
          <p:cNvPr id="11" name="Shape 11"/>
          <p:cNvSpPr txBox="1"/>
          <p:nvPr/>
        </p:nvSpPr>
        <p:spPr>
          <a:xfrm>
            <a:off x="777240"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01</a:t>
            </a:r>
          </a:p>
        </p:txBody>
      </p:sp>
      <p:sp>
        <p:nvSpPr>
          <p:cNvPr id="12" name="Shape 12"/>
          <p:cNvSpPr txBox="1"/>
          <p:nvPr/>
        </p:nvSpPr>
        <p:spPr>
          <a:xfrm>
            <a:off x="777240"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overview</a:t>
            </a:r>
          </a:p>
        </p:txBody>
      </p:sp>
      <p:sp>
        <p:nvSpPr>
          <p:cNvPr id="13" name="Shape 13"/>
          <p:cNvSpPr txBox="1"/>
          <p:nvPr/>
        </p:nvSpPr>
        <p:spPr>
          <a:xfrm>
            <a:off x="777240"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Four-week channel performance, price and refunds</a:t>
            </a:r>
          </a:p>
        </p:txBody>
      </p:sp>
      <p:sp>
        <p:nvSpPr>
          <p:cNvPr id="14" name="Shape 14"/>
          <p:cNvSpPr/>
          <p:nvPr/>
        </p:nvSpPr>
        <p:spPr>
          <a:xfrm>
            <a:off x="4279392" y="1600200"/>
            <a:ext cx="3566160" cy="2011680"/>
          </a:xfrm>
          <a:prstGeom prst="roundRect">
            <a:avLst>
              <a:gd name="" fmla="val 6000"/>
            </a:avLst>
          </a:prstGeom>
          <a:solidFill>
            <a:srgbClr val="F6F3EC"/>
          </a:solidFill>
          <a:ln>
            <a:noFill/>
          </a:ln>
        </p:spPr>
      </p:sp>
      <p:sp>
        <p:nvSpPr>
          <p:cNvPr id="15" name="Shape 15"/>
          <p:cNvSpPr txBox="1"/>
          <p:nvPr/>
        </p:nvSpPr>
        <p:spPr>
          <a:xfrm>
            <a:off x="4507992"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02</a:t>
            </a:r>
          </a:p>
        </p:txBody>
      </p:sp>
      <p:sp>
        <p:nvSpPr>
          <p:cNvPr id="16" name="Shape 16"/>
          <p:cNvSpPr txBox="1"/>
          <p:nvPr/>
        </p:nvSpPr>
        <p:spPr>
          <a:xfrm>
            <a:off x="4507992"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pacing</a:t>
            </a:r>
          </a:p>
        </p:txBody>
      </p:sp>
      <p:sp>
        <p:nvSpPr>
          <p:cNvPr id="17" name="Shape 17"/>
          <p:cNvSpPr txBox="1"/>
          <p:nvPr/>
        </p:nvSpPr>
        <p:spPr>
          <a:xfrm>
            <a:off x="4507992"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October month to date vs last month and last year</a:t>
            </a:r>
          </a:p>
        </p:txBody>
      </p:sp>
      <p:sp>
        <p:nvSpPr>
          <p:cNvPr id="18" name="Shape 18"/>
          <p:cNvSpPr/>
          <p:nvPr/>
        </p:nvSpPr>
        <p:spPr>
          <a:xfrm>
            <a:off x="8010144" y="1600200"/>
            <a:ext cx="3566160" cy="2011680"/>
          </a:xfrm>
          <a:prstGeom prst="roundRect">
            <a:avLst>
              <a:gd name="" fmla="val 6000"/>
            </a:avLst>
          </a:prstGeom>
          <a:solidFill>
            <a:srgbClr val="F6F3EC"/>
          </a:solidFill>
          <a:ln>
            <a:noFill/>
          </a:ln>
        </p:spPr>
      </p:sp>
      <p:sp>
        <p:nvSpPr>
          <p:cNvPr id="19" name="Shape 19"/>
          <p:cNvSpPr txBox="1"/>
          <p:nvPr/>
        </p:nvSpPr>
        <p:spPr>
          <a:xfrm>
            <a:off x="8238744"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03</a:t>
            </a:r>
          </a:p>
        </p:txBody>
      </p:sp>
      <p:sp>
        <p:nvSpPr>
          <p:cNvPr id="20" name="Shape 20"/>
          <p:cNvSpPr txBox="1"/>
          <p:nvPr/>
        </p:nvSpPr>
        <p:spPr>
          <a:xfrm>
            <a:off x="8238744"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Amazon Ads results</a:t>
            </a:r>
          </a:p>
        </p:txBody>
      </p:sp>
      <p:sp>
        <p:nvSpPr>
          <p:cNvPr id="21" name="Shape 21"/>
          <p:cNvSpPr txBox="1"/>
          <p:nvPr/>
        </p:nvSpPr>
        <p:spPr>
          <a:xfrm>
            <a:off x="8238744"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Spend, efficiency, brand vs category, keywords</a:t>
            </a:r>
          </a:p>
        </p:txBody>
      </p:sp>
      <p:sp>
        <p:nvSpPr>
          <p:cNvPr id="22" name="Shape 22"/>
          <p:cNvSpPr/>
          <p:nvPr/>
        </p:nvSpPr>
        <p:spPr>
          <a:xfrm>
            <a:off x="548640" y="3840480"/>
            <a:ext cx="3566160" cy="2011680"/>
          </a:xfrm>
          <a:prstGeom prst="roundRect">
            <a:avLst>
              <a:gd name="" fmla="val 6000"/>
            </a:avLst>
          </a:prstGeom>
          <a:solidFill>
            <a:srgbClr val="F6F3EC"/>
          </a:solidFill>
          <a:ln>
            <a:noFill/>
          </a:ln>
        </p:spPr>
      </p:sp>
      <p:sp>
        <p:nvSpPr>
          <p:cNvPr id="23" name="Shape 23"/>
          <p:cNvSpPr txBox="1"/>
          <p:nvPr/>
        </p:nvSpPr>
        <p:spPr>
          <a:xfrm>
            <a:off x="777240"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04</a:t>
            </a:r>
          </a:p>
        </p:txBody>
      </p:sp>
      <p:sp>
        <p:nvSpPr>
          <p:cNvPr id="24" name="Shape 24"/>
          <p:cNvSpPr txBox="1"/>
          <p:nvPr/>
        </p:nvSpPr>
        <p:spPr>
          <a:xfrm>
            <a:off x="777240"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Marketing</a:t>
            </a:r>
          </a:p>
        </p:txBody>
      </p:sp>
      <p:sp>
        <p:nvSpPr>
          <p:cNvPr id="25" name="Shape 25"/>
          <p:cNvSpPr txBox="1"/>
          <p:nvPr/>
        </p:nvSpPr>
        <p:spPr>
          <a:xfrm>
            <a:off x="777240"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Coupons, promotions and upcoming events</a:t>
            </a:r>
          </a:p>
        </p:txBody>
      </p:sp>
      <p:sp>
        <p:nvSpPr>
          <p:cNvPr id="26" name="Shape 26"/>
          <p:cNvSpPr/>
          <p:nvPr/>
        </p:nvSpPr>
        <p:spPr>
          <a:xfrm>
            <a:off x="4279392" y="3840480"/>
            <a:ext cx="3566160" cy="2011680"/>
          </a:xfrm>
          <a:prstGeom prst="roundRect">
            <a:avLst>
              <a:gd name="" fmla="val 6000"/>
            </a:avLst>
          </a:prstGeom>
          <a:solidFill>
            <a:srgbClr val="F6F3EC"/>
          </a:solidFill>
          <a:ln>
            <a:noFill/>
          </a:ln>
        </p:spPr>
      </p:sp>
      <p:sp>
        <p:nvSpPr>
          <p:cNvPr id="27" name="Shape 27"/>
          <p:cNvSpPr txBox="1"/>
          <p:nvPr/>
        </p:nvSpPr>
        <p:spPr>
          <a:xfrm>
            <a:off x="4507992"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05</a:t>
            </a:r>
          </a:p>
        </p:txBody>
      </p:sp>
      <p:sp>
        <p:nvSpPr>
          <p:cNvPr id="28" name="Shape 28"/>
          <p:cNvSpPr txBox="1"/>
          <p:nvPr/>
        </p:nvSpPr>
        <p:spPr>
          <a:xfrm>
            <a:off x="4507992"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Inventory</a:t>
            </a:r>
          </a:p>
        </p:txBody>
      </p:sp>
      <p:sp>
        <p:nvSpPr>
          <p:cNvPr id="29" name="Shape 29"/>
          <p:cNvSpPr txBox="1"/>
          <p:nvPr/>
        </p:nvSpPr>
        <p:spPr>
          <a:xfrm>
            <a:off x="4507992"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Stock position, weeks of supply, restock risk</a:t>
            </a:r>
          </a:p>
        </p:txBody>
      </p:sp>
      <p:sp>
        <p:nvSpPr>
          <p:cNvPr id="30" name="Shape 30"/>
          <p:cNvSpPr/>
          <p:nvPr/>
        </p:nvSpPr>
        <p:spPr>
          <a:xfrm>
            <a:off x="8010144" y="3840480"/>
            <a:ext cx="3566160" cy="2011680"/>
          </a:xfrm>
          <a:prstGeom prst="roundRect">
            <a:avLst>
              <a:gd name="" fmla="val 6000"/>
            </a:avLst>
          </a:prstGeom>
          <a:solidFill>
            <a:srgbClr val="F6F3EC"/>
          </a:solidFill>
          <a:ln>
            <a:noFill/>
          </a:ln>
        </p:spPr>
      </p:sp>
      <p:sp>
        <p:nvSpPr>
          <p:cNvPr id="31" name="Shape 31"/>
          <p:cNvSpPr txBox="1"/>
          <p:nvPr/>
        </p:nvSpPr>
        <p:spPr>
          <a:xfrm>
            <a:off x="8238744"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06</a:t>
            </a:r>
          </a:p>
        </p:txBody>
      </p:sp>
      <p:sp>
        <p:nvSpPr>
          <p:cNvPr id="32" name="Shape 32"/>
          <p:cNvSpPr txBox="1"/>
          <p:nvPr/>
        </p:nvSpPr>
        <p:spPr>
          <a:xfrm>
            <a:off x="8238744"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Reviews &amp; account health</a:t>
            </a:r>
          </a:p>
        </p:txBody>
      </p:sp>
      <p:sp>
        <p:nvSpPr>
          <p:cNvPr id="33" name="Shape 33"/>
          <p:cNvSpPr txBox="1"/>
          <p:nvPr/>
        </p:nvSpPr>
        <p:spPr>
          <a:xfrm>
            <a:off x="8238744"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Ratings, alerts and Buy Box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OVERVIEW</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Amazon channel performance — last 4 weeks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3 / 17</a:t>
            </a:r>
          </a:p>
        </p:txBody>
      </p:sp>
      <p:graphicFrame>
        <p:nvGraphicFramePr>
          <p:cNvPr id="10" name="Shape 10"/>
          <p:cNvGraphicFramePr>
            <a:graphicFrameLocks noGrp="1"/>
          </p:cNvGraphicFramePr>
          <p:nvPr/>
        </p:nvGraphicFramePr>
        <p:xfrm>
          <a:off x="548640" y="1417320"/>
          <a:ext cx="11091672" cy="2194560"/>
        </p:xfrm>
        <a:graphic>
          <a:graphicData uri="http://schemas.openxmlformats.org/drawingml/2006/table">
            <a:tbl>
              <a:tblPr firstRow="1" bandRow="1">
                <a:tableStyleId>{5C22544A-7EE6-4342-B048-85BDC9FD1C3A}</a:tableStyleId>
              </a:tblPr>
              <a:tblGrid>
                <a:gridCol w="1920240"/>
                <a:gridCol w="2011680"/>
                <a:gridCol w="1371600"/>
                <a:gridCol w="1280160"/>
                <a:gridCol w="1737360"/>
                <a:gridCol w="1371600"/>
                <a:gridCol w="1399032"/>
              </a:tblGrid>
              <a:tr h="365760">
                <a:tc>
                  <a:txBody>
                    <a:bodyPr wrap="square"/>
                    <a:lstStyle/>
                    <a:p>
                      <a:pPr algn="l"/>
                      <a:r>
                        <a:rPr sz="1000" b="1">
                          <a:solidFill>
                            <a:srgbClr val="FFFFFF"/>
                          </a:solidFill>
                          <a:latin typeface="Inter"/>
                        </a:rPr>
                        <a:t>Week</a:t>
                      </a:r>
                    </a:p>
                  </a:txBody>
                  <a:tcPr marL="54864" marR="54864" marT="27432" marB="27432" anchor="ctr">
                    <a:solidFill>
                      <a:srgbClr val="0F172A"/>
                    </a:solidFill>
                  </a:tcPr>
                </a:tc>
                <a:tc>
                  <a:txBody>
                    <a:bodyPr wrap="square"/>
                    <a:lstStyle/>
                    <a:p>
                      <a:pPr algn="r"/>
                      <a:r>
                        <a:rPr sz="1000" b="1">
                          <a:solidFill>
                            <a:srgbClr val="FFFFFF"/>
                          </a:solidFill>
                          <a:latin typeface="Inter"/>
                        </a:rPr>
                        <a:t>Ordered product sales</a:t>
                      </a:r>
                    </a:p>
                  </a:txBody>
                  <a:tcPr marL="54864" marR="54864" marT="27432" marB="27432" anchor="ctr">
                    <a:solidFill>
                      <a:srgbClr val="0F172A"/>
                    </a:solidFill>
                  </a:tcPr>
                </a:tc>
                <a:tc>
                  <a:txBody>
                    <a:bodyPr wrap="square"/>
                    <a:lstStyle/>
                    <a:p>
                      <a:pPr algn="r"/>
                      <a:r>
                        <a:rPr sz="1000" b="1">
                          <a:solidFill>
                            <a:srgbClr val="FFFFFF"/>
                          </a:solidFill>
                          <a:latin typeface="Inter"/>
                        </a:rPr>
                        <a:t>Units ordered</a:t>
                      </a:r>
                    </a:p>
                  </a:txBody>
                  <a:tcPr marL="54864" marR="54864" marT="27432" marB="27432" anchor="ctr">
                    <a:solidFill>
                      <a:srgbClr val="0F172A"/>
                    </a:solidFill>
                  </a:tcPr>
                </a:tc>
                <a:tc>
                  <a:txBody>
                    <a:bodyPr wrap="square"/>
                    <a:lstStyle/>
                    <a:p>
                      <a:pPr algn="r"/>
                      <a:r>
                        <a:rPr sz="1000" b="1">
                          <a:solidFill>
                            <a:srgbClr val="FFFFFF"/>
                          </a:solidFill>
                          <a:latin typeface="Inter"/>
                        </a:rPr>
                        <a:t>ASP</a:t>
                      </a:r>
                    </a:p>
                  </a:txBody>
                  <a:tcPr marL="54864" marR="54864" marT="27432" marB="27432" anchor="ctr">
                    <a:solidFill>
                      <a:srgbClr val="0F172A"/>
                    </a:solidFill>
                  </a:tcPr>
                </a:tc>
                <a:tc>
                  <a:txBody>
                    <a:bodyPr wrap="square"/>
                    <a:lstStyle/>
                    <a:p>
                      <a:pPr algn="r"/>
                      <a:r>
                        <a:rPr sz="1000" b="1">
                          <a:solidFill>
                            <a:srgbClr val="FFFFFF"/>
                          </a:solidFill>
                          <a:latin typeface="Inter"/>
                        </a:rPr>
                        <a:t>Ad impressions</a:t>
                      </a:r>
                    </a:p>
                  </a:txBody>
                  <a:tcPr marL="54864" marR="54864" marT="27432" marB="27432" anchor="ctr">
                    <a:solidFill>
                      <a:srgbClr val="0F172A"/>
                    </a:solidFill>
                  </a:tcPr>
                </a:tc>
                <a:tc>
                  <a:txBody>
                    <a:bodyPr wrap="square"/>
                    <a:lstStyle/>
                    <a:p>
                      <a:pPr algn="r"/>
                      <a:r>
                        <a:rPr sz="1000" b="1">
                          <a:solidFill>
                            <a:srgbClr val="FFFFFF"/>
                          </a:solidFill>
                          <a:latin typeface="Inter"/>
                        </a:rPr>
                        <a:t>Units refunded</a:t>
                      </a:r>
                    </a:p>
                  </a:txBody>
                  <a:tcPr marL="54864" marR="54864" marT="27432" marB="27432" anchor="ctr">
                    <a:solidFill>
                      <a:srgbClr val="0F172A"/>
                    </a:solidFill>
                  </a:tcPr>
                </a:tc>
                <a:tc>
                  <a:txBody>
                    <a:bodyPr wrap="square"/>
                    <a:lstStyle/>
                    <a:p>
                      <a:pPr algn="r"/>
                      <a:r>
                        <a:rPr sz="1000" b="1">
                          <a:solidFill>
                            <a:srgbClr val="FFFFFF"/>
                          </a:solidFill>
                          <a:latin typeface="Inter"/>
                        </a:rPr>
                        <a:t>Refund rate</a:t>
                      </a:r>
                    </a:p>
                  </a:txBody>
                  <a:tcPr marL="54864" marR="54864" marT="27432" marB="27432" anchor="ctr">
                    <a:solidFill>
                      <a:srgbClr val="0F172A"/>
                    </a:solidFill>
                  </a:tcPr>
                </a:tc>
              </a:tr>
              <a:tr h="365760">
                <a:tc>
                  <a:txBody>
                    <a:bodyPr wrap="square"/>
                    <a:lstStyle/>
                    <a:p>
                      <a:pPr algn="l"/>
                      <a:r>
                        <a:rPr sz="1100" b="0">
                          <a:solidFill>
                            <a:srgbClr val="0F172A"/>
                          </a:solidFill>
                          <a:latin typeface="Inter"/>
                        </a:rPr>
                        <a:t>Sep 27 – Oct 3</a:t>
                      </a:r>
                    </a:p>
                  </a:txBody>
                  <a:tcPr marL="54864" marR="54864" marT="27432" marB="27432" anchor="ctr">
                    <a:solidFill>
                      <a:srgbClr val="FFFFFF"/>
                    </a:solidFill>
                  </a:tcPr>
                </a:tc>
                <a:tc>
                  <a:txBody>
                    <a:bodyPr wrap="square"/>
                    <a:lstStyle/>
                    <a:p>
                      <a:pPr algn="r"/>
                      <a:r>
                        <a:rPr sz="1100" b="0">
                          <a:solidFill>
                            <a:srgbClr val="0F172A"/>
                          </a:solidFill>
                          <a:latin typeface="Inter"/>
                        </a:rPr>
                        <a:t>$59,700</a:t>
                      </a:r>
                    </a:p>
                  </a:txBody>
                  <a:tcPr marL="54864" marR="54864" marT="27432" marB="27432" anchor="ctr">
                    <a:solidFill>
                      <a:srgbClr val="FFFFFF"/>
                    </a:solidFill>
                  </a:tcPr>
                </a:tc>
                <a:tc>
                  <a:txBody>
                    <a:bodyPr wrap="square"/>
                    <a:lstStyle/>
                    <a:p>
                      <a:pPr algn="r"/>
                      <a:r>
                        <a:rPr sz="1100" b="0">
                          <a:solidFill>
                            <a:srgbClr val="0F172A"/>
                          </a:solidFill>
                          <a:latin typeface="Inter"/>
                        </a:rPr>
                        <a:t>117</a:t>
                      </a:r>
                    </a:p>
                  </a:txBody>
                  <a:tcPr marL="54864" marR="54864" marT="27432" marB="27432" anchor="ctr">
                    <a:solidFill>
                      <a:srgbClr val="FFFFFF"/>
                    </a:solidFill>
                  </a:tcPr>
                </a:tc>
                <a:tc>
                  <a:txBody>
                    <a:bodyPr wrap="square"/>
                    <a:lstStyle/>
                    <a:p>
                      <a:pPr algn="r"/>
                      <a:r>
                        <a:rPr sz="1100" b="0">
                          <a:solidFill>
                            <a:srgbClr val="0F172A"/>
                          </a:solidFill>
                          <a:latin typeface="Inter"/>
                        </a:rPr>
                        <a:t>$510</a:t>
                      </a:r>
                    </a:p>
                  </a:txBody>
                  <a:tcPr marL="54864" marR="54864" marT="27432" marB="27432" anchor="ctr">
                    <a:solidFill>
                      <a:srgbClr val="FFFFFF"/>
                    </a:solidFill>
                  </a:tcPr>
                </a:tc>
                <a:tc>
                  <a:txBody>
                    <a:bodyPr wrap="square"/>
                    <a:lstStyle/>
                    <a:p>
                      <a:pPr algn="r"/>
                      <a:r>
                        <a:rPr sz="1100" b="0">
                          <a:solidFill>
                            <a:srgbClr val="0F172A"/>
                          </a:solidFill>
                          <a:latin typeface="Inter"/>
                        </a:rPr>
                        <a:t>693,747</a:t>
                      </a:r>
                    </a:p>
                  </a:txBody>
                  <a:tcPr marL="54864" marR="54864" marT="27432" marB="27432" anchor="ctr">
                    <a:solidFill>
                      <a:srgbClr val="FFFFFF"/>
                    </a:solidFill>
                  </a:tcPr>
                </a:tc>
                <a:tc>
                  <a:txBody>
                    <a:bodyPr wrap="square"/>
                    <a:lstStyle/>
                    <a:p>
                      <a:pPr algn="r"/>
                      <a:r>
                        <a:rPr sz="1100" b="0">
                          <a:solidFill>
                            <a:srgbClr val="0F172A"/>
                          </a:solidFill>
                          <a:latin typeface="Inter"/>
                        </a:rPr>
                        <a:t>8</a:t>
                      </a:r>
                    </a:p>
                  </a:txBody>
                  <a:tcPr marL="54864" marR="54864" marT="27432" marB="27432" anchor="ctr">
                    <a:solidFill>
                      <a:srgbClr val="FFFFFF"/>
                    </a:solidFill>
                  </a:tcPr>
                </a:tc>
                <a:tc>
                  <a:txBody>
                    <a:bodyPr wrap="square"/>
                    <a:lstStyle/>
                    <a:p>
                      <a:pPr algn="r"/>
                      <a:r>
                        <a:rPr sz="1100" b="0">
                          <a:solidFill>
                            <a:srgbClr val="0F172A"/>
                          </a:solidFill>
                          <a:latin typeface="Inter"/>
                        </a:rPr>
                        <a:t>6.96%</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4 – 10</a:t>
                      </a:r>
                    </a:p>
                  </a:txBody>
                  <a:tcPr marL="54864" marR="54864" marT="27432" marB="27432" anchor="ctr">
                    <a:solidFill>
                      <a:srgbClr val="FBFAF7"/>
                    </a:solidFill>
                  </a:tcPr>
                </a:tc>
                <a:tc>
                  <a:txBody>
                    <a:bodyPr wrap="square"/>
                    <a:lstStyle/>
                    <a:p>
                      <a:pPr algn="r"/>
                      <a:r>
                        <a:rPr sz="1100" b="0">
                          <a:solidFill>
                            <a:srgbClr val="0F172A"/>
                          </a:solidFill>
                          <a:latin typeface="Inter"/>
                        </a:rPr>
                        <a:t>$118,943</a:t>
                      </a:r>
                    </a:p>
                  </a:txBody>
                  <a:tcPr marL="54864" marR="54864" marT="27432" marB="27432" anchor="ctr">
                    <a:solidFill>
                      <a:srgbClr val="FBFAF7"/>
                    </a:solidFill>
                  </a:tcPr>
                </a:tc>
                <a:tc>
                  <a:txBody>
                    <a:bodyPr wrap="square"/>
                    <a:lstStyle/>
                    <a:p>
                      <a:pPr algn="r"/>
                      <a:r>
                        <a:rPr sz="1100" b="0">
                          <a:solidFill>
                            <a:srgbClr val="0F172A"/>
                          </a:solidFill>
                          <a:latin typeface="Inter"/>
                        </a:rPr>
                        <a:t>277</a:t>
                      </a:r>
                    </a:p>
                  </a:txBody>
                  <a:tcPr marL="54864" marR="54864" marT="27432" marB="27432" anchor="ctr">
                    <a:solidFill>
                      <a:srgbClr val="FBFAF7"/>
                    </a:solidFill>
                  </a:tcPr>
                </a:tc>
                <a:tc>
                  <a:txBody>
                    <a:bodyPr wrap="square"/>
                    <a:lstStyle/>
                    <a:p>
                      <a:pPr algn="r"/>
                      <a:r>
                        <a:rPr sz="1100" b="0">
                          <a:solidFill>
                            <a:srgbClr val="0F172A"/>
                          </a:solidFill>
                          <a:latin typeface="Inter"/>
                        </a:rPr>
                        <a:t>$429</a:t>
                      </a:r>
                    </a:p>
                  </a:txBody>
                  <a:tcPr marL="54864" marR="54864" marT="27432" marB="27432" anchor="ctr">
                    <a:solidFill>
                      <a:srgbClr val="FBFAF7"/>
                    </a:solidFill>
                  </a:tcPr>
                </a:tc>
                <a:tc>
                  <a:txBody>
                    <a:bodyPr wrap="square"/>
                    <a:lstStyle/>
                    <a:p>
                      <a:pPr algn="r"/>
                      <a:r>
                        <a:rPr sz="1100" b="0">
                          <a:solidFill>
                            <a:srgbClr val="0F172A"/>
                          </a:solidFill>
                          <a:latin typeface="Inter"/>
                        </a:rPr>
                        <a:t>1,296,298</a:t>
                      </a:r>
                    </a:p>
                  </a:txBody>
                  <a:tcPr marL="54864" marR="54864" marT="27432" marB="27432" anchor="ctr">
                    <a:solidFill>
                      <a:srgbClr val="FBFAF7"/>
                    </a:solidFill>
                  </a:tcPr>
                </a:tc>
                <a:tc>
                  <a:txBody>
                    <a:bodyPr wrap="square"/>
                    <a:lstStyle/>
                    <a:p>
                      <a:pPr algn="r"/>
                      <a:r>
                        <a:rPr sz="1100" b="0">
                          <a:solidFill>
                            <a:srgbClr val="0F172A"/>
                          </a:solidFill>
                          <a:latin typeface="Inter"/>
                        </a:rPr>
                        <a:t>8</a:t>
                      </a:r>
                    </a:p>
                  </a:txBody>
                  <a:tcPr marL="54864" marR="54864" marT="27432" marB="27432" anchor="ctr">
                    <a:solidFill>
                      <a:srgbClr val="FBFAF7"/>
                    </a:solidFill>
                  </a:tcPr>
                </a:tc>
                <a:tc>
                  <a:txBody>
                    <a:bodyPr wrap="square"/>
                    <a:lstStyle/>
                    <a:p>
                      <a:pPr algn="r"/>
                      <a:r>
                        <a:rPr sz="1100" b="0">
                          <a:solidFill>
                            <a:srgbClr val="0F172A"/>
                          </a:solidFill>
                          <a:latin typeface="Inter"/>
                        </a:rPr>
                        <a:t>2.93%</a:t>
                      </a:r>
                    </a:p>
                  </a:txBody>
                  <a:tcPr marL="54864" marR="54864" marT="27432" marB="27432" anchor="ctr">
                    <a:solidFill>
                      <a:srgbClr val="FBFAF7"/>
                    </a:solidFill>
                  </a:tcPr>
                </a:tc>
              </a:tr>
              <a:tr h="365760">
                <a:tc>
                  <a:txBody>
                    <a:bodyPr wrap="square"/>
                    <a:lstStyle/>
                    <a:p>
                      <a:pPr algn="l"/>
                      <a:r>
                        <a:rPr sz="1100" b="0">
                          <a:solidFill>
                            <a:srgbClr val="0F172A"/>
                          </a:solidFill>
                          <a:latin typeface="Inter"/>
                        </a:rPr>
                        <a:t>Oct 11 – 17</a:t>
                      </a:r>
                    </a:p>
                  </a:txBody>
                  <a:tcPr marL="54864" marR="54864" marT="27432" marB="27432" anchor="ctr">
                    <a:solidFill>
                      <a:srgbClr val="FFFFFF"/>
                    </a:solidFill>
                  </a:tcPr>
                </a:tc>
                <a:tc>
                  <a:txBody>
                    <a:bodyPr wrap="square"/>
                    <a:lstStyle/>
                    <a:p>
                      <a:pPr algn="r"/>
                      <a:r>
                        <a:rPr sz="1100" b="0">
                          <a:solidFill>
                            <a:srgbClr val="0F172A"/>
                          </a:solidFill>
                          <a:latin typeface="Inter"/>
                        </a:rPr>
                        <a:t>$47,564</a:t>
                      </a:r>
                    </a:p>
                  </a:txBody>
                  <a:tcPr marL="54864" marR="54864" marT="27432" marB="27432" anchor="ctr">
                    <a:solidFill>
                      <a:srgbClr val="FFFFFF"/>
                    </a:solidFill>
                  </a:tcPr>
                </a:tc>
                <a:tc>
                  <a:txBody>
                    <a:bodyPr wrap="square"/>
                    <a:lstStyle/>
                    <a:p>
                      <a:pPr algn="r"/>
                      <a:r>
                        <a:rPr sz="1100" b="0">
                          <a:solidFill>
                            <a:srgbClr val="0F172A"/>
                          </a:solidFill>
                          <a:latin typeface="Inter"/>
                        </a:rPr>
                        <a:t>116</a:t>
                      </a:r>
                    </a:p>
                  </a:txBody>
                  <a:tcPr marL="54864" marR="54864" marT="27432" marB="27432" anchor="ctr">
                    <a:solidFill>
                      <a:srgbClr val="FFFFFF"/>
                    </a:solidFill>
                  </a:tcPr>
                </a:tc>
                <a:tc>
                  <a:txBody>
                    <a:bodyPr wrap="square"/>
                    <a:lstStyle/>
                    <a:p>
                      <a:pPr algn="r"/>
                      <a:r>
                        <a:rPr sz="1100" b="0">
                          <a:solidFill>
                            <a:srgbClr val="0F172A"/>
                          </a:solidFill>
                          <a:latin typeface="Inter"/>
                        </a:rPr>
                        <a:t>$410</a:t>
                      </a:r>
                    </a:p>
                  </a:txBody>
                  <a:tcPr marL="54864" marR="54864" marT="27432" marB="27432" anchor="ctr">
                    <a:solidFill>
                      <a:srgbClr val="FFFFFF"/>
                    </a:solidFill>
                  </a:tcPr>
                </a:tc>
                <a:tc>
                  <a:txBody>
                    <a:bodyPr wrap="square"/>
                    <a:lstStyle/>
                    <a:p>
                      <a:pPr algn="r"/>
                      <a:r>
                        <a:rPr sz="1100" b="0">
                          <a:solidFill>
                            <a:srgbClr val="0F172A"/>
                          </a:solidFill>
                          <a:latin typeface="Inter"/>
                        </a:rPr>
                        <a:t>682,497</a:t>
                      </a:r>
                    </a:p>
                  </a:txBody>
                  <a:tcPr marL="54864" marR="54864" marT="27432" marB="27432" anchor="ctr">
                    <a:solidFill>
                      <a:srgbClr val="FFFFFF"/>
                    </a:solidFill>
                  </a:tcPr>
                </a:tc>
                <a:tc>
                  <a:txBody>
                    <a:bodyPr wrap="square"/>
                    <a:lstStyle/>
                    <a:p>
                      <a:pPr algn="r"/>
                      <a:r>
                        <a:rPr sz="1100" b="0">
                          <a:solidFill>
                            <a:srgbClr val="0F172A"/>
                          </a:solidFill>
                          <a:latin typeface="Inter"/>
                        </a:rPr>
                        <a:t>23</a:t>
                      </a:r>
                    </a:p>
                  </a:txBody>
                  <a:tcPr marL="54864" marR="54864" marT="27432" marB="27432" anchor="ctr">
                    <a:solidFill>
                      <a:srgbClr val="FFFFFF"/>
                    </a:solidFill>
                  </a:tcPr>
                </a:tc>
                <a:tc>
                  <a:txBody>
                    <a:bodyPr wrap="square"/>
                    <a:lstStyle/>
                    <a:p>
                      <a:pPr algn="r"/>
                      <a:r>
                        <a:rPr sz="1100" b="0">
                          <a:solidFill>
                            <a:srgbClr val="0F172A"/>
                          </a:solidFill>
                          <a:latin typeface="Inter"/>
                        </a:rPr>
                        <a:t>20.54%</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18 – 24</a:t>
                      </a:r>
                    </a:p>
                  </a:txBody>
                  <a:tcPr marL="54864" marR="54864" marT="27432" marB="27432" anchor="ctr">
                    <a:solidFill>
                      <a:srgbClr val="FBFAF7"/>
                    </a:solidFill>
                  </a:tcPr>
                </a:tc>
                <a:tc>
                  <a:txBody>
                    <a:bodyPr wrap="square"/>
                    <a:lstStyle/>
                    <a:p>
                      <a:pPr algn="r"/>
                      <a:r>
                        <a:rPr sz="1100" b="0">
                          <a:solidFill>
                            <a:srgbClr val="0F172A"/>
                          </a:solidFill>
                          <a:latin typeface="Inter"/>
                        </a:rPr>
                        <a:t>$57,663</a:t>
                      </a:r>
                    </a:p>
                  </a:txBody>
                  <a:tcPr marL="54864" marR="54864" marT="27432" marB="27432" anchor="ctr">
                    <a:solidFill>
                      <a:srgbClr val="FBFAF7"/>
                    </a:solidFill>
                  </a:tcPr>
                </a:tc>
                <a:tc>
                  <a:txBody>
                    <a:bodyPr wrap="square"/>
                    <a:lstStyle/>
                    <a:p>
                      <a:pPr algn="r"/>
                      <a:r>
                        <a:rPr sz="1100" b="0">
                          <a:solidFill>
                            <a:srgbClr val="0F172A"/>
                          </a:solidFill>
                          <a:latin typeface="Inter"/>
                        </a:rPr>
                        <a:t>118</a:t>
                      </a:r>
                    </a:p>
                  </a:txBody>
                  <a:tcPr marL="54864" marR="54864" marT="27432" marB="27432" anchor="ctr">
                    <a:solidFill>
                      <a:srgbClr val="FBFAF7"/>
                    </a:solidFill>
                  </a:tcPr>
                </a:tc>
                <a:tc>
                  <a:txBody>
                    <a:bodyPr wrap="square"/>
                    <a:lstStyle/>
                    <a:p>
                      <a:pPr algn="r"/>
                      <a:r>
                        <a:rPr sz="1100" b="0">
                          <a:solidFill>
                            <a:srgbClr val="0F172A"/>
                          </a:solidFill>
                          <a:latin typeface="Inter"/>
                        </a:rPr>
                        <a:t>$489</a:t>
                      </a:r>
                    </a:p>
                  </a:txBody>
                  <a:tcPr marL="54864" marR="54864" marT="27432" marB="27432" anchor="ctr">
                    <a:solidFill>
                      <a:srgbClr val="FBFAF7"/>
                    </a:solidFill>
                  </a:tcPr>
                </a:tc>
                <a:tc>
                  <a:txBody>
                    <a:bodyPr wrap="square"/>
                    <a:lstStyle/>
                    <a:p>
                      <a:pPr algn="r"/>
                      <a:r>
                        <a:rPr sz="1100" b="0">
                          <a:solidFill>
                            <a:srgbClr val="0F172A"/>
                          </a:solidFill>
                          <a:latin typeface="Inter"/>
                        </a:rPr>
                        <a:t>559,135</a:t>
                      </a:r>
                    </a:p>
                  </a:txBody>
                  <a:tcPr marL="54864" marR="54864" marT="27432" marB="27432" anchor="ctr">
                    <a:solidFill>
                      <a:srgbClr val="FBFAF7"/>
                    </a:solidFill>
                  </a:tcPr>
                </a:tc>
                <a:tc>
                  <a:txBody>
                    <a:bodyPr wrap="square"/>
                    <a:lstStyle/>
                    <a:p>
                      <a:pPr algn="r"/>
                      <a:r>
                        <a:rPr sz="1100" b="0">
                          <a:solidFill>
                            <a:srgbClr val="0F172A"/>
                          </a:solidFill>
                          <a:latin typeface="Inter"/>
                        </a:rPr>
                        <a:t>12</a:t>
                      </a:r>
                    </a:p>
                  </a:txBody>
                  <a:tcPr marL="54864" marR="54864" marT="27432" marB="27432" anchor="ctr">
                    <a:solidFill>
                      <a:srgbClr val="FBFAF7"/>
                    </a:solidFill>
                  </a:tcPr>
                </a:tc>
                <a:tc>
                  <a:txBody>
                    <a:bodyPr wrap="square"/>
                    <a:lstStyle/>
                    <a:p>
                      <a:pPr algn="r"/>
                      <a:r>
                        <a:rPr sz="1100" b="0">
                          <a:solidFill>
                            <a:srgbClr val="DC2626"/>
                          </a:solidFill>
                          <a:latin typeface="Inter"/>
                        </a:rPr>
                        <a:t>10.43%</a:t>
                      </a:r>
                    </a:p>
                  </a:txBody>
                  <a:tcPr marL="54864" marR="54864" marT="27432" marB="27432" anchor="ctr">
                    <a:solidFill>
                      <a:srgbClr val="FBFAF7"/>
                    </a:solidFill>
                  </a:tcPr>
                </a:tc>
              </a:tr>
              <a:tr h="365760">
                <a:tc>
                  <a:txBody>
                    <a:bodyPr wrap="square"/>
                    <a:lstStyle/>
                    <a:p>
                      <a:pPr algn="l"/>
                      <a:r>
                        <a:rPr sz="1100" b="1">
                          <a:solidFill>
                            <a:srgbClr val="0F172A"/>
                          </a:solidFill>
                          <a:latin typeface="Inter"/>
                        </a:rPr>
                        <a:t>4-week total</a:t>
                      </a:r>
                    </a:p>
                  </a:txBody>
                  <a:tcPr marL="54864" marR="54864" marT="27432" marB="27432" anchor="ctr">
                    <a:solidFill>
                      <a:srgbClr val="F6F3EC"/>
                    </a:solidFill>
                  </a:tcPr>
                </a:tc>
                <a:tc>
                  <a:txBody>
                    <a:bodyPr wrap="square"/>
                    <a:lstStyle/>
                    <a:p>
                      <a:pPr algn="r"/>
                      <a:r>
                        <a:rPr sz="1100" b="1">
                          <a:solidFill>
                            <a:srgbClr val="0F172A"/>
                          </a:solidFill>
                          <a:latin typeface="Inter"/>
                        </a:rPr>
                        <a:t>$283,870</a:t>
                      </a:r>
                    </a:p>
                  </a:txBody>
                  <a:tcPr marL="54864" marR="54864" marT="27432" marB="27432" anchor="ctr">
                    <a:solidFill>
                      <a:srgbClr val="F6F3EC"/>
                    </a:solidFill>
                  </a:tcPr>
                </a:tc>
                <a:tc>
                  <a:txBody>
                    <a:bodyPr wrap="square"/>
                    <a:lstStyle/>
                    <a:p>
                      <a:pPr algn="r"/>
                      <a:r>
                        <a:rPr sz="1100" b="1">
                          <a:solidFill>
                            <a:srgbClr val="0F172A"/>
                          </a:solidFill>
                          <a:latin typeface="Inter"/>
                        </a:rPr>
                        <a:t>628</a:t>
                      </a:r>
                    </a:p>
                  </a:txBody>
                  <a:tcPr marL="54864" marR="54864" marT="27432" marB="27432" anchor="ctr">
                    <a:solidFill>
                      <a:srgbClr val="F6F3EC"/>
                    </a:solidFill>
                  </a:tcPr>
                </a:tc>
                <a:tc>
                  <a:txBody>
                    <a:bodyPr wrap="square"/>
                    <a:lstStyle/>
                    <a:p>
                      <a:pPr algn="r"/>
                      <a:r>
                        <a:rPr sz="1100" b="1">
                          <a:solidFill>
                            <a:srgbClr val="0F172A"/>
                          </a:solidFill>
                          <a:latin typeface="Inter"/>
                        </a:rPr>
                        <a:t>$452</a:t>
                      </a:r>
                    </a:p>
                  </a:txBody>
                  <a:tcPr marL="54864" marR="54864" marT="27432" marB="27432" anchor="ctr">
                    <a:solidFill>
                      <a:srgbClr val="F6F3EC"/>
                    </a:solidFill>
                  </a:tcPr>
                </a:tc>
                <a:tc>
                  <a:txBody>
                    <a:bodyPr wrap="square"/>
                    <a:lstStyle/>
                    <a:p>
                      <a:pPr algn="r"/>
                      <a:r>
                        <a:rPr sz="1100" b="1">
                          <a:solidFill>
                            <a:srgbClr val="0F172A"/>
                          </a:solidFill>
                          <a:latin typeface="Inter"/>
                        </a:rPr>
                        <a:t>3,231,677</a:t>
                      </a:r>
                    </a:p>
                  </a:txBody>
                  <a:tcPr marL="54864" marR="54864" marT="27432" marB="27432" anchor="ctr">
                    <a:solidFill>
                      <a:srgbClr val="F6F3EC"/>
                    </a:solidFill>
                  </a:tcPr>
                </a:tc>
                <a:tc>
                  <a:txBody>
                    <a:bodyPr wrap="square"/>
                    <a:lstStyle/>
                    <a:p>
                      <a:pPr algn="r"/>
                      <a:r>
                        <a:rPr sz="1100" b="1">
                          <a:solidFill>
                            <a:srgbClr val="0F172A"/>
                          </a:solidFill>
                          <a:latin typeface="Inter"/>
                        </a:rPr>
                        <a:t>51</a:t>
                      </a:r>
                    </a:p>
                  </a:txBody>
                  <a:tcPr marL="54864" marR="54864" marT="27432" marB="27432" anchor="ctr">
                    <a:solidFill>
                      <a:srgbClr val="F6F3EC"/>
                    </a:solidFill>
                  </a:tcPr>
                </a:tc>
                <a:tc>
                  <a:txBody>
                    <a:bodyPr wrap="square"/>
                    <a:lstStyle/>
                    <a:p>
                      <a:pPr algn="r"/>
                      <a:r>
                        <a:rPr sz="1100" b="1">
                          <a:solidFill>
                            <a:srgbClr val="0F172A"/>
                          </a:solidFill>
                          <a:latin typeface="Inter"/>
                        </a:rPr>
                        <a:t>—</a:t>
                      </a:r>
                    </a:p>
                  </a:txBody>
                  <a:tcPr marL="54864" marR="54864" marT="27432" marB="27432" anchor="ctr">
                    <a:solidFill>
                      <a:srgbClr val="F6F3EC"/>
                    </a:solidFill>
                  </a:tcPr>
                </a:tc>
              </a:tr>
            </a:tbl>
          </a:graphicData>
        </a:graphic>
      </p:graphicFrame>
      <p:sp>
        <p:nvSpPr>
          <p:cNvPr id="11" name="Shape 11"/>
          <p:cNvSpPr/>
          <p:nvPr/>
        </p:nvSpPr>
        <p:spPr>
          <a:xfrm>
            <a:off x="548640" y="3886200"/>
            <a:ext cx="5440680" cy="2331720"/>
          </a:xfrm>
          <a:prstGeom prst="roundRect">
            <a:avLst>
              <a:gd name="" fmla="val 6000"/>
            </a:avLst>
          </a:prstGeom>
          <a:solidFill>
            <a:srgbClr val="FFFFFF"/>
          </a:solidFill>
          <a:ln w="9525">
            <a:solidFill>
              <a:srgbClr val="E5E0D6"/>
            </a:solidFill>
          </a:ln>
        </p:spPr>
      </p:sp>
      <p:sp>
        <p:nvSpPr>
          <p:cNvPr id="12" name="Shape 12"/>
          <p:cNvSpPr txBox="1"/>
          <p:nvPr/>
        </p:nvSpPr>
        <p:spPr>
          <a:xfrm>
            <a:off x="731520"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happened this week</a:t>
            </a:r>
          </a:p>
        </p:txBody>
      </p:sp>
      <p:sp>
        <p:nvSpPr>
          <p:cNvPr id="13" name="Shape 13"/>
          <p:cNvSpPr txBox="1"/>
          <p:nvPr/>
        </p:nvSpPr>
        <p:spPr>
          <a:xfrm>
            <a:off x="731520"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Sales were $57,663, +21% vs the prior week ($47,564), on 118 units (+2%).</a:t>
            </a:r>
          </a:p>
          <a:p>
            <a:pPr algn="l">
              <a:spcAft>
                <a:spcPts val="500"/>
              </a:spcAft>
            </a:pPr>
            <a:r>
              <a:rPr sz="1100" b="0">
                <a:solidFill>
                  <a:srgbClr val="334155"/>
                </a:solidFill>
                <a:latin typeface="Inter"/>
              </a:rPr>
              <a:t>Octaspring Queen drove the week: 43 units vs 23 the week before (+91%), almost half of all sales.</a:t>
            </a:r>
          </a:p>
        </p:txBody>
      </p:sp>
      <p:sp>
        <p:nvSpPr>
          <p:cNvPr id="14" name="Shape 14"/>
          <p:cNvSpPr/>
          <p:nvPr/>
        </p:nvSpPr>
        <p:spPr>
          <a:xfrm>
            <a:off x="6199632" y="3886200"/>
            <a:ext cx="5440680" cy="2331720"/>
          </a:xfrm>
          <a:prstGeom prst="roundRect">
            <a:avLst>
              <a:gd name="" fmla="val 6000"/>
            </a:avLst>
          </a:prstGeom>
          <a:solidFill>
            <a:srgbClr val="FFFFFF"/>
          </a:solidFill>
          <a:ln w="9525">
            <a:solidFill>
              <a:srgbClr val="E5E0D6"/>
            </a:solidFill>
          </a:ln>
        </p:spPr>
      </p:sp>
      <p:sp>
        <p:nvSpPr>
          <p:cNvPr id="15" name="Shape 15"/>
          <p:cNvSpPr txBox="1"/>
          <p:nvPr/>
        </p:nvSpPr>
        <p:spPr>
          <a:xfrm>
            <a:off x="6382512"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Refunds eased</a:t>
            </a:r>
          </a:p>
        </p:txBody>
      </p:sp>
      <p:sp>
        <p:nvSpPr>
          <p:cNvPr id="16" name="Shape 16"/>
          <p:cNvSpPr txBox="1"/>
          <p:nvPr/>
        </p:nvSpPr>
        <p:spPr>
          <a:xfrm>
            <a:off x="6382512"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12 units were refunded this week (10.4% refund rate), vs 23 (20.5%) the week before.</a:t>
            </a:r>
          </a:p>
          <a:p>
            <a:pPr algn="l">
              <a:spcAft>
                <a:spcPts val="500"/>
              </a:spcAft>
            </a:pPr>
            <a:r>
              <a:rPr sz="1100" b="0">
                <a:solidFill>
                  <a:srgbClr val="334155"/>
                </a:solidFill>
                <a:latin typeface="Inter"/>
              </a:rPr>
              <a:t>Last week's spike was mostly the Queen and Twin XL toppers (6 refunded units each), largely Prime Big Deal Days orders coming back. This week King had the most refunds (4 units).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October month to date</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4 / 17</a:t>
            </a:r>
          </a:p>
        </p:txBody>
      </p:sp>
      <p:sp>
        <p:nvSpPr>
          <p:cNvPr id="10" name="Shape 10"/>
          <p:cNvSpPr/>
          <p:nvPr/>
        </p:nvSpPr>
        <p:spPr>
          <a:xfrm>
            <a:off x="548640" y="1417320"/>
            <a:ext cx="2651760" cy="1554480"/>
          </a:xfrm>
          <a:prstGeom prst="roundRect">
            <a:avLst>
              <a:gd name="" fmla="val 6000"/>
            </a:avLst>
          </a:prstGeom>
          <a:solidFill>
            <a:srgbClr val="F6F3EC"/>
          </a:solidFill>
          <a:ln>
            <a:noFill/>
          </a:ln>
        </p:spPr>
      </p:sp>
      <p:sp>
        <p:nvSpPr>
          <p:cNvPr id="11" name="Shape 11"/>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REVENUE</a:t>
            </a:r>
          </a:p>
        </p:txBody>
      </p:sp>
      <p:sp>
        <p:nvSpPr>
          <p:cNvPr id="12" name="Shape 12"/>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$260.5K</a:t>
            </a:r>
          </a:p>
        </p:txBody>
      </p:sp>
      <p:sp>
        <p:nvSpPr>
          <p:cNvPr id="13" name="Shape 13"/>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Oct 1–25 · 574 orders</a:t>
            </a:r>
          </a:p>
        </p:txBody>
      </p:sp>
      <p:sp>
        <p:nvSpPr>
          <p:cNvPr id="14" name="Shape 14"/>
          <p:cNvSpPr/>
          <p:nvPr/>
        </p:nvSpPr>
        <p:spPr>
          <a:xfrm>
            <a:off x="3364992" y="1417320"/>
            <a:ext cx="2651760" cy="1554480"/>
          </a:xfrm>
          <a:prstGeom prst="roundRect">
            <a:avLst>
              <a:gd name="" fmla="val 6000"/>
            </a:avLst>
          </a:prstGeom>
          <a:solidFill>
            <a:srgbClr val="F6F3EC"/>
          </a:solidFill>
          <a:ln>
            <a:noFill/>
          </a:ln>
        </p:spPr>
      </p:sp>
      <p:sp>
        <p:nvSpPr>
          <p:cNvPr id="15" name="Shape 15"/>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6" name="Shape 16"/>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$18.4K</a:t>
            </a:r>
          </a:p>
        </p:txBody>
      </p:sp>
      <p:sp>
        <p:nvSpPr>
          <p:cNvPr id="17" name="Shape 17"/>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ACoS 10.9%</a:t>
            </a:r>
          </a:p>
        </p:txBody>
      </p:sp>
      <p:sp>
        <p:nvSpPr>
          <p:cNvPr id="18" name="Shape 18"/>
          <p:cNvSpPr/>
          <p:nvPr/>
        </p:nvSpPr>
        <p:spPr>
          <a:xfrm>
            <a:off x="6181344" y="1417320"/>
            <a:ext cx="2651760" cy="1554480"/>
          </a:xfrm>
          <a:prstGeom prst="roundRect">
            <a:avLst>
              <a:gd name="" fmla="val 6000"/>
            </a:avLst>
          </a:prstGeom>
          <a:solidFill>
            <a:srgbClr val="F6F3EC"/>
          </a:solidFill>
          <a:ln>
            <a:noFill/>
          </a:ln>
        </p:spPr>
      </p:sp>
      <p:sp>
        <p:nvSpPr>
          <p:cNvPr id="19" name="Shape 19"/>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Shape 20"/>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a:t>
            </a:r>
          </a:p>
        </p:txBody>
      </p:sp>
      <p:sp>
        <p:nvSpPr>
          <p:cNvPr id="21" name="Shape 21"/>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ad spend ÷ total sales</a:t>
            </a:r>
          </a:p>
        </p:txBody>
      </p:sp>
      <p:sp>
        <p:nvSpPr>
          <p:cNvPr id="22" name="Shape 22"/>
          <p:cNvSpPr/>
          <p:nvPr/>
        </p:nvSpPr>
        <p:spPr>
          <a:xfrm>
            <a:off x="8997696" y="1417320"/>
            <a:ext cx="2642616" cy="1554480"/>
          </a:xfrm>
          <a:prstGeom prst="roundRect">
            <a:avLst>
              <a:gd name="" fmla="val 6000"/>
            </a:avLst>
          </a:prstGeom>
          <a:solidFill>
            <a:srgbClr val="F6F3EC"/>
          </a:solidFill>
          <a:ln>
            <a:noFill/>
          </a:ln>
        </p:spPr>
      </p:sp>
      <p:sp>
        <p:nvSpPr>
          <p:cNvPr id="23" name="Shape 23"/>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VS LAST YEAR</a:t>
            </a:r>
          </a:p>
        </p:txBody>
      </p:sp>
      <p:sp>
        <p:nvSpPr>
          <p:cNvPr id="24" name="Shape 24"/>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C2626"/>
                </a:solidFill>
                <a:latin typeface="Space Grotesk"/>
              </a:rPr>
              <a:t>-16%</a:t>
            </a:r>
          </a:p>
        </p:txBody>
      </p:sp>
      <p:sp>
        <p:nvSpPr>
          <p:cNvPr id="25" name="Shape 25"/>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DC2626"/>
                </a:solidFill>
                <a:latin typeface="Inter"/>
              </a:rPr>
              <a:t>Oct 1–25, 2025: $310.4K</a:t>
            </a:r>
          </a:p>
        </p:txBody>
      </p:sp>
      <p:sp>
        <p:nvSpPr>
          <p:cNvPr id="26" name="Shape 26"/>
          <p:cNvSpPr/>
          <p:nvPr/>
        </p:nvSpPr>
        <p:spPr>
          <a:xfrm>
            <a:off x="807872" y="3474720"/>
            <a:ext cx="921715" cy="2468879"/>
          </a:xfrm>
          <a:prstGeom prst="rect">
            <a:avLst/>
          </a:prstGeom>
          <a:solidFill>
            <a:srgbClr val="C7D2FE"/>
          </a:solidFill>
          <a:ln>
            <a:noFill/>
          </a:ln>
        </p:spPr>
      </p:sp>
      <p:sp>
        <p:nvSpPr>
          <p:cNvPr id="27" name="Shape 27"/>
          <p:cNvSpPr txBox="1"/>
          <p:nvPr/>
        </p:nvSpPr>
        <p:spPr>
          <a:xfrm>
            <a:off x="548640" y="320040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$350.6K</a:t>
            </a:r>
          </a:p>
        </p:txBody>
      </p:sp>
      <p:sp>
        <p:nvSpPr>
          <p:cNvPr id="28" name="Shape 28"/>
          <p:cNvSpPr txBox="1"/>
          <p:nvPr/>
        </p:nvSpPr>
        <p:spPr>
          <a:xfrm>
            <a:off x="54864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2025</a:t>
            </a:r>
          </a:p>
        </p:txBody>
      </p:sp>
      <p:sp>
        <p:nvSpPr>
          <p:cNvPr id="29" name="Shape 29"/>
          <p:cNvSpPr/>
          <p:nvPr/>
        </p:nvSpPr>
        <p:spPr>
          <a:xfrm>
            <a:off x="2248052" y="4117013"/>
            <a:ext cx="921715" cy="1826586"/>
          </a:xfrm>
          <a:prstGeom prst="rect">
            <a:avLst/>
          </a:prstGeom>
          <a:solidFill>
            <a:srgbClr val="C7D2FE"/>
          </a:solidFill>
          <a:ln>
            <a:noFill/>
          </a:ln>
        </p:spPr>
      </p:sp>
      <p:sp>
        <p:nvSpPr>
          <p:cNvPr id="30" name="Shape 30"/>
          <p:cNvSpPr txBox="1"/>
          <p:nvPr/>
        </p:nvSpPr>
        <p:spPr>
          <a:xfrm>
            <a:off x="1988819" y="3842693"/>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$259.4K</a:t>
            </a:r>
          </a:p>
        </p:txBody>
      </p:sp>
      <p:sp>
        <p:nvSpPr>
          <p:cNvPr id="31" name="Shape 31"/>
          <p:cNvSpPr txBox="1"/>
          <p:nvPr/>
        </p:nvSpPr>
        <p:spPr>
          <a:xfrm>
            <a:off x="198881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Sep 2026</a:t>
            </a:r>
          </a:p>
        </p:txBody>
      </p:sp>
      <p:sp>
        <p:nvSpPr>
          <p:cNvPr id="32" name="Shape 32"/>
          <p:cNvSpPr/>
          <p:nvPr/>
        </p:nvSpPr>
        <p:spPr>
          <a:xfrm>
            <a:off x="3688232" y="4109388"/>
            <a:ext cx="921715" cy="1834211"/>
          </a:xfrm>
          <a:prstGeom prst="rect">
            <a:avLst/>
          </a:prstGeom>
          <a:solidFill>
            <a:srgbClr val="C7D2FE"/>
          </a:solidFill>
          <a:ln>
            <a:noFill/>
          </a:ln>
        </p:spPr>
      </p:sp>
      <p:sp>
        <p:nvSpPr>
          <p:cNvPr id="33" name="Shape 33"/>
          <p:cNvSpPr txBox="1"/>
          <p:nvPr/>
        </p:nvSpPr>
        <p:spPr>
          <a:xfrm>
            <a:off x="3429000" y="3835068"/>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$260.5K</a:t>
            </a:r>
          </a:p>
        </p:txBody>
      </p:sp>
      <p:sp>
        <p:nvSpPr>
          <p:cNvPr id="34" name="Shape 34"/>
          <p:cNvSpPr txBox="1"/>
          <p:nvPr/>
        </p:nvSpPr>
        <p:spPr>
          <a:xfrm>
            <a:off x="342900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MTD</a:t>
            </a:r>
          </a:p>
        </p:txBody>
      </p:sp>
      <p:sp>
        <p:nvSpPr>
          <p:cNvPr id="35" name="Shape 35"/>
          <p:cNvSpPr/>
          <p:nvPr/>
        </p:nvSpPr>
        <p:spPr>
          <a:xfrm>
            <a:off x="5128412" y="3763703"/>
            <a:ext cx="921715" cy="2179896"/>
          </a:xfrm>
          <a:prstGeom prst="rect">
            <a:avLst/>
          </a:prstGeom>
          <a:solidFill>
            <a:srgbClr val="2447FF"/>
          </a:solidFill>
          <a:ln>
            <a:noFill/>
          </a:ln>
        </p:spPr>
      </p:sp>
      <p:sp>
        <p:nvSpPr>
          <p:cNvPr id="36" name="Shape 36"/>
          <p:cNvSpPr txBox="1"/>
          <p:nvPr/>
        </p:nvSpPr>
        <p:spPr>
          <a:xfrm>
            <a:off x="4869179" y="3489383"/>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$309.6K</a:t>
            </a:r>
          </a:p>
        </p:txBody>
      </p:sp>
      <p:sp>
        <p:nvSpPr>
          <p:cNvPr id="37" name="Shape 37"/>
          <p:cNvSpPr txBox="1"/>
          <p:nvPr/>
        </p:nvSpPr>
        <p:spPr>
          <a:xfrm>
            <a:off x="486917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pace</a:t>
            </a:r>
          </a:p>
        </p:txBody>
      </p:sp>
      <p:sp>
        <p:nvSpPr>
          <p:cNvPr id="38" name="Shape 38"/>
          <p:cNvSpPr/>
          <p:nvPr/>
        </p:nvSpPr>
        <p:spPr>
          <a:xfrm>
            <a:off x="548640" y="5943600"/>
            <a:ext cx="5760720" cy="9144"/>
          </a:xfrm>
          <a:prstGeom prst="rect">
            <a:avLst/>
          </a:prstGeom>
          <a:solidFill>
            <a:srgbClr val="E5E0D6"/>
          </a:solidFill>
          <a:ln>
            <a:noFill/>
          </a:ln>
        </p:spPr>
      </p:sp>
      <p:sp>
        <p:nvSpPr>
          <p:cNvPr id="39" name="Shape 39"/>
          <p:cNvSpPr/>
          <p:nvPr/>
        </p:nvSpPr>
        <p:spPr>
          <a:xfrm>
            <a:off x="6583680" y="3200400"/>
            <a:ext cx="5056632" cy="1325880"/>
          </a:xfrm>
          <a:prstGeom prst="roundRect">
            <a:avLst>
              <a:gd name="" fmla="val 6000"/>
            </a:avLst>
          </a:prstGeom>
          <a:solidFill>
            <a:srgbClr val="FFFFFF"/>
          </a:solidFill>
          <a:ln w="9525">
            <a:solidFill>
              <a:srgbClr val="E5E0D6"/>
            </a:solidFill>
          </a:ln>
        </p:spPr>
      </p:sp>
      <p:sp>
        <p:nvSpPr>
          <p:cNvPr id="40" name="Shape 40"/>
          <p:cNvSpPr txBox="1"/>
          <p:nvPr/>
        </p:nvSpPr>
        <p:spPr>
          <a:xfrm>
            <a:off x="6766560" y="3337560"/>
            <a:ext cx="469087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Full-month pace</a:t>
            </a:r>
          </a:p>
        </p:txBody>
      </p:sp>
      <p:sp>
        <p:nvSpPr>
          <p:cNvPr id="41" name="Shape 41"/>
          <p:cNvSpPr txBox="1"/>
          <p:nvPr/>
        </p:nvSpPr>
        <p:spPr>
          <a:xfrm>
            <a:off x="6766560" y="3657600"/>
            <a:ext cx="4690872" cy="777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pacing to about $309.6K: $260.5K so far plus 6 days at $8.2K/day (the October daily average without the 2 event days).</a:t>
            </a:r>
          </a:p>
        </p:txBody>
      </p:sp>
      <p:sp>
        <p:nvSpPr>
          <p:cNvPr id="42" name="Shape 42"/>
          <p:cNvSpPr/>
          <p:nvPr/>
        </p:nvSpPr>
        <p:spPr>
          <a:xfrm>
            <a:off x="6583680" y="4663440"/>
            <a:ext cx="5056632" cy="1554480"/>
          </a:xfrm>
          <a:prstGeom prst="roundRect">
            <a:avLst>
              <a:gd name="" fmla="val 6000"/>
            </a:avLst>
          </a:prstGeom>
          <a:solidFill>
            <a:srgbClr val="FEF2F2"/>
          </a:solidFill>
          <a:ln>
            <a:noFill/>
          </a:ln>
        </p:spPr>
      </p:sp>
      <p:sp>
        <p:nvSpPr>
          <p:cNvPr id="43" name="Shape 43"/>
          <p:cNvSpPr txBox="1"/>
          <p:nvPr/>
        </p:nvSpPr>
        <p:spPr>
          <a:xfrm>
            <a:off x="6766560" y="4773168"/>
            <a:ext cx="4754880" cy="274320"/>
          </a:xfrm>
          <a:prstGeom prst="rect">
            <a:avLst/>
          </a:prstGeom>
          <a:noFill/>
        </p:spPr>
        <p:txBody>
          <a:bodyPr wrap="square" lIns="36576" rIns="36576" tIns="18288" bIns="18288" anchor="t">
            <a:spAutoFit/>
          </a:bodyPr>
          <a:lstStyle/>
          <a:p>
            <a:pPr algn="l"/>
            <a:r>
              <a:rPr sz="1200" b="1">
                <a:solidFill>
                  <a:srgbClr val="DC2626"/>
                </a:solidFill>
                <a:latin typeface="Space Grotesk"/>
              </a:rPr>
              <a:t>Recommendation</a:t>
            </a:r>
          </a:p>
        </p:txBody>
      </p:sp>
      <p:sp>
        <p:nvSpPr>
          <p:cNvPr id="44" name="Shape 44"/>
          <p:cNvSpPr txBox="1"/>
          <p:nvPr/>
        </p:nvSpPr>
        <p:spPr>
          <a:xfrm>
            <a:off x="6766560" y="5074920"/>
            <a:ext cx="4754880" cy="1097280"/>
          </a:xfrm>
          <a:prstGeom prst="rect">
            <a:avLst/>
          </a:prstGeom>
          <a:noFill/>
        </p:spPr>
        <p:txBody>
          <a:bodyPr wrap="square" lIns="36576" rIns="36576" tIns="18288" bIns="18288" anchor="t">
            <a:spAutoFit/>
          </a:bodyPr>
          <a:lstStyle/>
          <a:p>
            <a:pPr algn="l"/>
            <a:r>
              <a:rPr sz="1050" b="0">
                <a:solidFill>
                  <a:srgbClr val="334155"/>
                </a:solidFill>
                <a:latin typeface="Inter"/>
              </a:rPr>
              <a:t>Pace is +19% vs Sep. October is behind last year on the same days. Keeping the Queen topper in stock at FBA is the biggest lever: it has 23 units available, under one week of sales.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pacing — month to date</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5 / 17</a:t>
            </a:r>
          </a:p>
        </p:txBody>
      </p:sp>
      <p:sp>
        <p:nvSpPr>
          <p:cNvPr id="10" name="Shape 10"/>
          <p:cNvSpPr/>
          <p:nvPr/>
        </p:nvSpPr>
        <p:spPr>
          <a:xfrm>
            <a:off x="548640" y="1417320"/>
            <a:ext cx="2651760" cy="1554480"/>
          </a:xfrm>
          <a:prstGeom prst="roundRect">
            <a:avLst>
              <a:gd name="" fmla="val 6000"/>
            </a:avLst>
          </a:prstGeom>
          <a:solidFill>
            <a:srgbClr val="F6F3EC"/>
          </a:solidFill>
          <a:ln>
            <a:noFill/>
          </a:ln>
        </p:spPr>
      </p:sp>
      <p:sp>
        <p:nvSpPr>
          <p:cNvPr id="11" name="Shape 11"/>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Shape 12"/>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$18.4K</a:t>
            </a:r>
          </a:p>
        </p:txBody>
      </p:sp>
      <p:sp>
        <p:nvSpPr>
          <p:cNvPr id="13" name="Shape 13"/>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$737 per day</a:t>
            </a:r>
          </a:p>
        </p:txBody>
      </p:sp>
      <p:sp>
        <p:nvSpPr>
          <p:cNvPr id="14" name="Shape 14"/>
          <p:cNvSpPr/>
          <p:nvPr/>
        </p:nvSpPr>
        <p:spPr>
          <a:xfrm>
            <a:off x="3364992" y="1417320"/>
            <a:ext cx="2651760" cy="1554480"/>
          </a:xfrm>
          <a:prstGeom prst="roundRect">
            <a:avLst>
              <a:gd name="" fmla="val 6000"/>
            </a:avLst>
          </a:prstGeom>
          <a:solidFill>
            <a:srgbClr val="F6F3EC"/>
          </a:solidFill>
          <a:ln>
            <a:noFill/>
          </a:ln>
        </p:spPr>
      </p:sp>
      <p:sp>
        <p:nvSpPr>
          <p:cNvPr id="15" name="Shape 15"/>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6" name="Shape 16"/>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$22.8K</a:t>
            </a:r>
          </a:p>
        </p:txBody>
      </p:sp>
      <p:sp>
        <p:nvSpPr>
          <p:cNvPr id="17" name="Shape 17"/>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if the daily rate holds to Oct 31</a:t>
            </a:r>
          </a:p>
        </p:txBody>
      </p:sp>
      <p:sp>
        <p:nvSpPr>
          <p:cNvPr id="18" name="Shape 18"/>
          <p:cNvSpPr/>
          <p:nvPr/>
        </p:nvSpPr>
        <p:spPr>
          <a:xfrm>
            <a:off x="6181344" y="1417320"/>
            <a:ext cx="2651760" cy="1554480"/>
          </a:xfrm>
          <a:prstGeom prst="roundRect">
            <a:avLst>
              <a:gd name="" fmla="val 6000"/>
            </a:avLst>
          </a:prstGeom>
          <a:solidFill>
            <a:srgbClr val="F6F3EC"/>
          </a:solidFill>
          <a:ln>
            <a:noFill/>
          </a:ln>
        </p:spPr>
      </p:sp>
      <p:sp>
        <p:nvSpPr>
          <p:cNvPr id="19" name="Shape 19"/>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Shape 20"/>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a:t>
            </a:r>
          </a:p>
        </p:txBody>
      </p:sp>
      <p:sp>
        <p:nvSpPr>
          <p:cNvPr id="21" name="Shape 21"/>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6.3%</a:t>
            </a:r>
          </a:p>
        </p:txBody>
      </p:sp>
      <p:sp>
        <p:nvSpPr>
          <p:cNvPr id="22" name="Shape 22"/>
          <p:cNvSpPr/>
          <p:nvPr/>
        </p:nvSpPr>
        <p:spPr>
          <a:xfrm>
            <a:off x="8997696" y="1417320"/>
            <a:ext cx="2642616" cy="1554480"/>
          </a:xfrm>
          <a:prstGeom prst="roundRect">
            <a:avLst>
              <a:gd name="" fmla="val 6000"/>
            </a:avLst>
          </a:prstGeom>
          <a:solidFill>
            <a:srgbClr val="F6F3EC"/>
          </a:solidFill>
          <a:ln>
            <a:noFill/>
          </a:ln>
        </p:spPr>
      </p:sp>
      <p:sp>
        <p:nvSpPr>
          <p:cNvPr id="23" name="Shape 23"/>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24" name="Shape 24"/>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10.9%</a:t>
            </a:r>
          </a:p>
        </p:txBody>
      </p:sp>
      <p:sp>
        <p:nvSpPr>
          <p:cNvPr id="25" name="Shape 25"/>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10.4%</a:t>
            </a:r>
          </a:p>
        </p:txBody>
      </p:sp>
      <p:sp>
        <p:nvSpPr>
          <p:cNvPr id="26" name="Shape 26"/>
          <p:cNvSpPr/>
          <p:nvPr/>
        </p:nvSpPr>
        <p:spPr>
          <a:xfrm>
            <a:off x="548640" y="3200400"/>
            <a:ext cx="3611880" cy="3017520"/>
          </a:xfrm>
          <a:prstGeom prst="roundRect">
            <a:avLst>
              <a:gd name="" fmla="val 6000"/>
            </a:avLst>
          </a:prstGeom>
          <a:solidFill>
            <a:srgbClr val="FFFFFF"/>
          </a:solidFill>
          <a:ln w="9525">
            <a:solidFill>
              <a:srgbClr val="E5E0D6"/>
            </a:solidFill>
          </a:ln>
        </p:spPr>
      </p:sp>
      <p:sp>
        <p:nvSpPr>
          <p:cNvPr id="27" name="Shape 27"/>
          <p:cNvSpPr txBox="1"/>
          <p:nvPr/>
        </p:nvSpPr>
        <p:spPr>
          <a:xfrm>
            <a:off x="731520"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MTD performance</a:t>
            </a:r>
          </a:p>
        </p:txBody>
      </p:sp>
      <p:sp>
        <p:nvSpPr>
          <p:cNvPr id="28" name="Shape 28"/>
          <p:cNvSpPr txBox="1"/>
          <p:nvPr/>
        </p:nvSpPr>
        <p:spPr>
          <a:xfrm>
            <a:off x="731520"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$168.8K in ad sales on $18.4K spend, a 9.2x return.</a:t>
            </a:r>
          </a:p>
          <a:p>
            <a:pPr algn="l">
              <a:spcAft>
                <a:spcPts val="500"/>
              </a:spcAft>
            </a:pPr>
            <a:r>
              <a:rPr sz="1100" b="0">
                <a:solidFill>
                  <a:srgbClr val="334155"/>
                </a:solidFill>
                <a:latin typeface="Inter"/>
              </a:rPr>
              <a:t>Ads drove 65% of October sales.</a:t>
            </a:r>
          </a:p>
        </p:txBody>
      </p:sp>
      <p:sp>
        <p:nvSpPr>
          <p:cNvPr id="29" name="Shape 29"/>
          <p:cNvSpPr/>
          <p:nvPr/>
        </p:nvSpPr>
        <p:spPr>
          <a:xfrm>
            <a:off x="4288536" y="3200400"/>
            <a:ext cx="3611880" cy="3017520"/>
          </a:xfrm>
          <a:prstGeom prst="roundRect">
            <a:avLst>
              <a:gd name="" fmla="val 6000"/>
            </a:avLst>
          </a:prstGeom>
          <a:solidFill>
            <a:srgbClr val="FFFFFF"/>
          </a:solidFill>
          <a:ln w="9525">
            <a:solidFill>
              <a:srgbClr val="E5E0D6"/>
            </a:solidFill>
          </a:ln>
        </p:spPr>
      </p:sp>
      <p:sp>
        <p:nvSpPr>
          <p:cNvPr id="30" name="Shape 30"/>
          <p:cNvSpPr txBox="1"/>
          <p:nvPr/>
        </p:nvSpPr>
        <p:spPr>
          <a:xfrm>
            <a:off x="4471416"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Context</a:t>
            </a:r>
          </a:p>
        </p:txBody>
      </p:sp>
      <p:sp>
        <p:nvSpPr>
          <p:cNvPr id="31" name="Shape 31"/>
          <p:cNvSpPr txBox="1"/>
          <p:nvPr/>
        </p:nvSpPr>
        <p:spPr>
          <a:xfrm>
            <a:off x="4471416"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Prime Big Deal Days week (Oct 4–10) ran at 9.7% ACoS and 6.4% TACoS.</a:t>
            </a:r>
          </a:p>
          <a:p>
            <a:pPr algn="l">
              <a:spcAft>
                <a:spcPts val="500"/>
              </a:spcAft>
            </a:pPr>
            <a:r>
              <a:rPr sz="1100" b="0">
                <a:solidFill>
                  <a:srgbClr val="334155"/>
                </a:solidFill>
                <a:latin typeface="Inter"/>
              </a:rPr>
              <a:t>This week ACoS fell to 10.4% from 16.9%, with 26% less spend and 19% more ad sales.</a:t>
            </a:r>
          </a:p>
        </p:txBody>
      </p:sp>
      <p:sp>
        <p:nvSpPr>
          <p:cNvPr id="32" name="Shape 32"/>
          <p:cNvSpPr/>
          <p:nvPr/>
        </p:nvSpPr>
        <p:spPr>
          <a:xfrm>
            <a:off x="8028431" y="3200400"/>
            <a:ext cx="3611880" cy="3017520"/>
          </a:xfrm>
          <a:prstGeom prst="roundRect">
            <a:avLst>
              <a:gd name="" fmla="val 6000"/>
            </a:avLst>
          </a:prstGeom>
          <a:solidFill>
            <a:srgbClr val="FFFFFF"/>
          </a:solidFill>
          <a:ln w="9525">
            <a:solidFill>
              <a:srgbClr val="E5E0D6"/>
            </a:solidFill>
          </a:ln>
        </p:spPr>
      </p:sp>
      <p:sp>
        <p:nvSpPr>
          <p:cNvPr id="33" name="Shape 33"/>
          <p:cNvSpPr txBox="1"/>
          <p:nvPr/>
        </p:nvSpPr>
        <p:spPr>
          <a:xfrm>
            <a:off x="8211311"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This week's efficiency</a:t>
            </a:r>
          </a:p>
        </p:txBody>
      </p:sp>
      <p:sp>
        <p:nvSpPr>
          <p:cNvPr id="34" name="Shape 34"/>
          <p:cNvSpPr txBox="1"/>
          <p:nvPr/>
        </p:nvSpPr>
        <p:spPr>
          <a:xfrm>
            <a:off x="8211311"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Spend $3,612 (-26%), ad sales $34,696 (+19%).</a:t>
            </a:r>
          </a:p>
          <a:p>
            <a:pPr algn="l">
              <a:spcAft>
                <a:spcPts val="500"/>
              </a:spcAft>
            </a:pPr>
            <a:r>
              <a:rPr sz="1100" b="0">
                <a:solidFill>
                  <a:srgbClr val="334155"/>
                </a:solidFill>
                <a:latin typeface="Inter"/>
              </a:rPr>
              <a:t>ACoS 10.4% (-6.5 pts); TACoS 6.3% (-4.1 pts).</a:t>
            </a:r>
          </a:p>
          <a:p>
            <a:pPr algn="l">
              <a:spcAft>
                <a:spcPts val="500"/>
              </a:spcAft>
            </a:pPr>
            <a:r>
              <a:rPr sz="1100" b="0">
                <a:solidFill>
                  <a:srgbClr val="334155"/>
                </a:solidFill>
                <a:latin typeface="Inter"/>
              </a:rPr>
              <a:t>CPC $1.43, 78 ad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vs. category spend</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6 / 17</a:t>
            </a:r>
          </a:p>
        </p:txBody>
      </p:sp>
      <p:graphicFrame>
        <p:nvGraphicFramePr>
          <p:cNvPr id="10" name="Shape 10"/>
          <p:cNvGraphicFramePr>
            <a:graphicFrameLocks noGrp="1"/>
          </p:cNvGraphicFramePr>
          <p:nvPr/>
        </p:nvGraphicFramePr>
        <p:xfrm>
          <a:off x="548640" y="1417320"/>
          <a:ext cx="6766560" cy="3127248"/>
        </p:xfrm>
        <a:graphic>
          <a:graphicData uri="http://schemas.openxmlformats.org/drawingml/2006/table">
            <a:tbl>
              <a:tblPr firstRow="1" bandRow="1">
                <a:tableStyleId>{5C22544A-7EE6-4342-B048-85BDC9FD1C3A}</a:tableStyleId>
              </a:tblPr>
              <a:tblGrid>
                <a:gridCol w="2651760"/>
                <a:gridCol w="914400"/>
                <a:gridCol w="914400"/>
                <a:gridCol w="731520"/>
                <a:gridCol w="777240"/>
                <a:gridCol w="777240"/>
              </a:tblGrid>
              <a:tr h="347472">
                <a:tc>
                  <a:txBody>
                    <a:bodyPr wrap="square"/>
                    <a:lstStyle/>
                    <a:p>
                      <a:pPr algn="l"/>
                      <a:r>
                        <a:rPr sz="950" b="1">
                          <a:solidFill>
                            <a:srgbClr val="FFFFFF"/>
                          </a:solidFill>
                          <a:latin typeface="Inter"/>
                        </a:rPr>
                        <a:t>Strategy</a:t>
                      </a:r>
                    </a:p>
                  </a:txBody>
                  <a:tcPr marL="54864" marR="54864" marT="27432" marB="27432" anchor="ctr">
                    <a:solidFill>
                      <a:srgbClr val="0F172A"/>
                    </a:solidFill>
                  </a:tcPr>
                </a:tc>
                <a:tc>
                  <a:txBody>
                    <a:bodyPr wrap="square"/>
                    <a:lstStyle/>
                    <a:p>
                      <a:pPr algn="r"/>
                      <a:r>
                        <a:rPr sz="950" b="1">
                          <a:solidFill>
                            <a:srgbClr val="FFFFFF"/>
                          </a:solidFill>
                          <a:latin typeface="Inter"/>
                        </a:rPr>
                        <a:t>Ad spend</a:t>
                      </a:r>
                    </a:p>
                  </a:txBody>
                  <a:tcPr marL="54864" marR="54864" marT="27432" marB="27432" anchor="ctr">
                    <a:solidFill>
                      <a:srgbClr val="0F172A"/>
                    </a:solidFill>
                  </a:tcPr>
                </a:tc>
                <a:tc>
                  <a:txBody>
                    <a:bodyPr wrap="square"/>
                    <a:lstStyle/>
                    <a:p>
                      <a:pPr algn="r"/>
                      <a:r>
                        <a:rPr sz="950" b="1">
                          <a:solidFill>
                            <a:srgbClr val="FFFFFF"/>
                          </a:solidFill>
                          <a:latin typeface="Inter"/>
                        </a:rPr>
                        <a:t>Ad sales</a:t>
                      </a:r>
                    </a:p>
                  </a:txBody>
                  <a:tcPr marL="54864" marR="54864" marT="27432" marB="27432" anchor="ctr">
                    <a:solidFill>
                      <a:srgbClr val="0F172A"/>
                    </a:solidFill>
                  </a:tcPr>
                </a:tc>
                <a:tc>
                  <a:txBody>
                    <a:bodyPr wrap="square"/>
                    <a:lstStyle/>
                    <a:p>
                      <a:pPr algn="r"/>
                      <a:r>
                        <a:rPr sz="950" b="1">
                          <a:solidFill>
                            <a:srgbClr val="FFFFFF"/>
                          </a:solidFill>
                          <a:latin typeface="Inter"/>
                        </a:rPr>
                        <a:t>ROAS</a:t>
                      </a:r>
                    </a:p>
                  </a:txBody>
                  <a:tcPr marL="54864" marR="54864" marT="27432" marB="27432" anchor="ctr">
                    <a:solidFill>
                      <a:srgbClr val="0F172A"/>
                    </a:solidFill>
                  </a:tcPr>
                </a:tc>
                <a:tc>
                  <a:txBody>
                    <a:bodyPr wrap="square"/>
                    <a:lstStyle/>
                    <a:p>
                      <a:pPr algn="r"/>
                      <a:r>
                        <a:rPr sz="950" b="1">
                          <a:solidFill>
                            <a:srgbClr val="FFFFFF"/>
                          </a:solidFill>
                          <a:latin typeface="Inter"/>
                        </a:rPr>
                        <a:t>ACoS</a:t>
                      </a:r>
                    </a:p>
                  </a:txBody>
                  <a:tcPr marL="54864" marR="54864" marT="27432" marB="27432" anchor="ctr">
                    <a:solidFill>
                      <a:srgbClr val="0F172A"/>
                    </a:solidFill>
                  </a:tcPr>
                </a:tc>
                <a:tc>
                  <a:txBody>
                    <a:bodyPr wrap="square"/>
                    <a:lstStyle/>
                    <a:p>
                      <a:pPr algn="r"/>
                      <a:r>
                        <a:rPr sz="950" b="1">
                          <a:solidFill>
                            <a:srgbClr val="FFFFFF"/>
                          </a:solidFill>
                          <a:latin typeface="Inter"/>
                        </a:rPr>
                        <a:t>Orders</a:t>
                      </a:r>
                    </a:p>
                  </a:txBody>
                  <a:tcPr marL="54864" marR="54864" marT="27432" marB="27432" anchor="ctr">
                    <a:solidFill>
                      <a:srgbClr val="0F172A"/>
                    </a:solidFill>
                  </a:tcPr>
                </a:tc>
              </a:tr>
              <a:tr h="347472">
                <a:tc>
                  <a:txBody>
                    <a:bodyPr wrap="square"/>
                    <a:lstStyle/>
                    <a:p>
                      <a:pPr algn="l"/>
                      <a:r>
                        <a:rPr sz="1050" b="0">
                          <a:solidFill>
                            <a:srgbClr val="0F172A"/>
                          </a:solidFill>
                          <a:latin typeface="Inter"/>
                        </a:rPr>
                        <a:t>Branded keywords</a:t>
                      </a:r>
                    </a:p>
                  </a:txBody>
                  <a:tcPr marL="54864" marR="54864" marT="27432" marB="27432" anchor="ctr">
                    <a:solidFill>
                      <a:srgbClr val="FFFFFF"/>
                    </a:solidFill>
                  </a:tcPr>
                </a:tc>
                <a:tc>
                  <a:txBody>
                    <a:bodyPr wrap="square"/>
                    <a:lstStyle/>
                    <a:p>
                      <a:pPr algn="r"/>
                      <a:r>
                        <a:rPr sz="1050" b="0">
                          <a:solidFill>
                            <a:srgbClr val="0F172A"/>
                          </a:solidFill>
                          <a:latin typeface="Inter"/>
                        </a:rPr>
                        <a:t>$1,605</a:t>
                      </a:r>
                    </a:p>
                  </a:txBody>
                  <a:tcPr marL="54864" marR="54864" marT="27432" marB="27432" anchor="ctr">
                    <a:solidFill>
                      <a:srgbClr val="FFFFFF"/>
                    </a:solidFill>
                  </a:tcPr>
                </a:tc>
                <a:tc>
                  <a:txBody>
                    <a:bodyPr wrap="square"/>
                    <a:lstStyle/>
                    <a:p>
                      <a:pPr algn="r"/>
                      <a:r>
                        <a:rPr sz="1050" b="0">
                          <a:solidFill>
                            <a:srgbClr val="0F172A"/>
                          </a:solidFill>
                          <a:latin typeface="Inter"/>
                        </a:rPr>
                        <a:t>$27,076</a:t>
                      </a:r>
                    </a:p>
                  </a:txBody>
                  <a:tcPr marL="54864" marR="54864" marT="27432" marB="27432" anchor="ctr">
                    <a:solidFill>
                      <a:srgbClr val="FFFFFF"/>
                    </a:solidFill>
                  </a:tcPr>
                </a:tc>
                <a:tc>
                  <a:txBody>
                    <a:bodyPr wrap="square"/>
                    <a:lstStyle/>
                    <a:p>
                      <a:pPr algn="r"/>
                      <a:r>
                        <a:rPr sz="1050" b="0">
                          <a:solidFill>
                            <a:srgbClr val="0F172A"/>
                          </a:solidFill>
                          <a:latin typeface="Inter"/>
                        </a:rPr>
                        <a:t>16.87x</a:t>
                      </a:r>
                    </a:p>
                  </a:txBody>
                  <a:tcPr marL="54864" marR="54864" marT="27432" marB="27432" anchor="ctr">
                    <a:solidFill>
                      <a:srgbClr val="FFFFFF"/>
                    </a:solidFill>
                  </a:tcPr>
                </a:tc>
                <a:tc>
                  <a:txBody>
                    <a:bodyPr wrap="square"/>
                    <a:lstStyle/>
                    <a:p>
                      <a:pPr algn="r"/>
                      <a:r>
                        <a:rPr sz="1050" b="0">
                          <a:solidFill>
                            <a:srgbClr val="0F172A"/>
                          </a:solidFill>
                          <a:latin typeface="Inter"/>
                        </a:rPr>
                        <a:t>5.9%</a:t>
                      </a:r>
                    </a:p>
                  </a:txBody>
                  <a:tcPr marL="54864" marR="54864" marT="27432" marB="27432" anchor="ctr">
                    <a:solidFill>
                      <a:srgbClr val="FFFFFF"/>
                    </a:solidFill>
                  </a:tcPr>
                </a:tc>
                <a:tc>
                  <a:txBody>
                    <a:bodyPr wrap="square"/>
                    <a:lstStyle/>
                    <a:p>
                      <a:pPr algn="r"/>
                      <a:r>
                        <a:rPr sz="1050" b="0">
                          <a:solidFill>
                            <a:srgbClr val="0F172A"/>
                          </a:solidFill>
                          <a:latin typeface="Inter"/>
                        </a:rPr>
                        <a:t>60</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Audience / category display</a:t>
                      </a:r>
                    </a:p>
                  </a:txBody>
                  <a:tcPr marL="54864" marR="54864" marT="27432" marB="27432" anchor="ctr">
                    <a:solidFill>
                      <a:srgbClr val="FBFAF7"/>
                    </a:solidFill>
                  </a:tcPr>
                </a:tc>
                <a:tc>
                  <a:txBody>
                    <a:bodyPr wrap="square"/>
                    <a:lstStyle/>
                    <a:p>
                      <a:pPr algn="r"/>
                      <a:r>
                        <a:rPr sz="1050" b="0">
                          <a:solidFill>
                            <a:srgbClr val="0F172A"/>
                          </a:solidFill>
                          <a:latin typeface="Inter"/>
                        </a:rPr>
                        <a:t>$942</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Category keywords</a:t>
                      </a:r>
                    </a:p>
                  </a:txBody>
                  <a:tcPr marL="54864" marR="54864" marT="27432" marB="27432" anchor="ctr">
                    <a:solidFill>
                      <a:srgbClr val="FFFFFF"/>
                    </a:solidFill>
                  </a:tcPr>
                </a:tc>
                <a:tc>
                  <a:txBody>
                    <a:bodyPr wrap="square"/>
                    <a:lstStyle/>
                    <a:p>
                      <a:pPr algn="r"/>
                      <a:r>
                        <a:rPr sz="1050" b="0">
                          <a:solidFill>
                            <a:srgbClr val="0F172A"/>
                          </a:solidFill>
                          <a:latin typeface="Inter"/>
                        </a:rPr>
                        <a:t>$568</a:t>
                      </a:r>
                    </a:p>
                  </a:txBody>
                  <a:tcPr marL="54864" marR="54864" marT="27432" marB="27432" anchor="ctr">
                    <a:solidFill>
                      <a:srgbClr val="FFFFFF"/>
                    </a:solidFill>
                  </a:tcPr>
                </a:tc>
                <a:tc>
                  <a:txBody>
                    <a:bodyPr wrap="square"/>
                    <a:lstStyle/>
                    <a:p>
                      <a:pPr algn="r"/>
                      <a:r>
                        <a:rPr sz="1050" b="0">
                          <a:solidFill>
                            <a:srgbClr val="0F172A"/>
                          </a:solidFill>
                          <a:latin typeface="Inter"/>
                        </a:rPr>
                        <a:t>$2,122</a:t>
                      </a:r>
                    </a:p>
                  </a:txBody>
                  <a:tcPr marL="54864" marR="54864" marT="27432" marB="27432" anchor="ctr">
                    <a:solidFill>
                      <a:srgbClr val="FFFFFF"/>
                    </a:solidFill>
                  </a:tcPr>
                </a:tc>
                <a:tc>
                  <a:txBody>
                    <a:bodyPr wrap="square"/>
                    <a:lstStyle/>
                    <a:p>
                      <a:pPr algn="r"/>
                      <a:r>
                        <a:rPr sz="1050" b="0">
                          <a:solidFill>
                            <a:srgbClr val="0F172A"/>
                          </a:solidFill>
                          <a:latin typeface="Inter"/>
                        </a:rPr>
                        <a:t>3.73x</a:t>
                      </a:r>
                    </a:p>
                  </a:txBody>
                  <a:tcPr marL="54864" marR="54864" marT="27432" marB="27432" anchor="ctr">
                    <a:solidFill>
                      <a:srgbClr val="FFFFFF"/>
                    </a:solidFill>
                  </a:tcPr>
                </a:tc>
                <a:tc>
                  <a:txBody>
                    <a:bodyPr wrap="square"/>
                    <a:lstStyle/>
                    <a:p>
                      <a:pPr algn="r"/>
                      <a:r>
                        <a:rPr sz="1050" b="0">
                          <a:solidFill>
                            <a:srgbClr val="0F172A"/>
                          </a:solidFill>
                          <a:latin typeface="Inter"/>
                        </a:rPr>
                        <a:t>26.8%</a:t>
                      </a:r>
                    </a:p>
                  </a:txBody>
                  <a:tcPr marL="54864" marR="54864" marT="27432" marB="27432" anchor="ctr">
                    <a:solidFill>
                      <a:srgbClr val="FFFFFF"/>
                    </a:solidFill>
                  </a:tcPr>
                </a:tc>
                <a:tc>
                  <a:txBody>
                    <a:bodyPr wrap="square"/>
                    <a:lstStyle/>
                    <a:p>
                      <a:pPr algn="r"/>
                      <a:r>
                        <a:rPr sz="1050" b="0">
                          <a:solidFill>
                            <a:srgbClr val="0F172A"/>
                          </a:solidFill>
                          <a:latin typeface="Inter"/>
                        </a:rPr>
                        <a:t>6</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Brand defense (product targets)</a:t>
                      </a:r>
                    </a:p>
                  </a:txBody>
                  <a:tcPr marL="54864" marR="54864" marT="27432" marB="27432" anchor="ctr">
                    <a:solidFill>
                      <a:srgbClr val="FBFAF7"/>
                    </a:solidFill>
                  </a:tcPr>
                </a:tc>
                <a:tc>
                  <a:txBody>
                    <a:bodyPr wrap="square"/>
                    <a:lstStyle/>
                    <a:p>
                      <a:pPr algn="r"/>
                      <a:r>
                        <a:rPr sz="1050" b="0">
                          <a:solidFill>
                            <a:srgbClr val="0F172A"/>
                          </a:solidFill>
                          <a:latin typeface="Inter"/>
                        </a:rPr>
                        <a:t>$216</a:t>
                      </a:r>
                    </a:p>
                  </a:txBody>
                  <a:tcPr marL="54864" marR="54864" marT="27432" marB="27432" anchor="ctr">
                    <a:solidFill>
                      <a:srgbClr val="FBFAF7"/>
                    </a:solidFill>
                  </a:tcPr>
                </a:tc>
                <a:tc>
                  <a:txBody>
                    <a:bodyPr wrap="square"/>
                    <a:lstStyle/>
                    <a:p>
                      <a:pPr algn="r"/>
                      <a:r>
                        <a:rPr sz="1050" b="0">
                          <a:solidFill>
                            <a:srgbClr val="0F172A"/>
                          </a:solidFill>
                          <a:latin typeface="Inter"/>
                        </a:rPr>
                        <a:t>$4,301</a:t>
                      </a:r>
                    </a:p>
                  </a:txBody>
                  <a:tcPr marL="54864" marR="54864" marT="27432" marB="27432" anchor="ctr">
                    <a:solidFill>
                      <a:srgbClr val="FBFAF7"/>
                    </a:solidFill>
                  </a:tcPr>
                </a:tc>
                <a:tc>
                  <a:txBody>
                    <a:bodyPr wrap="square"/>
                    <a:lstStyle/>
                    <a:p>
                      <a:pPr algn="r"/>
                      <a:r>
                        <a:rPr sz="1050" b="0">
                          <a:solidFill>
                            <a:srgbClr val="0F172A"/>
                          </a:solidFill>
                          <a:latin typeface="Inter"/>
                        </a:rPr>
                        <a:t>19.89x</a:t>
                      </a:r>
                    </a:p>
                  </a:txBody>
                  <a:tcPr marL="54864" marR="54864" marT="27432" marB="27432" anchor="ctr">
                    <a:solidFill>
                      <a:srgbClr val="FBFAF7"/>
                    </a:solidFill>
                  </a:tcPr>
                </a:tc>
                <a:tc>
                  <a:txBody>
                    <a:bodyPr wrap="square"/>
                    <a:lstStyle/>
                    <a:p>
                      <a:pPr algn="r"/>
                      <a:r>
                        <a:rPr sz="1050" b="0">
                          <a:solidFill>
                            <a:srgbClr val="0F172A"/>
                          </a:solidFill>
                          <a:latin typeface="Inter"/>
                        </a:rPr>
                        <a:t>5.0%</a:t>
                      </a:r>
                    </a:p>
                  </a:txBody>
                  <a:tcPr marL="54864" marR="54864" marT="27432" marB="27432" anchor="ctr">
                    <a:solidFill>
                      <a:srgbClr val="FBFAF7"/>
                    </a:solidFill>
                  </a:tcPr>
                </a:tc>
                <a:tc>
                  <a:txBody>
                    <a:bodyPr wrap="square"/>
                    <a:lstStyle/>
                    <a:p>
                      <a:pPr algn="r"/>
                      <a:r>
                        <a:rPr sz="1050" b="0">
                          <a:solidFill>
                            <a:srgbClr val="0F172A"/>
                          </a:solidFill>
                          <a:latin typeface="Inter"/>
                        </a:rPr>
                        <a:t>7</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Other</a:t>
                      </a:r>
                    </a:p>
                  </a:txBody>
                  <a:tcPr marL="54864" marR="54864" marT="27432" marB="27432" anchor="ctr">
                    <a:solidFill>
                      <a:srgbClr val="FFFFFF"/>
                    </a:solidFill>
                  </a:tcPr>
                </a:tc>
                <a:tc>
                  <a:txBody>
                    <a:bodyPr wrap="square"/>
                    <a:lstStyle/>
                    <a:p>
                      <a:pPr algn="r"/>
                      <a:r>
                        <a:rPr sz="1050" b="0">
                          <a:solidFill>
                            <a:srgbClr val="0F172A"/>
                          </a:solidFill>
                          <a:latin typeface="Inter"/>
                        </a:rPr>
                        <a:t>$126</a:t>
                      </a:r>
                    </a:p>
                  </a:txBody>
                  <a:tcPr marL="54864" marR="54864" marT="27432" marB="27432" anchor="ctr">
                    <a:solidFill>
                      <a:srgbClr val="FFFFFF"/>
                    </a:solidFill>
                  </a:tcPr>
                </a:tc>
                <a:tc>
                  <a:txBody>
                    <a:bodyPr wrap="square"/>
                    <a:lstStyle/>
                    <a:p>
                      <a:pPr algn="r"/>
                      <a:r>
                        <a:rPr sz="1050" b="0">
                          <a:solidFill>
                            <a:srgbClr val="0F172A"/>
                          </a:solidFill>
                          <a:latin typeface="Inter"/>
                        </a:rPr>
                        <a:t>$735</a:t>
                      </a:r>
                    </a:p>
                  </a:txBody>
                  <a:tcPr marL="54864" marR="54864" marT="27432" marB="27432" anchor="ctr">
                    <a:solidFill>
                      <a:srgbClr val="FFFFFF"/>
                    </a:solidFill>
                  </a:tcPr>
                </a:tc>
                <a:tc>
                  <a:txBody>
                    <a:bodyPr wrap="square"/>
                    <a:lstStyle/>
                    <a:p>
                      <a:pPr algn="r"/>
                      <a:r>
                        <a:rPr sz="1050" b="0">
                          <a:solidFill>
                            <a:srgbClr val="0F172A"/>
                          </a:solidFill>
                          <a:latin typeface="Inter"/>
                        </a:rPr>
                        <a:t>5.84x</a:t>
                      </a:r>
                    </a:p>
                  </a:txBody>
                  <a:tcPr marL="54864" marR="54864" marT="27432" marB="27432" anchor="ctr">
                    <a:solidFill>
                      <a:srgbClr val="FFFFFF"/>
                    </a:solidFill>
                  </a:tcPr>
                </a:tc>
                <a:tc>
                  <a:txBody>
                    <a:bodyPr wrap="square"/>
                    <a:lstStyle/>
                    <a:p>
                      <a:pPr algn="r"/>
                      <a:r>
                        <a:rPr sz="1050" b="0">
                          <a:solidFill>
                            <a:srgbClr val="0F172A"/>
                          </a:solidFill>
                          <a:latin typeface="Inter"/>
                        </a:rPr>
                        <a:t>17.1%</a:t>
                      </a:r>
                    </a:p>
                  </a:txBody>
                  <a:tcPr marL="54864" marR="54864" marT="27432" marB="27432" anchor="ctr">
                    <a:solidFill>
                      <a:srgbClr val="FFFFFF"/>
                    </a:solidFill>
                  </a:tcPr>
                </a:tc>
                <a:tc>
                  <a:txBody>
                    <a:bodyPr wrap="square"/>
                    <a:lstStyle/>
                    <a:p>
                      <a:pPr algn="r"/>
                      <a:r>
                        <a:rPr sz="1050" b="0">
                          <a:solidFill>
                            <a:srgbClr val="0F172A"/>
                          </a:solidFill>
                          <a:latin typeface="Inter"/>
                        </a:rPr>
                        <a:t>2</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Competitor targeting</a:t>
                      </a:r>
                    </a:p>
                  </a:txBody>
                  <a:tcPr marL="54864" marR="54864" marT="27432" marB="27432" anchor="ctr">
                    <a:solidFill>
                      <a:srgbClr val="FBFAF7"/>
                    </a:solidFill>
                  </a:tcPr>
                </a:tc>
                <a:tc>
                  <a:txBody>
                    <a:bodyPr wrap="square"/>
                    <a:lstStyle/>
                    <a:p>
                      <a:pPr algn="r"/>
                      <a:r>
                        <a:rPr sz="1050" b="0">
                          <a:solidFill>
                            <a:srgbClr val="0F172A"/>
                          </a:solidFill>
                          <a:latin typeface="Inter"/>
                        </a:rPr>
                        <a:t>$79</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Auto targeting</a:t>
                      </a:r>
                    </a:p>
                  </a:txBody>
                  <a:tcPr marL="54864" marR="54864" marT="27432" marB="27432" anchor="ctr">
                    <a:solidFill>
                      <a:srgbClr val="FFFFFF"/>
                    </a:solidFill>
                  </a:tcPr>
                </a:tc>
                <a:tc>
                  <a:txBody>
                    <a:bodyPr wrap="square"/>
                    <a:lstStyle/>
                    <a:p>
                      <a:pPr algn="r"/>
                      <a:r>
                        <a:rPr sz="1050" b="0">
                          <a:solidFill>
                            <a:srgbClr val="0F172A"/>
                          </a:solidFill>
                          <a:latin typeface="Inter"/>
                        </a:rPr>
                        <a:t>$55</a:t>
                      </a:r>
                    </a:p>
                  </a:txBody>
                  <a:tcPr marL="54864" marR="54864" marT="27432" marB="27432" anchor="ctr">
                    <a:solidFill>
                      <a:srgbClr val="FFFFFF"/>
                    </a:solidFill>
                  </a:tcPr>
                </a:tc>
                <a:tc>
                  <a:txBody>
                    <a:bodyPr wrap="square"/>
                    <a:lstStyle/>
                    <a:p>
                      <a:pPr algn="r"/>
                      <a:r>
                        <a:rPr sz="1050" b="0">
                          <a:solidFill>
                            <a:srgbClr val="0F172A"/>
                          </a:solidFill>
                          <a:latin typeface="Inter"/>
                        </a:rPr>
                        <a:t>$462</a:t>
                      </a:r>
                    </a:p>
                  </a:txBody>
                  <a:tcPr marL="54864" marR="54864" marT="27432" marB="27432" anchor="ctr">
                    <a:solidFill>
                      <a:srgbClr val="FFFFFF"/>
                    </a:solidFill>
                  </a:tcPr>
                </a:tc>
                <a:tc>
                  <a:txBody>
                    <a:bodyPr wrap="square"/>
                    <a:lstStyle/>
                    <a:p>
                      <a:pPr algn="r"/>
                      <a:r>
                        <a:rPr sz="1050" b="0">
                          <a:solidFill>
                            <a:srgbClr val="0F172A"/>
                          </a:solidFill>
                          <a:latin typeface="Inter"/>
                        </a:rPr>
                        <a:t>8.42x</a:t>
                      </a:r>
                    </a:p>
                  </a:txBody>
                  <a:tcPr marL="54864" marR="54864" marT="27432" marB="27432" anchor="ctr">
                    <a:solidFill>
                      <a:srgbClr val="FFFFFF"/>
                    </a:solidFill>
                  </a:tcPr>
                </a:tc>
                <a:tc>
                  <a:txBody>
                    <a:bodyPr wrap="square"/>
                    <a:lstStyle/>
                    <a:p>
                      <a:pPr algn="r"/>
                      <a:r>
                        <a:rPr sz="1050" b="0">
                          <a:solidFill>
                            <a:srgbClr val="0F172A"/>
                          </a:solidFill>
                          <a:latin typeface="Inter"/>
                        </a:rPr>
                        <a:t>11.9%</a:t>
                      </a:r>
                    </a:p>
                  </a:txBody>
                  <a:tcPr marL="54864" marR="54864" marT="27432" marB="27432" anchor="ctr">
                    <a:solidFill>
                      <a:srgbClr val="FFFFFF"/>
                    </a:solidFill>
                  </a:tcPr>
                </a:tc>
                <a:tc>
                  <a:txBody>
                    <a:bodyPr wrap="square"/>
                    <a:lstStyle/>
                    <a:p>
                      <a:pPr algn="r"/>
                      <a:r>
                        <a:rPr sz="1050" b="0">
                          <a:solidFill>
                            <a:srgbClr val="0F172A"/>
                          </a:solidFill>
                          <a:latin typeface="Inter"/>
                        </a:rPr>
                        <a:t>3</a:t>
                      </a:r>
                    </a:p>
                  </a:txBody>
                  <a:tcPr marL="54864" marR="54864" marT="27432" marB="27432" anchor="ctr">
                    <a:solidFill>
                      <a:srgbClr val="FFFFFF"/>
                    </a:solidFill>
                  </a:tcPr>
                </a:tc>
              </a:tr>
              <a:tr h="347472">
                <a:tc>
                  <a:txBody>
                    <a:bodyPr wrap="square"/>
                    <a:lstStyle/>
                    <a:p>
                      <a:pPr algn="l"/>
                      <a:r>
                        <a:rPr sz="1050" b="1">
                          <a:solidFill>
                            <a:srgbClr val="0F172A"/>
                          </a:solidFill>
                          <a:latin typeface="Inter"/>
                        </a:rPr>
                        <a:t>All campaigns</a:t>
                      </a:r>
                    </a:p>
                  </a:txBody>
                  <a:tcPr marL="54864" marR="54864" marT="27432" marB="27432" anchor="ctr">
                    <a:solidFill>
                      <a:srgbClr val="F6F3EC"/>
                    </a:solidFill>
                  </a:tcPr>
                </a:tc>
                <a:tc>
                  <a:txBody>
                    <a:bodyPr wrap="square"/>
                    <a:lstStyle/>
                    <a:p>
                      <a:pPr algn="r"/>
                      <a:r>
                        <a:rPr sz="1050" b="1">
                          <a:solidFill>
                            <a:srgbClr val="0F172A"/>
                          </a:solidFill>
                          <a:latin typeface="Inter"/>
                        </a:rPr>
                        <a:t>$3,602</a:t>
                      </a:r>
                    </a:p>
                  </a:txBody>
                  <a:tcPr marL="54864" marR="54864" marT="27432" marB="27432" anchor="ctr">
                    <a:solidFill>
                      <a:srgbClr val="F6F3EC"/>
                    </a:solidFill>
                  </a:tcPr>
                </a:tc>
                <a:tc>
                  <a:txBody>
                    <a:bodyPr wrap="square"/>
                    <a:lstStyle/>
                    <a:p>
                      <a:pPr algn="r"/>
                      <a:r>
                        <a:rPr sz="1050" b="1">
                          <a:solidFill>
                            <a:srgbClr val="0F172A"/>
                          </a:solidFill>
                          <a:latin typeface="Inter"/>
                        </a:rPr>
                        <a:t>$34,696</a:t>
                      </a:r>
                    </a:p>
                  </a:txBody>
                  <a:tcPr marL="54864" marR="54864" marT="27432" marB="27432" anchor="ctr">
                    <a:solidFill>
                      <a:srgbClr val="F6F3EC"/>
                    </a:solidFill>
                  </a:tcPr>
                </a:tc>
                <a:tc>
                  <a:txBody>
                    <a:bodyPr wrap="square"/>
                    <a:lstStyle/>
                    <a:p>
                      <a:pPr algn="r"/>
                      <a:r>
                        <a:rPr sz="1050" b="1">
                          <a:solidFill>
                            <a:srgbClr val="0F172A"/>
                          </a:solidFill>
                          <a:latin typeface="Inter"/>
                        </a:rPr>
                        <a:t>9.63x</a:t>
                      </a:r>
                    </a:p>
                  </a:txBody>
                  <a:tcPr marL="54864" marR="54864" marT="27432" marB="27432" anchor="ctr">
                    <a:solidFill>
                      <a:srgbClr val="F6F3EC"/>
                    </a:solidFill>
                  </a:tcPr>
                </a:tc>
                <a:tc>
                  <a:txBody>
                    <a:bodyPr wrap="square"/>
                    <a:lstStyle/>
                    <a:p>
                      <a:pPr algn="r"/>
                      <a:r>
                        <a:rPr sz="1050" b="1">
                          <a:solidFill>
                            <a:srgbClr val="0F172A"/>
                          </a:solidFill>
                          <a:latin typeface="Inter"/>
                        </a:rPr>
                        <a:t>10.4%</a:t>
                      </a:r>
                    </a:p>
                  </a:txBody>
                  <a:tcPr marL="54864" marR="54864" marT="27432" marB="27432" anchor="ctr">
                    <a:solidFill>
                      <a:srgbClr val="F6F3EC"/>
                    </a:solidFill>
                  </a:tcPr>
                </a:tc>
                <a:tc>
                  <a:txBody>
                    <a:bodyPr wrap="square"/>
                    <a:lstStyle/>
                    <a:p>
                      <a:pPr algn="r"/>
                      <a:r>
                        <a:rPr sz="1050" b="1">
                          <a:solidFill>
                            <a:srgbClr val="0F172A"/>
                          </a:solidFill>
                          <a:latin typeface="Inter"/>
                        </a:rPr>
                        <a:t>78</a:t>
                      </a:r>
                    </a:p>
                  </a:txBody>
                  <a:tcPr marL="54864" marR="54864" marT="27432" marB="27432" anchor="ctr">
                    <a:solidFill>
                      <a:srgbClr val="F6F3EC"/>
                    </a:solidFill>
                  </a:tcPr>
                </a:tc>
              </a:tr>
            </a:tbl>
          </a:graphicData>
        </a:graphic>
      </p:graphicFrame>
      <p:sp>
        <p:nvSpPr>
          <p:cNvPr id="11" name="Shape 11"/>
          <p:cNvSpPr/>
          <p:nvPr/>
        </p:nvSpPr>
        <p:spPr>
          <a:xfrm>
            <a:off x="7543800" y="1417320"/>
            <a:ext cx="4096512" cy="2468880"/>
          </a:xfrm>
          <a:prstGeom prst="roundRect">
            <a:avLst>
              <a:gd name="" fmla="val 6000"/>
            </a:avLst>
          </a:prstGeom>
          <a:solidFill>
            <a:srgbClr val="FFFFFF"/>
          </a:solidFill>
          <a:ln w="9525">
            <a:solidFill>
              <a:srgbClr val="E5E0D6"/>
            </a:solidFill>
          </a:ln>
        </p:spPr>
      </p:sp>
      <p:sp>
        <p:nvSpPr>
          <p:cNvPr id="12" name="Shape 12"/>
          <p:cNvSpPr txBox="1"/>
          <p:nvPr/>
        </p:nvSpPr>
        <p:spPr>
          <a:xfrm>
            <a:off x="7726679" y="155448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it says</a:t>
            </a:r>
          </a:p>
        </p:txBody>
      </p:sp>
      <p:sp>
        <p:nvSpPr>
          <p:cNvPr id="13" name="Shape 13"/>
          <p:cNvSpPr txBox="1"/>
          <p:nvPr/>
        </p:nvSpPr>
        <p:spPr>
          <a:xfrm>
            <a:off x="7726679" y="1874519"/>
            <a:ext cx="3730752" cy="1920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Branded keywords brought $27,076 in sales on $1,605 spend (5.9% ACoS) and 60 orders.</a:t>
            </a:r>
          </a:p>
          <a:p>
            <a:pPr algn="l">
              <a:spcAft>
                <a:spcPts val="500"/>
              </a:spcAft>
            </a:pPr>
            <a:r>
              <a:rPr sz="1050" b="0">
                <a:solidFill>
                  <a:srgbClr val="334155"/>
                </a:solidFill>
                <a:latin typeface="Inter"/>
              </a:rPr>
              <a:t>Category keywords spent $568 for $2,122 (26.8% ACoS); spend there was cut 55% vs last week.</a:t>
            </a:r>
          </a:p>
          <a:p>
            <a:pPr algn="l">
              <a:spcAft>
                <a:spcPts val="500"/>
              </a:spcAft>
            </a:pPr>
            <a:r>
              <a:rPr sz="1050" b="0">
                <a:solidFill>
                  <a:srgbClr val="334155"/>
                </a:solidFill>
                <a:latin typeface="Inter"/>
              </a:rPr>
              <a:t>Streaming TV spent $897 this week with no attributed sales.</a:t>
            </a:r>
          </a:p>
        </p:txBody>
      </p:sp>
      <p:sp>
        <p:nvSpPr>
          <p:cNvPr id="14" name="Shape 14"/>
          <p:cNvSpPr/>
          <p:nvPr/>
        </p:nvSpPr>
        <p:spPr>
          <a:xfrm>
            <a:off x="7543800" y="4023360"/>
            <a:ext cx="4096512" cy="2194560"/>
          </a:xfrm>
          <a:prstGeom prst="roundRect">
            <a:avLst>
              <a:gd name="" fmla="val 6000"/>
            </a:avLst>
          </a:prstGeom>
          <a:solidFill>
            <a:srgbClr val="FFFFFF"/>
          </a:solidFill>
          <a:ln w="9525">
            <a:solidFill>
              <a:srgbClr val="E5E0D6"/>
            </a:solidFill>
          </a:ln>
        </p:spPr>
      </p:sp>
      <p:sp>
        <p:nvSpPr>
          <p:cNvPr id="15" name="Shape 15"/>
          <p:cNvSpPr txBox="1"/>
          <p:nvPr/>
        </p:nvSpPr>
        <p:spPr>
          <a:xfrm>
            <a:off x="7726679" y="416052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Coverage note</a:t>
            </a:r>
          </a:p>
        </p:txBody>
      </p:sp>
      <p:sp>
        <p:nvSpPr>
          <p:cNvPr id="16" name="Shape 16"/>
          <p:cNvSpPr txBox="1"/>
          <p:nvPr/>
        </p:nvSpPr>
        <p:spPr>
          <a:xfrm>
            <a:off x="7726679" y="4480560"/>
            <a:ext cx="3730752" cy="1645919"/>
          </a:xfrm>
          <a:prstGeom prst="rect">
            <a:avLst/>
          </a:prstGeom>
          <a:noFill/>
        </p:spPr>
        <p:txBody>
          <a:bodyPr wrap="square" lIns="36576" rIns="36576" tIns="18288" bIns="18288" anchor="t">
            <a:spAutoFit/>
          </a:bodyPr>
          <a:lstStyle/>
          <a:p>
            <a:pPr algn="l">
              <a:spcAft>
                <a:spcPts val="500"/>
              </a:spcAft>
            </a:pPr>
            <a:r>
              <a:rPr sz="1000" b="0">
                <a:solidFill>
                  <a:srgbClr val="334155"/>
                </a:solidFill>
                <a:latin typeface="Inter"/>
              </a:rPr>
              <a:t>Strategy is read from the campaign names (Brand / Category / Auto / Audience).</a:t>
            </a:r>
          </a:p>
          <a:p>
            <a:pPr algn="l">
              <a:spcAft>
                <a:spcPts val="500"/>
              </a:spcAft>
            </a:pPr>
            <a:r>
              <a:rPr sz="1000" b="0">
                <a:solidFill>
                  <a:srgbClr val="334155"/>
                </a:solidFill>
                <a:latin typeface="Inter"/>
              </a:rPr>
              <a:t>Campaign totals come from the campaign report and can differ slightly from account totals.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Bid optimization</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7 / 17</a:t>
            </a:r>
          </a:p>
        </p:txBody>
      </p:sp>
      <p:sp>
        <p:nvSpPr>
          <p:cNvPr id="10" name="Shape 10"/>
          <p:cNvSpPr/>
          <p:nvPr/>
        </p:nvSpPr>
        <p:spPr>
          <a:xfrm>
            <a:off x="548640" y="1417320"/>
            <a:ext cx="2651760" cy="1463040"/>
          </a:xfrm>
          <a:prstGeom prst="roundRect">
            <a:avLst>
              <a:gd name="" fmla="val 6000"/>
            </a:avLst>
          </a:prstGeom>
          <a:solidFill>
            <a:srgbClr val="F6F3EC"/>
          </a:solidFill>
          <a:ln>
            <a:noFill/>
          </a:ln>
        </p:spPr>
      </p:sp>
      <p:sp>
        <p:nvSpPr>
          <p:cNvPr id="11" name="Shape 11"/>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TARGETS TRACKED</a:t>
            </a:r>
          </a:p>
        </p:txBody>
      </p:sp>
      <p:sp>
        <p:nvSpPr>
          <p:cNvPr id="12" name="Shape 12"/>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520</a:t>
            </a:r>
          </a:p>
        </p:txBody>
      </p:sp>
      <p:sp>
        <p:nvSpPr>
          <p:cNvPr id="13" name="Shape 13"/>
          <p:cNvSpPr txBox="1"/>
          <p:nvPr/>
        </p:nvSpPr>
        <p:spPr>
          <a:xfrm>
            <a:off x="713232"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keywords and product targets</a:t>
            </a:r>
          </a:p>
        </p:txBody>
      </p:sp>
      <p:sp>
        <p:nvSpPr>
          <p:cNvPr id="14" name="Shape 14"/>
          <p:cNvSpPr/>
          <p:nvPr/>
        </p:nvSpPr>
        <p:spPr>
          <a:xfrm>
            <a:off x="3364992" y="1417320"/>
            <a:ext cx="2651760" cy="1463040"/>
          </a:xfrm>
          <a:prstGeom prst="roundRect">
            <a:avLst>
              <a:gd name="" fmla="val 6000"/>
            </a:avLst>
          </a:prstGeom>
          <a:solidFill>
            <a:srgbClr val="F6F3EC"/>
          </a:solidFill>
          <a:ln>
            <a:noFill/>
          </a:ln>
        </p:spPr>
      </p:sp>
      <p:sp>
        <p:nvSpPr>
          <p:cNvPr id="15" name="Shape 15"/>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WINNERS</a:t>
            </a:r>
          </a:p>
        </p:txBody>
      </p:sp>
      <p:sp>
        <p:nvSpPr>
          <p:cNvPr id="16" name="Shape 16"/>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16A34A"/>
                </a:solidFill>
                <a:latin typeface="Space Grotesk"/>
              </a:rPr>
              <a:t>22</a:t>
            </a:r>
          </a:p>
        </p:txBody>
      </p:sp>
      <p:sp>
        <p:nvSpPr>
          <p:cNvPr id="17" name="Shape 17"/>
          <p:cNvSpPr txBox="1"/>
          <p:nvPr/>
        </p:nvSpPr>
        <p:spPr>
          <a:xfrm>
            <a:off x="3529584"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converting at or under 35% ACoS</a:t>
            </a:r>
          </a:p>
        </p:txBody>
      </p:sp>
      <p:sp>
        <p:nvSpPr>
          <p:cNvPr id="18" name="Shape 18"/>
          <p:cNvSpPr/>
          <p:nvPr/>
        </p:nvSpPr>
        <p:spPr>
          <a:xfrm>
            <a:off x="6181344" y="1417320"/>
            <a:ext cx="2651760" cy="1463040"/>
          </a:xfrm>
          <a:prstGeom prst="roundRect">
            <a:avLst>
              <a:gd name="" fmla="val 6000"/>
            </a:avLst>
          </a:prstGeom>
          <a:solidFill>
            <a:srgbClr val="F6F3EC"/>
          </a:solidFill>
          <a:ln>
            <a:noFill/>
          </a:ln>
        </p:spPr>
      </p:sp>
      <p:sp>
        <p:nvSpPr>
          <p:cNvPr id="19" name="Shape 19"/>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NEED ATTENTION</a:t>
            </a:r>
          </a:p>
        </p:txBody>
      </p:sp>
      <p:sp>
        <p:nvSpPr>
          <p:cNvPr id="20" name="Shape 20"/>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97</a:t>
            </a:r>
          </a:p>
        </p:txBody>
      </p:sp>
      <p:sp>
        <p:nvSpPr>
          <p:cNvPr id="21" name="Shape 21"/>
          <p:cNvSpPr txBox="1"/>
          <p:nvPr/>
        </p:nvSpPr>
        <p:spPr>
          <a:xfrm>
            <a:off x="6345936"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0 high ACoS · 10 no sales</a:t>
            </a:r>
          </a:p>
        </p:txBody>
      </p:sp>
      <p:sp>
        <p:nvSpPr>
          <p:cNvPr id="22" name="Shape 22"/>
          <p:cNvSpPr/>
          <p:nvPr/>
        </p:nvSpPr>
        <p:spPr>
          <a:xfrm>
            <a:off x="8997696" y="1417320"/>
            <a:ext cx="2642616" cy="1463040"/>
          </a:xfrm>
          <a:prstGeom prst="roundRect">
            <a:avLst>
              <a:gd name="" fmla="val 6000"/>
            </a:avLst>
          </a:prstGeom>
          <a:solidFill>
            <a:srgbClr val="F6F3EC"/>
          </a:solidFill>
          <a:ln>
            <a:noFill/>
          </a:ln>
        </p:spPr>
      </p:sp>
      <p:sp>
        <p:nvSpPr>
          <p:cNvPr id="23" name="Shape 23"/>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LOW CLICK RATE</a:t>
            </a:r>
          </a:p>
        </p:txBody>
      </p:sp>
      <p:sp>
        <p:nvSpPr>
          <p:cNvPr id="24" name="Shape 24"/>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97706"/>
                </a:solidFill>
                <a:latin typeface="Space Grotesk"/>
              </a:rPr>
              <a:t>52</a:t>
            </a:r>
          </a:p>
        </p:txBody>
      </p:sp>
      <p:sp>
        <p:nvSpPr>
          <p:cNvPr id="25" name="Shape 25"/>
          <p:cNvSpPr txBox="1"/>
          <p:nvPr/>
        </p:nvSpPr>
        <p:spPr>
          <a:xfrm>
            <a:off x="9162288" y="246888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seen but rarely clicked</a:t>
            </a:r>
          </a:p>
        </p:txBody>
      </p:sp>
      <p:graphicFrame>
        <p:nvGraphicFramePr>
          <p:cNvPr id="26" name="Shape 26"/>
          <p:cNvGraphicFramePr>
            <a:graphicFrameLocks noGrp="1"/>
          </p:cNvGraphicFramePr>
          <p:nvPr/>
        </p:nvGraphicFramePr>
        <p:xfrm>
          <a:off x="548640" y="3063240"/>
          <a:ext cx="7223760" cy="1975104"/>
        </p:xfrm>
        <a:graphic>
          <a:graphicData uri="http://schemas.openxmlformats.org/drawingml/2006/table">
            <a:tbl>
              <a:tblPr firstRow="1" bandRow="1">
                <a:tableStyleId>{5C22544A-7EE6-4342-B048-85BDC9FD1C3A}</a:tableStyleId>
              </a:tblPr>
              <a:tblGrid>
                <a:gridCol w="1920240"/>
                <a:gridCol w="731520"/>
                <a:gridCol w="822960"/>
                <a:gridCol w="822960"/>
                <a:gridCol w="822960"/>
                <a:gridCol w="822960"/>
                <a:gridCol w="640080"/>
                <a:gridCol w="640080"/>
              </a:tblGrid>
              <a:tr h="329184">
                <a:tc>
                  <a:txBody>
                    <a:bodyPr wrap="square"/>
                    <a:lstStyle/>
                    <a:p>
                      <a:pPr algn="l"/>
                      <a:r>
                        <a:rPr sz="900" b="1">
                          <a:solidFill>
                            <a:srgbClr val="FFFFFF"/>
                          </a:solidFill>
                          <a:latin typeface="Inter"/>
                        </a:rPr>
                        <a:t>Target</a:t>
                      </a:r>
                    </a:p>
                  </a:txBody>
                  <a:tcPr marL="54864" marR="54864" marT="27432" marB="27432" anchor="ctr">
                    <a:solidFill>
                      <a:srgbClr val="0F172A"/>
                    </a:solidFill>
                  </a:tcPr>
                </a:tc>
                <a:tc>
                  <a:txBody>
                    <a:bodyPr wrap="square"/>
                    <a:lstStyle/>
                    <a:p>
                      <a:pPr algn="r"/>
                      <a:r>
                        <a:rPr sz="900" b="1">
                          <a:solidFill>
                            <a:srgbClr val="FFFFFF"/>
                          </a:solidFill>
                          <a:latin typeface="Inter"/>
                        </a:rPr>
                        <a:t>Match</a:t>
                      </a:r>
                    </a:p>
                  </a:txBody>
                  <a:tcPr marL="54864" marR="54864" marT="27432" marB="27432" anchor="ctr">
                    <a:solidFill>
                      <a:srgbClr val="0F172A"/>
                    </a:solidFill>
                  </a:tcPr>
                </a:tc>
                <a:tc>
                  <a:txBody>
                    <a:bodyPr wrap="square"/>
                    <a:lstStyle/>
                    <a:p>
                      <a:pPr algn="r"/>
                      <a:r>
                        <a:rPr sz="900" b="1">
                          <a:solidFill>
                            <a:srgbClr val="FFFFFF"/>
                          </a:solidFill>
                          <a:latin typeface="Inter"/>
                        </a:rPr>
                        <a:t>Type</a:t>
                      </a:r>
                    </a:p>
                  </a:txBody>
                  <a:tcPr marL="54864" marR="54864" marT="27432" marB="27432" anchor="ctr">
                    <a:solidFill>
                      <a:srgbClr val="0F172A"/>
                    </a:solidFill>
                  </a:tcPr>
                </a:tc>
                <a:tc>
                  <a:txBody>
                    <a:bodyPr wrap="square"/>
                    <a:lstStyle/>
                    <a:p>
                      <a:pPr algn="r"/>
                      <a:r>
                        <a:rPr sz="900" b="1">
                          <a:solidFill>
                            <a:srgbClr val="FFFFFF"/>
                          </a:solidFill>
                          <a:latin typeface="Inter"/>
                        </a:rPr>
                        <a:t>Spend</a:t>
                      </a:r>
                    </a:p>
                  </a:txBody>
                  <a:tcPr marL="54864" marR="54864" marT="27432" marB="27432" anchor="ctr">
                    <a:solidFill>
                      <a:srgbClr val="0F172A"/>
                    </a:solidFill>
                  </a:tcPr>
                </a:tc>
                <a:tc>
                  <a:txBody>
                    <a:bodyPr wrap="square"/>
                    <a:lstStyle/>
                    <a:p>
                      <a:pPr algn="r"/>
                      <a:r>
                        <a:rPr sz="900" b="1">
                          <a:solidFill>
                            <a:srgbClr val="FFFFFF"/>
                          </a:solidFill>
                          <a:latin typeface="Inter"/>
                        </a:rPr>
                        <a:t>Sales</a:t>
                      </a:r>
                    </a:p>
                  </a:txBody>
                  <a:tcPr marL="54864" marR="54864" marT="27432" marB="27432" anchor="ctr">
                    <a:solidFill>
                      <a:srgbClr val="0F172A"/>
                    </a:solidFill>
                  </a:tcPr>
                </a:tc>
                <a:tc>
                  <a:txBody>
                    <a:bodyPr wrap="square"/>
                    <a:lstStyle/>
                    <a:p>
                      <a:pPr algn="r"/>
                      <a:r>
                        <a:rPr sz="900" b="1">
                          <a:solidFill>
                            <a:srgbClr val="FFFFFF"/>
                          </a:solidFill>
                          <a:latin typeface="Inter"/>
                        </a:rPr>
                        <a:t>ACoS</a:t>
                      </a:r>
                    </a:p>
                  </a:txBody>
                  <a:tcPr marL="54864" marR="54864" marT="27432" marB="27432" anchor="ctr">
                    <a:solidFill>
                      <a:srgbClr val="0F172A"/>
                    </a:solidFill>
                  </a:tcPr>
                </a:tc>
                <a:tc>
                  <a:txBody>
                    <a:bodyPr wrap="square"/>
                    <a:lstStyle/>
                    <a:p>
                      <a:pPr algn="r"/>
                      <a:r>
                        <a:rPr sz="900" b="1">
                          <a:solidFill>
                            <a:srgbClr val="FFFFFF"/>
                          </a:solidFill>
                          <a:latin typeface="Inter"/>
                        </a:rPr>
                        <a:t>Clicks</a:t>
                      </a:r>
                    </a:p>
                  </a:txBody>
                  <a:tcPr marL="54864" marR="54864" marT="27432" marB="27432" anchor="ctr">
                    <a:solidFill>
                      <a:srgbClr val="0F172A"/>
                    </a:solidFill>
                  </a:tcPr>
                </a:tc>
                <a:tc>
                  <a:txBody>
                    <a:bodyPr wrap="square"/>
                    <a:lstStyle/>
                    <a:p>
                      <a:pPr algn="r"/>
                      <a:r>
                        <a:rPr sz="900" b="1">
                          <a:solidFill>
                            <a:srgbClr val="FFFFFF"/>
                          </a:solidFill>
                          <a:latin typeface="Inter"/>
                        </a:rPr>
                        <a:t>Orders</a:t>
                      </a:r>
                    </a:p>
                  </a:txBody>
                  <a:tcPr marL="54864" marR="54864" marT="27432" marB="27432" anchor="ctr">
                    <a:solidFill>
                      <a:srgbClr val="0F172A"/>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Category</a:t>
                      </a:r>
                    </a:p>
                  </a:txBody>
                  <a:tcPr marL="54864" marR="54864" marT="27432" marB="27432" anchor="ctr">
                    <a:solidFill>
                      <a:srgbClr val="FFFFFF"/>
                    </a:solidFill>
                  </a:tcPr>
                </a:tc>
                <a:tc>
                  <a:txBody>
                    <a:bodyPr wrap="square"/>
                    <a:lstStyle/>
                    <a:p>
                      <a:pPr algn="r"/>
                      <a:r>
                        <a:rPr sz="1000" b="0">
                          <a:solidFill>
                            <a:srgbClr val="0F172A"/>
                          </a:solidFill>
                          <a:latin typeface="Inter"/>
                        </a:rPr>
                        <a:t>$183</a:t>
                      </a:r>
                    </a:p>
                  </a:txBody>
                  <a:tcPr marL="54864" marR="54864" marT="27432" marB="27432" anchor="ctr">
                    <a:solidFill>
                      <a:srgbClr val="FFFFFF"/>
                    </a:solidFill>
                  </a:tcPr>
                </a:tc>
                <a:tc>
                  <a:txBody>
                    <a:bodyPr wrap="square"/>
                    <a:lstStyle/>
                    <a:p>
                      <a:pPr algn="r"/>
                      <a:r>
                        <a:rPr sz="1000" b="0">
                          <a:solidFill>
                            <a:srgbClr val="0F172A"/>
                          </a:solidFill>
                          <a:latin typeface="Inter"/>
                        </a:rPr>
                        <a:t>$525</a:t>
                      </a:r>
                    </a:p>
                  </a:txBody>
                  <a:tcPr marL="54864" marR="54864" marT="27432" marB="27432" anchor="ctr">
                    <a:solidFill>
                      <a:srgbClr val="FFFFFF"/>
                    </a:solidFill>
                  </a:tcPr>
                </a:tc>
                <a:tc>
                  <a:txBody>
                    <a:bodyPr wrap="square"/>
                    <a:lstStyle/>
                    <a:p>
                      <a:pPr algn="r"/>
                      <a:r>
                        <a:rPr sz="1000" b="0">
                          <a:solidFill>
                            <a:srgbClr val="DC2626"/>
                          </a:solidFill>
                          <a:latin typeface="Inter"/>
                        </a:rPr>
                        <a:t>34.9%</a:t>
                      </a:r>
                    </a:p>
                  </a:txBody>
                  <a:tcPr marL="54864" marR="54864" marT="27432" marB="27432" anchor="ctr">
                    <a:solidFill>
                      <a:srgbClr val="FFFFFF"/>
                    </a:solidFill>
                  </a:tcPr>
                </a:tc>
                <a:tc>
                  <a:txBody>
                    <a:bodyPr wrap="square"/>
                    <a:lstStyle/>
                    <a:p>
                      <a:pPr algn="r"/>
                      <a:r>
                        <a:rPr sz="1000" b="0">
                          <a:solidFill>
                            <a:srgbClr val="0F172A"/>
                          </a:solidFill>
                          <a:latin typeface="Inter"/>
                        </a:rPr>
                        <a:t>165</a:t>
                      </a:r>
                    </a:p>
                  </a:txBody>
                  <a:tcPr marL="54864" marR="54864" marT="27432" marB="27432" anchor="ctr">
                    <a:solidFill>
                      <a:srgbClr val="FFFFFF"/>
                    </a:solidFill>
                  </a:tcPr>
                </a:tc>
                <a:tc>
                  <a:txBody>
                    <a:bodyPr wrap="square"/>
                    <a:lstStyle/>
                    <a:p>
                      <a:pPr algn="r"/>
                      <a:r>
                        <a:rPr sz="1000" b="0">
                          <a:solidFill>
                            <a:srgbClr val="0F172A"/>
                          </a:solidFill>
                          <a:latin typeface="Inter"/>
                        </a:rPr>
                        <a:t>1</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BFAF7"/>
                    </a:solidFill>
                  </a:tcPr>
                </a:tc>
                <a:tc>
                  <a:txBody>
                    <a:bodyPr wrap="square"/>
                    <a:lstStyle/>
                    <a:p>
                      <a:pPr algn="r"/>
                      <a:r>
                        <a:rPr sz="1000" b="0">
                          <a:solidFill>
                            <a:srgbClr val="0F172A"/>
                          </a:solidFill>
                          <a:latin typeface="Inter"/>
                        </a:rPr>
                        <a:t>Exact</a:t>
                      </a:r>
                    </a:p>
                  </a:txBody>
                  <a:tcPr marL="54864" marR="54864" marT="27432" marB="27432" anchor="ctr">
                    <a:solidFill>
                      <a:srgbClr val="FBFAF7"/>
                    </a:solidFill>
                  </a:tcPr>
                </a:tc>
                <a:tc>
                  <a:txBody>
                    <a:bodyPr wrap="square"/>
                    <a:lstStyle/>
                    <a:p>
                      <a:pPr algn="r"/>
                      <a:r>
                        <a:rPr sz="1000" b="0">
                          <a:solidFill>
                            <a:srgbClr val="0F172A"/>
                          </a:solidFill>
                          <a:latin typeface="Inter"/>
                        </a:rPr>
                        <a:t>Category</a:t>
                      </a:r>
                    </a:p>
                  </a:txBody>
                  <a:tcPr marL="54864" marR="54864" marT="27432" marB="27432" anchor="ctr">
                    <a:solidFill>
                      <a:srgbClr val="FBFAF7"/>
                    </a:solidFill>
                  </a:tcPr>
                </a:tc>
                <a:tc>
                  <a:txBody>
                    <a:bodyPr wrap="square"/>
                    <a:lstStyle/>
                    <a:p>
                      <a:pPr algn="r"/>
                      <a:r>
                        <a:rPr sz="1000" b="0">
                          <a:solidFill>
                            <a:srgbClr val="0F172A"/>
                          </a:solidFill>
                          <a:latin typeface="Inter"/>
                        </a:rPr>
                        <a:t>$76</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53</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sur matelas dormeo</a:t>
                      </a:r>
                    </a:p>
                  </a:txBody>
                  <a:tcPr marL="54864" marR="54864" marT="27432" marB="27432" anchor="ctr">
                    <a:solidFill>
                      <a:srgbClr val="FFFFFF"/>
                    </a:solidFill>
                  </a:tcPr>
                </a:tc>
                <a:tc>
                  <a:txBody>
                    <a:bodyPr wrap="square"/>
                    <a:lstStyle/>
                    <a:p>
                      <a:pPr algn="r"/>
                      <a:r>
                        <a:rPr sz="1000" b="0">
                          <a:solidFill>
                            <a:srgbClr val="0F172A"/>
                          </a:solidFill>
                          <a:latin typeface="Inter"/>
                        </a:rPr>
                        <a:t>Exact</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$46</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16</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 mattress topper</a:t>
                      </a:r>
                    </a:p>
                  </a:txBody>
                  <a:tcPr marL="54864" marR="54864" marT="27432" marB="27432" anchor="ctr">
                    <a:solidFill>
                      <a:srgbClr val="FBFAF7"/>
                    </a:solidFill>
                  </a:tcPr>
                </a:tc>
                <a:tc>
                  <a:txBody>
                    <a:bodyPr wrap="square"/>
                    <a:lstStyle/>
                    <a:p>
                      <a:pPr algn="r"/>
                      <a:r>
                        <a:rPr sz="1000" b="0">
                          <a:solidFill>
                            <a:srgbClr val="0F172A"/>
                          </a:solidFill>
                          <a:latin typeface="Inter"/>
                        </a:rPr>
                        <a:t>Exact</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$44</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34</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$40</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57</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bl>
          </a:graphicData>
        </a:graphic>
      </p:graphicFrame>
      <p:sp>
        <p:nvSpPr>
          <p:cNvPr id="27" name="Shape 27"/>
          <p:cNvSpPr/>
          <p:nvPr/>
        </p:nvSpPr>
        <p:spPr>
          <a:xfrm>
            <a:off x="8001000" y="3063240"/>
            <a:ext cx="3639312" cy="3154680"/>
          </a:xfrm>
          <a:prstGeom prst="roundRect">
            <a:avLst>
              <a:gd name="" fmla="val 6000"/>
            </a:avLst>
          </a:prstGeom>
          <a:solidFill>
            <a:srgbClr val="FFFFFF"/>
          </a:solidFill>
          <a:ln w="9525">
            <a:solidFill>
              <a:srgbClr val="E5E0D6"/>
            </a:solidFill>
          </a:ln>
        </p:spPr>
      </p:sp>
      <p:sp>
        <p:nvSpPr>
          <p:cNvPr id="28" name="Shape 28"/>
          <p:cNvSpPr txBox="1"/>
          <p:nvPr/>
        </p:nvSpPr>
        <p:spPr>
          <a:xfrm>
            <a:off x="8183879" y="3200400"/>
            <a:ext cx="32735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moves</a:t>
            </a:r>
          </a:p>
        </p:txBody>
      </p:sp>
      <p:sp>
        <p:nvSpPr>
          <p:cNvPr id="29" name="Shape 29"/>
          <p:cNvSpPr txBox="1"/>
          <p:nvPr/>
        </p:nvSpPr>
        <p:spPr>
          <a:xfrm>
            <a:off x="8183879" y="3520440"/>
            <a:ext cx="3273552" cy="26060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Review the Streaming TV audience campaign for the Queen topper: $897 this week and $892 last week with no attributed sales.</a:t>
            </a:r>
          </a:p>
          <a:p>
            <a:pPr algn="l">
              <a:spcAft>
                <a:spcPts val="500"/>
              </a:spcAft>
            </a:pPr>
            <a:r>
              <a:rPr sz="1050" b="0">
                <a:solidFill>
                  <a:srgbClr val="334155"/>
                </a:solidFill>
                <a:latin typeface="Inter"/>
              </a:rPr>
              <a:t>Pause or negate “mattress +topper” (exact, $76) and “sur matelas dormeo” (exact, $46): clicks, no sales.</a:t>
            </a:r>
          </a:p>
          <a:p>
            <a:pPr algn="l">
              <a:spcAft>
                <a:spcPts val="500"/>
              </a:spcAft>
            </a:pPr>
            <a:r>
              <a:rPr sz="1050" b="0">
                <a:solidFill>
                  <a:srgbClr val="334155"/>
                </a:solidFill>
                <a:latin typeface="Inter"/>
              </a:rPr>
              <a:t>Lower the bid on “mattress +topper” (phrase): $183 for 1 order.</a:t>
            </a:r>
          </a:p>
          <a:p>
            <a:pPr algn="l">
              <a:spcAft>
                <a:spcPts val="500"/>
              </a:spcAft>
            </a:pPr>
            <a:r>
              <a:rPr sz="1050" b="0">
                <a:solidFill>
                  <a:srgbClr val="334155"/>
                </a:solidFill>
                <a:latin typeface="Inter"/>
              </a:rPr>
              <a:t>Impression share and bid-change history are not in the Sellerise report, so they aren't tracked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keywords — top customer searches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8 / 17</a:t>
            </a:r>
          </a:p>
        </p:txBody>
      </p:sp>
      <p:sp>
        <p:nvSpPr>
          <p:cNvPr id="10" name="Shape 10"/>
          <p:cNvSpPr/>
          <p:nvPr/>
        </p:nvSpPr>
        <p:spPr>
          <a:xfrm>
            <a:off x="548640" y="1371600"/>
            <a:ext cx="3566160" cy="1005840"/>
          </a:xfrm>
          <a:prstGeom prst="roundRect">
            <a:avLst>
              <a:gd name="" fmla="val 6000"/>
            </a:avLst>
          </a:prstGeom>
          <a:solidFill>
            <a:srgbClr val="F6F3EC"/>
          </a:solidFill>
          <a:ln>
            <a:noFill/>
          </a:ln>
        </p:spPr>
      </p:sp>
      <p:sp>
        <p:nvSpPr>
          <p:cNvPr id="11" name="Shape 11"/>
          <p:cNvSpPr txBox="1"/>
          <p:nvPr/>
        </p:nvSpPr>
        <p:spPr>
          <a:xfrm>
            <a:off x="713232"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 SB</a:t>
            </a:r>
          </a:p>
        </p:txBody>
      </p:sp>
      <p:sp>
        <p:nvSpPr>
          <p:cNvPr id="12" name="Shape 12"/>
          <p:cNvSpPr txBox="1"/>
          <p:nvPr/>
        </p:nvSpPr>
        <p:spPr>
          <a:xfrm>
            <a:off x="713232"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$7,047</a:t>
            </a:r>
            <a:r>
              <a:rPr sz="1000" b="0">
                <a:solidFill>
                  <a:srgbClr val="6B6558"/>
                </a:solidFill>
                <a:latin typeface="Inter"/>
              </a:rPr>
              <a:t>   183 clicks · 13 orders · CVR 7.1%</a:t>
            </a:r>
          </a:p>
        </p:txBody>
      </p:sp>
      <p:sp>
        <p:nvSpPr>
          <p:cNvPr id="13" name="Shape 13"/>
          <p:cNvSpPr/>
          <p:nvPr/>
        </p:nvSpPr>
        <p:spPr>
          <a:xfrm>
            <a:off x="4279392" y="1371600"/>
            <a:ext cx="3566160" cy="1005840"/>
          </a:xfrm>
          <a:prstGeom prst="roundRect">
            <a:avLst>
              <a:gd name="" fmla="val 6000"/>
            </a:avLst>
          </a:prstGeom>
          <a:solidFill>
            <a:srgbClr val="F6F3EC"/>
          </a:solidFill>
          <a:ln>
            <a:noFill/>
          </a:ln>
        </p:spPr>
      </p:sp>
      <p:sp>
        <p:nvSpPr>
          <p:cNvPr id="14" name="Shape 14"/>
          <p:cNvSpPr txBox="1"/>
          <p:nvPr/>
        </p:nvSpPr>
        <p:spPr>
          <a:xfrm>
            <a:off x="4443983"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SP</a:t>
            </a:r>
          </a:p>
        </p:txBody>
      </p:sp>
      <p:sp>
        <p:nvSpPr>
          <p:cNvPr id="15" name="Shape 15"/>
          <p:cNvSpPr txBox="1"/>
          <p:nvPr/>
        </p:nvSpPr>
        <p:spPr>
          <a:xfrm>
            <a:off x="4443983"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$3,744</a:t>
            </a:r>
            <a:r>
              <a:rPr sz="1000" b="0">
                <a:solidFill>
                  <a:srgbClr val="6B6558"/>
                </a:solidFill>
                <a:latin typeface="Inter"/>
              </a:rPr>
              <a:t>   74 clicks · 9 orders · CVR 12.2%</a:t>
            </a:r>
          </a:p>
        </p:txBody>
      </p:sp>
      <p:sp>
        <p:nvSpPr>
          <p:cNvPr id="16" name="Shape 16"/>
          <p:cNvSpPr/>
          <p:nvPr/>
        </p:nvSpPr>
        <p:spPr>
          <a:xfrm>
            <a:off x="8010144" y="1371600"/>
            <a:ext cx="3566160" cy="1005840"/>
          </a:xfrm>
          <a:prstGeom prst="roundRect">
            <a:avLst>
              <a:gd name="" fmla="val 6000"/>
            </a:avLst>
          </a:prstGeom>
          <a:solidFill>
            <a:srgbClr val="F6F3EC"/>
          </a:solidFill>
          <a:ln>
            <a:noFill/>
          </a:ln>
        </p:spPr>
      </p:sp>
      <p:sp>
        <p:nvSpPr>
          <p:cNvPr id="17" name="Shape 17"/>
          <p:cNvSpPr txBox="1"/>
          <p:nvPr/>
        </p:nvSpPr>
        <p:spPr>
          <a:xfrm>
            <a:off x="8174736"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SB</a:t>
            </a:r>
          </a:p>
        </p:txBody>
      </p:sp>
      <p:sp>
        <p:nvSpPr>
          <p:cNvPr id="18" name="Shape 18"/>
          <p:cNvSpPr txBox="1"/>
          <p:nvPr/>
        </p:nvSpPr>
        <p:spPr>
          <a:xfrm>
            <a:off x="8174736"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$2,770</a:t>
            </a:r>
            <a:r>
              <a:rPr sz="1000" b="0">
                <a:solidFill>
                  <a:srgbClr val="6B6558"/>
                </a:solidFill>
                <a:latin typeface="Inter"/>
              </a:rPr>
              <a:t>   25 clicks · 5 orders · CVR 20.0%</a:t>
            </a:r>
          </a:p>
        </p:txBody>
      </p:sp>
      <p:sp>
        <p:nvSpPr>
          <p:cNvPr id="19" name="Shape 19"/>
          <p:cNvSpPr/>
          <p:nvPr/>
        </p:nvSpPr>
        <p:spPr>
          <a:xfrm>
            <a:off x="548640" y="2514600"/>
            <a:ext cx="3566160" cy="1005840"/>
          </a:xfrm>
          <a:prstGeom prst="roundRect">
            <a:avLst>
              <a:gd name="" fmla="val 6000"/>
            </a:avLst>
          </a:prstGeom>
          <a:solidFill>
            <a:srgbClr val="F6F3EC"/>
          </a:solidFill>
          <a:ln>
            <a:noFill/>
          </a:ln>
        </p:spPr>
      </p:sp>
      <p:sp>
        <p:nvSpPr>
          <p:cNvPr id="20" name="Shape 20"/>
          <p:cNvSpPr txBox="1"/>
          <p:nvPr/>
        </p:nvSpPr>
        <p:spPr>
          <a:xfrm>
            <a:off x="713232"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size” · SP</a:t>
            </a:r>
          </a:p>
        </p:txBody>
      </p:sp>
      <p:sp>
        <p:nvSpPr>
          <p:cNvPr id="21" name="Shape 21"/>
          <p:cNvSpPr txBox="1"/>
          <p:nvPr/>
        </p:nvSpPr>
        <p:spPr>
          <a:xfrm>
            <a:off x="713232"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$1,199</a:t>
            </a:r>
            <a:r>
              <a:rPr sz="1000" b="0">
                <a:solidFill>
                  <a:srgbClr val="6B6558"/>
                </a:solidFill>
                <a:latin typeface="Inter"/>
              </a:rPr>
              <a:t>   11 clicks · 2 orders · CVR 18.2%</a:t>
            </a:r>
          </a:p>
        </p:txBody>
      </p:sp>
      <p:sp>
        <p:nvSpPr>
          <p:cNvPr id="22" name="Shape 22"/>
          <p:cNvSpPr/>
          <p:nvPr/>
        </p:nvSpPr>
        <p:spPr>
          <a:xfrm>
            <a:off x="4279392" y="2514600"/>
            <a:ext cx="3566160" cy="1005840"/>
          </a:xfrm>
          <a:prstGeom prst="roundRect">
            <a:avLst>
              <a:gd name="" fmla="val 6000"/>
            </a:avLst>
          </a:prstGeom>
          <a:solidFill>
            <a:srgbClr val="F6F3EC"/>
          </a:solidFill>
          <a:ln>
            <a:noFill/>
          </a:ln>
        </p:spPr>
      </p:sp>
      <p:sp>
        <p:nvSpPr>
          <p:cNvPr id="23" name="Shape 23"/>
          <p:cNvSpPr txBox="1"/>
          <p:nvPr/>
        </p:nvSpPr>
        <p:spPr>
          <a:xfrm>
            <a:off x="4443983"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topper canada” · SP</a:t>
            </a:r>
          </a:p>
        </p:txBody>
      </p:sp>
      <p:sp>
        <p:nvSpPr>
          <p:cNvPr id="24" name="Shape 24"/>
          <p:cNvSpPr txBox="1"/>
          <p:nvPr/>
        </p:nvSpPr>
        <p:spPr>
          <a:xfrm>
            <a:off x="4443983"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$1,108</a:t>
            </a:r>
            <a:r>
              <a:rPr sz="1000" b="0">
                <a:solidFill>
                  <a:srgbClr val="6B6558"/>
                </a:solidFill>
                <a:latin typeface="Inter"/>
              </a:rPr>
              <a:t>   12 clicks · 2 orders · CVR 16.7%</a:t>
            </a:r>
          </a:p>
        </p:txBody>
      </p:sp>
      <p:sp>
        <p:nvSpPr>
          <p:cNvPr id="25" name="Shape 25"/>
          <p:cNvSpPr/>
          <p:nvPr/>
        </p:nvSpPr>
        <p:spPr>
          <a:xfrm>
            <a:off x="8010144" y="2514600"/>
            <a:ext cx="3566160" cy="1005840"/>
          </a:xfrm>
          <a:prstGeom prst="roundRect">
            <a:avLst>
              <a:gd name="" fmla="val 6000"/>
            </a:avLst>
          </a:prstGeom>
          <a:solidFill>
            <a:srgbClr val="F6F3EC"/>
          </a:solidFill>
          <a:ln>
            <a:noFill/>
          </a:ln>
        </p:spPr>
      </p:sp>
      <p:sp>
        <p:nvSpPr>
          <p:cNvPr id="26" name="Shape 26"/>
          <p:cNvSpPr txBox="1"/>
          <p:nvPr/>
        </p:nvSpPr>
        <p:spPr>
          <a:xfrm>
            <a:off x="8174736"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 SP</a:t>
            </a:r>
          </a:p>
        </p:txBody>
      </p:sp>
      <p:sp>
        <p:nvSpPr>
          <p:cNvPr id="27" name="Shape 27"/>
          <p:cNvSpPr txBox="1"/>
          <p:nvPr/>
        </p:nvSpPr>
        <p:spPr>
          <a:xfrm>
            <a:off x="8174736"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$953</a:t>
            </a:r>
            <a:r>
              <a:rPr sz="1000" b="0">
                <a:solidFill>
                  <a:srgbClr val="6B6558"/>
                </a:solidFill>
                <a:latin typeface="Inter"/>
              </a:rPr>
              <a:t>   20 clicks · 3 orders · CVR 15.0%</a:t>
            </a:r>
          </a:p>
        </p:txBody>
      </p:sp>
      <p:graphicFrame>
        <p:nvGraphicFramePr>
          <p:cNvPr id="28" name="Shape 28"/>
          <p:cNvGraphicFramePr>
            <a:graphicFrameLocks noGrp="1"/>
          </p:cNvGraphicFramePr>
          <p:nvPr/>
        </p:nvGraphicFramePr>
        <p:xfrm>
          <a:off x="548640" y="3749039"/>
          <a:ext cx="11091672" cy="2468880"/>
        </p:xfrm>
        <a:graphic>
          <a:graphicData uri="http://schemas.openxmlformats.org/drawingml/2006/table">
            <a:tbl>
              <a:tblPr firstRow="1" bandRow="1">
                <a:tableStyleId>{5C22544A-7EE6-4342-B048-85BDC9FD1C3A}</a:tableStyleId>
              </a:tblPr>
              <a:tblGrid>
                <a:gridCol w="3291840"/>
                <a:gridCol w="548640"/>
                <a:gridCol w="1143000"/>
                <a:gridCol w="822960"/>
                <a:gridCol w="822960"/>
                <a:gridCol w="822960"/>
                <a:gridCol w="1188720"/>
                <a:gridCol w="1188720"/>
                <a:gridCol w="1261872"/>
              </a:tblGrid>
              <a:tr h="274320">
                <a:tc>
                  <a:txBody>
                    <a:bodyPr wrap="square"/>
                    <a:lstStyle/>
                    <a:p>
                      <a:pPr algn="l"/>
                      <a:r>
                        <a:rPr sz="850" b="1">
                          <a:solidFill>
                            <a:srgbClr val="FFFFFF"/>
                          </a:solidFill>
                          <a:latin typeface="Inter"/>
                        </a:rPr>
                        <a:t>Search term</a:t>
                      </a:r>
                    </a:p>
                  </a:txBody>
                  <a:tcPr marL="54864" marR="54864" marT="27432" marB="27432" anchor="ctr">
                    <a:solidFill>
                      <a:srgbClr val="0F172A"/>
                    </a:solidFill>
                  </a:tcPr>
                </a:tc>
                <a:tc>
                  <a:txBody>
                    <a:bodyPr wrap="square"/>
                    <a:lstStyle/>
                    <a:p>
                      <a:pPr algn="r"/>
                      <a:r>
                        <a:rPr sz="850" b="1">
                          <a:solidFill>
                            <a:srgbClr val="FFFFFF"/>
                          </a:solidFill>
                          <a:latin typeface="Inter"/>
                        </a:rPr>
                        <a:t>Ad</a:t>
                      </a:r>
                    </a:p>
                  </a:txBody>
                  <a:tcPr marL="54864" marR="54864" marT="27432" marB="27432" anchor="ctr">
                    <a:solidFill>
                      <a:srgbClr val="0F172A"/>
                    </a:solidFill>
                  </a:tcPr>
                </a:tc>
                <a:tc>
                  <a:txBody>
                    <a:bodyPr wrap="square"/>
                    <a:lstStyle/>
                    <a:p>
                      <a:pPr algn="r"/>
                      <a:r>
                        <a:rPr sz="850" b="1">
                          <a:solidFill>
                            <a:srgbClr val="FFFFFF"/>
                          </a:solidFill>
                          <a:latin typeface="Inter"/>
                        </a:rPr>
                        <a:t>Impressions</a:t>
                      </a:r>
                    </a:p>
                  </a:txBody>
                  <a:tcPr marL="54864" marR="54864" marT="27432" marB="27432" anchor="ctr">
                    <a:solidFill>
                      <a:srgbClr val="0F172A"/>
                    </a:solidFill>
                  </a:tcPr>
                </a:tc>
                <a:tc>
                  <a:txBody>
                    <a:bodyPr wrap="square"/>
                    <a:lstStyle/>
                    <a:p>
                      <a:pPr algn="r"/>
                      <a:r>
                        <a:rPr sz="850" b="1">
                          <a:solidFill>
                            <a:srgbClr val="FFFFFF"/>
                          </a:solidFill>
                          <a:latin typeface="Inter"/>
                        </a:rPr>
                        <a:t>Clicks</a:t>
                      </a:r>
                    </a:p>
                  </a:txBody>
                  <a:tcPr marL="54864" marR="54864" marT="27432" marB="27432" anchor="ctr">
                    <a:solidFill>
                      <a:srgbClr val="0F172A"/>
                    </a:solidFill>
                  </a:tcPr>
                </a:tc>
                <a:tc>
                  <a:txBody>
                    <a:bodyPr wrap="square"/>
                    <a:lstStyle/>
                    <a:p>
                      <a:pPr algn="r"/>
                      <a:r>
                        <a:rPr sz="850" b="1">
                          <a:solidFill>
                            <a:srgbClr val="FFFFFF"/>
                          </a:solidFill>
                          <a:latin typeface="Inter"/>
                        </a:rPr>
                        <a:t>Orders</a:t>
                      </a:r>
                    </a:p>
                  </a:txBody>
                  <a:tcPr marL="54864" marR="54864" marT="27432" marB="27432" anchor="ctr">
                    <a:solidFill>
                      <a:srgbClr val="0F172A"/>
                    </a:solidFill>
                  </a:tcPr>
                </a:tc>
                <a:tc>
                  <a:txBody>
                    <a:bodyPr wrap="square"/>
                    <a:lstStyle/>
                    <a:p>
                      <a:pPr algn="r"/>
                      <a:r>
                        <a:rPr sz="850" b="1">
                          <a:solidFill>
                            <a:srgbClr val="FFFFFF"/>
                          </a:solidFill>
                          <a:latin typeface="Inter"/>
                        </a:rPr>
                        <a:t>CVR</a:t>
                      </a:r>
                    </a:p>
                  </a:txBody>
                  <a:tcPr marL="54864" marR="54864" marT="27432" marB="27432" anchor="ctr">
                    <a:solidFill>
                      <a:srgbClr val="0F172A"/>
                    </a:solidFill>
                  </a:tcPr>
                </a:tc>
                <a:tc>
                  <a:txBody>
                    <a:bodyPr wrap="square"/>
                    <a:lstStyle/>
                    <a:p>
                      <a:pPr algn="r"/>
                      <a:r>
                        <a:rPr sz="850" b="1">
                          <a:solidFill>
                            <a:srgbClr val="FFFFFF"/>
                          </a:solidFill>
                          <a:latin typeface="Inter"/>
                        </a:rPr>
                        <a:t>Spend</a:t>
                      </a:r>
                    </a:p>
                  </a:txBody>
                  <a:tcPr marL="54864" marR="54864" marT="27432" marB="27432" anchor="ctr">
                    <a:solidFill>
                      <a:srgbClr val="0F172A"/>
                    </a:solidFill>
                  </a:tcPr>
                </a:tc>
                <a:tc>
                  <a:txBody>
                    <a:bodyPr wrap="square"/>
                    <a:lstStyle/>
                    <a:p>
                      <a:pPr algn="r"/>
                      <a:r>
                        <a:rPr sz="850" b="1">
                          <a:solidFill>
                            <a:srgbClr val="FFFFFF"/>
                          </a:solidFill>
                          <a:latin typeface="Inter"/>
                        </a:rPr>
                        <a:t>Sales</a:t>
                      </a:r>
                    </a:p>
                  </a:txBody>
                  <a:tcPr marL="54864" marR="54864" marT="27432" marB="27432" anchor="ctr">
                    <a:solidFill>
                      <a:srgbClr val="0F172A"/>
                    </a:solidFill>
                  </a:tcPr>
                </a:tc>
                <a:tc>
                  <a:txBody>
                    <a:bodyPr wrap="square"/>
                    <a:lstStyle/>
                    <a:p>
                      <a:pPr algn="r"/>
                      <a:r>
                        <a:rPr sz="850" b="1">
                          <a:solidFill>
                            <a:srgbClr val="FFFFFF"/>
                          </a:solidFill>
                          <a:latin typeface="Inter"/>
                        </a:rPr>
                        <a:t>ACoS</a:t>
                      </a:r>
                    </a:p>
                  </a:txBody>
                  <a:tcPr marL="54864" marR="54864" marT="27432" marB="27432" anchor="ctr">
                    <a:solidFill>
                      <a:srgbClr val="0F172A"/>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5,058</a:t>
                      </a:r>
                    </a:p>
                  </a:txBody>
                  <a:tcPr marL="54864" marR="54864" marT="27432" marB="27432" anchor="ctr">
                    <a:solidFill>
                      <a:srgbClr val="FFFFFF"/>
                    </a:solidFill>
                  </a:tcPr>
                </a:tc>
                <a:tc>
                  <a:txBody>
                    <a:bodyPr wrap="square"/>
                    <a:lstStyle/>
                    <a:p>
                      <a:pPr algn="r"/>
                      <a:r>
                        <a:rPr sz="950" b="0">
                          <a:solidFill>
                            <a:srgbClr val="0F172A"/>
                          </a:solidFill>
                          <a:latin typeface="Inter"/>
                        </a:rPr>
                        <a:t>183</a:t>
                      </a:r>
                    </a:p>
                  </a:txBody>
                  <a:tcPr marL="54864" marR="54864" marT="27432" marB="27432" anchor="ctr">
                    <a:solidFill>
                      <a:srgbClr val="FFFFFF"/>
                    </a:solidFill>
                  </a:tcPr>
                </a:tc>
                <a:tc>
                  <a:txBody>
                    <a:bodyPr wrap="square"/>
                    <a:lstStyle/>
                    <a:p>
                      <a:pPr algn="r"/>
                      <a:r>
                        <a:rPr sz="950" b="0">
                          <a:solidFill>
                            <a:srgbClr val="0F172A"/>
                          </a:solidFill>
                          <a:latin typeface="Inter"/>
                        </a:rPr>
                        <a:t>13</a:t>
                      </a:r>
                    </a:p>
                  </a:txBody>
                  <a:tcPr marL="54864" marR="54864" marT="27432" marB="27432" anchor="ctr">
                    <a:solidFill>
                      <a:srgbClr val="FFFFFF"/>
                    </a:solidFill>
                  </a:tcPr>
                </a:tc>
                <a:tc>
                  <a:txBody>
                    <a:bodyPr wrap="square"/>
                    <a:lstStyle/>
                    <a:p>
                      <a:pPr algn="r"/>
                      <a:r>
                        <a:rPr sz="950" b="0">
                          <a:solidFill>
                            <a:srgbClr val="0F172A"/>
                          </a:solidFill>
                          <a:latin typeface="Inter"/>
                        </a:rPr>
                        <a:t>7.1%</a:t>
                      </a:r>
                    </a:p>
                  </a:txBody>
                  <a:tcPr marL="54864" marR="54864" marT="27432" marB="27432" anchor="ctr">
                    <a:solidFill>
                      <a:srgbClr val="FFFFFF"/>
                    </a:solidFill>
                  </a:tcPr>
                </a:tc>
                <a:tc>
                  <a:txBody>
                    <a:bodyPr wrap="square"/>
                    <a:lstStyle/>
                    <a:p>
                      <a:pPr algn="r"/>
                      <a:r>
                        <a:rPr sz="950" b="0">
                          <a:solidFill>
                            <a:srgbClr val="0F172A"/>
                          </a:solidFill>
                          <a:latin typeface="Inter"/>
                        </a:rPr>
                        <a:t>$273</a:t>
                      </a:r>
                    </a:p>
                  </a:txBody>
                  <a:tcPr marL="54864" marR="54864" marT="27432" marB="27432" anchor="ctr">
                    <a:solidFill>
                      <a:srgbClr val="FFFFFF"/>
                    </a:solidFill>
                  </a:tcPr>
                </a:tc>
                <a:tc>
                  <a:txBody>
                    <a:bodyPr wrap="square"/>
                    <a:lstStyle/>
                    <a:p>
                      <a:pPr algn="r"/>
                      <a:r>
                        <a:rPr sz="950" b="0">
                          <a:solidFill>
                            <a:srgbClr val="0F172A"/>
                          </a:solidFill>
                          <a:latin typeface="Inter"/>
                        </a:rPr>
                        <a:t>$7,047</a:t>
                      </a:r>
                    </a:p>
                  </a:txBody>
                  <a:tcPr marL="54864" marR="54864" marT="27432" marB="27432" anchor="ctr">
                    <a:solidFill>
                      <a:srgbClr val="FFFFFF"/>
                    </a:solidFill>
                  </a:tcPr>
                </a:tc>
                <a:tc>
                  <a:txBody>
                    <a:bodyPr wrap="square"/>
                    <a:lstStyle/>
                    <a:p>
                      <a:pPr algn="r"/>
                      <a:r>
                        <a:rPr sz="950" b="0">
                          <a:solidFill>
                            <a:srgbClr val="0F172A"/>
                          </a:solidFill>
                          <a:latin typeface="Inter"/>
                        </a:rPr>
                        <a:t>3.9%</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4,811</a:t>
                      </a:r>
                    </a:p>
                  </a:txBody>
                  <a:tcPr marL="54864" marR="54864" marT="27432" marB="27432" anchor="ctr">
                    <a:solidFill>
                      <a:srgbClr val="FBFAF7"/>
                    </a:solidFill>
                  </a:tcPr>
                </a:tc>
                <a:tc>
                  <a:txBody>
                    <a:bodyPr wrap="square"/>
                    <a:lstStyle/>
                    <a:p>
                      <a:pPr algn="r"/>
                      <a:r>
                        <a:rPr sz="950" b="0">
                          <a:solidFill>
                            <a:srgbClr val="0F172A"/>
                          </a:solidFill>
                          <a:latin typeface="Inter"/>
                        </a:rPr>
                        <a:t>74</a:t>
                      </a:r>
                    </a:p>
                  </a:txBody>
                  <a:tcPr marL="54864" marR="54864" marT="27432" marB="27432" anchor="ctr">
                    <a:solidFill>
                      <a:srgbClr val="FBFAF7"/>
                    </a:solidFill>
                  </a:tcPr>
                </a:tc>
                <a:tc>
                  <a:txBody>
                    <a:bodyPr wrap="square"/>
                    <a:lstStyle/>
                    <a:p>
                      <a:pPr algn="r"/>
                      <a:r>
                        <a:rPr sz="950" b="0">
                          <a:solidFill>
                            <a:srgbClr val="0F172A"/>
                          </a:solidFill>
                          <a:latin typeface="Inter"/>
                        </a:rPr>
                        <a:t>9</a:t>
                      </a:r>
                    </a:p>
                  </a:txBody>
                  <a:tcPr marL="54864" marR="54864" marT="27432" marB="27432" anchor="ctr">
                    <a:solidFill>
                      <a:srgbClr val="FBFAF7"/>
                    </a:solidFill>
                  </a:tcPr>
                </a:tc>
                <a:tc>
                  <a:txBody>
                    <a:bodyPr wrap="square"/>
                    <a:lstStyle/>
                    <a:p>
                      <a:pPr algn="r"/>
                      <a:r>
                        <a:rPr sz="950" b="0">
                          <a:solidFill>
                            <a:srgbClr val="0F172A"/>
                          </a:solidFill>
                          <a:latin typeface="Inter"/>
                        </a:rPr>
                        <a:t>12.2%</a:t>
                      </a:r>
                    </a:p>
                  </a:txBody>
                  <a:tcPr marL="54864" marR="54864" marT="27432" marB="27432" anchor="ctr">
                    <a:solidFill>
                      <a:srgbClr val="FBFAF7"/>
                    </a:solidFill>
                  </a:tcPr>
                </a:tc>
                <a:tc>
                  <a:txBody>
                    <a:bodyPr wrap="square"/>
                    <a:lstStyle/>
                    <a:p>
                      <a:pPr algn="r"/>
                      <a:r>
                        <a:rPr sz="950" b="0">
                          <a:solidFill>
                            <a:srgbClr val="0F172A"/>
                          </a:solidFill>
                          <a:latin typeface="Inter"/>
                        </a:rPr>
                        <a:t>$94</a:t>
                      </a:r>
                    </a:p>
                  </a:txBody>
                  <a:tcPr marL="54864" marR="54864" marT="27432" marB="27432" anchor="ctr">
                    <a:solidFill>
                      <a:srgbClr val="FBFAF7"/>
                    </a:solidFill>
                  </a:tcPr>
                </a:tc>
                <a:tc>
                  <a:txBody>
                    <a:bodyPr wrap="square"/>
                    <a:lstStyle/>
                    <a:p>
                      <a:pPr algn="r"/>
                      <a:r>
                        <a:rPr sz="950" b="0">
                          <a:solidFill>
                            <a:srgbClr val="0F172A"/>
                          </a:solidFill>
                          <a:latin typeface="Inter"/>
                        </a:rPr>
                        <a:t>$3,744</a:t>
                      </a:r>
                    </a:p>
                  </a:txBody>
                  <a:tcPr marL="54864" marR="54864" marT="27432" marB="27432" anchor="ctr">
                    <a:solidFill>
                      <a:srgbClr val="FBFAF7"/>
                    </a:solidFill>
                  </a:tcPr>
                </a:tc>
                <a:tc>
                  <a:txBody>
                    <a:bodyPr wrap="square"/>
                    <a:lstStyle/>
                    <a:p>
                      <a:pPr algn="r"/>
                      <a:r>
                        <a:rPr sz="950" b="0">
                          <a:solidFill>
                            <a:srgbClr val="0F172A"/>
                          </a:solidFill>
                          <a:latin typeface="Inter"/>
                        </a:rPr>
                        <a:t>2.5%</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426</a:t>
                      </a:r>
                    </a:p>
                  </a:txBody>
                  <a:tcPr marL="54864" marR="54864" marT="27432" marB="27432" anchor="ctr">
                    <a:solidFill>
                      <a:srgbClr val="FFFFFF"/>
                    </a:solidFill>
                  </a:tcPr>
                </a:tc>
                <a:tc>
                  <a:txBody>
                    <a:bodyPr wrap="square"/>
                    <a:lstStyle/>
                    <a:p>
                      <a:pPr algn="r"/>
                      <a:r>
                        <a:rPr sz="950" b="0">
                          <a:solidFill>
                            <a:srgbClr val="0F172A"/>
                          </a:solidFill>
                          <a:latin typeface="Inter"/>
                        </a:rPr>
                        <a:t>25</a:t>
                      </a:r>
                    </a:p>
                  </a:txBody>
                  <a:tcPr marL="54864" marR="54864" marT="27432" marB="27432" anchor="ctr">
                    <a:solidFill>
                      <a:srgbClr val="FFFFFF"/>
                    </a:solidFill>
                  </a:tcPr>
                </a:tc>
                <a:tc>
                  <a:txBody>
                    <a:bodyPr wrap="square"/>
                    <a:lstStyle/>
                    <a:p>
                      <a:pPr algn="r"/>
                      <a:r>
                        <a:rPr sz="950" b="0">
                          <a:solidFill>
                            <a:srgbClr val="0F172A"/>
                          </a:solidFill>
                          <a:latin typeface="Inter"/>
                        </a:rPr>
                        <a:t>5</a:t>
                      </a:r>
                    </a:p>
                  </a:txBody>
                  <a:tcPr marL="54864" marR="54864" marT="27432" marB="27432" anchor="ctr">
                    <a:solidFill>
                      <a:srgbClr val="FFFFFF"/>
                    </a:solidFill>
                  </a:tcPr>
                </a:tc>
                <a:tc>
                  <a:txBody>
                    <a:bodyPr wrap="square"/>
                    <a:lstStyle/>
                    <a:p>
                      <a:pPr algn="r"/>
                      <a:r>
                        <a:rPr sz="950" b="0">
                          <a:solidFill>
                            <a:srgbClr val="0F172A"/>
                          </a:solidFill>
                          <a:latin typeface="Inter"/>
                        </a:rPr>
                        <a:t>20.0%</a:t>
                      </a:r>
                    </a:p>
                  </a:txBody>
                  <a:tcPr marL="54864" marR="54864" marT="27432" marB="27432" anchor="ctr">
                    <a:solidFill>
                      <a:srgbClr val="FFFFFF"/>
                    </a:solidFill>
                  </a:tcPr>
                </a:tc>
                <a:tc>
                  <a:txBody>
                    <a:bodyPr wrap="square"/>
                    <a:lstStyle/>
                    <a:p>
                      <a:pPr algn="r"/>
                      <a:r>
                        <a:rPr sz="950" b="0">
                          <a:solidFill>
                            <a:srgbClr val="0F172A"/>
                          </a:solidFill>
                          <a:latin typeface="Inter"/>
                        </a:rPr>
                        <a:t>$36</a:t>
                      </a:r>
                    </a:p>
                  </a:txBody>
                  <a:tcPr marL="54864" marR="54864" marT="27432" marB="27432" anchor="ctr">
                    <a:solidFill>
                      <a:srgbClr val="FFFFFF"/>
                    </a:solidFill>
                  </a:tcPr>
                </a:tc>
                <a:tc>
                  <a:txBody>
                    <a:bodyPr wrap="square"/>
                    <a:lstStyle/>
                    <a:p>
                      <a:pPr algn="r"/>
                      <a:r>
                        <a:rPr sz="950" b="0">
                          <a:solidFill>
                            <a:srgbClr val="0F172A"/>
                          </a:solidFill>
                          <a:latin typeface="Inter"/>
                        </a:rPr>
                        <a:t>$2,770</a:t>
                      </a:r>
                    </a:p>
                  </a:txBody>
                  <a:tcPr marL="54864" marR="54864" marT="27432" marB="27432" anchor="ctr">
                    <a:solidFill>
                      <a:srgbClr val="FFFFFF"/>
                    </a:solidFill>
                  </a:tcPr>
                </a:tc>
                <a:tc>
                  <a:txBody>
                    <a:bodyPr wrap="square"/>
                    <a:lstStyle/>
                    <a:p>
                      <a:pPr algn="r"/>
                      <a:r>
                        <a:rPr sz="950" b="0">
                          <a:solidFill>
                            <a:srgbClr val="0F172A"/>
                          </a:solidFill>
                          <a:latin typeface="Inter"/>
                        </a:rPr>
                        <a:t>1.3%</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king size</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295</a:t>
                      </a:r>
                    </a:p>
                  </a:txBody>
                  <a:tcPr marL="54864" marR="54864" marT="27432" marB="27432" anchor="ctr">
                    <a:solidFill>
                      <a:srgbClr val="FBFAF7"/>
                    </a:solidFill>
                  </a:tcPr>
                </a:tc>
                <a:tc>
                  <a:txBody>
                    <a:bodyPr wrap="square"/>
                    <a:lstStyle/>
                    <a:p>
                      <a:pPr algn="r"/>
                      <a:r>
                        <a:rPr sz="950" b="0">
                          <a:solidFill>
                            <a:srgbClr val="0F172A"/>
                          </a:solidFill>
                          <a:latin typeface="Inter"/>
                        </a:rPr>
                        <a:t>11</a:t>
                      </a:r>
                    </a:p>
                  </a:txBody>
                  <a:tcPr marL="54864" marR="54864" marT="27432" marB="27432" anchor="ctr">
                    <a:solidFill>
                      <a:srgbClr val="FBFAF7"/>
                    </a:solidFill>
                  </a:tcPr>
                </a:tc>
                <a:tc>
                  <a:txBody>
                    <a:bodyPr wrap="square"/>
                    <a:lstStyle/>
                    <a:p>
                      <a:pPr algn="r"/>
                      <a:r>
                        <a:rPr sz="950" b="0">
                          <a:solidFill>
                            <a:srgbClr val="0F172A"/>
                          </a:solidFill>
                          <a:latin typeface="Inter"/>
                        </a:rPr>
                        <a:t>2</a:t>
                      </a:r>
                    </a:p>
                  </a:txBody>
                  <a:tcPr marL="54864" marR="54864" marT="27432" marB="27432" anchor="ctr">
                    <a:solidFill>
                      <a:srgbClr val="FBFAF7"/>
                    </a:solidFill>
                  </a:tcPr>
                </a:tc>
                <a:tc>
                  <a:txBody>
                    <a:bodyPr wrap="square"/>
                    <a:lstStyle/>
                    <a:p>
                      <a:pPr algn="r"/>
                      <a:r>
                        <a:rPr sz="950" b="0">
                          <a:solidFill>
                            <a:srgbClr val="0F172A"/>
                          </a:solidFill>
                          <a:latin typeface="Inter"/>
                        </a:rPr>
                        <a:t>18.2%</a:t>
                      </a:r>
                    </a:p>
                  </a:txBody>
                  <a:tcPr marL="54864" marR="54864" marT="27432" marB="27432" anchor="ctr">
                    <a:solidFill>
                      <a:srgbClr val="FBFAF7"/>
                    </a:solidFill>
                  </a:tcPr>
                </a:tc>
                <a:tc>
                  <a:txBody>
                    <a:bodyPr wrap="square"/>
                    <a:lstStyle/>
                    <a:p>
                      <a:pPr algn="r"/>
                      <a:r>
                        <a:rPr sz="950" b="0">
                          <a:solidFill>
                            <a:srgbClr val="0F172A"/>
                          </a:solidFill>
                          <a:latin typeface="Inter"/>
                        </a:rPr>
                        <a:t>$28</a:t>
                      </a:r>
                    </a:p>
                  </a:txBody>
                  <a:tcPr marL="54864" marR="54864" marT="27432" marB="27432" anchor="ctr">
                    <a:solidFill>
                      <a:srgbClr val="FBFAF7"/>
                    </a:solidFill>
                  </a:tcPr>
                </a:tc>
                <a:tc>
                  <a:txBody>
                    <a:bodyPr wrap="square"/>
                    <a:lstStyle/>
                    <a:p>
                      <a:pPr algn="r"/>
                      <a:r>
                        <a:rPr sz="950" b="0">
                          <a:solidFill>
                            <a:srgbClr val="0F172A"/>
                          </a:solidFill>
                          <a:latin typeface="Inter"/>
                        </a:rPr>
                        <a:t>$1,199</a:t>
                      </a:r>
                    </a:p>
                  </a:txBody>
                  <a:tcPr marL="54864" marR="54864" marT="27432" marB="27432" anchor="ctr">
                    <a:solidFill>
                      <a:srgbClr val="FBFAF7"/>
                    </a:solidFill>
                  </a:tcPr>
                </a:tc>
                <a:tc>
                  <a:txBody>
                    <a:bodyPr wrap="square"/>
                    <a:lstStyle/>
                    <a:p>
                      <a:pPr algn="r"/>
                      <a:r>
                        <a:rPr sz="950" b="0">
                          <a:solidFill>
                            <a:srgbClr val="0F172A"/>
                          </a:solidFill>
                          <a:latin typeface="Inter"/>
                        </a:rPr>
                        <a:t>2.4%</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topper canada</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1,007</a:t>
                      </a:r>
                    </a:p>
                  </a:txBody>
                  <a:tcPr marL="54864" marR="54864" marT="27432" marB="27432" anchor="ctr">
                    <a:solidFill>
                      <a:srgbClr val="FFFFFF"/>
                    </a:solidFill>
                  </a:tcPr>
                </a:tc>
                <a:tc>
                  <a:txBody>
                    <a:bodyPr wrap="square"/>
                    <a:lstStyle/>
                    <a:p>
                      <a:pPr algn="r"/>
                      <a:r>
                        <a:rPr sz="950" b="0">
                          <a:solidFill>
                            <a:srgbClr val="0F172A"/>
                          </a:solidFill>
                          <a:latin typeface="Inter"/>
                        </a:rPr>
                        <a:t>12</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16.7%</a:t>
                      </a:r>
                    </a:p>
                  </a:txBody>
                  <a:tcPr marL="54864" marR="54864" marT="27432" marB="27432" anchor="ctr">
                    <a:solidFill>
                      <a:srgbClr val="FFFFFF"/>
                    </a:solidFill>
                  </a:tcPr>
                </a:tc>
                <a:tc>
                  <a:txBody>
                    <a:bodyPr wrap="square"/>
                    <a:lstStyle/>
                    <a:p>
                      <a:pPr algn="r"/>
                      <a:r>
                        <a:rPr sz="950" b="0">
                          <a:solidFill>
                            <a:srgbClr val="0F172A"/>
                          </a:solidFill>
                          <a:latin typeface="Inter"/>
                        </a:rPr>
                        <a:t>$24</a:t>
                      </a:r>
                    </a:p>
                  </a:txBody>
                  <a:tcPr marL="54864" marR="54864" marT="27432" marB="27432" anchor="ctr">
                    <a:solidFill>
                      <a:srgbClr val="FFFFFF"/>
                    </a:solidFill>
                  </a:tcPr>
                </a:tc>
                <a:tc>
                  <a:txBody>
                    <a:bodyPr wrap="square"/>
                    <a:lstStyle/>
                    <a:p>
                      <a:pPr algn="r"/>
                      <a:r>
                        <a:rPr sz="950" b="0">
                          <a:solidFill>
                            <a:srgbClr val="0F172A"/>
                          </a:solidFill>
                          <a:latin typeface="Inter"/>
                        </a:rPr>
                        <a:t>$1,108</a:t>
                      </a:r>
                    </a:p>
                  </a:txBody>
                  <a:tcPr marL="54864" marR="54864" marT="27432" marB="27432" anchor="ctr">
                    <a:solidFill>
                      <a:srgbClr val="FFFFFF"/>
                    </a:solidFill>
                  </a:tcPr>
                </a:tc>
                <a:tc>
                  <a:txBody>
                    <a:bodyPr wrap="square"/>
                    <a:lstStyle/>
                    <a:p>
                      <a:pPr algn="r"/>
                      <a:r>
                        <a:rPr sz="950" b="0">
                          <a:solidFill>
                            <a:srgbClr val="0F172A"/>
                          </a:solidFill>
                          <a:latin typeface="Inter"/>
                        </a:rPr>
                        <a:t>2.2%</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king</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906</a:t>
                      </a:r>
                    </a:p>
                  </a:txBody>
                  <a:tcPr marL="54864" marR="54864" marT="27432" marB="27432" anchor="ctr">
                    <a:solidFill>
                      <a:srgbClr val="FBFAF7"/>
                    </a:solidFill>
                  </a:tcPr>
                </a:tc>
                <a:tc>
                  <a:txBody>
                    <a:bodyPr wrap="square"/>
                    <a:lstStyle/>
                    <a:p>
                      <a:pPr algn="r"/>
                      <a:r>
                        <a:rPr sz="950" b="0">
                          <a:solidFill>
                            <a:srgbClr val="0F172A"/>
                          </a:solidFill>
                          <a:latin typeface="Inter"/>
                        </a:rPr>
                        <a:t>20</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15.0%</a:t>
                      </a:r>
                    </a:p>
                  </a:txBody>
                  <a:tcPr marL="54864" marR="54864" marT="27432" marB="27432" anchor="ctr">
                    <a:solidFill>
                      <a:srgbClr val="FBFAF7"/>
                    </a:solidFill>
                  </a:tcPr>
                </a:tc>
                <a:tc>
                  <a:txBody>
                    <a:bodyPr wrap="square"/>
                    <a:lstStyle/>
                    <a:p>
                      <a:pPr algn="r"/>
                      <a:r>
                        <a:rPr sz="950" b="0">
                          <a:solidFill>
                            <a:srgbClr val="0F172A"/>
                          </a:solidFill>
                          <a:latin typeface="Inter"/>
                        </a:rPr>
                        <a:t>$29</a:t>
                      </a:r>
                    </a:p>
                  </a:txBody>
                  <a:tcPr marL="54864" marR="54864" marT="27432" marB="27432" anchor="ctr">
                    <a:solidFill>
                      <a:srgbClr val="FBFAF7"/>
                    </a:solidFill>
                  </a:tcPr>
                </a:tc>
                <a:tc>
                  <a:txBody>
                    <a:bodyPr wrap="square"/>
                    <a:lstStyle/>
                    <a:p>
                      <a:pPr algn="r"/>
                      <a:r>
                        <a:rPr sz="950" b="0">
                          <a:solidFill>
                            <a:srgbClr val="0F172A"/>
                          </a:solidFill>
                          <a:latin typeface="Inter"/>
                        </a:rPr>
                        <a:t>$953</a:t>
                      </a:r>
                    </a:p>
                  </a:txBody>
                  <a:tcPr marL="54864" marR="54864" marT="27432" marB="27432" anchor="ctr">
                    <a:solidFill>
                      <a:srgbClr val="FBFAF7"/>
                    </a:solidFill>
                  </a:tcPr>
                </a:tc>
                <a:tc>
                  <a:txBody>
                    <a:bodyPr wrap="square"/>
                    <a:lstStyle/>
                    <a:p>
                      <a:pPr algn="r"/>
                      <a:r>
                        <a:rPr sz="950" b="0">
                          <a:solidFill>
                            <a:srgbClr val="0F172A"/>
                          </a:solidFill>
                          <a:latin typeface="Inter"/>
                        </a:rPr>
                        <a:t>3.0%</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12,349</a:t>
                      </a:r>
                    </a:p>
                  </a:txBody>
                  <a:tcPr marL="54864" marR="54864" marT="27432" marB="27432" anchor="ctr">
                    <a:solidFill>
                      <a:srgbClr val="FFFFFF"/>
                    </a:solidFill>
                  </a:tcPr>
                </a:tc>
                <a:tc>
                  <a:txBody>
                    <a:bodyPr wrap="square"/>
                    <a:lstStyle/>
                    <a:p>
                      <a:pPr algn="r"/>
                      <a:r>
                        <a:rPr sz="950" b="0">
                          <a:solidFill>
                            <a:srgbClr val="0F172A"/>
                          </a:solidFill>
                          <a:latin typeface="Inter"/>
                        </a:rPr>
                        <a:t>222</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0.9%</a:t>
                      </a:r>
                    </a:p>
                  </a:txBody>
                  <a:tcPr marL="54864" marR="54864" marT="27432" marB="27432" anchor="ctr">
                    <a:solidFill>
                      <a:srgbClr val="FFFFFF"/>
                    </a:solidFill>
                  </a:tcPr>
                </a:tc>
                <a:tc>
                  <a:txBody>
                    <a:bodyPr wrap="square"/>
                    <a:lstStyle/>
                    <a:p>
                      <a:pPr algn="r"/>
                      <a:r>
                        <a:rPr sz="950" b="0">
                          <a:solidFill>
                            <a:srgbClr val="0F172A"/>
                          </a:solidFill>
                          <a:latin typeface="Inter"/>
                        </a:rPr>
                        <a:t>$254</a:t>
                      </a:r>
                    </a:p>
                  </a:txBody>
                  <a:tcPr marL="54864" marR="54864" marT="27432" marB="27432" anchor="ctr">
                    <a:solidFill>
                      <a:srgbClr val="FFFFFF"/>
                    </a:solidFill>
                  </a:tcPr>
                </a:tc>
                <a:tc>
                  <a:txBody>
                    <a:bodyPr wrap="square"/>
                    <a:lstStyle/>
                    <a:p>
                      <a:pPr algn="r"/>
                      <a:r>
                        <a:rPr sz="950" b="0">
                          <a:solidFill>
                            <a:srgbClr val="0F172A"/>
                          </a:solidFill>
                          <a:latin typeface="Inter"/>
                        </a:rPr>
                        <a:t>$953</a:t>
                      </a:r>
                    </a:p>
                  </a:txBody>
                  <a:tcPr marL="54864" marR="54864" marT="27432" marB="27432" anchor="ctr">
                    <a:solidFill>
                      <a:srgbClr val="FFFFFF"/>
                    </a:solidFill>
                  </a:tcPr>
                </a:tc>
                <a:tc>
                  <a:txBody>
                    <a:bodyPr wrap="square"/>
                    <a:lstStyle/>
                    <a:p>
                      <a:pPr algn="r"/>
                      <a:r>
                        <a:rPr sz="950" b="0">
                          <a:solidFill>
                            <a:srgbClr val="0F172A"/>
                          </a:solidFill>
                          <a:latin typeface="Inter"/>
                        </a:rPr>
                        <a:t>26.6%</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2,763</a:t>
                      </a:r>
                    </a:p>
                  </a:txBody>
                  <a:tcPr marL="54864" marR="54864" marT="27432" marB="27432" anchor="ctr">
                    <a:solidFill>
                      <a:srgbClr val="FBFAF7"/>
                    </a:solidFill>
                  </a:tcPr>
                </a:tc>
                <a:tc>
                  <a:txBody>
                    <a:bodyPr wrap="square"/>
                    <a:lstStyle/>
                    <a:p>
                      <a:pPr algn="r"/>
                      <a:r>
                        <a:rPr sz="950" b="0">
                          <a:solidFill>
                            <a:srgbClr val="0F172A"/>
                          </a:solidFill>
                          <a:latin typeface="Inter"/>
                        </a:rPr>
                        <a:t>57</a:t>
                      </a:r>
                    </a:p>
                  </a:txBody>
                  <a:tcPr marL="54864" marR="54864" marT="27432" marB="27432" anchor="ctr">
                    <a:solidFill>
                      <a:srgbClr val="FBFAF7"/>
                    </a:solidFill>
                  </a:tcPr>
                </a:tc>
                <a:tc>
                  <a:txBody>
                    <a:bodyPr wrap="square"/>
                    <a:lstStyle/>
                    <a:p>
                      <a:pPr algn="r"/>
                      <a:r>
                        <a:rPr sz="950" b="0">
                          <a:solidFill>
                            <a:srgbClr val="0F172A"/>
                          </a:solidFill>
                          <a:latin typeface="Inter"/>
                        </a:rPr>
                        <a:t>2</a:t>
                      </a:r>
                    </a:p>
                  </a:txBody>
                  <a:tcPr marL="54864" marR="54864" marT="27432" marB="27432" anchor="ctr">
                    <a:solidFill>
                      <a:srgbClr val="FBFAF7"/>
                    </a:solidFill>
                  </a:tcPr>
                </a:tc>
                <a:tc>
                  <a:txBody>
                    <a:bodyPr wrap="square"/>
                    <a:lstStyle/>
                    <a:p>
                      <a:pPr algn="r"/>
                      <a:r>
                        <a:rPr sz="950" b="0">
                          <a:solidFill>
                            <a:srgbClr val="0F172A"/>
                          </a:solidFill>
                          <a:latin typeface="Inter"/>
                        </a:rPr>
                        <a:t>3.5%</a:t>
                      </a:r>
                    </a:p>
                  </a:txBody>
                  <a:tcPr marL="54864" marR="54864" marT="27432" marB="27432" anchor="ctr">
                    <a:solidFill>
                      <a:srgbClr val="FBFAF7"/>
                    </a:solidFill>
                  </a:tcPr>
                </a:tc>
                <a:tc>
                  <a:txBody>
                    <a:bodyPr wrap="square"/>
                    <a:lstStyle/>
                    <a:p>
                      <a:pPr algn="r"/>
                      <a:r>
                        <a:rPr sz="950" b="0">
                          <a:solidFill>
                            <a:srgbClr val="0F172A"/>
                          </a:solidFill>
                          <a:latin typeface="Inter"/>
                        </a:rPr>
                        <a:t>$54</a:t>
                      </a:r>
                    </a:p>
                  </a:txBody>
                  <a:tcPr marL="54864" marR="54864" marT="27432" marB="27432" anchor="ctr">
                    <a:solidFill>
                      <a:srgbClr val="FBFAF7"/>
                    </a:solidFill>
                  </a:tcPr>
                </a:tc>
                <a:tc>
                  <a:txBody>
                    <a:bodyPr wrap="square"/>
                    <a:lstStyle/>
                    <a:p>
                      <a:pPr algn="r"/>
                      <a:r>
                        <a:rPr sz="950" b="0">
                          <a:solidFill>
                            <a:srgbClr val="0F172A"/>
                          </a:solidFill>
                          <a:latin typeface="Inter"/>
                        </a:rPr>
                        <a:t>$694</a:t>
                      </a:r>
                    </a:p>
                  </a:txBody>
                  <a:tcPr marL="54864" marR="54864" marT="27432" marB="27432" anchor="ctr">
                    <a:solidFill>
                      <a:srgbClr val="FBFAF7"/>
                    </a:solidFill>
                  </a:tcPr>
                </a:tc>
                <a:tc>
                  <a:txBody>
                    <a:bodyPr wrap="square"/>
                    <a:lstStyle/>
                    <a:p>
                      <a:pPr algn="r"/>
                      <a:r>
                        <a:rPr sz="950" b="0">
                          <a:solidFill>
                            <a:srgbClr val="0F172A"/>
                          </a:solidFill>
                          <a:latin typeface="Inter"/>
                        </a:rPr>
                        <a:t>7.8%</a:t>
                      </a:r>
                    </a:p>
                  </a:txBody>
                  <a:tcPr marL="54864" marR="54864" marT="27432" marB="27432" anchor="ctr">
                    <a:solidFill>
                      <a:srgbClr val="FBFA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Category keywords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9 / 17</a:t>
            </a:r>
          </a:p>
        </p:txBody>
      </p:sp>
      <p:graphicFrame>
        <p:nvGraphicFramePr>
          <p:cNvPr id="10" name="Shape 10"/>
          <p:cNvGraphicFramePr>
            <a:graphicFrameLocks noGrp="1"/>
          </p:cNvGraphicFramePr>
          <p:nvPr/>
        </p:nvGraphicFramePr>
        <p:xfrm>
          <a:off x="548640" y="1417320"/>
          <a:ext cx="11091672" cy="1536192"/>
        </p:xfrm>
        <a:graphic>
          <a:graphicData uri="http://schemas.openxmlformats.org/drawingml/2006/table">
            <a:tbl>
              <a:tblPr firstRow="1" bandRow="1">
                <a:tableStyleId>{5C22544A-7EE6-4342-B048-85BDC9FD1C3A}</a:tableStyleId>
              </a:tblPr>
              <a:tblGrid>
                <a:gridCol w="4325112"/>
                <a:gridCol w="914400"/>
                <a:gridCol w="1463040"/>
                <a:gridCol w="1097280"/>
                <a:gridCol w="1097280"/>
                <a:gridCol w="1097280"/>
                <a:gridCol w="1097280"/>
              </a:tblGrid>
              <a:tr h="384048">
                <a:tc>
                  <a:txBody>
                    <a:bodyPr wrap="square"/>
                    <a:lstStyle/>
                    <a:p>
                      <a:pPr algn="l"/>
                      <a:r>
                        <a:rPr sz="1000" b="1">
                          <a:solidFill>
                            <a:srgbClr val="FFFFFF"/>
                          </a:solidFill>
                          <a:latin typeface="Inter"/>
                        </a:rPr>
                        <a:t>Search term</a:t>
                      </a:r>
                    </a:p>
                  </a:txBody>
                  <a:tcPr marL="54864" marR="54864" marT="27432" marB="27432" anchor="ctr">
                    <a:solidFill>
                      <a:srgbClr val="0F172A"/>
                    </a:solidFill>
                  </a:tcPr>
                </a:tc>
                <a:tc>
                  <a:txBody>
                    <a:bodyPr wrap="square"/>
                    <a:lstStyle/>
                    <a:p>
                      <a:pPr algn="r"/>
                      <a:r>
                        <a:rPr sz="1000" b="1">
                          <a:solidFill>
                            <a:srgbClr val="FFFFFF"/>
                          </a:solidFill>
                          <a:latin typeface="Inter"/>
                        </a:rPr>
                        <a:t>Ad</a:t>
                      </a:r>
                    </a:p>
                  </a:txBody>
                  <a:tcPr marL="54864" marR="54864" marT="27432" marB="27432" anchor="ctr">
                    <a:solidFill>
                      <a:srgbClr val="0F172A"/>
                    </a:solidFill>
                  </a:tcPr>
                </a:tc>
                <a:tc>
                  <a:txBody>
                    <a:bodyPr wrap="square"/>
                    <a:lstStyle/>
                    <a:p>
                      <a:pPr algn="r"/>
                      <a:r>
                        <a:rPr sz="1000" b="1">
                          <a:solidFill>
                            <a:srgbClr val="FFFFFF"/>
                          </a:solidFill>
                          <a:latin typeface="Inter"/>
                        </a:rPr>
                        <a:t>Impressions</a:t>
                      </a:r>
                    </a:p>
                  </a:txBody>
                  <a:tcPr marL="54864" marR="54864" marT="27432" marB="27432" anchor="ctr">
                    <a:solidFill>
                      <a:srgbClr val="0F172A"/>
                    </a:solidFill>
                  </a:tcPr>
                </a:tc>
                <a:tc>
                  <a:txBody>
                    <a:bodyPr wrap="square"/>
                    <a:lstStyle/>
                    <a:p>
                      <a:pPr algn="r"/>
                      <a:r>
                        <a:rPr sz="1000" b="1">
                          <a:solidFill>
                            <a:srgbClr val="FFFFFF"/>
                          </a:solidFill>
                          <a:latin typeface="Inter"/>
                        </a:rPr>
                        <a:t>Clicks</a:t>
                      </a:r>
                    </a:p>
                  </a:txBody>
                  <a:tcPr marL="54864" marR="54864" marT="27432" marB="27432" anchor="ctr">
                    <a:solidFill>
                      <a:srgbClr val="0F172A"/>
                    </a:solidFill>
                  </a:tcPr>
                </a:tc>
                <a:tc>
                  <a:txBody>
                    <a:bodyPr wrap="square"/>
                    <a:lstStyle/>
                    <a:p>
                      <a:pPr algn="r"/>
                      <a:r>
                        <a:rPr sz="1000" b="1">
                          <a:solidFill>
                            <a:srgbClr val="FFFFFF"/>
                          </a:solidFill>
                          <a:latin typeface="Inter"/>
                        </a:rPr>
                        <a:t>Orders</a:t>
                      </a:r>
                    </a:p>
                  </a:txBody>
                  <a:tcPr marL="54864" marR="54864" marT="27432" marB="27432" anchor="ctr">
                    <a:solidFill>
                      <a:srgbClr val="0F172A"/>
                    </a:solidFill>
                  </a:tcPr>
                </a:tc>
                <a:tc>
                  <a:txBody>
                    <a:bodyPr wrap="square"/>
                    <a:lstStyle/>
                    <a:p>
                      <a:pPr algn="r"/>
                      <a:r>
                        <a:rPr sz="1000" b="1">
                          <a:solidFill>
                            <a:srgbClr val="FFFFFF"/>
                          </a:solidFill>
                          <a:latin typeface="Inter"/>
                        </a:rPr>
                        <a:t>Spend</a:t>
                      </a:r>
                    </a:p>
                  </a:txBody>
                  <a:tcPr marL="54864" marR="54864" marT="27432" marB="27432" anchor="ctr">
                    <a:solidFill>
                      <a:srgbClr val="0F172A"/>
                    </a:solidFill>
                  </a:tcPr>
                </a:tc>
                <a:tc>
                  <a:txBody>
                    <a:bodyPr wrap="square"/>
                    <a:lstStyle/>
                    <a:p>
                      <a:pPr algn="r"/>
                      <a:r>
                        <a:rPr sz="1000" b="1">
                          <a:solidFill>
                            <a:srgbClr val="FFFFFF"/>
                          </a:solidFill>
                          <a:latin typeface="Inter"/>
                        </a:rPr>
                        <a:t>Sales</a:t>
                      </a:r>
                    </a:p>
                  </a:txBody>
                  <a:tcPr marL="54864" marR="54864" marT="27432" marB="27432" anchor="ctr">
                    <a:solidFill>
                      <a:srgbClr val="0F172A"/>
                    </a:solidFill>
                  </a:tcPr>
                </a:tc>
              </a:tr>
              <a:tr h="384048">
                <a:tc>
                  <a:txBody>
                    <a:bodyPr wrap="square"/>
                    <a:lstStyle/>
                    <a:p>
                      <a:pPr algn="l"/>
                      <a:r>
                        <a:rPr sz="1100" b="0">
                          <a:solidFill>
                            <a:srgbClr val="0F172A"/>
                          </a:solidFill>
                          <a:latin typeface="Inter"/>
                        </a:rPr>
                        <a:t>octaspring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9</a:t>
                      </a:r>
                    </a:p>
                  </a:txBody>
                  <a:tcPr marL="54864" marR="54864" marT="27432" marB="27432" anchor="ctr">
                    <a:solidFill>
                      <a:srgbClr val="FFFFFF"/>
                    </a:solidFill>
                  </a:tcPr>
                </a:tc>
                <a:tc>
                  <a:txBody>
                    <a:bodyPr wrap="square"/>
                    <a:lstStyle/>
                    <a:p>
                      <a:pPr algn="r"/>
                      <a:r>
                        <a:rPr sz="1100" b="0">
                          <a:solidFill>
                            <a:srgbClr val="0F172A"/>
                          </a:solidFill>
                          <a:latin typeface="Inter"/>
                        </a:rPr>
                        <a:t>3</a:t>
                      </a:r>
                    </a:p>
                  </a:txBody>
                  <a:tcPr marL="54864" marR="54864" marT="27432" marB="27432" anchor="ctr">
                    <a:solidFill>
                      <a:srgbClr val="FFFFFF"/>
                    </a:solidFill>
                  </a:tcPr>
                </a:tc>
                <a:tc>
                  <a:txBody>
                    <a:bodyPr wrap="square"/>
                    <a:lstStyle/>
                    <a:p>
                      <a:pPr algn="r"/>
                      <a:r>
                        <a:rPr sz="1100" b="0">
                          <a:solidFill>
                            <a:srgbClr val="0F172A"/>
                          </a:solidFill>
                          <a:latin typeface="Inter"/>
                        </a:rPr>
                        <a:t>2</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$1,079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memory foam mattress topper</a:t>
                      </a:r>
                    </a:p>
                  </a:txBody>
                  <a:tcPr marL="54864" marR="54864" marT="27432" marB="27432" anchor="ctr">
                    <a:solidFill>
                      <a:srgbClr val="FBFAF7"/>
                    </a:solidFill>
                  </a:tcPr>
                </a:tc>
                <a:tc>
                  <a:txBody>
                    <a:bodyPr wrap="square"/>
                    <a:lstStyle/>
                    <a:p>
                      <a:pPr algn="r"/>
                      <a:r>
                        <a:rPr sz="1100" b="0">
                          <a:solidFill>
                            <a:srgbClr val="0F172A"/>
                          </a:solidFill>
                          <a:latin typeface="Inter"/>
                        </a:rPr>
                        <a:t>SB</a:t>
                      </a:r>
                    </a:p>
                  </a:txBody>
                  <a:tcPr marL="54864" marR="54864" marT="27432" marB="27432" anchor="ctr">
                    <a:solidFill>
                      <a:srgbClr val="FBFAF7"/>
                    </a:solidFill>
                  </a:tcPr>
                </a:tc>
                <a:tc>
                  <a:txBody>
                    <a:bodyPr wrap="square"/>
                    <a:lstStyle/>
                    <a:p>
                      <a:pPr algn="r"/>
                      <a:r>
                        <a:rPr sz="1100" b="0">
                          <a:solidFill>
                            <a:srgbClr val="0F172A"/>
                          </a:solidFill>
                          <a:latin typeface="Inter"/>
                        </a:rPr>
                        <a:t>439</a:t>
                      </a:r>
                    </a:p>
                  </a:txBody>
                  <a:tcPr marL="54864" marR="54864" marT="27432" marB="27432" anchor="ctr">
                    <a:solidFill>
                      <a:srgbClr val="FBFAF7"/>
                    </a:solidFill>
                  </a:tcPr>
                </a:tc>
                <a:tc>
                  <a:txBody>
                    <a:bodyPr wrap="square"/>
                    <a:lstStyle/>
                    <a:p>
                      <a:pPr algn="r"/>
                      <a:r>
                        <a:rPr sz="1100" b="0">
                          <a:solidFill>
                            <a:srgbClr val="0F172A"/>
                          </a:solidFill>
                          <a:latin typeface="Inter"/>
                        </a:rPr>
                        <a:t>2</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$0</a:t>
                      </a:r>
                    </a:p>
                  </a:txBody>
                  <a:tcPr marL="54864" marR="54864" marT="27432" marB="27432" anchor="ctr">
                    <a:solidFill>
                      <a:srgbClr val="FBFAF7"/>
                    </a:solidFill>
                  </a:tcPr>
                </a:tc>
                <a:tc>
                  <a:txBody>
                    <a:bodyPr wrap="square"/>
                    <a:lstStyle/>
                    <a:p>
                      <a:pPr algn="r"/>
                      <a:r>
                        <a:rPr sz="1100" b="0">
                          <a:solidFill>
                            <a:srgbClr val="0F172A"/>
                          </a:solidFill>
                          <a:latin typeface="Inter"/>
                        </a:rPr>
                        <a:t>$554</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topper for mattress</a:t>
                      </a:r>
                    </a:p>
                  </a:txBody>
                  <a:tcPr marL="54864" marR="54864" marT="27432" marB="27432" anchor="ctr">
                    <a:solidFill>
                      <a:srgbClr val="FFFFFF"/>
                    </a:solidFill>
                  </a:tcPr>
                </a:tc>
                <a:tc>
                  <a:txBody>
                    <a:bodyPr wrap="square"/>
                    <a:lstStyle/>
                    <a:p>
                      <a:pPr algn="r"/>
                      <a:r>
                        <a:rPr sz="1100" b="0">
                          <a:solidFill>
                            <a:srgbClr val="0F172A"/>
                          </a:solidFill>
                          <a:latin typeface="Inter"/>
                        </a:rPr>
                        <a:t>SB</a:t>
                      </a:r>
                    </a:p>
                  </a:txBody>
                  <a:tcPr marL="54864" marR="54864" marT="27432" marB="27432" anchor="ctr">
                    <a:solidFill>
                      <a:srgbClr val="FFFFFF"/>
                    </a:solidFill>
                  </a:tcPr>
                </a:tc>
                <a:tc>
                  <a:txBody>
                    <a:bodyPr wrap="square"/>
                    <a:lstStyle/>
                    <a:p>
                      <a:pPr algn="r"/>
                      <a:r>
                        <a:rPr sz="1100" b="0">
                          <a:solidFill>
                            <a:srgbClr val="0F172A"/>
                          </a:solidFill>
                          <a:latin typeface="Inter"/>
                        </a:rPr>
                        <a:t>2</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$0</a:t>
                      </a:r>
                    </a:p>
                  </a:txBody>
                  <a:tcPr marL="54864" marR="54864" marT="27432" marB="27432" anchor="ctr">
                    <a:solidFill>
                      <a:srgbClr val="FFFFFF"/>
                    </a:solidFill>
                  </a:tcPr>
                </a:tc>
                <a:tc>
                  <a:txBody>
                    <a:bodyPr wrap="square"/>
                    <a:lstStyle/>
                    <a:p>
                      <a:pPr algn="r"/>
                      <a:r>
                        <a:rPr sz="1100" b="0">
                          <a:solidFill>
                            <a:srgbClr val="0F172A"/>
                          </a:solidFill>
                          <a:latin typeface="Inter"/>
                        </a:rPr>
                        <a:t>$554</a:t>
                      </a:r>
                    </a:p>
                  </a:txBody>
                  <a:tcPr marL="54864" marR="54864" marT="27432" marB="27432" anchor="ctr">
                    <a:solidFill>
                      <a:srgbClr val="FFFFFF"/>
                    </a:solidFill>
                  </a:tcPr>
                </a:tc>
              </a:tr>
            </a:tbl>
          </a:graphicData>
        </a:graphic>
      </p:graphicFrame>
      <p:sp>
        <p:nvSpPr>
          <p:cNvPr id="11" name="Shape 11"/>
          <p:cNvSpPr txBox="1"/>
          <p:nvPr/>
        </p:nvSpPr>
        <p:spPr>
          <a:xfrm>
            <a:off x="548640" y="3090672"/>
            <a:ext cx="11091672" cy="457200"/>
          </a:xfrm>
          <a:prstGeom prst="rect">
            <a:avLst/>
          </a:prstGeom>
          <a:noFill/>
        </p:spPr>
        <p:txBody>
          <a:bodyPr wrap="square" lIns="36576" rIns="36576" tIns="18288" bIns="18288" anchor="t">
            <a:spAutoFit/>
          </a:bodyPr>
          <a:lstStyle/>
          <a:p>
            <a:pPr algn="l"/>
            <a:r>
              <a:rPr sz="900" b="0">
                <a:solidFill>
                  <a:srgbClr val="6B6558"/>
                </a:solidFill>
                <a:latin typeface="Inter"/>
              </a:rPr>
              <a:t>Top category searches by ad sales, Oct 18–24, 2026 (Sponsored Products and Brands search-term report; only searches with at least one click are reported).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Advertising performance — daily, last 2 weeks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10 / 17</a:t>
            </a:r>
          </a:p>
        </p:txBody>
      </p:sp>
      <p:graphicFrame>
        <p:nvGraphicFramePr>
          <p:cNvPr id="10" name="Shape 10"/>
          <p:cNvGraphicFramePr>
            <a:graphicFrameLocks noGrp="1"/>
          </p:cNvGraphicFramePr>
          <p:nvPr/>
        </p:nvGraphicFramePr>
        <p:xfrm>
          <a:off x="548640" y="1325880"/>
          <a:ext cx="10360152" cy="4197096"/>
        </p:xfrm>
        <a:graphic>
          <a:graphicData uri="http://schemas.openxmlformats.org/drawingml/2006/table">
            <a:tbl>
              <a:tblPr firstRow="1" bandRow="1">
                <a:tableStyleId>{5C22544A-7EE6-4342-B048-85BDC9FD1C3A}</a:tableStyleId>
              </a:tblPr>
              <a:tblGrid>
                <a:gridCol w="1234440"/>
                <a:gridCol w="548640"/>
                <a:gridCol w="1051560"/>
                <a:gridCol w="960120"/>
                <a:gridCol w="960120"/>
                <a:gridCol w="731520"/>
                <a:gridCol w="731520"/>
                <a:gridCol w="731520"/>
                <a:gridCol w="731520"/>
                <a:gridCol w="822960"/>
                <a:gridCol w="1097280"/>
                <a:gridCol w="758952"/>
              </a:tblGrid>
              <a:tr h="246888">
                <a:tc>
                  <a:txBody>
                    <a:bodyPr wrap="square"/>
                    <a:lstStyle/>
                    <a:p>
                      <a:pPr algn="l"/>
                      <a:r>
                        <a:rPr sz="750" b="1">
                          <a:solidFill>
                            <a:srgbClr val="FFFFFF"/>
                          </a:solidFill>
                          <a:latin typeface="Inter"/>
                        </a:rPr>
                        <a:t>Date</a:t>
                      </a:r>
                    </a:p>
                  </a:txBody>
                  <a:tcPr marL="54864" marR="54864" marT="27432" marB="27432" anchor="ctr">
                    <a:solidFill>
                      <a:srgbClr val="0F172A"/>
                    </a:solidFill>
                  </a:tcPr>
                </a:tc>
                <a:tc>
                  <a:txBody>
                    <a:bodyPr wrap="square"/>
                    <a:lstStyle/>
                    <a:p>
                      <a:pPr algn="r"/>
                      <a:r>
                        <a:rPr sz="750" b="1">
                          <a:solidFill>
                            <a:srgbClr val="FFFFFF"/>
                          </a:solidFill>
                          <a:latin typeface="Inter"/>
                        </a:rPr>
                        <a:t>Day</a:t>
                      </a:r>
                    </a:p>
                  </a:txBody>
                  <a:tcPr marL="54864" marR="54864" marT="27432" marB="27432" anchor="ctr">
                    <a:solidFill>
                      <a:srgbClr val="0F172A"/>
                    </a:solidFill>
                  </a:tcPr>
                </a:tc>
                <a:tc>
                  <a:txBody>
                    <a:bodyPr wrap="square"/>
                    <a:lstStyle/>
                    <a:p>
                      <a:pPr algn="r"/>
                      <a:r>
                        <a:rPr sz="750" b="1">
                          <a:solidFill>
                            <a:srgbClr val="FFFFFF"/>
                          </a:solidFill>
                          <a:latin typeface="Inter"/>
                        </a:rPr>
                        <a:t>Total sales</a:t>
                      </a:r>
                    </a:p>
                  </a:txBody>
                  <a:tcPr marL="54864" marR="54864" marT="27432" marB="27432" anchor="ctr">
                    <a:solidFill>
                      <a:srgbClr val="0F172A"/>
                    </a:solidFill>
                  </a:tcPr>
                </a:tc>
                <a:tc>
                  <a:txBody>
                    <a:bodyPr wrap="square"/>
                    <a:lstStyle/>
                    <a:p>
                      <a:pPr algn="r"/>
                      <a:r>
                        <a:rPr sz="750" b="1">
                          <a:solidFill>
                            <a:srgbClr val="FFFFFF"/>
                          </a:solidFill>
                          <a:latin typeface="Inter"/>
                        </a:rPr>
                        <a:t>PPC spend</a:t>
                      </a:r>
                    </a:p>
                  </a:txBody>
                  <a:tcPr marL="54864" marR="54864" marT="27432" marB="27432" anchor="ctr">
                    <a:solidFill>
                      <a:srgbClr val="0F172A"/>
                    </a:solidFill>
                  </a:tcPr>
                </a:tc>
                <a:tc>
                  <a:txBody>
                    <a:bodyPr wrap="square"/>
                    <a:lstStyle/>
                    <a:p>
                      <a:pPr algn="r"/>
                      <a:r>
                        <a:rPr sz="750" b="1">
                          <a:solidFill>
                            <a:srgbClr val="FFFFFF"/>
                          </a:solidFill>
                          <a:latin typeface="Inter"/>
                        </a:rPr>
                        <a:t>PPC sales</a:t>
                      </a:r>
                    </a:p>
                  </a:txBody>
                  <a:tcPr marL="54864" marR="54864" marT="27432" marB="27432" anchor="ctr">
                    <a:solidFill>
                      <a:srgbClr val="0F172A"/>
                    </a:solidFill>
                  </a:tcPr>
                </a:tc>
                <a:tc>
                  <a:txBody>
                    <a:bodyPr wrap="square"/>
                    <a:lstStyle/>
                    <a:p>
                      <a:pPr algn="r"/>
                      <a:r>
                        <a:rPr sz="750" b="1">
                          <a:solidFill>
                            <a:srgbClr val="FFFFFF"/>
                          </a:solidFill>
                          <a:latin typeface="Inter"/>
                        </a:rPr>
                        <a:t>ROAS</a:t>
                      </a:r>
                    </a:p>
                  </a:txBody>
                  <a:tcPr marL="54864" marR="54864" marT="27432" marB="27432" anchor="ctr">
                    <a:solidFill>
                      <a:srgbClr val="0F172A"/>
                    </a:solidFill>
                  </a:tcPr>
                </a:tc>
                <a:tc>
                  <a:txBody>
                    <a:bodyPr wrap="square"/>
                    <a:lstStyle/>
                    <a:p>
                      <a:pPr algn="r"/>
                      <a:r>
                        <a:rPr sz="750" b="1">
                          <a:solidFill>
                            <a:srgbClr val="FFFFFF"/>
                          </a:solidFill>
                          <a:latin typeface="Inter"/>
                        </a:rPr>
                        <a:t>ACoS</a:t>
                      </a:r>
                    </a:p>
                  </a:txBody>
                  <a:tcPr marL="54864" marR="54864" marT="27432" marB="27432" anchor="ctr">
                    <a:solidFill>
                      <a:srgbClr val="0F172A"/>
                    </a:solidFill>
                  </a:tcPr>
                </a:tc>
                <a:tc>
                  <a:txBody>
                    <a:bodyPr wrap="square"/>
                    <a:lstStyle/>
                    <a:p>
                      <a:pPr algn="r"/>
                      <a:r>
                        <a:rPr sz="750" b="1">
                          <a:solidFill>
                            <a:srgbClr val="FFFFFF"/>
                          </a:solidFill>
                          <a:latin typeface="Inter"/>
                        </a:rPr>
                        <a:t>TACoS</a:t>
                      </a:r>
                    </a:p>
                  </a:txBody>
                  <a:tcPr marL="54864" marR="54864" marT="27432" marB="27432" anchor="ctr">
                    <a:solidFill>
                      <a:srgbClr val="0F172A"/>
                    </a:solidFill>
                  </a:tcPr>
                </a:tc>
                <a:tc>
                  <a:txBody>
                    <a:bodyPr wrap="square"/>
                    <a:lstStyle/>
                    <a:p>
                      <a:pPr algn="r"/>
                      <a:r>
                        <a:rPr sz="750" b="1">
                          <a:solidFill>
                            <a:srgbClr val="FFFFFF"/>
                          </a:solidFill>
                          <a:latin typeface="Inter"/>
                        </a:rPr>
                        <a:t>Orders</a:t>
                      </a:r>
                    </a:p>
                  </a:txBody>
                  <a:tcPr marL="54864" marR="54864" marT="27432" marB="27432" anchor="ctr">
                    <a:solidFill>
                      <a:srgbClr val="0F172A"/>
                    </a:solidFill>
                  </a:tcPr>
                </a:tc>
                <a:tc>
                  <a:txBody>
                    <a:bodyPr wrap="square"/>
                    <a:lstStyle/>
                    <a:p>
                      <a:pPr algn="r"/>
                      <a:r>
                        <a:rPr sz="750" b="1">
                          <a:solidFill>
                            <a:srgbClr val="FFFFFF"/>
                          </a:solidFill>
                          <a:latin typeface="Inter"/>
                        </a:rPr>
                        <a:t>Ad orders</a:t>
                      </a:r>
                    </a:p>
                  </a:txBody>
                  <a:tcPr marL="54864" marR="54864" marT="27432" marB="27432" anchor="ctr">
                    <a:solidFill>
                      <a:srgbClr val="0F172A"/>
                    </a:solidFill>
                  </a:tcPr>
                </a:tc>
                <a:tc>
                  <a:txBody>
                    <a:bodyPr wrap="square"/>
                    <a:lstStyle/>
                    <a:p>
                      <a:pPr algn="r"/>
                      <a:r>
                        <a:rPr sz="750" b="1">
                          <a:solidFill>
                            <a:srgbClr val="FFFFFF"/>
                          </a:solidFill>
                          <a:latin typeface="Inter"/>
                        </a:rPr>
                        <a:t>Organic sales</a:t>
                      </a:r>
                    </a:p>
                  </a:txBody>
                  <a:tcPr marL="54864" marR="54864" marT="27432" marB="27432" anchor="ctr">
                    <a:solidFill>
                      <a:srgbClr val="0F172A"/>
                    </a:solidFill>
                  </a:tcPr>
                </a:tc>
                <a:tc>
                  <a:txBody>
                    <a:bodyPr wrap="square"/>
                    <a:lstStyle/>
                    <a:p>
                      <a:pPr algn="r"/>
                      <a:r>
                        <a:rPr sz="750" b="1">
                          <a:solidFill>
                            <a:srgbClr val="FFFFFF"/>
                          </a:solidFill>
                          <a:latin typeface="Inter"/>
                        </a:rPr>
                        <a:t>Ad sales %</a:t>
                      </a:r>
                    </a:p>
                  </a:txBody>
                  <a:tcPr marL="54864" marR="54864" marT="27432" marB="27432" anchor="ctr">
                    <a:solidFill>
                      <a:srgbClr val="0F172A"/>
                    </a:solidFill>
                  </a:tcPr>
                </a:tc>
              </a:tr>
              <a:tr h="246888">
                <a:tc>
                  <a:txBody>
                    <a:bodyPr wrap="square"/>
                    <a:lstStyle/>
                    <a:p>
                      <a:pPr algn="l"/>
                      <a:r>
                        <a:rPr sz="850" b="0">
                          <a:solidFill>
                            <a:srgbClr val="0F172A"/>
                          </a:solidFill>
                          <a:latin typeface="Inter"/>
                        </a:rPr>
                        <a:t>Oct 11</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$6,656</a:t>
                      </a:r>
                    </a:p>
                  </a:txBody>
                  <a:tcPr marL="54864" marR="54864" marT="27432" marB="27432" anchor="ctr">
                    <a:solidFill>
                      <a:srgbClr val="FFFFFF"/>
                    </a:solidFill>
                  </a:tcPr>
                </a:tc>
                <a:tc>
                  <a:txBody>
                    <a:bodyPr wrap="square"/>
                    <a:lstStyle/>
                    <a:p>
                      <a:pPr algn="r"/>
                      <a:r>
                        <a:rPr sz="850" b="0">
                          <a:solidFill>
                            <a:srgbClr val="0F172A"/>
                          </a:solidFill>
                          <a:latin typeface="Inter"/>
                        </a:rPr>
                        <a:t>$920</a:t>
                      </a:r>
                    </a:p>
                  </a:txBody>
                  <a:tcPr marL="54864" marR="54864" marT="27432" marB="27432" anchor="ctr">
                    <a:solidFill>
                      <a:srgbClr val="FFFFFF"/>
                    </a:solidFill>
                  </a:tcPr>
                </a:tc>
                <a:tc>
                  <a:txBody>
                    <a:bodyPr wrap="square"/>
                    <a:lstStyle/>
                    <a:p>
                      <a:pPr algn="r"/>
                      <a:r>
                        <a:rPr sz="850" b="0">
                          <a:solidFill>
                            <a:srgbClr val="0F172A"/>
                          </a:solidFill>
                          <a:latin typeface="Inter"/>
                        </a:rPr>
                        <a:t>$3,607</a:t>
                      </a:r>
                    </a:p>
                  </a:txBody>
                  <a:tcPr marL="54864" marR="54864" marT="27432" marB="27432" anchor="ctr">
                    <a:solidFill>
                      <a:srgbClr val="FFFFFF"/>
                    </a:solidFill>
                  </a:tcPr>
                </a:tc>
                <a:tc>
                  <a:txBody>
                    <a:bodyPr wrap="square"/>
                    <a:lstStyle/>
                    <a:p>
                      <a:pPr algn="r"/>
                      <a:r>
                        <a:rPr sz="850" b="0">
                          <a:solidFill>
                            <a:srgbClr val="0F172A"/>
                          </a:solidFill>
                          <a:latin typeface="Inter"/>
                        </a:rPr>
                        <a:t>3.92x</a:t>
                      </a:r>
                    </a:p>
                  </a:txBody>
                  <a:tcPr marL="54864" marR="54864" marT="27432" marB="27432" anchor="ctr">
                    <a:solidFill>
                      <a:srgbClr val="FFFFFF"/>
                    </a:solidFill>
                  </a:tcPr>
                </a:tc>
                <a:tc>
                  <a:txBody>
                    <a:bodyPr wrap="square"/>
                    <a:lstStyle/>
                    <a:p>
                      <a:pPr algn="r"/>
                      <a:r>
                        <a:rPr sz="850" b="0">
                          <a:solidFill>
                            <a:srgbClr val="0F172A"/>
                          </a:solidFill>
                          <a:latin typeface="Inter"/>
                        </a:rPr>
                        <a:t>25.5%</a:t>
                      </a:r>
                    </a:p>
                  </a:txBody>
                  <a:tcPr marL="54864" marR="54864" marT="27432" marB="27432" anchor="ctr">
                    <a:solidFill>
                      <a:srgbClr val="FFFFFF"/>
                    </a:solidFill>
                  </a:tcPr>
                </a:tc>
                <a:tc>
                  <a:txBody>
                    <a:bodyPr wrap="square"/>
                    <a:lstStyle/>
                    <a:p>
                      <a:pPr algn="r"/>
                      <a:r>
                        <a:rPr sz="850" b="0">
                          <a:solidFill>
                            <a:srgbClr val="0F172A"/>
                          </a:solidFill>
                          <a:latin typeface="Inter"/>
                        </a:rPr>
                        <a:t>13.8%</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12</a:t>
                      </a:r>
                    </a:p>
                  </a:txBody>
                  <a:tcPr marL="54864" marR="54864" marT="27432" marB="27432" anchor="ctr">
                    <a:solidFill>
                      <a:srgbClr val="FFFFFF"/>
                    </a:solidFill>
                  </a:tcPr>
                </a:tc>
                <a:tc>
                  <a:txBody>
                    <a:bodyPr wrap="square"/>
                    <a:lstStyle/>
                    <a:p>
                      <a:pPr algn="r"/>
                      <a:r>
                        <a:rPr sz="850" b="0">
                          <a:solidFill>
                            <a:srgbClr val="0F172A"/>
                          </a:solidFill>
                          <a:latin typeface="Inter"/>
                        </a:rPr>
                        <a:t>$3,049</a:t>
                      </a:r>
                    </a:p>
                  </a:txBody>
                  <a:tcPr marL="54864" marR="54864" marT="27432" marB="27432" anchor="ctr">
                    <a:solidFill>
                      <a:srgbClr val="FFFFFF"/>
                    </a:solidFill>
                  </a:tcPr>
                </a:tc>
                <a:tc>
                  <a:txBody>
                    <a:bodyPr wrap="square"/>
                    <a:lstStyle/>
                    <a:p>
                      <a:pPr algn="r"/>
                      <a:r>
                        <a:rPr sz="850" b="0">
                          <a:solidFill>
                            <a:srgbClr val="0F172A"/>
                          </a:solidFill>
                          <a:latin typeface="Inter"/>
                        </a:rPr>
                        <a:t>54%</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12</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$6,329</a:t>
                      </a:r>
                    </a:p>
                  </a:txBody>
                  <a:tcPr marL="54864" marR="54864" marT="27432" marB="27432" anchor="ctr">
                    <a:solidFill>
                      <a:srgbClr val="FBFAF7"/>
                    </a:solidFill>
                  </a:tcPr>
                </a:tc>
                <a:tc>
                  <a:txBody>
                    <a:bodyPr wrap="square"/>
                    <a:lstStyle/>
                    <a:p>
                      <a:pPr algn="r"/>
                      <a:r>
                        <a:rPr sz="850" b="0">
                          <a:solidFill>
                            <a:srgbClr val="0F172A"/>
                          </a:solidFill>
                          <a:latin typeface="Inter"/>
                        </a:rPr>
                        <a:t>$928</a:t>
                      </a:r>
                    </a:p>
                  </a:txBody>
                  <a:tcPr marL="54864" marR="54864" marT="27432" marB="27432" anchor="ctr">
                    <a:solidFill>
                      <a:srgbClr val="FBFAF7"/>
                    </a:solidFill>
                  </a:tcPr>
                </a:tc>
                <a:tc>
                  <a:txBody>
                    <a:bodyPr wrap="square"/>
                    <a:lstStyle/>
                    <a:p>
                      <a:pPr algn="r"/>
                      <a:r>
                        <a:rPr sz="850" b="0">
                          <a:solidFill>
                            <a:srgbClr val="0F172A"/>
                          </a:solidFill>
                          <a:latin typeface="Inter"/>
                        </a:rPr>
                        <a:t>$3,341</a:t>
                      </a:r>
                    </a:p>
                  </a:txBody>
                  <a:tcPr marL="54864" marR="54864" marT="27432" marB="27432" anchor="ctr">
                    <a:solidFill>
                      <a:srgbClr val="FBFAF7"/>
                    </a:solidFill>
                  </a:tcPr>
                </a:tc>
                <a:tc>
                  <a:txBody>
                    <a:bodyPr wrap="square"/>
                    <a:lstStyle/>
                    <a:p>
                      <a:pPr algn="r"/>
                      <a:r>
                        <a:rPr sz="850" b="0">
                          <a:solidFill>
                            <a:srgbClr val="0F172A"/>
                          </a:solidFill>
                          <a:latin typeface="Inter"/>
                        </a:rPr>
                        <a:t>3.60x</a:t>
                      </a:r>
                    </a:p>
                  </a:txBody>
                  <a:tcPr marL="54864" marR="54864" marT="27432" marB="27432" anchor="ctr">
                    <a:solidFill>
                      <a:srgbClr val="FBFAF7"/>
                    </a:solidFill>
                  </a:tcPr>
                </a:tc>
                <a:tc>
                  <a:txBody>
                    <a:bodyPr wrap="square"/>
                    <a:lstStyle/>
                    <a:p>
                      <a:pPr algn="r"/>
                      <a:r>
                        <a:rPr sz="850" b="0">
                          <a:solidFill>
                            <a:srgbClr val="0F172A"/>
                          </a:solidFill>
                          <a:latin typeface="Inter"/>
                        </a:rPr>
                        <a:t>27.8%</a:t>
                      </a:r>
                    </a:p>
                  </a:txBody>
                  <a:tcPr marL="54864" marR="54864" marT="27432" marB="27432" anchor="ctr">
                    <a:solidFill>
                      <a:srgbClr val="FBFAF7"/>
                    </a:solidFill>
                  </a:tcPr>
                </a:tc>
                <a:tc>
                  <a:txBody>
                    <a:bodyPr wrap="square"/>
                    <a:lstStyle/>
                    <a:p>
                      <a:pPr algn="r"/>
                      <a:r>
                        <a:rPr sz="850" b="0">
                          <a:solidFill>
                            <a:srgbClr val="0F172A"/>
                          </a:solidFill>
                          <a:latin typeface="Inter"/>
                        </a:rPr>
                        <a:t>14.7%</a:t>
                      </a:r>
                    </a:p>
                  </a:txBody>
                  <a:tcPr marL="54864" marR="54864" marT="27432" marB="27432" anchor="ctr">
                    <a:solidFill>
                      <a:srgbClr val="FBFAF7"/>
                    </a:solidFill>
                  </a:tcPr>
                </a:tc>
                <a:tc>
                  <a:txBody>
                    <a:bodyPr wrap="square"/>
                    <a:lstStyle/>
                    <a:p>
                      <a:pPr algn="r"/>
                      <a:r>
                        <a:rPr sz="850" b="0">
                          <a:solidFill>
                            <a:srgbClr val="0F172A"/>
                          </a:solidFill>
                          <a:latin typeface="Inter"/>
                        </a:rPr>
                        <a:t>19</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$2,988</a:t>
                      </a:r>
                    </a:p>
                  </a:txBody>
                  <a:tcPr marL="54864" marR="54864" marT="27432" marB="27432" anchor="ctr">
                    <a:solidFill>
                      <a:srgbClr val="FBFAF7"/>
                    </a:solidFill>
                  </a:tcPr>
                </a:tc>
                <a:tc>
                  <a:txBody>
                    <a:bodyPr wrap="square"/>
                    <a:lstStyle/>
                    <a:p>
                      <a:pPr algn="r"/>
                      <a:r>
                        <a:rPr sz="850" b="0">
                          <a:solidFill>
                            <a:srgbClr val="0F172A"/>
                          </a:solidFill>
                          <a:latin typeface="Inter"/>
                        </a:rPr>
                        <a:t>53%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13</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$4,135</a:t>
                      </a:r>
                    </a:p>
                  </a:txBody>
                  <a:tcPr marL="54864" marR="54864" marT="27432" marB="27432" anchor="ctr">
                    <a:solidFill>
                      <a:srgbClr val="FFFFFF"/>
                    </a:solidFill>
                  </a:tcPr>
                </a:tc>
                <a:tc>
                  <a:txBody>
                    <a:bodyPr wrap="square"/>
                    <a:lstStyle/>
                    <a:p>
                      <a:pPr algn="r"/>
                      <a:r>
                        <a:rPr sz="850" b="0">
                          <a:solidFill>
                            <a:srgbClr val="0F172A"/>
                          </a:solidFill>
                          <a:latin typeface="Inter"/>
                        </a:rPr>
                        <a:t>$704</a:t>
                      </a:r>
                    </a:p>
                  </a:txBody>
                  <a:tcPr marL="54864" marR="54864" marT="27432" marB="27432" anchor="ctr">
                    <a:solidFill>
                      <a:srgbClr val="FFFFFF"/>
                    </a:solidFill>
                  </a:tcPr>
                </a:tc>
                <a:tc>
                  <a:txBody>
                    <a:bodyPr wrap="square"/>
                    <a:lstStyle/>
                    <a:p>
                      <a:pPr algn="r"/>
                      <a:r>
                        <a:rPr sz="850" b="0">
                          <a:solidFill>
                            <a:srgbClr val="0F172A"/>
                          </a:solidFill>
                          <a:latin typeface="Inter"/>
                        </a:rPr>
                        <a:t>$3,125</a:t>
                      </a:r>
                    </a:p>
                  </a:txBody>
                  <a:tcPr marL="54864" marR="54864" marT="27432" marB="27432" anchor="ctr">
                    <a:solidFill>
                      <a:srgbClr val="FFFFFF"/>
                    </a:solidFill>
                  </a:tcPr>
                </a:tc>
                <a:tc>
                  <a:txBody>
                    <a:bodyPr wrap="square"/>
                    <a:lstStyle/>
                    <a:p>
                      <a:pPr algn="r"/>
                      <a:r>
                        <a:rPr sz="850" b="0">
                          <a:solidFill>
                            <a:srgbClr val="0F172A"/>
                          </a:solidFill>
                          <a:latin typeface="Inter"/>
                        </a:rPr>
                        <a:t>4.44x</a:t>
                      </a:r>
                    </a:p>
                  </a:txBody>
                  <a:tcPr marL="54864" marR="54864" marT="27432" marB="27432" anchor="ctr">
                    <a:solidFill>
                      <a:srgbClr val="FFFFFF"/>
                    </a:solidFill>
                  </a:tcPr>
                </a:tc>
                <a:tc>
                  <a:txBody>
                    <a:bodyPr wrap="square"/>
                    <a:lstStyle/>
                    <a:p>
                      <a:pPr algn="r"/>
                      <a:r>
                        <a:rPr sz="850" b="0">
                          <a:solidFill>
                            <a:srgbClr val="0F172A"/>
                          </a:solidFill>
                          <a:latin typeface="Inter"/>
                        </a:rPr>
                        <a:t>22.5%</a:t>
                      </a:r>
                    </a:p>
                  </a:txBody>
                  <a:tcPr marL="54864" marR="54864" marT="27432" marB="27432" anchor="ctr">
                    <a:solidFill>
                      <a:srgbClr val="FFFFFF"/>
                    </a:solidFill>
                  </a:tcPr>
                </a:tc>
                <a:tc>
                  <a:txBody>
                    <a:bodyPr wrap="square"/>
                    <a:lstStyle/>
                    <a:p>
                      <a:pPr algn="r"/>
                      <a:r>
                        <a:rPr sz="850" b="0">
                          <a:solidFill>
                            <a:srgbClr val="0F172A"/>
                          </a:solidFill>
                          <a:latin typeface="Inter"/>
                        </a:rPr>
                        <a:t>17.0%</a:t>
                      </a:r>
                    </a:p>
                  </a:txBody>
                  <a:tcPr marL="54864" marR="54864" marT="27432" marB="27432" anchor="ctr">
                    <a:solidFill>
                      <a:srgbClr val="FFFFFF"/>
                    </a:solidFill>
                  </a:tcPr>
                </a:tc>
                <a:tc>
                  <a:txBody>
                    <a:bodyPr wrap="square"/>
                    <a:lstStyle/>
                    <a:p>
                      <a:pPr algn="r"/>
                      <a:r>
                        <a:rPr sz="850" b="0">
                          <a:solidFill>
                            <a:srgbClr val="0F172A"/>
                          </a:solidFill>
                          <a:latin typeface="Inter"/>
                        </a:rPr>
                        <a:t>13</a:t>
                      </a:r>
                    </a:p>
                  </a:txBody>
                  <a:tcPr marL="54864" marR="54864" marT="27432" marB="27432" anchor="ctr">
                    <a:solidFill>
                      <a:srgbClr val="FFFFFF"/>
                    </a:solidFill>
                  </a:tcPr>
                </a:tc>
                <a:tc>
                  <a:txBody>
                    <a:bodyPr wrap="square"/>
                    <a:lstStyle/>
                    <a:p>
                      <a:pPr algn="r"/>
                      <a:r>
                        <a:rPr sz="850" b="0">
                          <a:solidFill>
                            <a:srgbClr val="0F172A"/>
                          </a:solidFill>
                          <a:latin typeface="Inter"/>
                        </a:rPr>
                        <a:t>12</a:t>
                      </a:r>
                    </a:p>
                  </a:txBody>
                  <a:tcPr marL="54864" marR="54864" marT="27432" marB="27432" anchor="ctr">
                    <a:solidFill>
                      <a:srgbClr val="FFFFFF"/>
                    </a:solidFill>
                  </a:tcPr>
                </a:tc>
                <a:tc>
                  <a:txBody>
                    <a:bodyPr wrap="square"/>
                    <a:lstStyle/>
                    <a:p>
                      <a:pPr algn="r"/>
                      <a:r>
                        <a:rPr sz="850" b="0">
                          <a:solidFill>
                            <a:srgbClr val="0F172A"/>
                          </a:solidFill>
                          <a:latin typeface="Inter"/>
                        </a:rPr>
                        <a:t>$1,010</a:t>
                      </a:r>
                    </a:p>
                  </a:txBody>
                  <a:tcPr marL="54864" marR="54864" marT="27432" marB="27432" anchor="ctr">
                    <a:solidFill>
                      <a:srgbClr val="FFFFFF"/>
                    </a:solidFill>
                  </a:tcPr>
                </a:tc>
                <a:tc>
                  <a:txBody>
                    <a:bodyPr wrap="square"/>
                    <a:lstStyle/>
                    <a:p>
                      <a:pPr algn="r"/>
                      <a:r>
                        <a:rPr sz="850" b="0">
                          <a:solidFill>
                            <a:srgbClr val="0F172A"/>
                          </a:solidFill>
                          <a:latin typeface="Inter"/>
                        </a:rPr>
                        <a:t>76%</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14</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$8,377</a:t>
                      </a:r>
                    </a:p>
                  </a:txBody>
                  <a:tcPr marL="54864" marR="54864" marT="27432" marB="27432" anchor="ctr">
                    <a:solidFill>
                      <a:srgbClr val="FBFAF7"/>
                    </a:solidFill>
                  </a:tcPr>
                </a:tc>
                <a:tc>
                  <a:txBody>
                    <a:bodyPr wrap="square"/>
                    <a:lstStyle/>
                    <a:p>
                      <a:pPr algn="r"/>
                      <a:r>
                        <a:rPr sz="850" b="0">
                          <a:solidFill>
                            <a:srgbClr val="0F172A"/>
                          </a:solidFill>
                          <a:latin typeface="Inter"/>
                        </a:rPr>
                        <a:t>$558</a:t>
                      </a:r>
                    </a:p>
                  </a:txBody>
                  <a:tcPr marL="54864" marR="54864" marT="27432" marB="27432" anchor="ctr">
                    <a:solidFill>
                      <a:srgbClr val="FBFAF7"/>
                    </a:solidFill>
                  </a:tcPr>
                </a:tc>
                <a:tc>
                  <a:txBody>
                    <a:bodyPr wrap="square"/>
                    <a:lstStyle/>
                    <a:p>
                      <a:pPr algn="r"/>
                      <a:r>
                        <a:rPr sz="850" b="0">
                          <a:solidFill>
                            <a:srgbClr val="0F172A"/>
                          </a:solidFill>
                          <a:latin typeface="Inter"/>
                        </a:rPr>
                        <a:t>$6,124</a:t>
                      </a:r>
                    </a:p>
                  </a:txBody>
                  <a:tcPr marL="54864" marR="54864" marT="27432" marB="27432" anchor="ctr">
                    <a:solidFill>
                      <a:srgbClr val="FBFAF7"/>
                    </a:solidFill>
                  </a:tcPr>
                </a:tc>
                <a:tc>
                  <a:txBody>
                    <a:bodyPr wrap="square"/>
                    <a:lstStyle/>
                    <a:p>
                      <a:pPr algn="r"/>
                      <a:r>
                        <a:rPr sz="850" b="0">
                          <a:solidFill>
                            <a:srgbClr val="0F172A"/>
                          </a:solidFill>
                          <a:latin typeface="Inter"/>
                        </a:rPr>
                        <a:t>10.97x</a:t>
                      </a:r>
                    </a:p>
                  </a:txBody>
                  <a:tcPr marL="54864" marR="54864" marT="27432" marB="27432" anchor="ctr">
                    <a:solidFill>
                      <a:srgbClr val="FBFAF7"/>
                    </a:solidFill>
                  </a:tcPr>
                </a:tc>
                <a:tc>
                  <a:txBody>
                    <a:bodyPr wrap="square"/>
                    <a:lstStyle/>
                    <a:p>
                      <a:pPr algn="r"/>
                      <a:r>
                        <a:rPr sz="850" b="0">
                          <a:solidFill>
                            <a:srgbClr val="0F172A"/>
                          </a:solidFill>
                          <a:latin typeface="Inter"/>
                        </a:rPr>
                        <a:t>9.1%</a:t>
                      </a:r>
                    </a:p>
                  </a:txBody>
                  <a:tcPr marL="54864" marR="54864" marT="27432" marB="27432" anchor="ctr">
                    <a:solidFill>
                      <a:srgbClr val="FBFAF7"/>
                    </a:solidFill>
                  </a:tcPr>
                </a:tc>
                <a:tc>
                  <a:txBody>
                    <a:bodyPr wrap="square"/>
                    <a:lstStyle/>
                    <a:p>
                      <a:pPr algn="r"/>
                      <a:r>
                        <a:rPr sz="850" b="0">
                          <a:solidFill>
                            <a:srgbClr val="0F172A"/>
                          </a:solidFill>
                          <a:latin typeface="Inter"/>
                        </a:rPr>
                        <a:t>6.7%</a:t>
                      </a:r>
                    </a:p>
                  </a:txBody>
                  <a:tcPr marL="54864" marR="54864" marT="27432" marB="27432" anchor="ctr">
                    <a:solidFill>
                      <a:srgbClr val="FBFAF7"/>
                    </a:solidFill>
                  </a:tcPr>
                </a:tc>
                <a:tc>
                  <a:txBody>
                    <a:bodyPr wrap="square"/>
                    <a:lstStyle/>
                    <a:p>
                      <a:pPr algn="r"/>
                      <a:r>
                        <a:rPr sz="850" b="0">
                          <a:solidFill>
                            <a:srgbClr val="0F172A"/>
                          </a:solidFill>
                          <a:latin typeface="Inter"/>
                        </a:rPr>
                        <a:t>19</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$2,253</a:t>
                      </a:r>
                    </a:p>
                  </a:txBody>
                  <a:tcPr marL="54864" marR="54864" marT="27432" marB="27432" anchor="ctr">
                    <a:solidFill>
                      <a:srgbClr val="FBFAF7"/>
                    </a:solidFill>
                  </a:tcPr>
                </a:tc>
                <a:tc>
                  <a:txBody>
                    <a:bodyPr wrap="square"/>
                    <a:lstStyle/>
                    <a:p>
                      <a:pPr algn="r"/>
                      <a:r>
                        <a:rPr sz="850" b="0">
                          <a:solidFill>
                            <a:srgbClr val="0F172A"/>
                          </a:solidFill>
                          <a:latin typeface="Inter"/>
                        </a:rPr>
                        <a:t>73%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15</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$6,160</a:t>
                      </a:r>
                    </a:p>
                  </a:txBody>
                  <a:tcPr marL="54864" marR="54864" marT="27432" marB="27432" anchor="ctr">
                    <a:solidFill>
                      <a:srgbClr val="FFFFFF"/>
                    </a:solidFill>
                  </a:tcPr>
                </a:tc>
                <a:tc>
                  <a:txBody>
                    <a:bodyPr wrap="square"/>
                    <a:lstStyle/>
                    <a:p>
                      <a:pPr algn="r"/>
                      <a:r>
                        <a:rPr sz="850" b="0">
                          <a:solidFill>
                            <a:srgbClr val="0F172A"/>
                          </a:solidFill>
                          <a:latin typeface="Inter"/>
                        </a:rPr>
                        <a:t>$507</a:t>
                      </a:r>
                    </a:p>
                  </a:txBody>
                  <a:tcPr marL="54864" marR="54864" marT="27432" marB="27432" anchor="ctr">
                    <a:solidFill>
                      <a:srgbClr val="FFFFFF"/>
                    </a:solidFill>
                  </a:tcPr>
                </a:tc>
                <a:tc>
                  <a:txBody>
                    <a:bodyPr wrap="square"/>
                    <a:lstStyle/>
                    <a:p>
                      <a:pPr algn="r"/>
                      <a:r>
                        <a:rPr sz="850" b="0">
                          <a:solidFill>
                            <a:srgbClr val="0F172A"/>
                          </a:solidFill>
                          <a:latin typeface="Inter"/>
                        </a:rPr>
                        <a:t>$3,203</a:t>
                      </a:r>
                    </a:p>
                  </a:txBody>
                  <a:tcPr marL="54864" marR="54864" marT="27432" marB="27432" anchor="ctr">
                    <a:solidFill>
                      <a:srgbClr val="FFFFFF"/>
                    </a:solidFill>
                  </a:tcPr>
                </a:tc>
                <a:tc>
                  <a:txBody>
                    <a:bodyPr wrap="square"/>
                    <a:lstStyle/>
                    <a:p>
                      <a:pPr algn="r"/>
                      <a:r>
                        <a:rPr sz="850" b="0">
                          <a:solidFill>
                            <a:srgbClr val="0F172A"/>
                          </a:solidFill>
                          <a:latin typeface="Inter"/>
                        </a:rPr>
                        <a:t>6.32x</a:t>
                      </a:r>
                    </a:p>
                  </a:txBody>
                  <a:tcPr marL="54864" marR="54864" marT="27432" marB="27432" anchor="ctr">
                    <a:solidFill>
                      <a:srgbClr val="FFFFFF"/>
                    </a:solidFill>
                  </a:tcPr>
                </a:tc>
                <a:tc>
                  <a:txBody>
                    <a:bodyPr wrap="square"/>
                    <a:lstStyle/>
                    <a:p>
                      <a:pPr algn="r"/>
                      <a:r>
                        <a:rPr sz="850" b="0">
                          <a:solidFill>
                            <a:srgbClr val="0F172A"/>
                          </a:solidFill>
                          <a:latin typeface="Inter"/>
                        </a:rPr>
                        <a:t>15.8%</a:t>
                      </a:r>
                    </a:p>
                  </a:txBody>
                  <a:tcPr marL="54864" marR="54864" marT="27432" marB="27432" anchor="ctr">
                    <a:solidFill>
                      <a:srgbClr val="FFFFFF"/>
                    </a:solidFill>
                  </a:tcPr>
                </a:tc>
                <a:tc>
                  <a:txBody>
                    <a:bodyPr wrap="square"/>
                    <a:lstStyle/>
                    <a:p>
                      <a:pPr algn="r"/>
                      <a:r>
                        <a:rPr sz="850" b="0">
                          <a:solidFill>
                            <a:srgbClr val="0F172A"/>
                          </a:solidFill>
                          <a:latin typeface="Inter"/>
                        </a:rPr>
                        <a:t>8.2%</a:t>
                      </a:r>
                    </a:p>
                  </a:txBody>
                  <a:tcPr marL="54864" marR="54864" marT="27432" marB="27432" anchor="ctr">
                    <a:solidFill>
                      <a:srgbClr val="FFFFFF"/>
                    </a:solidFill>
                  </a:tcPr>
                </a:tc>
                <a:tc>
                  <a:txBody>
                    <a:bodyPr wrap="square"/>
                    <a:lstStyle/>
                    <a:p>
                      <a:pPr algn="r"/>
                      <a:r>
                        <a:rPr sz="850" b="0">
                          <a:solidFill>
                            <a:srgbClr val="0F172A"/>
                          </a:solidFill>
                          <a:latin typeface="Inter"/>
                        </a:rPr>
                        <a:t>13</a:t>
                      </a:r>
                    </a:p>
                  </a:txBody>
                  <a:tcPr marL="54864" marR="54864" marT="27432" marB="27432" anchor="ctr">
                    <a:solidFill>
                      <a:srgbClr val="FFFFFF"/>
                    </a:solidFill>
                  </a:tcPr>
                </a:tc>
                <a:tc>
                  <a:txBody>
                    <a:bodyPr wrap="square"/>
                    <a:lstStyle/>
                    <a:p>
                      <a:pPr algn="r"/>
                      <a:r>
                        <a:rPr sz="850" b="0">
                          <a:solidFill>
                            <a:srgbClr val="0F172A"/>
                          </a:solidFill>
                          <a:latin typeface="Inter"/>
                        </a:rPr>
                        <a:t>7</a:t>
                      </a:r>
                    </a:p>
                  </a:txBody>
                  <a:tcPr marL="54864" marR="54864" marT="27432" marB="27432" anchor="ctr">
                    <a:solidFill>
                      <a:srgbClr val="FFFFFF"/>
                    </a:solidFill>
                  </a:tcPr>
                </a:tc>
                <a:tc>
                  <a:txBody>
                    <a:bodyPr wrap="square"/>
                    <a:lstStyle/>
                    <a:p>
                      <a:pPr algn="r"/>
                      <a:r>
                        <a:rPr sz="850" b="0">
                          <a:solidFill>
                            <a:srgbClr val="0F172A"/>
                          </a:solidFill>
                          <a:latin typeface="Inter"/>
                        </a:rPr>
                        <a:t>$2,957</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16</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$3,225</a:t>
                      </a:r>
                    </a:p>
                  </a:txBody>
                  <a:tcPr marL="54864" marR="54864" marT="27432" marB="27432" anchor="ctr">
                    <a:solidFill>
                      <a:srgbClr val="FBFAF7"/>
                    </a:solidFill>
                  </a:tcPr>
                </a:tc>
                <a:tc>
                  <a:txBody>
                    <a:bodyPr wrap="square"/>
                    <a:lstStyle/>
                    <a:p>
                      <a:pPr algn="r"/>
                      <a:r>
                        <a:rPr sz="850" b="0">
                          <a:solidFill>
                            <a:srgbClr val="0F172A"/>
                          </a:solidFill>
                          <a:latin typeface="Inter"/>
                        </a:rPr>
                        <a:t>$577</a:t>
                      </a:r>
                    </a:p>
                  </a:txBody>
                  <a:tcPr marL="54864" marR="54864" marT="27432" marB="27432" anchor="ctr">
                    <a:solidFill>
                      <a:srgbClr val="FBFAF7"/>
                    </a:solidFill>
                  </a:tcPr>
                </a:tc>
                <a:tc>
                  <a:txBody>
                    <a:bodyPr wrap="square"/>
                    <a:lstStyle/>
                    <a:p>
                      <a:pPr algn="r"/>
                      <a:r>
                        <a:rPr sz="850" b="0">
                          <a:solidFill>
                            <a:srgbClr val="0F172A"/>
                          </a:solidFill>
                          <a:latin typeface="Inter"/>
                        </a:rPr>
                        <a:t>$1,912</a:t>
                      </a:r>
                    </a:p>
                  </a:txBody>
                  <a:tcPr marL="54864" marR="54864" marT="27432" marB="27432" anchor="ctr">
                    <a:solidFill>
                      <a:srgbClr val="FBFAF7"/>
                    </a:solidFill>
                  </a:tcPr>
                </a:tc>
                <a:tc>
                  <a:txBody>
                    <a:bodyPr wrap="square"/>
                    <a:lstStyle/>
                    <a:p>
                      <a:pPr algn="r"/>
                      <a:r>
                        <a:rPr sz="850" b="0">
                          <a:solidFill>
                            <a:srgbClr val="0F172A"/>
                          </a:solidFill>
                          <a:latin typeface="Inter"/>
                        </a:rPr>
                        <a:t>3.31x</a:t>
                      </a:r>
                    </a:p>
                  </a:txBody>
                  <a:tcPr marL="54864" marR="54864" marT="27432" marB="27432" anchor="ctr">
                    <a:solidFill>
                      <a:srgbClr val="FBFAF7"/>
                    </a:solidFill>
                  </a:tcPr>
                </a:tc>
                <a:tc>
                  <a:txBody>
                    <a:bodyPr wrap="square"/>
                    <a:lstStyle/>
                    <a:p>
                      <a:pPr algn="r"/>
                      <a:r>
                        <a:rPr sz="850" b="0">
                          <a:solidFill>
                            <a:srgbClr val="0F172A"/>
                          </a:solidFill>
                          <a:latin typeface="Inter"/>
                        </a:rPr>
                        <a:t>30.2%</a:t>
                      </a:r>
                    </a:p>
                  </a:txBody>
                  <a:tcPr marL="54864" marR="54864" marT="27432" marB="27432" anchor="ctr">
                    <a:solidFill>
                      <a:srgbClr val="FBFAF7"/>
                    </a:solidFill>
                  </a:tcPr>
                </a:tc>
                <a:tc>
                  <a:txBody>
                    <a:bodyPr wrap="square"/>
                    <a:lstStyle/>
                    <a:p>
                      <a:pPr algn="r"/>
                      <a:r>
                        <a:rPr sz="850" b="0">
                          <a:solidFill>
                            <a:srgbClr val="0F172A"/>
                          </a:solidFill>
                          <a:latin typeface="Inter"/>
                        </a:rPr>
                        <a:t>17.9%</a:t>
                      </a:r>
                    </a:p>
                  </a:txBody>
                  <a:tcPr marL="54864" marR="54864" marT="27432" marB="27432" anchor="ctr">
                    <a:solidFill>
                      <a:srgbClr val="FBFAF7"/>
                    </a:solidFill>
                  </a:tcPr>
                </a:tc>
                <a:tc>
                  <a:txBody>
                    <a:bodyPr wrap="square"/>
                    <a:lstStyle/>
                    <a:p>
                      <a:pPr algn="r"/>
                      <a:r>
                        <a:rPr sz="850" b="0">
                          <a:solidFill>
                            <a:srgbClr val="0F172A"/>
                          </a:solidFill>
                          <a:latin typeface="Inter"/>
                        </a:rPr>
                        <a:t>9</a:t>
                      </a:r>
                    </a:p>
                  </a:txBody>
                  <a:tcPr marL="54864" marR="54864" marT="27432" marB="27432" anchor="ctr">
                    <a:solidFill>
                      <a:srgbClr val="FBFAF7"/>
                    </a:solidFill>
                  </a:tcPr>
                </a:tc>
                <a:tc>
                  <a:txBody>
                    <a:bodyPr wrap="square"/>
                    <a:lstStyle/>
                    <a:p>
                      <a:pPr algn="r"/>
                      <a:r>
                        <a:rPr sz="850" b="0">
                          <a:solidFill>
                            <a:srgbClr val="0F172A"/>
                          </a:solidFill>
                          <a:latin typeface="Inter"/>
                        </a:rPr>
                        <a:t>6</a:t>
                      </a:r>
                    </a:p>
                  </a:txBody>
                  <a:tcPr marL="54864" marR="54864" marT="27432" marB="27432" anchor="ctr">
                    <a:solidFill>
                      <a:srgbClr val="FBFAF7"/>
                    </a:solidFill>
                  </a:tcPr>
                </a:tc>
                <a:tc>
                  <a:txBody>
                    <a:bodyPr wrap="square"/>
                    <a:lstStyle/>
                    <a:p>
                      <a:pPr algn="r"/>
                      <a:r>
                        <a:rPr sz="850" b="0">
                          <a:solidFill>
                            <a:srgbClr val="0F172A"/>
                          </a:solidFill>
                          <a:latin typeface="Inter"/>
                        </a:rPr>
                        <a:t>$1,313</a:t>
                      </a:r>
                    </a:p>
                  </a:txBody>
                  <a:tcPr marL="54864" marR="54864" marT="27432" marB="27432" anchor="ctr">
                    <a:solidFill>
                      <a:srgbClr val="FBFAF7"/>
                    </a:solidFill>
                  </a:tcPr>
                </a:tc>
                <a:tc>
                  <a:txBody>
                    <a:bodyPr wrap="square"/>
                    <a:lstStyle/>
                    <a:p>
                      <a:pPr algn="r"/>
                      <a:r>
                        <a:rPr sz="850" b="0">
                          <a:solidFill>
                            <a:srgbClr val="0F172A"/>
                          </a:solidFill>
                          <a:latin typeface="Inter"/>
                        </a:rPr>
                        <a:t>59%</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17</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$12,682</a:t>
                      </a:r>
                    </a:p>
                  </a:txBody>
                  <a:tcPr marL="54864" marR="54864" marT="27432" marB="27432" anchor="ctr">
                    <a:solidFill>
                      <a:srgbClr val="FFFFFF"/>
                    </a:solidFill>
                  </a:tcPr>
                </a:tc>
                <a:tc>
                  <a:txBody>
                    <a:bodyPr wrap="square"/>
                    <a:lstStyle/>
                    <a:p>
                      <a:pPr algn="r"/>
                      <a:r>
                        <a:rPr sz="850" b="0">
                          <a:solidFill>
                            <a:srgbClr val="0F172A"/>
                          </a:solidFill>
                          <a:latin typeface="Inter"/>
                        </a:rPr>
                        <a:t>$716</a:t>
                      </a:r>
                    </a:p>
                  </a:txBody>
                  <a:tcPr marL="54864" marR="54864" marT="27432" marB="27432" anchor="ctr">
                    <a:solidFill>
                      <a:srgbClr val="FFFFFF"/>
                    </a:solidFill>
                  </a:tcPr>
                </a:tc>
                <a:tc>
                  <a:txBody>
                    <a:bodyPr wrap="square"/>
                    <a:lstStyle/>
                    <a:p>
                      <a:pPr algn="r"/>
                      <a:r>
                        <a:rPr sz="850" b="0">
                          <a:solidFill>
                            <a:srgbClr val="0F172A"/>
                          </a:solidFill>
                          <a:latin typeface="Inter"/>
                        </a:rPr>
                        <a:t>$7,800</a:t>
                      </a:r>
                    </a:p>
                  </a:txBody>
                  <a:tcPr marL="54864" marR="54864" marT="27432" marB="27432" anchor="ctr">
                    <a:solidFill>
                      <a:srgbClr val="FFFFFF"/>
                    </a:solidFill>
                  </a:tcPr>
                </a:tc>
                <a:tc>
                  <a:txBody>
                    <a:bodyPr wrap="square"/>
                    <a:lstStyle/>
                    <a:p>
                      <a:pPr algn="r"/>
                      <a:r>
                        <a:rPr sz="850" b="0">
                          <a:solidFill>
                            <a:srgbClr val="0F172A"/>
                          </a:solidFill>
                          <a:latin typeface="Inter"/>
                        </a:rPr>
                        <a:t>10.89x</a:t>
                      </a:r>
                    </a:p>
                  </a:txBody>
                  <a:tcPr marL="54864" marR="54864" marT="27432" marB="27432" anchor="ctr">
                    <a:solidFill>
                      <a:srgbClr val="FFFFFF"/>
                    </a:solidFill>
                  </a:tcPr>
                </a:tc>
                <a:tc>
                  <a:txBody>
                    <a:bodyPr wrap="square"/>
                    <a:lstStyle/>
                    <a:p>
                      <a:pPr algn="r"/>
                      <a:r>
                        <a:rPr sz="850" b="0">
                          <a:solidFill>
                            <a:srgbClr val="0F172A"/>
                          </a:solidFill>
                          <a:latin typeface="Inter"/>
                        </a:rPr>
                        <a:t>9.2%</a:t>
                      </a:r>
                    </a:p>
                  </a:txBody>
                  <a:tcPr marL="54864" marR="54864" marT="27432" marB="27432" anchor="ctr">
                    <a:solidFill>
                      <a:srgbClr val="FFFFFF"/>
                    </a:solidFill>
                  </a:tcPr>
                </a:tc>
                <a:tc>
                  <a:txBody>
                    <a:bodyPr wrap="square"/>
                    <a:lstStyle/>
                    <a:p>
                      <a:pPr algn="r"/>
                      <a:r>
                        <a:rPr sz="850" b="0">
                          <a:solidFill>
                            <a:srgbClr val="0F172A"/>
                          </a:solidFill>
                          <a:latin typeface="Inter"/>
                        </a:rPr>
                        <a:t>5.6%</a:t>
                      </a:r>
                    </a:p>
                  </a:txBody>
                  <a:tcPr marL="54864" marR="54864" marT="27432" marB="27432" anchor="ctr">
                    <a:solidFill>
                      <a:srgbClr val="FFFFFF"/>
                    </a:solidFill>
                  </a:tcPr>
                </a:tc>
                <a:tc>
                  <a:txBody>
                    <a:bodyPr wrap="square"/>
                    <a:lstStyle/>
                    <a:p>
                      <a:pPr algn="r"/>
                      <a:r>
                        <a:rPr sz="850" b="0">
                          <a:solidFill>
                            <a:srgbClr val="0F172A"/>
                          </a:solidFill>
                          <a:latin typeface="Inter"/>
                        </a:rPr>
                        <a:t>21</a:t>
                      </a:r>
                    </a:p>
                  </a:txBody>
                  <a:tcPr marL="54864" marR="54864" marT="27432" marB="27432" anchor="ctr">
                    <a:solidFill>
                      <a:srgbClr val="FFFFFF"/>
                    </a:solidFill>
                  </a:tcPr>
                </a:tc>
                <a:tc>
                  <a:txBody>
                    <a:bodyPr wrap="square"/>
                    <a:lstStyle/>
                    <a:p>
                      <a:pPr algn="r"/>
                      <a:r>
                        <a:rPr sz="850" b="0">
                          <a:solidFill>
                            <a:srgbClr val="0F172A"/>
                          </a:solidFill>
                          <a:latin typeface="Inter"/>
                        </a:rPr>
                        <a:t>15</a:t>
                      </a:r>
                    </a:p>
                  </a:txBody>
                  <a:tcPr marL="54864" marR="54864" marT="27432" marB="27432" anchor="ctr">
                    <a:solidFill>
                      <a:srgbClr val="FFFFFF"/>
                    </a:solidFill>
                  </a:tcPr>
                </a:tc>
                <a:tc>
                  <a:txBody>
                    <a:bodyPr wrap="square"/>
                    <a:lstStyle/>
                    <a:p>
                      <a:pPr algn="r"/>
                      <a:r>
                        <a:rPr sz="850" b="0">
                          <a:solidFill>
                            <a:srgbClr val="0F172A"/>
                          </a:solidFill>
                          <a:latin typeface="Inter"/>
                        </a:rPr>
                        <a:t>$4,882</a:t>
                      </a:r>
                    </a:p>
                  </a:txBody>
                  <a:tcPr marL="54864" marR="54864" marT="27432" marB="27432" anchor="ctr">
                    <a:solidFill>
                      <a:srgbClr val="FFFFFF"/>
                    </a:solidFill>
                  </a:tcPr>
                </a:tc>
                <a:tc>
                  <a:txBody>
                    <a:bodyPr wrap="square"/>
                    <a:lstStyle/>
                    <a:p>
                      <a:pPr algn="r"/>
                      <a:r>
                        <a:rPr sz="850" b="0">
                          <a:solidFill>
                            <a:srgbClr val="0F172A"/>
                          </a:solidFill>
                          <a:latin typeface="Inter"/>
                        </a:rPr>
                        <a:t>62%</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11 – 17</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$47,564</a:t>
                      </a:r>
                    </a:p>
                  </a:txBody>
                  <a:tcPr marL="54864" marR="54864" marT="27432" marB="27432" anchor="ctr">
                    <a:solidFill>
                      <a:srgbClr val="F6F3EC"/>
                    </a:solidFill>
                  </a:tcPr>
                </a:tc>
                <a:tc>
                  <a:txBody>
                    <a:bodyPr wrap="square"/>
                    <a:lstStyle/>
                    <a:p>
                      <a:pPr algn="r"/>
                      <a:r>
                        <a:rPr sz="850" b="1">
                          <a:solidFill>
                            <a:srgbClr val="0F172A"/>
                          </a:solidFill>
                          <a:latin typeface="Inter"/>
                        </a:rPr>
                        <a:t>$4,911</a:t>
                      </a:r>
                    </a:p>
                  </a:txBody>
                  <a:tcPr marL="54864" marR="54864" marT="27432" marB="27432" anchor="ctr">
                    <a:solidFill>
                      <a:srgbClr val="F6F3EC"/>
                    </a:solidFill>
                  </a:tcPr>
                </a:tc>
                <a:tc>
                  <a:txBody>
                    <a:bodyPr wrap="square"/>
                    <a:lstStyle/>
                    <a:p>
                      <a:pPr algn="r"/>
                      <a:r>
                        <a:rPr sz="850" b="1">
                          <a:solidFill>
                            <a:srgbClr val="0F172A"/>
                          </a:solidFill>
                          <a:latin typeface="Inter"/>
                        </a:rPr>
                        <a:t>$29,112</a:t>
                      </a:r>
                    </a:p>
                  </a:txBody>
                  <a:tcPr marL="54864" marR="54864" marT="27432" marB="27432" anchor="ctr">
                    <a:solidFill>
                      <a:srgbClr val="F6F3EC"/>
                    </a:solidFill>
                  </a:tcPr>
                </a:tc>
                <a:tc>
                  <a:txBody>
                    <a:bodyPr wrap="square"/>
                    <a:lstStyle/>
                    <a:p>
                      <a:pPr algn="r"/>
                      <a:r>
                        <a:rPr sz="850" b="1">
                          <a:solidFill>
                            <a:srgbClr val="0F172A"/>
                          </a:solidFill>
                          <a:latin typeface="Inter"/>
                        </a:rPr>
                        <a:t>5.93x</a:t>
                      </a:r>
                    </a:p>
                  </a:txBody>
                  <a:tcPr marL="54864" marR="54864" marT="27432" marB="27432" anchor="ctr">
                    <a:solidFill>
                      <a:srgbClr val="F6F3EC"/>
                    </a:solidFill>
                  </a:tcPr>
                </a:tc>
                <a:tc>
                  <a:txBody>
                    <a:bodyPr wrap="square"/>
                    <a:lstStyle/>
                    <a:p>
                      <a:pPr algn="r"/>
                      <a:r>
                        <a:rPr sz="850" b="1">
                          <a:solidFill>
                            <a:srgbClr val="0F172A"/>
                          </a:solidFill>
                          <a:latin typeface="Inter"/>
                        </a:rPr>
                        <a:t>16.9%</a:t>
                      </a:r>
                    </a:p>
                  </a:txBody>
                  <a:tcPr marL="54864" marR="54864" marT="27432" marB="27432" anchor="ctr">
                    <a:solidFill>
                      <a:srgbClr val="F6F3EC"/>
                    </a:solidFill>
                  </a:tcPr>
                </a:tc>
                <a:tc>
                  <a:txBody>
                    <a:bodyPr wrap="square"/>
                    <a:lstStyle/>
                    <a:p>
                      <a:pPr algn="r"/>
                      <a:r>
                        <a:rPr sz="850" b="1">
                          <a:solidFill>
                            <a:srgbClr val="0F172A"/>
                          </a:solidFill>
                          <a:latin typeface="Inter"/>
                        </a:rPr>
                        <a:t>10.3%</a:t>
                      </a:r>
                    </a:p>
                  </a:txBody>
                  <a:tcPr marL="54864" marR="54864" marT="27432" marB="27432" anchor="ctr">
                    <a:solidFill>
                      <a:srgbClr val="F6F3EC"/>
                    </a:solidFill>
                  </a:tcPr>
                </a:tc>
                <a:tc>
                  <a:txBody>
                    <a:bodyPr wrap="square"/>
                    <a:lstStyle/>
                    <a:p>
                      <a:pPr algn="r"/>
                      <a:r>
                        <a:rPr sz="850" b="1">
                          <a:solidFill>
                            <a:srgbClr val="0F172A"/>
                          </a:solidFill>
                          <a:latin typeface="Inter"/>
                        </a:rPr>
                        <a:t>112</a:t>
                      </a:r>
                    </a:p>
                  </a:txBody>
                  <a:tcPr marL="54864" marR="54864" marT="27432" marB="27432" anchor="ctr">
                    <a:solidFill>
                      <a:srgbClr val="F6F3EC"/>
                    </a:solidFill>
                  </a:tcPr>
                </a:tc>
                <a:tc>
                  <a:txBody>
                    <a:bodyPr wrap="square"/>
                    <a:lstStyle/>
                    <a:p>
                      <a:pPr algn="r"/>
                      <a:r>
                        <a:rPr sz="850" b="1">
                          <a:solidFill>
                            <a:srgbClr val="0F172A"/>
                          </a:solidFill>
                          <a:latin typeface="Inter"/>
                        </a:rPr>
                        <a:t>80</a:t>
                      </a:r>
                    </a:p>
                  </a:txBody>
                  <a:tcPr marL="54864" marR="54864" marT="27432" marB="27432" anchor="ctr">
                    <a:solidFill>
                      <a:srgbClr val="F6F3EC"/>
                    </a:solidFill>
                  </a:tcPr>
                </a:tc>
                <a:tc>
                  <a:txBody>
                    <a:bodyPr wrap="square"/>
                    <a:lstStyle/>
                    <a:p>
                      <a:pPr algn="r"/>
                      <a:r>
                        <a:rPr sz="850" b="1">
                          <a:solidFill>
                            <a:srgbClr val="0F172A"/>
                          </a:solidFill>
                          <a:latin typeface="Inter"/>
                        </a:rPr>
                        <a:t>$18,452</a:t>
                      </a:r>
                    </a:p>
                  </a:txBody>
                  <a:tcPr marL="54864" marR="54864" marT="27432" marB="27432" anchor="ctr">
                    <a:solidFill>
                      <a:srgbClr val="F6F3EC"/>
                    </a:solidFill>
                  </a:tcPr>
                </a:tc>
                <a:tc>
                  <a:txBody>
                    <a:bodyPr wrap="square"/>
                    <a:lstStyle/>
                    <a:p>
                      <a:pPr algn="r"/>
                      <a:r>
                        <a:rPr sz="850" b="1">
                          <a:solidFill>
                            <a:srgbClr val="0F172A"/>
                          </a:solidFill>
                          <a:latin typeface="Inter"/>
                        </a:rPr>
                        <a:t>61%</a:t>
                      </a:r>
                    </a:p>
                  </a:txBody>
                  <a:tcPr marL="54864" marR="54864" marT="27432" marB="27432" anchor="ctr">
                    <a:solidFill>
                      <a:srgbClr val="F6F3EC"/>
                    </a:solidFill>
                  </a:tcPr>
                </a:tc>
              </a:tr>
              <a:tr h="246888">
                <a:tc>
                  <a:txBody>
                    <a:bodyPr wrap="square"/>
                    <a:lstStyle/>
                    <a:p>
                      <a:pPr algn="l"/>
                      <a:r>
                        <a:rPr sz="850" b="0">
                          <a:solidFill>
                            <a:srgbClr val="0F172A"/>
                          </a:solidFill>
                          <a:latin typeface="Inter"/>
                        </a:rPr>
                        <a:t>Oct 18</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$10,572</a:t>
                      </a:r>
                    </a:p>
                  </a:txBody>
                  <a:tcPr marL="54864" marR="54864" marT="27432" marB="27432" anchor="ctr">
                    <a:solidFill>
                      <a:srgbClr val="FFFFFF"/>
                    </a:solidFill>
                  </a:tcPr>
                </a:tc>
                <a:tc>
                  <a:txBody>
                    <a:bodyPr wrap="square"/>
                    <a:lstStyle/>
                    <a:p>
                      <a:pPr algn="r"/>
                      <a:r>
                        <a:rPr sz="850" b="0">
                          <a:solidFill>
                            <a:srgbClr val="0F172A"/>
                          </a:solidFill>
                          <a:latin typeface="Inter"/>
                        </a:rPr>
                        <a:t>$691</a:t>
                      </a:r>
                    </a:p>
                  </a:txBody>
                  <a:tcPr marL="54864" marR="54864" marT="27432" marB="27432" anchor="ctr">
                    <a:solidFill>
                      <a:srgbClr val="FFFFFF"/>
                    </a:solidFill>
                  </a:tcPr>
                </a:tc>
                <a:tc>
                  <a:txBody>
                    <a:bodyPr wrap="square"/>
                    <a:lstStyle/>
                    <a:p>
                      <a:pPr algn="r"/>
                      <a:r>
                        <a:rPr sz="850" b="0">
                          <a:solidFill>
                            <a:srgbClr val="0F172A"/>
                          </a:solidFill>
                          <a:latin typeface="Inter"/>
                        </a:rPr>
                        <a:t>$6,640</a:t>
                      </a:r>
                    </a:p>
                  </a:txBody>
                  <a:tcPr marL="54864" marR="54864" marT="27432" marB="27432" anchor="ctr">
                    <a:solidFill>
                      <a:srgbClr val="FFFFFF"/>
                    </a:solidFill>
                  </a:tcPr>
                </a:tc>
                <a:tc>
                  <a:txBody>
                    <a:bodyPr wrap="square"/>
                    <a:lstStyle/>
                    <a:p>
                      <a:pPr algn="r"/>
                      <a:r>
                        <a:rPr sz="850" b="0">
                          <a:solidFill>
                            <a:srgbClr val="0F172A"/>
                          </a:solidFill>
                          <a:latin typeface="Inter"/>
                        </a:rPr>
                        <a:t>9.61x</a:t>
                      </a:r>
                    </a:p>
                  </a:txBody>
                  <a:tcPr marL="54864" marR="54864" marT="27432" marB="27432" anchor="ctr">
                    <a:solidFill>
                      <a:srgbClr val="FFFFFF"/>
                    </a:solidFill>
                  </a:tcPr>
                </a:tc>
                <a:tc>
                  <a:txBody>
                    <a:bodyPr wrap="square"/>
                    <a:lstStyle/>
                    <a:p>
                      <a:pPr algn="r"/>
                      <a:r>
                        <a:rPr sz="850" b="0">
                          <a:solidFill>
                            <a:srgbClr val="0F172A"/>
                          </a:solidFill>
                          <a:latin typeface="Inter"/>
                        </a:rPr>
                        <a:t>10.4%</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c>
                  <a:txBody>
                    <a:bodyPr wrap="square"/>
                    <a:lstStyle/>
                    <a:p>
                      <a:pPr algn="r"/>
                      <a:r>
                        <a:rPr sz="850" b="0">
                          <a:solidFill>
                            <a:srgbClr val="0F172A"/>
                          </a:solidFill>
                          <a:latin typeface="Inter"/>
                        </a:rPr>
                        <a:t>24</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$3,932</a:t>
                      </a:r>
                    </a:p>
                  </a:txBody>
                  <a:tcPr marL="54864" marR="54864" marT="27432" marB="27432" anchor="ctr">
                    <a:solidFill>
                      <a:srgbClr val="FFFFFF"/>
                    </a:solidFill>
                  </a:tcPr>
                </a:tc>
                <a:tc>
                  <a:txBody>
                    <a:bodyPr wrap="square"/>
                    <a:lstStyle/>
                    <a:p>
                      <a:pPr algn="r"/>
                      <a:r>
                        <a:rPr sz="850" b="0">
                          <a:solidFill>
                            <a:srgbClr val="0F172A"/>
                          </a:solidFill>
                          <a:latin typeface="Inter"/>
                        </a:rPr>
                        <a:t>63%</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19</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$7,654</a:t>
                      </a:r>
                    </a:p>
                  </a:txBody>
                  <a:tcPr marL="54864" marR="54864" marT="27432" marB="27432" anchor="ctr">
                    <a:solidFill>
                      <a:srgbClr val="FBFAF7"/>
                    </a:solidFill>
                  </a:tcPr>
                </a:tc>
                <a:tc>
                  <a:txBody>
                    <a:bodyPr wrap="square"/>
                    <a:lstStyle/>
                    <a:p>
                      <a:pPr algn="r"/>
                      <a:r>
                        <a:rPr sz="850" b="0">
                          <a:solidFill>
                            <a:srgbClr val="0F172A"/>
                          </a:solidFill>
                          <a:latin typeface="Inter"/>
                        </a:rPr>
                        <a:t>$474</a:t>
                      </a:r>
                    </a:p>
                  </a:txBody>
                  <a:tcPr marL="54864" marR="54864" marT="27432" marB="27432" anchor="ctr">
                    <a:solidFill>
                      <a:srgbClr val="FBFAF7"/>
                    </a:solidFill>
                  </a:tcPr>
                </a:tc>
                <a:tc>
                  <a:txBody>
                    <a:bodyPr wrap="square"/>
                    <a:lstStyle/>
                    <a:p>
                      <a:pPr algn="r"/>
                      <a:r>
                        <a:rPr sz="850" b="0">
                          <a:solidFill>
                            <a:srgbClr val="0F172A"/>
                          </a:solidFill>
                          <a:latin typeface="Inter"/>
                        </a:rPr>
                        <a:t>$5,395</a:t>
                      </a:r>
                    </a:p>
                  </a:txBody>
                  <a:tcPr marL="54864" marR="54864" marT="27432" marB="27432" anchor="ctr">
                    <a:solidFill>
                      <a:srgbClr val="FBFAF7"/>
                    </a:solidFill>
                  </a:tcPr>
                </a:tc>
                <a:tc>
                  <a:txBody>
                    <a:bodyPr wrap="square"/>
                    <a:lstStyle/>
                    <a:p>
                      <a:pPr algn="r"/>
                      <a:r>
                        <a:rPr sz="850" b="0">
                          <a:solidFill>
                            <a:srgbClr val="0F172A"/>
                          </a:solidFill>
                          <a:latin typeface="Inter"/>
                        </a:rPr>
                        <a:t>11.39x</a:t>
                      </a:r>
                    </a:p>
                  </a:txBody>
                  <a:tcPr marL="54864" marR="54864" marT="27432" marB="27432" anchor="ctr">
                    <a:solidFill>
                      <a:srgbClr val="FBFAF7"/>
                    </a:solidFill>
                  </a:tcPr>
                </a:tc>
                <a:tc>
                  <a:txBody>
                    <a:bodyPr wrap="square"/>
                    <a:lstStyle/>
                    <a:p>
                      <a:pPr algn="r"/>
                      <a:r>
                        <a:rPr sz="850" b="0">
                          <a:solidFill>
                            <a:srgbClr val="0F172A"/>
                          </a:solidFill>
                          <a:latin typeface="Inter"/>
                        </a:rPr>
                        <a:t>8.8%</a:t>
                      </a:r>
                    </a:p>
                  </a:txBody>
                  <a:tcPr marL="54864" marR="54864" marT="27432" marB="27432" anchor="ctr">
                    <a:solidFill>
                      <a:srgbClr val="FBFAF7"/>
                    </a:solidFill>
                  </a:tcPr>
                </a:tc>
                <a:tc>
                  <a:txBody>
                    <a:bodyPr wrap="square"/>
                    <a:lstStyle/>
                    <a:p>
                      <a:pPr algn="r"/>
                      <a:r>
                        <a:rPr sz="850" b="0">
                          <a:solidFill>
                            <a:srgbClr val="0F172A"/>
                          </a:solidFill>
                          <a:latin typeface="Inter"/>
                        </a:rPr>
                        <a:t>6.2%</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$2,260</a:t>
                      </a:r>
                    </a:p>
                  </a:txBody>
                  <a:tcPr marL="54864" marR="54864" marT="27432" marB="27432" anchor="ctr">
                    <a:solidFill>
                      <a:srgbClr val="FBFAF7"/>
                    </a:solidFill>
                  </a:tcPr>
                </a:tc>
                <a:tc>
                  <a:txBody>
                    <a:bodyPr wrap="square"/>
                    <a:lstStyle/>
                    <a:p>
                      <a:pPr algn="r"/>
                      <a:r>
                        <a:rPr sz="850" b="0">
                          <a:solidFill>
                            <a:srgbClr val="0F172A"/>
                          </a:solidFill>
                          <a:latin typeface="Inter"/>
                        </a:rPr>
                        <a:t>70%</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20</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$8,864</a:t>
                      </a:r>
                    </a:p>
                  </a:txBody>
                  <a:tcPr marL="54864" marR="54864" marT="27432" marB="27432" anchor="ctr">
                    <a:solidFill>
                      <a:srgbClr val="FFFFFF"/>
                    </a:solidFill>
                  </a:tcPr>
                </a:tc>
                <a:tc>
                  <a:txBody>
                    <a:bodyPr wrap="square"/>
                    <a:lstStyle/>
                    <a:p>
                      <a:pPr algn="r"/>
                      <a:r>
                        <a:rPr sz="850" b="0">
                          <a:solidFill>
                            <a:srgbClr val="0F172A"/>
                          </a:solidFill>
                          <a:latin typeface="Inter"/>
                        </a:rPr>
                        <a:t>$458</a:t>
                      </a:r>
                    </a:p>
                  </a:txBody>
                  <a:tcPr marL="54864" marR="54864" marT="27432" marB="27432" anchor="ctr">
                    <a:solidFill>
                      <a:srgbClr val="FFFFFF"/>
                    </a:solidFill>
                  </a:tcPr>
                </a:tc>
                <a:tc>
                  <a:txBody>
                    <a:bodyPr wrap="square"/>
                    <a:lstStyle/>
                    <a:p>
                      <a:pPr algn="r"/>
                      <a:r>
                        <a:rPr sz="850" b="0">
                          <a:solidFill>
                            <a:srgbClr val="0F172A"/>
                          </a:solidFill>
                          <a:latin typeface="Inter"/>
                        </a:rPr>
                        <a:t>$5,446</a:t>
                      </a:r>
                    </a:p>
                  </a:txBody>
                  <a:tcPr marL="54864" marR="54864" marT="27432" marB="27432" anchor="ctr">
                    <a:solidFill>
                      <a:srgbClr val="FFFFFF"/>
                    </a:solidFill>
                  </a:tcPr>
                </a:tc>
                <a:tc>
                  <a:txBody>
                    <a:bodyPr wrap="square"/>
                    <a:lstStyle/>
                    <a:p>
                      <a:pPr algn="r"/>
                      <a:r>
                        <a:rPr sz="850" b="0">
                          <a:solidFill>
                            <a:srgbClr val="0F172A"/>
                          </a:solidFill>
                          <a:latin typeface="Inter"/>
                        </a:rPr>
                        <a:t>11.88x</a:t>
                      </a:r>
                    </a:p>
                  </a:txBody>
                  <a:tcPr marL="54864" marR="54864" marT="27432" marB="27432" anchor="ctr">
                    <a:solidFill>
                      <a:srgbClr val="FFFFFF"/>
                    </a:solidFill>
                  </a:tcPr>
                </a:tc>
                <a:tc>
                  <a:txBody>
                    <a:bodyPr wrap="square"/>
                    <a:lstStyle/>
                    <a:p>
                      <a:pPr algn="r"/>
                      <a:r>
                        <a:rPr sz="850" b="0">
                          <a:solidFill>
                            <a:srgbClr val="0F172A"/>
                          </a:solidFill>
                          <a:latin typeface="Inter"/>
                        </a:rPr>
                        <a:t>8.4%</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10</a:t>
                      </a:r>
                    </a:p>
                  </a:txBody>
                  <a:tcPr marL="54864" marR="54864" marT="27432" marB="27432" anchor="ctr">
                    <a:solidFill>
                      <a:srgbClr val="FFFFFF"/>
                    </a:solidFill>
                  </a:tcPr>
                </a:tc>
                <a:tc>
                  <a:txBody>
                    <a:bodyPr wrap="square"/>
                    <a:lstStyle/>
                    <a:p>
                      <a:pPr algn="r"/>
                      <a:r>
                        <a:rPr sz="850" b="0">
                          <a:solidFill>
                            <a:srgbClr val="0F172A"/>
                          </a:solidFill>
                          <a:latin typeface="Inter"/>
                        </a:rPr>
                        <a:t>$3,418</a:t>
                      </a:r>
                    </a:p>
                  </a:txBody>
                  <a:tcPr marL="54864" marR="54864" marT="27432" marB="27432" anchor="ctr">
                    <a:solidFill>
                      <a:srgbClr val="FFFFFF"/>
                    </a:solidFill>
                  </a:tcPr>
                </a:tc>
                <a:tc>
                  <a:txBody>
                    <a:bodyPr wrap="square"/>
                    <a:lstStyle/>
                    <a:p>
                      <a:pPr algn="r"/>
                      <a:r>
                        <a:rPr sz="850" b="0">
                          <a:solidFill>
                            <a:srgbClr val="0F172A"/>
                          </a:solidFill>
                          <a:latin typeface="Inter"/>
                        </a:rPr>
                        <a:t>61%</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21</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$8,931</a:t>
                      </a:r>
                    </a:p>
                  </a:txBody>
                  <a:tcPr marL="54864" marR="54864" marT="27432" marB="27432" anchor="ctr">
                    <a:solidFill>
                      <a:srgbClr val="FBFAF7"/>
                    </a:solidFill>
                  </a:tcPr>
                </a:tc>
                <a:tc>
                  <a:txBody>
                    <a:bodyPr wrap="square"/>
                    <a:lstStyle/>
                    <a:p>
                      <a:pPr algn="r"/>
                      <a:r>
                        <a:rPr sz="850" b="0">
                          <a:solidFill>
                            <a:srgbClr val="0F172A"/>
                          </a:solidFill>
                          <a:latin typeface="Inter"/>
                        </a:rPr>
                        <a:t>$399</a:t>
                      </a:r>
                    </a:p>
                  </a:txBody>
                  <a:tcPr marL="54864" marR="54864" marT="27432" marB="27432" anchor="ctr">
                    <a:solidFill>
                      <a:srgbClr val="FBFAF7"/>
                    </a:solidFill>
                  </a:tcPr>
                </a:tc>
                <a:tc>
                  <a:txBody>
                    <a:bodyPr wrap="square"/>
                    <a:lstStyle/>
                    <a:p>
                      <a:pPr algn="r"/>
                      <a:r>
                        <a:rPr sz="850" b="0">
                          <a:solidFill>
                            <a:srgbClr val="0F172A"/>
                          </a:solidFill>
                          <a:latin typeface="Inter"/>
                        </a:rPr>
                        <a:t>$3,987</a:t>
                      </a:r>
                    </a:p>
                  </a:txBody>
                  <a:tcPr marL="54864" marR="54864" marT="27432" marB="27432" anchor="ctr">
                    <a:solidFill>
                      <a:srgbClr val="FBFAF7"/>
                    </a:solidFill>
                  </a:tcPr>
                </a:tc>
                <a:tc>
                  <a:txBody>
                    <a:bodyPr wrap="square"/>
                    <a:lstStyle/>
                    <a:p>
                      <a:pPr algn="r"/>
                      <a:r>
                        <a:rPr sz="850" b="0">
                          <a:solidFill>
                            <a:srgbClr val="0F172A"/>
                          </a:solidFill>
                          <a:latin typeface="Inter"/>
                        </a:rPr>
                        <a:t>9.99x</a:t>
                      </a:r>
                    </a:p>
                  </a:txBody>
                  <a:tcPr marL="54864" marR="54864" marT="27432" marB="27432" anchor="ctr">
                    <a:solidFill>
                      <a:srgbClr val="FBFAF7"/>
                    </a:solidFill>
                  </a:tcPr>
                </a:tc>
                <a:tc>
                  <a:txBody>
                    <a:bodyPr wrap="square"/>
                    <a:lstStyle/>
                    <a:p>
                      <a:pPr algn="r"/>
                      <a:r>
                        <a:rPr sz="850" b="0">
                          <a:solidFill>
                            <a:srgbClr val="0F172A"/>
                          </a:solidFill>
                          <a:latin typeface="Inter"/>
                        </a:rPr>
                        <a:t>10.0%</a:t>
                      </a:r>
                    </a:p>
                  </a:txBody>
                  <a:tcPr marL="54864" marR="54864" marT="27432" marB="27432" anchor="ctr">
                    <a:solidFill>
                      <a:srgbClr val="FBFAF7"/>
                    </a:solidFill>
                  </a:tcPr>
                </a:tc>
                <a:tc>
                  <a:txBody>
                    <a:bodyPr wrap="square"/>
                    <a:lstStyle/>
                    <a:p>
                      <a:pPr algn="r"/>
                      <a:r>
                        <a:rPr sz="850" b="0">
                          <a:solidFill>
                            <a:srgbClr val="0F172A"/>
                          </a:solidFill>
                          <a:latin typeface="Inter"/>
                        </a:rPr>
                        <a:t>4.5%</a:t>
                      </a:r>
                    </a:p>
                  </a:txBody>
                  <a:tcPr marL="54864" marR="54864" marT="27432" marB="27432" anchor="ctr">
                    <a:solidFill>
                      <a:srgbClr val="FBFAF7"/>
                    </a:solidFill>
                  </a:tcPr>
                </a:tc>
                <a:tc>
                  <a:txBody>
                    <a:bodyPr wrap="square"/>
                    <a:lstStyle/>
                    <a:p>
                      <a:pPr algn="r"/>
                      <a:r>
                        <a:rPr sz="850" b="0">
                          <a:solidFill>
                            <a:srgbClr val="0F172A"/>
                          </a:solidFill>
                          <a:latin typeface="Inter"/>
                        </a:rPr>
                        <a:t>18</a:t>
                      </a:r>
                    </a:p>
                  </a:txBody>
                  <a:tcPr marL="54864" marR="54864" marT="27432" marB="27432" anchor="ctr">
                    <a:solidFill>
                      <a:srgbClr val="FBFAF7"/>
                    </a:solidFill>
                  </a:tcPr>
                </a:tc>
                <a:tc>
                  <a:txBody>
                    <a:bodyPr wrap="square"/>
                    <a:lstStyle/>
                    <a:p>
                      <a:pPr algn="r"/>
                      <a:r>
                        <a:rPr sz="850" b="0">
                          <a:solidFill>
                            <a:srgbClr val="0F172A"/>
                          </a:solidFill>
                          <a:latin typeface="Inter"/>
                        </a:rPr>
                        <a:t>9</a:t>
                      </a:r>
                    </a:p>
                  </a:txBody>
                  <a:tcPr marL="54864" marR="54864" marT="27432" marB="27432" anchor="ctr">
                    <a:solidFill>
                      <a:srgbClr val="FBFAF7"/>
                    </a:solidFill>
                  </a:tcPr>
                </a:tc>
                <a:tc>
                  <a:txBody>
                    <a:bodyPr wrap="square"/>
                    <a:lstStyle/>
                    <a:p>
                      <a:pPr algn="r"/>
                      <a:r>
                        <a:rPr sz="850" b="0">
                          <a:solidFill>
                            <a:srgbClr val="0F172A"/>
                          </a:solidFill>
                          <a:latin typeface="Inter"/>
                        </a:rPr>
                        <a:t>$4,944</a:t>
                      </a:r>
                    </a:p>
                  </a:txBody>
                  <a:tcPr marL="54864" marR="54864" marT="27432" marB="27432" anchor="ctr">
                    <a:solidFill>
                      <a:srgbClr val="FBFAF7"/>
                    </a:solidFill>
                  </a:tcPr>
                </a:tc>
                <a:tc>
                  <a:txBody>
                    <a:bodyPr wrap="square"/>
                    <a:lstStyle/>
                    <a:p>
                      <a:pPr algn="r"/>
                      <a:r>
                        <a:rPr sz="850" b="0">
                          <a:solidFill>
                            <a:srgbClr val="0F172A"/>
                          </a:solidFill>
                          <a:latin typeface="Inter"/>
                        </a:rPr>
                        <a:t>45%</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22</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$4,779</a:t>
                      </a:r>
                    </a:p>
                  </a:txBody>
                  <a:tcPr marL="54864" marR="54864" marT="27432" marB="27432" anchor="ctr">
                    <a:solidFill>
                      <a:srgbClr val="FFFFFF"/>
                    </a:solidFill>
                  </a:tcPr>
                </a:tc>
                <a:tc>
                  <a:txBody>
                    <a:bodyPr wrap="square"/>
                    <a:lstStyle/>
                    <a:p>
                      <a:pPr algn="r"/>
                      <a:r>
                        <a:rPr sz="850" b="0">
                          <a:solidFill>
                            <a:srgbClr val="0F172A"/>
                          </a:solidFill>
                          <a:latin typeface="Inter"/>
                        </a:rPr>
                        <a:t>$503</a:t>
                      </a:r>
                    </a:p>
                  </a:txBody>
                  <a:tcPr marL="54864" marR="54864" marT="27432" marB="27432" anchor="ctr">
                    <a:solidFill>
                      <a:srgbClr val="FFFFFF"/>
                    </a:solidFill>
                  </a:tcPr>
                </a:tc>
                <a:tc>
                  <a:txBody>
                    <a:bodyPr wrap="square"/>
                    <a:lstStyle/>
                    <a:p>
                      <a:pPr algn="r"/>
                      <a:r>
                        <a:rPr sz="850" b="0">
                          <a:solidFill>
                            <a:srgbClr val="0F172A"/>
                          </a:solidFill>
                          <a:latin typeface="Inter"/>
                        </a:rPr>
                        <a:t>$3,662</a:t>
                      </a:r>
                    </a:p>
                  </a:txBody>
                  <a:tcPr marL="54864" marR="54864" marT="27432" marB="27432" anchor="ctr">
                    <a:solidFill>
                      <a:srgbClr val="FFFFFF"/>
                    </a:solidFill>
                  </a:tcPr>
                </a:tc>
                <a:tc>
                  <a:txBody>
                    <a:bodyPr wrap="square"/>
                    <a:lstStyle/>
                    <a:p>
                      <a:pPr algn="r"/>
                      <a:r>
                        <a:rPr sz="850" b="0">
                          <a:solidFill>
                            <a:srgbClr val="0F172A"/>
                          </a:solidFill>
                          <a:latin typeface="Inter"/>
                        </a:rPr>
                        <a:t>7.28x</a:t>
                      </a:r>
                    </a:p>
                  </a:txBody>
                  <a:tcPr marL="54864" marR="54864" marT="27432" marB="27432" anchor="ctr">
                    <a:solidFill>
                      <a:srgbClr val="FFFFFF"/>
                    </a:solidFill>
                  </a:tcPr>
                </a:tc>
                <a:tc>
                  <a:txBody>
                    <a:bodyPr wrap="square"/>
                    <a:lstStyle/>
                    <a:p>
                      <a:pPr algn="r"/>
                      <a:r>
                        <a:rPr sz="850" b="0">
                          <a:solidFill>
                            <a:srgbClr val="0F172A"/>
                          </a:solidFill>
                          <a:latin typeface="Inter"/>
                        </a:rPr>
                        <a:t>13.7%</a:t>
                      </a:r>
                    </a:p>
                  </a:txBody>
                  <a:tcPr marL="54864" marR="54864" marT="27432" marB="27432" anchor="ctr">
                    <a:solidFill>
                      <a:srgbClr val="FFFFFF"/>
                    </a:solidFill>
                  </a:tcPr>
                </a:tc>
                <a:tc>
                  <a:txBody>
                    <a:bodyPr wrap="square"/>
                    <a:lstStyle/>
                    <a:p>
                      <a:pPr algn="r"/>
                      <a:r>
                        <a:rPr sz="850" b="0">
                          <a:solidFill>
                            <a:srgbClr val="0F172A"/>
                          </a:solidFill>
                          <a:latin typeface="Inter"/>
                        </a:rPr>
                        <a:t>10.5%</a:t>
                      </a:r>
                    </a:p>
                  </a:txBody>
                  <a:tcPr marL="54864" marR="54864" marT="27432" marB="27432" anchor="ctr">
                    <a:solidFill>
                      <a:srgbClr val="FFFFFF"/>
                    </a:solidFill>
                  </a:tcPr>
                </a:tc>
                <a:tc>
                  <a:txBody>
                    <a:bodyPr wrap="square"/>
                    <a:lstStyle/>
                    <a:p>
                      <a:pPr algn="r"/>
                      <a:r>
                        <a:rPr sz="850" b="0">
                          <a:solidFill>
                            <a:srgbClr val="0F172A"/>
                          </a:solidFill>
                          <a:latin typeface="Inter"/>
                        </a:rPr>
                        <a:t>10</a:t>
                      </a:r>
                    </a:p>
                  </a:txBody>
                  <a:tcPr marL="54864" marR="54864" marT="27432" marB="27432" anchor="ctr">
                    <a:solidFill>
                      <a:srgbClr val="FFFFFF"/>
                    </a:solidFill>
                  </a:tcPr>
                </a:tc>
                <a:tc>
                  <a:txBody>
                    <a:bodyPr wrap="square"/>
                    <a:lstStyle/>
                    <a:p>
                      <a:pPr algn="r"/>
                      <a:r>
                        <a:rPr sz="850" b="0">
                          <a:solidFill>
                            <a:srgbClr val="0F172A"/>
                          </a:solidFill>
                          <a:latin typeface="Inter"/>
                        </a:rPr>
                        <a:t>9</a:t>
                      </a:r>
                    </a:p>
                  </a:txBody>
                  <a:tcPr marL="54864" marR="54864" marT="27432" marB="27432" anchor="ctr">
                    <a:solidFill>
                      <a:srgbClr val="FFFFFF"/>
                    </a:solidFill>
                  </a:tcPr>
                </a:tc>
                <a:tc>
                  <a:txBody>
                    <a:bodyPr wrap="square"/>
                    <a:lstStyle/>
                    <a:p>
                      <a:pPr algn="r"/>
                      <a:r>
                        <a:rPr sz="850" b="0">
                          <a:solidFill>
                            <a:srgbClr val="0F172A"/>
                          </a:solidFill>
                          <a:latin typeface="Inter"/>
                        </a:rPr>
                        <a:t>$1,117</a:t>
                      </a:r>
                    </a:p>
                  </a:txBody>
                  <a:tcPr marL="54864" marR="54864" marT="27432" marB="27432" anchor="ctr">
                    <a:solidFill>
                      <a:srgbClr val="FFFFFF"/>
                    </a:solidFill>
                  </a:tcPr>
                </a:tc>
                <a:tc>
                  <a:txBody>
                    <a:bodyPr wrap="square"/>
                    <a:lstStyle/>
                    <a:p>
                      <a:pPr algn="r"/>
                      <a:r>
                        <a:rPr sz="850" b="0">
                          <a:solidFill>
                            <a:srgbClr val="0F172A"/>
                          </a:solidFill>
                          <a:latin typeface="Inter"/>
                        </a:rPr>
                        <a:t>77%</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23</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$6,997</a:t>
                      </a:r>
                    </a:p>
                  </a:txBody>
                  <a:tcPr marL="54864" marR="54864" marT="27432" marB="27432" anchor="ctr">
                    <a:solidFill>
                      <a:srgbClr val="FBFAF7"/>
                    </a:solidFill>
                  </a:tcPr>
                </a:tc>
                <a:tc>
                  <a:txBody>
                    <a:bodyPr wrap="square"/>
                    <a:lstStyle/>
                    <a:p>
                      <a:pPr algn="r"/>
                      <a:r>
                        <a:rPr sz="850" b="0">
                          <a:solidFill>
                            <a:srgbClr val="0F172A"/>
                          </a:solidFill>
                          <a:latin typeface="Inter"/>
                        </a:rPr>
                        <a:t>$443</a:t>
                      </a:r>
                    </a:p>
                  </a:txBody>
                  <a:tcPr marL="54864" marR="54864" marT="27432" marB="27432" anchor="ctr">
                    <a:solidFill>
                      <a:srgbClr val="FBFAF7"/>
                    </a:solidFill>
                  </a:tcPr>
                </a:tc>
                <a:tc>
                  <a:txBody>
                    <a:bodyPr wrap="square"/>
                    <a:lstStyle/>
                    <a:p>
                      <a:pPr algn="r"/>
                      <a:r>
                        <a:rPr sz="850" b="0">
                          <a:solidFill>
                            <a:srgbClr val="0F172A"/>
                          </a:solidFill>
                          <a:latin typeface="Inter"/>
                        </a:rPr>
                        <a:t>$4,588</a:t>
                      </a:r>
                    </a:p>
                  </a:txBody>
                  <a:tcPr marL="54864" marR="54864" marT="27432" marB="27432" anchor="ctr">
                    <a:solidFill>
                      <a:srgbClr val="FBFAF7"/>
                    </a:solidFill>
                  </a:tcPr>
                </a:tc>
                <a:tc>
                  <a:txBody>
                    <a:bodyPr wrap="square"/>
                    <a:lstStyle/>
                    <a:p>
                      <a:pPr algn="r"/>
                      <a:r>
                        <a:rPr sz="850" b="0">
                          <a:solidFill>
                            <a:srgbClr val="0F172A"/>
                          </a:solidFill>
                          <a:latin typeface="Inter"/>
                        </a:rPr>
                        <a:t>10.36x</a:t>
                      </a:r>
                    </a:p>
                  </a:txBody>
                  <a:tcPr marL="54864" marR="54864" marT="27432" marB="27432" anchor="ctr">
                    <a:solidFill>
                      <a:srgbClr val="FBFAF7"/>
                    </a:solidFill>
                  </a:tcPr>
                </a:tc>
                <a:tc>
                  <a:txBody>
                    <a:bodyPr wrap="square"/>
                    <a:lstStyle/>
                    <a:p>
                      <a:pPr algn="r"/>
                      <a:r>
                        <a:rPr sz="850" b="0">
                          <a:solidFill>
                            <a:srgbClr val="0F172A"/>
                          </a:solidFill>
                          <a:latin typeface="Inter"/>
                        </a:rPr>
                        <a:t>9.6%</a:t>
                      </a:r>
                    </a:p>
                  </a:txBody>
                  <a:tcPr marL="54864" marR="54864" marT="27432" marB="27432" anchor="ctr">
                    <a:solidFill>
                      <a:srgbClr val="FBFAF7"/>
                    </a:solidFill>
                  </a:tcPr>
                </a:tc>
                <a:tc>
                  <a:txBody>
                    <a:bodyPr wrap="square"/>
                    <a:lstStyle/>
                    <a:p>
                      <a:pPr algn="r"/>
                      <a:r>
                        <a:rPr sz="850" b="0">
                          <a:solidFill>
                            <a:srgbClr val="0F172A"/>
                          </a:solidFill>
                          <a:latin typeface="Inter"/>
                        </a:rPr>
                        <a:t>6.3%</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9</a:t>
                      </a:r>
                    </a:p>
                  </a:txBody>
                  <a:tcPr marL="54864" marR="54864" marT="27432" marB="27432" anchor="ctr">
                    <a:solidFill>
                      <a:srgbClr val="FBFAF7"/>
                    </a:solidFill>
                  </a:tcPr>
                </a:tc>
                <a:tc>
                  <a:txBody>
                    <a:bodyPr wrap="square"/>
                    <a:lstStyle/>
                    <a:p>
                      <a:pPr algn="r"/>
                      <a:r>
                        <a:rPr sz="850" b="0">
                          <a:solidFill>
                            <a:srgbClr val="0F172A"/>
                          </a:solidFill>
                          <a:latin typeface="Inter"/>
                        </a:rPr>
                        <a:t>$2,410</a:t>
                      </a:r>
                    </a:p>
                  </a:txBody>
                  <a:tcPr marL="54864" marR="54864" marT="27432" marB="27432" anchor="ctr">
                    <a:solidFill>
                      <a:srgbClr val="FBFAF7"/>
                    </a:solidFill>
                  </a:tcPr>
                </a:tc>
                <a:tc>
                  <a:txBody>
                    <a:bodyPr wrap="square"/>
                    <a:lstStyle/>
                    <a:p>
                      <a:pPr algn="r"/>
                      <a:r>
                        <a:rPr sz="850" b="0">
                          <a:solidFill>
                            <a:srgbClr val="0F172A"/>
                          </a:solidFill>
                          <a:latin typeface="Inter"/>
                        </a:rPr>
                        <a:t>66%</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24</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$9,865</a:t>
                      </a:r>
                    </a:p>
                  </a:txBody>
                  <a:tcPr marL="54864" marR="54864" marT="27432" marB="27432" anchor="ctr">
                    <a:solidFill>
                      <a:srgbClr val="FFFFFF"/>
                    </a:solidFill>
                  </a:tcPr>
                </a:tc>
                <a:tc>
                  <a:txBody>
                    <a:bodyPr wrap="square"/>
                    <a:lstStyle/>
                    <a:p>
                      <a:pPr algn="r"/>
                      <a:r>
                        <a:rPr sz="850" b="0">
                          <a:solidFill>
                            <a:srgbClr val="0F172A"/>
                          </a:solidFill>
                          <a:latin typeface="Inter"/>
                        </a:rPr>
                        <a:t>$644</a:t>
                      </a:r>
                    </a:p>
                  </a:txBody>
                  <a:tcPr marL="54864" marR="54864" marT="27432" marB="27432" anchor="ctr">
                    <a:solidFill>
                      <a:srgbClr val="FFFFFF"/>
                    </a:solidFill>
                  </a:tcPr>
                </a:tc>
                <a:tc>
                  <a:txBody>
                    <a:bodyPr wrap="square"/>
                    <a:lstStyle/>
                    <a:p>
                      <a:pPr algn="r"/>
                      <a:r>
                        <a:rPr sz="850" b="0">
                          <a:solidFill>
                            <a:srgbClr val="0F172A"/>
                          </a:solidFill>
                          <a:latin typeface="Inter"/>
                        </a:rPr>
                        <a:t>$4,978</a:t>
                      </a:r>
                    </a:p>
                  </a:txBody>
                  <a:tcPr marL="54864" marR="54864" marT="27432" marB="27432" anchor="ctr">
                    <a:solidFill>
                      <a:srgbClr val="FFFFFF"/>
                    </a:solidFill>
                  </a:tcPr>
                </a:tc>
                <a:tc>
                  <a:txBody>
                    <a:bodyPr wrap="square"/>
                    <a:lstStyle/>
                    <a:p>
                      <a:pPr algn="r"/>
                      <a:r>
                        <a:rPr sz="850" b="0">
                          <a:solidFill>
                            <a:srgbClr val="0F172A"/>
                          </a:solidFill>
                          <a:latin typeface="Inter"/>
                        </a:rPr>
                        <a:t>7.73x</a:t>
                      </a:r>
                    </a:p>
                  </a:txBody>
                  <a:tcPr marL="54864" marR="54864" marT="27432" marB="27432" anchor="ctr">
                    <a:solidFill>
                      <a:srgbClr val="FFFFFF"/>
                    </a:solidFill>
                  </a:tcPr>
                </a:tc>
                <a:tc>
                  <a:txBody>
                    <a:bodyPr wrap="square"/>
                    <a:lstStyle/>
                    <a:p>
                      <a:pPr algn="r"/>
                      <a:r>
                        <a:rPr sz="850" b="0">
                          <a:solidFill>
                            <a:srgbClr val="0F172A"/>
                          </a:solidFill>
                          <a:latin typeface="Inter"/>
                        </a:rPr>
                        <a:t>12.9%</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11</a:t>
                      </a:r>
                    </a:p>
                  </a:txBody>
                  <a:tcPr marL="54864" marR="54864" marT="27432" marB="27432" anchor="ctr">
                    <a:solidFill>
                      <a:srgbClr val="FFFFFF"/>
                    </a:solidFill>
                  </a:tcPr>
                </a:tc>
                <a:tc>
                  <a:txBody>
                    <a:bodyPr wrap="square"/>
                    <a:lstStyle/>
                    <a:p>
                      <a:pPr algn="r"/>
                      <a:r>
                        <a:rPr sz="850" b="0">
                          <a:solidFill>
                            <a:srgbClr val="0F172A"/>
                          </a:solidFill>
                          <a:latin typeface="Inter"/>
                        </a:rPr>
                        <a:t>$4,887</a:t>
                      </a:r>
                    </a:p>
                  </a:txBody>
                  <a:tcPr marL="54864" marR="54864" marT="27432" marB="27432" anchor="ctr">
                    <a:solidFill>
                      <a:srgbClr val="FFFFFF"/>
                    </a:solidFill>
                  </a:tcPr>
                </a:tc>
                <a:tc>
                  <a:txBody>
                    <a:bodyPr wrap="square"/>
                    <a:lstStyle/>
                    <a:p>
                      <a:pPr algn="r"/>
                      <a:r>
                        <a:rPr sz="850" b="0">
                          <a:solidFill>
                            <a:srgbClr val="0F172A"/>
                          </a:solidFill>
                          <a:latin typeface="Inter"/>
                        </a:rPr>
                        <a:t>50%</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18 – 24</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$57,663</a:t>
                      </a:r>
                    </a:p>
                  </a:txBody>
                  <a:tcPr marL="54864" marR="54864" marT="27432" marB="27432" anchor="ctr">
                    <a:solidFill>
                      <a:srgbClr val="F6F3EC"/>
                    </a:solidFill>
                  </a:tcPr>
                </a:tc>
                <a:tc>
                  <a:txBody>
                    <a:bodyPr wrap="square"/>
                    <a:lstStyle/>
                    <a:p>
                      <a:pPr algn="r"/>
                      <a:r>
                        <a:rPr sz="850" b="1">
                          <a:solidFill>
                            <a:srgbClr val="0F172A"/>
                          </a:solidFill>
                          <a:latin typeface="Inter"/>
                        </a:rPr>
                        <a:t>$3,612</a:t>
                      </a:r>
                    </a:p>
                  </a:txBody>
                  <a:tcPr marL="54864" marR="54864" marT="27432" marB="27432" anchor="ctr">
                    <a:solidFill>
                      <a:srgbClr val="F6F3EC"/>
                    </a:solidFill>
                  </a:tcPr>
                </a:tc>
                <a:tc>
                  <a:txBody>
                    <a:bodyPr wrap="square"/>
                    <a:lstStyle/>
                    <a:p>
                      <a:pPr algn="r"/>
                      <a:r>
                        <a:rPr sz="850" b="1">
                          <a:solidFill>
                            <a:srgbClr val="0F172A"/>
                          </a:solidFill>
                          <a:latin typeface="Inter"/>
                        </a:rPr>
                        <a:t>$34,696</a:t>
                      </a:r>
                    </a:p>
                  </a:txBody>
                  <a:tcPr marL="54864" marR="54864" marT="27432" marB="27432" anchor="ctr">
                    <a:solidFill>
                      <a:srgbClr val="F6F3EC"/>
                    </a:solidFill>
                  </a:tcPr>
                </a:tc>
                <a:tc>
                  <a:txBody>
                    <a:bodyPr wrap="square"/>
                    <a:lstStyle/>
                    <a:p>
                      <a:pPr algn="r"/>
                      <a:r>
                        <a:rPr sz="850" b="1">
                          <a:solidFill>
                            <a:srgbClr val="0F172A"/>
                          </a:solidFill>
                          <a:latin typeface="Inter"/>
                        </a:rPr>
                        <a:t>9.61x</a:t>
                      </a:r>
                    </a:p>
                  </a:txBody>
                  <a:tcPr marL="54864" marR="54864" marT="27432" marB="27432" anchor="ctr">
                    <a:solidFill>
                      <a:srgbClr val="F6F3EC"/>
                    </a:solidFill>
                  </a:tcPr>
                </a:tc>
                <a:tc>
                  <a:txBody>
                    <a:bodyPr wrap="square"/>
                    <a:lstStyle/>
                    <a:p>
                      <a:pPr algn="r"/>
                      <a:r>
                        <a:rPr sz="850" b="1">
                          <a:solidFill>
                            <a:srgbClr val="0F172A"/>
                          </a:solidFill>
                          <a:latin typeface="Inter"/>
                        </a:rPr>
                        <a:t>10.4%</a:t>
                      </a:r>
                    </a:p>
                  </a:txBody>
                  <a:tcPr marL="54864" marR="54864" marT="27432" marB="27432" anchor="ctr">
                    <a:solidFill>
                      <a:srgbClr val="F6F3EC"/>
                    </a:solidFill>
                  </a:tcPr>
                </a:tc>
                <a:tc>
                  <a:txBody>
                    <a:bodyPr wrap="square"/>
                    <a:lstStyle/>
                    <a:p>
                      <a:pPr algn="r"/>
                      <a:r>
                        <a:rPr sz="850" b="1">
                          <a:solidFill>
                            <a:srgbClr val="0F172A"/>
                          </a:solidFill>
                          <a:latin typeface="Inter"/>
                        </a:rPr>
                        <a:t>6.3%</a:t>
                      </a:r>
                    </a:p>
                  </a:txBody>
                  <a:tcPr marL="54864" marR="54864" marT="27432" marB="27432" anchor="ctr">
                    <a:solidFill>
                      <a:srgbClr val="F6F3EC"/>
                    </a:solidFill>
                  </a:tcPr>
                </a:tc>
                <a:tc>
                  <a:txBody>
                    <a:bodyPr wrap="square"/>
                    <a:lstStyle/>
                    <a:p>
                      <a:pPr algn="r"/>
                      <a:r>
                        <a:rPr sz="850" b="1">
                          <a:solidFill>
                            <a:srgbClr val="0F172A"/>
                          </a:solidFill>
                          <a:latin typeface="Inter"/>
                        </a:rPr>
                        <a:t>115</a:t>
                      </a:r>
                    </a:p>
                  </a:txBody>
                  <a:tcPr marL="54864" marR="54864" marT="27432" marB="27432" anchor="ctr">
                    <a:solidFill>
                      <a:srgbClr val="F6F3EC"/>
                    </a:solidFill>
                  </a:tcPr>
                </a:tc>
                <a:tc>
                  <a:txBody>
                    <a:bodyPr wrap="square"/>
                    <a:lstStyle/>
                    <a:p>
                      <a:pPr algn="r"/>
                      <a:r>
                        <a:rPr sz="850" b="1">
                          <a:solidFill>
                            <a:srgbClr val="0F172A"/>
                          </a:solidFill>
                          <a:latin typeface="Inter"/>
                        </a:rPr>
                        <a:t>78</a:t>
                      </a:r>
                    </a:p>
                  </a:txBody>
                  <a:tcPr marL="54864" marR="54864" marT="27432" marB="27432" anchor="ctr">
                    <a:solidFill>
                      <a:srgbClr val="F6F3EC"/>
                    </a:solidFill>
                  </a:tcPr>
                </a:tc>
                <a:tc>
                  <a:txBody>
                    <a:bodyPr wrap="square"/>
                    <a:lstStyle/>
                    <a:p>
                      <a:pPr algn="r"/>
                      <a:r>
                        <a:rPr sz="850" b="1">
                          <a:solidFill>
                            <a:srgbClr val="0F172A"/>
                          </a:solidFill>
                          <a:latin typeface="Inter"/>
                        </a:rPr>
                        <a:t>$22,968</a:t>
                      </a:r>
                    </a:p>
                  </a:txBody>
                  <a:tcPr marL="54864" marR="54864" marT="27432" marB="27432" anchor="ctr">
                    <a:solidFill>
                      <a:srgbClr val="F6F3EC"/>
                    </a:solidFill>
                  </a:tcPr>
                </a:tc>
                <a:tc>
                  <a:txBody>
                    <a:bodyPr wrap="square"/>
                    <a:lstStyle/>
                    <a:p>
                      <a:pPr algn="r"/>
                      <a:r>
                        <a:rPr sz="850" b="1">
                          <a:solidFill>
                            <a:srgbClr val="0F172A"/>
                          </a:solidFill>
                          <a:latin typeface="Inter"/>
                        </a:rPr>
                        <a:t>60%</a:t>
                      </a:r>
                    </a:p>
                  </a:txBody>
                  <a:tcPr marL="54864" marR="54864" marT="27432" marB="27432" anchor="ctr">
                    <a:solidFill>
                      <a:srgbClr val="F6F3EC"/>
                    </a:solidFill>
                  </a:tcPr>
                </a:tc>
              </a:tr>
            </a:tbl>
          </a:graphicData>
        </a:graphic>
      </p:graphicFrame>
      <p:sp>
        <p:nvSpPr>
          <p:cNvPr id="11" name="Shape 11"/>
          <p:cNvSpPr txBox="1"/>
          <p:nvPr/>
        </p:nvSpPr>
        <p:spPr>
          <a:xfrm>
            <a:off x="548640" y="5943600"/>
            <a:ext cx="11091672" cy="411480"/>
          </a:xfrm>
          <a:prstGeom prst="rect">
            <a:avLst/>
          </a:prstGeom>
          <a:noFill/>
        </p:spPr>
        <p:txBody>
          <a:bodyPr wrap="square" lIns="36576" rIns="36576" tIns="18288" bIns="18288" anchor="t">
            <a:spAutoFit/>
          </a:bodyPr>
          <a:lstStyle/>
          <a:p>
            <a:pPr algn="l"/>
            <a:r>
              <a:rPr sz="900" b="0">
                <a:solidFill>
                  <a:srgbClr val="6B6558"/>
                </a:solidFill>
                <a:latin typeface="Inter"/>
              </a:rPr>
              <a:t>Organic sales = total sales minus ad-attributed sales (floored at $0). Daily clicks and impressions aren't in the Sellerise daily feed; weekly totals: 2,521 clicks / 559,135 impressions this week vs 3,202 / 682,497.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MARKETING</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Coupons, promotions &amp; upcoming events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11 / 17</a:t>
            </a:r>
          </a:p>
        </p:txBody>
      </p:sp>
      <p:sp>
        <p:nvSpPr>
          <p:cNvPr id="10" name="Shape 10"/>
          <p:cNvSpPr/>
          <p:nvPr/>
        </p:nvSpPr>
        <p:spPr>
          <a:xfrm>
            <a:off x="548640" y="1371600"/>
            <a:ext cx="11091672" cy="502920"/>
          </a:xfrm>
          <a:prstGeom prst="roundRect">
            <a:avLst>
              <a:gd name="" fmla="val 6000"/>
            </a:avLst>
          </a:prstGeom>
          <a:solidFill>
            <a:srgbClr val="EEF2FF"/>
          </a:solidFill>
          <a:ln>
            <a:noFill/>
          </a:ln>
        </p:spPr>
      </p:sp>
      <p:sp>
        <p:nvSpPr>
          <p:cNvPr id="11" name="Shape 11"/>
          <p:cNvSpPr txBox="1"/>
          <p:nvPr/>
        </p:nvSpPr>
        <p:spPr>
          <a:xfrm>
            <a:off x="731520" y="1371600"/>
            <a:ext cx="10789920" cy="502920"/>
          </a:xfrm>
          <a:prstGeom prst="rect">
            <a:avLst/>
          </a:prstGeom>
          <a:noFill/>
        </p:spPr>
        <p:txBody>
          <a:bodyPr wrap="square" lIns="36576" rIns="36576" tIns="18288" bIns="18288" anchor="ctr">
            <a:spAutoFit/>
          </a:bodyPr>
          <a:lstStyle/>
          <a:p>
            <a:pPr algn="l"/>
            <a:r>
              <a:rPr sz="1050" b="0">
                <a:solidFill>
                  <a:srgbClr val="2447FF"/>
                </a:solidFill>
                <a:latin typeface="Inter"/>
              </a:rPr>
              <a:t>Data source: Sellerise promotion totals. Coupon and deal names aren't in the feed, so set-up details come from the account team.</a:t>
            </a:r>
          </a:p>
        </p:txBody>
      </p:sp>
      <p:sp>
        <p:nvSpPr>
          <p:cNvPr id="12" name="Shape 12"/>
          <p:cNvSpPr/>
          <p:nvPr/>
        </p:nvSpPr>
        <p:spPr>
          <a:xfrm>
            <a:off x="548640" y="2057400"/>
            <a:ext cx="3611880" cy="4160520"/>
          </a:xfrm>
          <a:prstGeom prst="roundRect">
            <a:avLst>
              <a:gd name="" fmla="val 6000"/>
            </a:avLst>
          </a:prstGeom>
          <a:solidFill>
            <a:srgbClr val="FFFFFF"/>
          </a:solidFill>
          <a:ln w="9525">
            <a:solidFill>
              <a:srgbClr val="E5E0D6"/>
            </a:solidFill>
          </a:ln>
        </p:spPr>
      </p:sp>
      <p:sp>
        <p:nvSpPr>
          <p:cNvPr id="13" name="Shape 13"/>
          <p:cNvSpPr txBox="1"/>
          <p:nvPr/>
        </p:nvSpPr>
        <p:spPr>
          <a:xfrm>
            <a:off x="731520"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Coupons</a:t>
            </a:r>
          </a:p>
        </p:txBody>
      </p:sp>
      <p:sp>
        <p:nvSpPr>
          <p:cNvPr id="14" name="Shape 14"/>
          <p:cNvSpPr txBox="1"/>
          <p:nvPr/>
        </p:nvSpPr>
        <p:spPr>
          <a:xfrm>
            <a:off x="731520"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no coupon redemptions.</a:t>
            </a:r>
          </a:p>
          <a:p>
            <a:pPr algn="l">
              <a:spcAft>
                <a:spcPts val="500"/>
              </a:spcAft>
            </a:pPr>
            <a:r>
              <a:rPr sz="1050" b="0">
                <a:solidFill>
                  <a:srgbClr val="334155"/>
                </a:solidFill>
                <a:latin typeface="Inter"/>
              </a:rPr>
              <a:t>Last week: 9 coupon redemptions.</a:t>
            </a:r>
          </a:p>
          <a:p>
            <a:pPr algn="l">
              <a:spcAft>
                <a:spcPts val="500"/>
              </a:spcAft>
            </a:pPr>
            <a:r>
              <a:rPr sz="1050" b="0">
                <a:solidFill>
                  <a:srgbClr val="334155"/>
                </a:solidFill>
                <a:latin typeface="Inter"/>
              </a:rPr>
              <a:t>October to date: 83 coupon redemptions, mostly during Prime Big Deal Days.</a:t>
            </a:r>
          </a:p>
        </p:txBody>
      </p:sp>
      <p:sp>
        <p:nvSpPr>
          <p:cNvPr id="15" name="Shape 15"/>
          <p:cNvSpPr/>
          <p:nvPr/>
        </p:nvSpPr>
        <p:spPr>
          <a:xfrm>
            <a:off x="4288536" y="2057400"/>
            <a:ext cx="3611880" cy="4160520"/>
          </a:xfrm>
          <a:prstGeom prst="roundRect">
            <a:avLst>
              <a:gd name="" fmla="val 6000"/>
            </a:avLst>
          </a:prstGeom>
          <a:solidFill>
            <a:srgbClr val="FFFFFF"/>
          </a:solidFill>
          <a:ln w="9525">
            <a:solidFill>
              <a:srgbClr val="E5E0D6"/>
            </a:solidFill>
          </a:ln>
        </p:spPr>
      </p:sp>
      <p:sp>
        <p:nvSpPr>
          <p:cNvPr id="16" name="Shape 16"/>
          <p:cNvSpPr txBox="1"/>
          <p:nvPr/>
        </p:nvSpPr>
        <p:spPr>
          <a:xfrm>
            <a:off x="4471416"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Promotions</a:t>
            </a:r>
          </a:p>
        </p:txBody>
      </p:sp>
      <p:sp>
        <p:nvSpPr>
          <p:cNvPr id="17" name="Shape 17"/>
          <p:cNvSpPr txBox="1"/>
          <p:nvPr/>
        </p:nvSpPr>
        <p:spPr>
          <a:xfrm>
            <a:off x="4471416"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16 promotion orders, $82 in promotional discounts (vs $541 last week).</a:t>
            </a:r>
          </a:p>
          <a:p>
            <a:pPr algn="l">
              <a:spcAft>
                <a:spcPts val="500"/>
              </a:spcAft>
            </a:pPr>
            <a:r>
              <a:rPr sz="1050" b="0">
                <a:solidFill>
                  <a:srgbClr val="334155"/>
                </a:solidFill>
                <a:latin typeface="Inter"/>
              </a:rPr>
              <a:t>October to date: 59 promotion orders, $4,243 in discounts.</a:t>
            </a:r>
          </a:p>
        </p:txBody>
      </p:sp>
      <p:sp>
        <p:nvSpPr>
          <p:cNvPr id="18" name="Shape 18"/>
          <p:cNvSpPr/>
          <p:nvPr/>
        </p:nvSpPr>
        <p:spPr>
          <a:xfrm>
            <a:off x="8028431" y="2057400"/>
            <a:ext cx="3611880" cy="4160520"/>
          </a:xfrm>
          <a:prstGeom prst="roundRect">
            <a:avLst>
              <a:gd name="" fmla="val 6000"/>
            </a:avLst>
          </a:prstGeom>
          <a:solidFill>
            <a:srgbClr val="FFFFFF"/>
          </a:solidFill>
          <a:ln w="9525">
            <a:solidFill>
              <a:srgbClr val="E5E0D6"/>
            </a:solidFill>
          </a:ln>
        </p:spPr>
      </p:sp>
      <p:sp>
        <p:nvSpPr>
          <p:cNvPr id="19" name="Shape 19"/>
          <p:cNvSpPr txBox="1"/>
          <p:nvPr/>
        </p:nvSpPr>
        <p:spPr>
          <a:xfrm>
            <a:off x="8211311"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Upcoming events</a:t>
            </a:r>
          </a:p>
        </p:txBody>
      </p:sp>
      <p:sp>
        <p:nvSpPr>
          <p:cNvPr id="20" name="Shape 20"/>
          <p:cNvSpPr txBox="1"/>
          <p:nvPr/>
        </p:nvSpPr>
        <p:spPr>
          <a:xfrm>
            <a:off x="8211311"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Black Friday / Cyber Monday: Nov 27 – Nov 30.</a:t>
            </a:r>
          </a:p>
          <a:p>
            <a:pPr algn="l">
              <a:spcAft>
                <a:spcPts val="500"/>
              </a:spcAft>
            </a:pPr>
            <a:r>
              <a:rPr sz="1050" b="0">
                <a:solidFill>
                  <a:srgbClr val="334155"/>
                </a:solidFill>
                <a:latin typeface="Inter"/>
              </a:rPr>
              <a:t>Boxing Day / Boxing Week: Dec 26.</a:t>
            </a:r>
          </a:p>
          <a:p>
            <a:pPr algn="l">
              <a:spcAft>
                <a:spcPts val="500"/>
              </a:spcAft>
            </a:pPr>
            <a:r>
              <a:rPr sz="1050" b="0">
                <a:solidFill>
                  <a:srgbClr val="334155"/>
                </a:solidFill>
                <a:latin typeface="Inter"/>
              </a:rPr>
              <a:t>Deal and coupon set-up deadlines: to confirm with the account team.</a:t>
            </a:r>
          </a:p>
          <a:p>
            <a:pPr algn="l">
              <a:spcAft>
                <a:spcPts val="500"/>
              </a:spcAft>
            </a:pPr>
            <a:r>
              <a:rPr sz="1050" b="0">
                <a:solidFill>
                  <a:srgbClr val="334155"/>
                </a:solidFill>
                <a:latin typeface="Inter"/>
              </a:rPr>
              <a:t>Priority: Queen topper and the SnowTek line in stock at FBA before Nov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INVENTORY</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Stock position — week 44 inventory update (10/26/2026)</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12 / 17</a:t>
            </a:r>
          </a:p>
        </p:txBody>
      </p:sp>
      <p:sp>
        <p:nvSpPr>
          <p:cNvPr id="10" name="Shape 10"/>
          <p:cNvSpPr/>
          <p:nvPr/>
        </p:nvSpPr>
        <p:spPr>
          <a:xfrm>
            <a:off x="548640" y="1371600"/>
            <a:ext cx="2651760" cy="1417320"/>
          </a:xfrm>
          <a:prstGeom prst="roundRect">
            <a:avLst>
              <a:gd name="" fmla="val 6000"/>
            </a:avLst>
          </a:prstGeom>
          <a:solidFill>
            <a:srgbClr val="F6F3EC"/>
          </a:solidFill>
          <a:ln>
            <a:noFill/>
          </a:ln>
        </p:spPr>
      </p:sp>
      <p:sp>
        <p:nvSpPr>
          <p:cNvPr id="11" name="Shape 11"/>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OUT OF STOCK</a:t>
            </a:r>
          </a:p>
        </p:txBody>
      </p:sp>
      <p:sp>
        <p:nvSpPr>
          <p:cNvPr id="12" name="Shape 12"/>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a:t>
            </a:r>
          </a:p>
        </p:txBody>
      </p:sp>
      <p:sp>
        <p:nvSpPr>
          <p:cNvPr id="13" name="Shape 13"/>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of 15 selling SKUs, 0 at FBA</a:t>
            </a:r>
          </a:p>
        </p:txBody>
      </p:sp>
      <p:sp>
        <p:nvSpPr>
          <p:cNvPr id="14" name="Shape 14"/>
          <p:cNvSpPr/>
          <p:nvPr/>
        </p:nvSpPr>
        <p:spPr>
          <a:xfrm>
            <a:off x="548640" y="2926080"/>
            <a:ext cx="2651760" cy="1417320"/>
          </a:xfrm>
          <a:prstGeom prst="roundRect">
            <a:avLst>
              <a:gd name="" fmla="val 6000"/>
            </a:avLst>
          </a:prstGeom>
          <a:solidFill>
            <a:srgbClr val="F6F3EC"/>
          </a:solidFill>
          <a:ln>
            <a:noFill/>
          </a:ln>
        </p:spPr>
      </p:sp>
      <p:sp>
        <p:nvSpPr>
          <p:cNvPr id="15" name="Shape 15"/>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LOW STOCK</a:t>
            </a:r>
          </a:p>
        </p:txBody>
      </p:sp>
      <p:sp>
        <p:nvSpPr>
          <p:cNvPr id="16" name="Shape 16"/>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1</a:t>
            </a:r>
          </a:p>
        </p:txBody>
      </p:sp>
      <p:sp>
        <p:nvSpPr>
          <p:cNvPr id="17" name="Shape 17"/>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4 weeks of stock or less</a:t>
            </a:r>
          </a:p>
        </p:txBody>
      </p:sp>
      <p:sp>
        <p:nvSpPr>
          <p:cNvPr id="18" name="Shape 18"/>
          <p:cNvSpPr/>
          <p:nvPr/>
        </p:nvSpPr>
        <p:spPr>
          <a:xfrm>
            <a:off x="548640" y="4480560"/>
            <a:ext cx="2651760" cy="1737360"/>
          </a:xfrm>
          <a:prstGeom prst="roundRect">
            <a:avLst>
              <a:gd name="" fmla="val 6000"/>
            </a:avLst>
          </a:prstGeom>
          <a:solidFill>
            <a:srgbClr val="F6F3EC"/>
          </a:solidFill>
          <a:ln>
            <a:noFill/>
          </a:ln>
        </p:spPr>
      </p:sp>
      <p:sp>
        <p:nvSpPr>
          <p:cNvPr id="19" name="Shape 19"/>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UNITS INBOUND</a:t>
            </a:r>
          </a:p>
        </p:txBody>
      </p:sp>
      <p:sp>
        <p:nvSpPr>
          <p:cNvPr id="20" name="Shape 20"/>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440</a:t>
            </a:r>
          </a:p>
        </p:txBody>
      </p:sp>
      <p:sp>
        <p:nvSpPr>
          <p:cNvPr id="21" name="Shape 21"/>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on the way to FBA</a:t>
            </a:r>
          </a:p>
        </p:txBody>
      </p:sp>
      <p:sp>
        <p:nvSpPr>
          <p:cNvPr id="22" name="Shape 22"/>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Weeks of supply at FBA (available ÷ weekly sales)</a:t>
            </a:r>
          </a:p>
        </p:txBody>
      </p:sp>
      <p:sp>
        <p:nvSpPr>
          <p:cNvPr id="23" name="Shape 23"/>
          <p:cNvSpPr txBox="1"/>
          <p:nvPr/>
        </p:nvSpPr>
        <p:spPr>
          <a:xfrm>
            <a:off x="3429000" y="169164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Queen</a:t>
            </a:r>
          </a:p>
        </p:txBody>
      </p:sp>
      <p:sp>
        <p:nvSpPr>
          <p:cNvPr id="24" name="Shape 24"/>
          <p:cNvSpPr/>
          <p:nvPr/>
        </p:nvSpPr>
        <p:spPr>
          <a:xfrm>
            <a:off x="5257800" y="1814855"/>
            <a:ext cx="349351" cy="313639"/>
          </a:xfrm>
          <a:prstGeom prst="rect">
            <a:avLst/>
          </a:prstGeom>
          <a:solidFill>
            <a:srgbClr val="DC2626"/>
          </a:solidFill>
          <a:ln>
            <a:noFill/>
          </a:ln>
        </p:spPr>
      </p:sp>
      <p:sp>
        <p:nvSpPr>
          <p:cNvPr id="25" name="Shape 25"/>
          <p:cNvSpPr txBox="1"/>
          <p:nvPr/>
        </p:nvSpPr>
        <p:spPr>
          <a:xfrm>
            <a:off x="5662015" y="169164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0.8 wk</a:t>
            </a:r>
          </a:p>
        </p:txBody>
      </p:sp>
      <p:sp>
        <p:nvSpPr>
          <p:cNvPr id="26" name="Shape 26"/>
          <p:cNvSpPr txBox="1"/>
          <p:nvPr/>
        </p:nvSpPr>
        <p:spPr>
          <a:xfrm>
            <a:off x="3429000" y="225171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King</a:t>
            </a:r>
          </a:p>
        </p:txBody>
      </p:sp>
      <p:sp>
        <p:nvSpPr>
          <p:cNvPr id="27" name="Shape 27"/>
          <p:cNvSpPr/>
          <p:nvPr/>
        </p:nvSpPr>
        <p:spPr>
          <a:xfrm>
            <a:off x="5257800" y="2374925"/>
            <a:ext cx="4511192" cy="313639"/>
          </a:xfrm>
          <a:prstGeom prst="rect">
            <a:avLst/>
          </a:prstGeom>
          <a:solidFill>
            <a:srgbClr val="2447FF"/>
          </a:solidFill>
          <a:ln>
            <a:noFill/>
          </a:ln>
        </p:spPr>
      </p:sp>
      <p:sp>
        <p:nvSpPr>
          <p:cNvPr id="28" name="Shape 28"/>
          <p:cNvSpPr txBox="1"/>
          <p:nvPr/>
        </p:nvSpPr>
        <p:spPr>
          <a:xfrm>
            <a:off x="9823856" y="225171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9.9 wk</a:t>
            </a:r>
          </a:p>
        </p:txBody>
      </p:sp>
      <p:sp>
        <p:nvSpPr>
          <p:cNvPr id="29" name="Shape 29"/>
          <p:cNvSpPr txBox="1"/>
          <p:nvPr/>
        </p:nvSpPr>
        <p:spPr>
          <a:xfrm>
            <a:off x="3429000" y="281178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Full</a:t>
            </a:r>
          </a:p>
        </p:txBody>
      </p:sp>
      <p:sp>
        <p:nvSpPr>
          <p:cNvPr id="30" name="Shape 30"/>
          <p:cNvSpPr/>
          <p:nvPr/>
        </p:nvSpPr>
        <p:spPr>
          <a:xfrm>
            <a:off x="5257800" y="2934995"/>
            <a:ext cx="5468112" cy="313639"/>
          </a:xfrm>
          <a:prstGeom prst="rect">
            <a:avLst/>
          </a:prstGeom>
          <a:solidFill>
            <a:srgbClr val="2447FF"/>
          </a:solidFill>
          <a:ln>
            <a:noFill/>
          </a:ln>
        </p:spPr>
      </p:sp>
      <p:sp>
        <p:nvSpPr>
          <p:cNvPr id="31" name="Shape 31"/>
          <p:cNvSpPr txBox="1"/>
          <p:nvPr/>
        </p:nvSpPr>
        <p:spPr>
          <a:xfrm>
            <a:off x="10780776" y="281178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
        <p:nvSpPr>
          <p:cNvPr id="32" name="Shape 32"/>
          <p:cNvSpPr txBox="1"/>
          <p:nvPr/>
        </p:nvSpPr>
        <p:spPr>
          <a:xfrm>
            <a:off x="3429000" y="337185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Twin &amp; XL</a:t>
            </a:r>
          </a:p>
        </p:txBody>
      </p:sp>
      <p:sp>
        <p:nvSpPr>
          <p:cNvPr id="33" name="Shape 33"/>
          <p:cNvSpPr/>
          <p:nvPr/>
        </p:nvSpPr>
        <p:spPr>
          <a:xfrm>
            <a:off x="5257800" y="3495065"/>
            <a:ext cx="3018853" cy="313639"/>
          </a:xfrm>
          <a:prstGeom prst="rect">
            <a:avLst/>
          </a:prstGeom>
          <a:solidFill>
            <a:srgbClr val="2447FF"/>
          </a:solidFill>
          <a:ln>
            <a:noFill/>
          </a:ln>
        </p:spPr>
      </p:sp>
      <p:sp>
        <p:nvSpPr>
          <p:cNvPr id="34" name="Shape 34"/>
          <p:cNvSpPr txBox="1"/>
          <p:nvPr/>
        </p:nvSpPr>
        <p:spPr>
          <a:xfrm>
            <a:off x="8331517" y="337185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6.6 wk</a:t>
            </a:r>
          </a:p>
        </p:txBody>
      </p:sp>
      <p:sp>
        <p:nvSpPr>
          <p:cNvPr id="35" name="Shape 35"/>
          <p:cNvSpPr txBox="1"/>
          <p:nvPr/>
        </p:nvSpPr>
        <p:spPr>
          <a:xfrm>
            <a:off x="3429000" y="393192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Cal/Split/RV</a:t>
            </a:r>
          </a:p>
        </p:txBody>
      </p:sp>
      <p:sp>
        <p:nvSpPr>
          <p:cNvPr id="36" name="Shape 36"/>
          <p:cNvSpPr/>
          <p:nvPr/>
        </p:nvSpPr>
        <p:spPr>
          <a:xfrm>
            <a:off x="5257800" y="4055135"/>
            <a:ext cx="4404868" cy="313639"/>
          </a:xfrm>
          <a:prstGeom prst="rect">
            <a:avLst/>
          </a:prstGeom>
          <a:solidFill>
            <a:srgbClr val="2447FF"/>
          </a:solidFill>
          <a:ln>
            <a:noFill/>
          </a:ln>
        </p:spPr>
      </p:sp>
      <p:sp>
        <p:nvSpPr>
          <p:cNvPr id="37" name="Shape 37"/>
          <p:cNvSpPr txBox="1"/>
          <p:nvPr/>
        </p:nvSpPr>
        <p:spPr>
          <a:xfrm>
            <a:off x="9717532" y="393192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9.7 wk</a:t>
            </a:r>
          </a:p>
        </p:txBody>
      </p:sp>
      <p:sp>
        <p:nvSpPr>
          <p:cNvPr id="38" name="Shape 38"/>
          <p:cNvSpPr txBox="1"/>
          <p:nvPr/>
        </p:nvSpPr>
        <p:spPr>
          <a:xfrm>
            <a:off x="3429000" y="449199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SnowTek &amp; Essentials</a:t>
            </a:r>
          </a:p>
        </p:txBody>
      </p:sp>
      <p:sp>
        <p:nvSpPr>
          <p:cNvPr id="39" name="Shape 39"/>
          <p:cNvSpPr/>
          <p:nvPr/>
        </p:nvSpPr>
        <p:spPr>
          <a:xfrm>
            <a:off x="5257800" y="4615205"/>
            <a:ext cx="1686001" cy="313639"/>
          </a:xfrm>
          <a:prstGeom prst="rect">
            <a:avLst/>
          </a:prstGeom>
          <a:solidFill>
            <a:srgbClr val="2447FF"/>
          </a:solidFill>
          <a:ln>
            <a:noFill/>
          </a:ln>
        </p:spPr>
      </p:sp>
      <p:sp>
        <p:nvSpPr>
          <p:cNvPr id="40" name="Shape 40"/>
          <p:cNvSpPr txBox="1"/>
          <p:nvPr/>
        </p:nvSpPr>
        <p:spPr>
          <a:xfrm>
            <a:off x="6998665" y="449199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3.7 wk</a:t>
            </a:r>
          </a:p>
        </p:txBody>
      </p:sp>
      <p:sp>
        <p:nvSpPr>
          <p:cNvPr id="41" name="Shape 41"/>
          <p:cNvSpPr txBox="1"/>
          <p:nvPr/>
        </p:nvSpPr>
        <p:spPr>
          <a:xfrm>
            <a:off x="3429000" y="505206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Pillows</a:t>
            </a:r>
          </a:p>
        </p:txBody>
      </p:sp>
      <p:sp>
        <p:nvSpPr>
          <p:cNvPr id="42" name="Shape 42"/>
          <p:cNvSpPr/>
          <p:nvPr/>
        </p:nvSpPr>
        <p:spPr>
          <a:xfrm>
            <a:off x="5257800" y="5175275"/>
            <a:ext cx="5126355" cy="313639"/>
          </a:xfrm>
          <a:prstGeom prst="rect">
            <a:avLst/>
          </a:prstGeom>
          <a:solidFill>
            <a:srgbClr val="2447FF"/>
          </a:solidFill>
          <a:ln>
            <a:noFill/>
          </a:ln>
        </p:spPr>
      </p:sp>
      <p:sp>
        <p:nvSpPr>
          <p:cNvPr id="43" name="Shape 43"/>
          <p:cNvSpPr txBox="1"/>
          <p:nvPr/>
        </p:nvSpPr>
        <p:spPr>
          <a:xfrm>
            <a:off x="10439019" y="505206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11.2 wk</a:t>
            </a:r>
          </a:p>
        </p:txBody>
      </p:sp>
      <p:sp>
        <p:nvSpPr>
          <p:cNvPr id="44" name="Shape 44"/>
          <p:cNvSpPr txBox="1"/>
          <p:nvPr/>
        </p:nvSpPr>
        <p:spPr>
          <a:xfrm>
            <a:off x="3429000" y="561213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Protectors &amp; Sheets</a:t>
            </a:r>
          </a:p>
        </p:txBody>
      </p:sp>
      <p:sp>
        <p:nvSpPr>
          <p:cNvPr id="45" name="Shape 45"/>
          <p:cNvSpPr/>
          <p:nvPr/>
        </p:nvSpPr>
        <p:spPr>
          <a:xfrm>
            <a:off x="5257800" y="5735345"/>
            <a:ext cx="5468112" cy="313639"/>
          </a:xfrm>
          <a:prstGeom prst="rect">
            <a:avLst/>
          </a:prstGeom>
          <a:solidFill>
            <a:srgbClr val="2447FF"/>
          </a:solidFill>
          <a:ln>
            <a:noFill/>
          </a:ln>
        </p:spPr>
      </p:sp>
      <p:sp>
        <p:nvSpPr>
          <p:cNvPr id="46" name="Shape 46"/>
          <p:cNvSpPr txBox="1"/>
          <p:nvPr/>
        </p:nvSpPr>
        <p:spPr>
          <a:xfrm>
            <a:off x="10780776" y="561213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Rating &amp; review trend</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13 / 17</a:t>
            </a:r>
          </a:p>
        </p:txBody>
      </p:sp>
      <p:sp>
        <p:nvSpPr>
          <p:cNvPr id="10" name="Shape 10"/>
          <p:cNvSpPr/>
          <p:nvPr/>
        </p:nvSpPr>
        <p:spPr>
          <a:xfrm>
            <a:off x="548640" y="1417320"/>
            <a:ext cx="5486400" cy="4800600"/>
          </a:xfrm>
          <a:prstGeom prst="roundRect">
            <a:avLst>
              <a:gd name="" fmla="val 6000"/>
            </a:avLst>
          </a:prstGeom>
          <a:solidFill>
            <a:srgbClr val="F6F3EC"/>
          </a:solidFill>
          <a:ln>
            <a:noFill/>
          </a:ln>
        </p:spPr>
      </p:sp>
      <p:sp>
        <p:nvSpPr>
          <p:cNvPr id="11" name="Shape 11"/>
          <p:cNvSpPr txBox="1"/>
          <p:nvPr/>
        </p:nvSpPr>
        <p:spPr>
          <a:xfrm>
            <a:off x="777240" y="1645920"/>
            <a:ext cx="5029200" cy="365760"/>
          </a:xfrm>
          <a:prstGeom prst="rect">
            <a:avLst/>
          </a:prstGeom>
          <a:noFill/>
        </p:spPr>
        <p:txBody>
          <a:bodyPr wrap="square" lIns="36576" rIns="36576" tIns="18288" bIns="18288" anchor="t">
            <a:spAutoFit/>
          </a:bodyPr>
          <a:lstStyle/>
          <a:p>
            <a:pPr algn="l"/>
            <a:r>
              <a:rPr sz="1100" b="1">
                <a:solidFill>
                  <a:srgbClr val="D97706"/>
                </a:solidFill>
                <a:latin typeface="Inter"/>
              </a:rPr>
              <a:t>LAST 90 DAYS</a:t>
            </a:r>
          </a:p>
        </p:txBody>
      </p:sp>
      <p:sp>
        <p:nvSpPr>
          <p:cNvPr id="12" name="Shape 12"/>
          <p:cNvSpPr txBox="1"/>
          <p:nvPr/>
        </p:nvSpPr>
        <p:spPr>
          <a:xfrm>
            <a:off x="777240" y="2011680"/>
            <a:ext cx="5029200" cy="731520"/>
          </a:xfrm>
          <a:prstGeom prst="rect">
            <a:avLst/>
          </a:prstGeom>
          <a:noFill/>
        </p:spPr>
        <p:txBody>
          <a:bodyPr wrap="square" lIns="36576" rIns="36576" tIns="18288" bIns="18288" anchor="t">
            <a:spAutoFit/>
          </a:bodyPr>
          <a:lstStyle/>
          <a:p>
            <a:pPr algn="l"/>
            <a:r>
              <a:rPr sz="2400" b="1">
                <a:solidFill>
                  <a:srgbClr val="0F172A"/>
                </a:solidFill>
                <a:latin typeface="Space Grotesk"/>
              </a:rPr>
              <a:t>No review data in Sellerise</a:t>
            </a:r>
          </a:p>
        </p:txBody>
      </p:sp>
      <p:sp>
        <p:nvSpPr>
          <p:cNvPr id="13" name="Shape 13"/>
          <p:cNvSpPr txBox="1"/>
          <p:nvPr/>
        </p:nvSpPr>
        <p:spPr>
          <a:xfrm>
            <a:off x="777240" y="2926080"/>
            <a:ext cx="5029200" cy="3108960"/>
          </a:xfrm>
          <a:prstGeom prst="rect">
            <a:avLst/>
          </a:prstGeom>
          <a:noFill/>
        </p:spPr>
        <p:txBody>
          <a:bodyPr wrap="square" lIns="36576" rIns="36576" tIns="18288" bIns="18288" anchor="t">
            <a:spAutoFit/>
          </a:bodyPr>
          <a:lstStyle/>
          <a:p>
            <a:pPr algn="l">
              <a:spcAft>
                <a:spcPts val="800"/>
              </a:spcAft>
            </a:pPr>
            <a:r>
              <a:rPr sz="1150" b="0">
                <a:solidFill>
                  <a:srgbClr val="334155"/>
                </a:solidFill>
                <a:latin typeface="Inter"/>
              </a:rPr>
              <a:t>Sellerise returned no review records, rating trend or negative reviews for the 30 Dormeo Canada products over the last 90 days.</a:t>
            </a:r>
          </a:p>
          <a:p>
            <a:pPr algn="l">
              <a:spcAft>
                <a:spcPts val="800"/>
              </a:spcAft>
            </a:pPr>
            <a:r>
              <a:rPr sz="1150" b="0">
                <a:solidFill>
                  <a:srgbClr val="334155"/>
                </a:solidFill>
                <a:latin typeface="Inter"/>
              </a:rPr>
              <a:t>That means the review tracker isn't pulling for this marketplace, not that there were no reviews.</a:t>
            </a:r>
          </a:p>
        </p:txBody>
      </p:sp>
      <p:sp>
        <p:nvSpPr>
          <p:cNvPr id="14" name="Shape 14"/>
          <p:cNvSpPr/>
          <p:nvPr/>
        </p:nvSpPr>
        <p:spPr>
          <a:xfrm>
            <a:off x="6263640" y="1417320"/>
            <a:ext cx="5376672" cy="4800600"/>
          </a:xfrm>
          <a:prstGeom prst="roundRect">
            <a:avLst>
              <a:gd name="" fmla="val 6000"/>
            </a:avLst>
          </a:prstGeom>
          <a:solidFill>
            <a:srgbClr val="FFFFFF"/>
          </a:solidFill>
          <a:ln w="9525">
            <a:solidFill>
              <a:srgbClr val="E5E0D6"/>
            </a:solidFill>
          </a:ln>
        </p:spPr>
      </p:sp>
      <p:sp>
        <p:nvSpPr>
          <p:cNvPr id="15" name="Shape 15"/>
          <p:cNvSpPr txBox="1"/>
          <p:nvPr/>
        </p:nvSpPr>
        <p:spPr>
          <a:xfrm>
            <a:off x="6446520" y="1554480"/>
            <a:ext cx="501091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Recommendation</a:t>
            </a:r>
          </a:p>
        </p:txBody>
      </p:sp>
      <p:sp>
        <p:nvSpPr>
          <p:cNvPr id="16" name="Shape 16"/>
          <p:cNvSpPr txBox="1"/>
          <p:nvPr/>
        </p:nvSpPr>
        <p:spPr>
          <a:xfrm>
            <a:off x="6446520" y="1874519"/>
            <a:ext cx="5010912" cy="4251960"/>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Turn on review tracking for Dormeo Canada in Sellerise (or pull Amazon's Customer Reviews report) so next week's deck shows star rating and review count per line.</a:t>
            </a:r>
          </a:p>
          <a:p>
            <a:pPr algn="l">
              <a:spcAft>
                <a:spcPts val="500"/>
              </a:spcAft>
            </a:pPr>
            <a:r>
              <a:rPr sz="1100" b="0">
                <a:solidFill>
                  <a:srgbClr val="334155"/>
                </a:solidFill>
                <a:latin typeface="Inter"/>
              </a:rPr>
              <a:t>Read the newest 1–3 star reviews for the Queen and Twin XL toppers to see whether the returns share a cause.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Alerts &amp; Buy Box — last 30 days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14 / 17</a:t>
            </a:r>
          </a:p>
        </p:txBody>
      </p:sp>
      <p:sp>
        <p:nvSpPr>
          <p:cNvPr id="10" name="Shape 10"/>
          <p:cNvSpPr/>
          <p:nvPr/>
        </p:nvSpPr>
        <p:spPr>
          <a:xfrm>
            <a:off x="548640" y="1371600"/>
            <a:ext cx="2651760" cy="1417320"/>
          </a:xfrm>
          <a:prstGeom prst="roundRect">
            <a:avLst>
              <a:gd name="" fmla="val 6000"/>
            </a:avLst>
          </a:prstGeom>
          <a:solidFill>
            <a:srgbClr val="F6F3EC"/>
          </a:solidFill>
          <a:ln>
            <a:noFill/>
          </a:ln>
        </p:spPr>
      </p:sp>
      <p:sp>
        <p:nvSpPr>
          <p:cNvPr id="11" name="Shape 11"/>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TOTAL ALERTS</a:t>
            </a:r>
          </a:p>
        </p:txBody>
      </p:sp>
      <p:sp>
        <p:nvSpPr>
          <p:cNvPr id="12" name="Shape 12"/>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107</a:t>
            </a:r>
          </a:p>
        </p:txBody>
      </p:sp>
      <p:sp>
        <p:nvSpPr>
          <p:cNvPr id="13" name="Shape 13"/>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open, incl. log events</a:t>
            </a:r>
          </a:p>
        </p:txBody>
      </p:sp>
      <p:sp>
        <p:nvSpPr>
          <p:cNvPr id="14" name="Shape 14"/>
          <p:cNvSpPr/>
          <p:nvPr/>
        </p:nvSpPr>
        <p:spPr>
          <a:xfrm>
            <a:off x="548640" y="2926080"/>
            <a:ext cx="2651760" cy="1417320"/>
          </a:xfrm>
          <a:prstGeom prst="roundRect">
            <a:avLst>
              <a:gd name="" fmla="val 6000"/>
            </a:avLst>
          </a:prstGeom>
          <a:solidFill>
            <a:srgbClr val="F6F3EC"/>
          </a:solidFill>
          <a:ln>
            <a:noFill/>
          </a:ln>
        </p:spPr>
      </p:sp>
      <p:sp>
        <p:nvSpPr>
          <p:cNvPr id="15" name="Shape 15"/>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ACTIONABLE</a:t>
            </a:r>
          </a:p>
        </p:txBody>
      </p:sp>
      <p:sp>
        <p:nvSpPr>
          <p:cNvPr id="16" name="Shape 16"/>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23</a:t>
            </a:r>
          </a:p>
        </p:txBody>
      </p:sp>
      <p:sp>
        <p:nvSpPr>
          <p:cNvPr id="17" name="Shape 17"/>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warnings + critical</a:t>
            </a:r>
          </a:p>
        </p:txBody>
      </p:sp>
      <p:sp>
        <p:nvSpPr>
          <p:cNvPr id="18" name="Shape 18"/>
          <p:cNvSpPr/>
          <p:nvPr/>
        </p:nvSpPr>
        <p:spPr>
          <a:xfrm>
            <a:off x="548640" y="4480560"/>
            <a:ext cx="2651760" cy="1737360"/>
          </a:xfrm>
          <a:prstGeom prst="roundRect">
            <a:avLst>
              <a:gd name="" fmla="val 6000"/>
            </a:avLst>
          </a:prstGeom>
          <a:solidFill>
            <a:srgbClr val="F6F3EC"/>
          </a:solidFill>
          <a:ln>
            <a:noFill/>
          </a:ln>
        </p:spPr>
      </p:sp>
      <p:sp>
        <p:nvSpPr>
          <p:cNvPr id="19" name="Shape 19"/>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CRITICAL</a:t>
            </a:r>
          </a:p>
        </p:txBody>
      </p:sp>
      <p:sp>
        <p:nvSpPr>
          <p:cNvPr id="20" name="Shape 20"/>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15</a:t>
            </a:r>
          </a:p>
        </p:txBody>
      </p:sp>
      <p:sp>
        <p:nvSpPr>
          <p:cNvPr id="21" name="Shape 21"/>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Buy Box, stock, inactive</a:t>
            </a:r>
          </a:p>
        </p:txBody>
      </p:sp>
      <p:sp>
        <p:nvSpPr>
          <p:cNvPr id="22" name="Shape 22"/>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Alerts by type</a:t>
            </a:r>
          </a:p>
        </p:txBody>
      </p:sp>
      <p:sp>
        <p:nvSpPr>
          <p:cNvPr id="23" name="Shape 23"/>
          <p:cNvSpPr txBox="1"/>
          <p:nvPr/>
        </p:nvSpPr>
        <p:spPr>
          <a:xfrm>
            <a:off x="3429000" y="169164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Title</a:t>
            </a:r>
          </a:p>
        </p:txBody>
      </p:sp>
      <p:sp>
        <p:nvSpPr>
          <p:cNvPr id="24" name="Shape 24"/>
          <p:cNvSpPr/>
          <p:nvPr/>
        </p:nvSpPr>
        <p:spPr>
          <a:xfrm>
            <a:off x="5257800" y="1790212"/>
            <a:ext cx="5468112" cy="250911"/>
          </a:xfrm>
          <a:prstGeom prst="rect">
            <a:avLst/>
          </a:prstGeom>
          <a:solidFill>
            <a:srgbClr val="2447FF"/>
          </a:solidFill>
          <a:ln>
            <a:noFill/>
          </a:ln>
        </p:spPr>
      </p:sp>
      <p:sp>
        <p:nvSpPr>
          <p:cNvPr id="25" name="Shape 25"/>
          <p:cNvSpPr txBox="1"/>
          <p:nvPr/>
        </p:nvSpPr>
        <p:spPr>
          <a:xfrm>
            <a:off x="10780776" y="169164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26</a:t>
            </a:r>
          </a:p>
        </p:txBody>
      </p:sp>
      <p:sp>
        <p:nvSpPr>
          <p:cNvPr id="26" name="Shape 26"/>
          <p:cNvSpPr txBox="1"/>
          <p:nvPr/>
        </p:nvSpPr>
        <p:spPr>
          <a:xfrm>
            <a:off x="3429000" y="213969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price</a:t>
            </a:r>
          </a:p>
        </p:txBody>
      </p:sp>
      <p:sp>
        <p:nvSpPr>
          <p:cNvPr id="27" name="Shape 27"/>
          <p:cNvSpPr/>
          <p:nvPr/>
        </p:nvSpPr>
        <p:spPr>
          <a:xfrm>
            <a:off x="5257800" y="2238268"/>
            <a:ext cx="4626864" cy="250911"/>
          </a:xfrm>
          <a:prstGeom prst="rect">
            <a:avLst/>
          </a:prstGeom>
          <a:solidFill>
            <a:srgbClr val="2447FF"/>
          </a:solidFill>
          <a:ln>
            <a:noFill/>
          </a:ln>
        </p:spPr>
      </p:sp>
      <p:sp>
        <p:nvSpPr>
          <p:cNvPr id="28" name="Shape 28"/>
          <p:cNvSpPr txBox="1"/>
          <p:nvPr/>
        </p:nvSpPr>
        <p:spPr>
          <a:xfrm>
            <a:off x="9939528" y="213969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22</a:t>
            </a:r>
          </a:p>
        </p:txBody>
      </p:sp>
      <p:sp>
        <p:nvSpPr>
          <p:cNvPr id="29" name="Shape 29"/>
          <p:cNvSpPr txBox="1"/>
          <p:nvPr/>
        </p:nvSpPr>
        <p:spPr>
          <a:xfrm>
            <a:off x="3429000" y="258775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Inactive</a:t>
            </a:r>
          </a:p>
        </p:txBody>
      </p:sp>
      <p:sp>
        <p:nvSpPr>
          <p:cNvPr id="30" name="Shape 30"/>
          <p:cNvSpPr/>
          <p:nvPr/>
        </p:nvSpPr>
        <p:spPr>
          <a:xfrm>
            <a:off x="5257800" y="2686324"/>
            <a:ext cx="2734056" cy="250911"/>
          </a:xfrm>
          <a:prstGeom prst="rect">
            <a:avLst/>
          </a:prstGeom>
          <a:solidFill>
            <a:srgbClr val="DC2626"/>
          </a:solidFill>
          <a:ln>
            <a:noFill/>
          </a:ln>
        </p:spPr>
      </p:sp>
      <p:sp>
        <p:nvSpPr>
          <p:cNvPr id="31" name="Shape 31"/>
          <p:cNvSpPr txBox="1"/>
          <p:nvPr/>
        </p:nvSpPr>
        <p:spPr>
          <a:xfrm>
            <a:off x="8046720" y="258775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13</a:t>
            </a:r>
          </a:p>
        </p:txBody>
      </p:sp>
      <p:sp>
        <p:nvSpPr>
          <p:cNvPr id="32" name="Shape 32"/>
          <p:cNvSpPr txBox="1"/>
          <p:nvPr/>
        </p:nvSpPr>
        <p:spPr>
          <a:xfrm>
            <a:off x="3429000" y="303580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images</a:t>
            </a:r>
          </a:p>
        </p:txBody>
      </p:sp>
      <p:sp>
        <p:nvSpPr>
          <p:cNvPr id="33" name="Shape 33"/>
          <p:cNvSpPr/>
          <p:nvPr/>
        </p:nvSpPr>
        <p:spPr>
          <a:xfrm>
            <a:off x="5257800" y="3134380"/>
            <a:ext cx="2103120" cy="250911"/>
          </a:xfrm>
          <a:prstGeom prst="rect">
            <a:avLst/>
          </a:prstGeom>
          <a:solidFill>
            <a:srgbClr val="2447FF"/>
          </a:solidFill>
          <a:ln>
            <a:noFill/>
          </a:ln>
        </p:spPr>
      </p:sp>
      <p:sp>
        <p:nvSpPr>
          <p:cNvPr id="34" name="Shape 34"/>
          <p:cNvSpPr txBox="1"/>
          <p:nvPr/>
        </p:nvSpPr>
        <p:spPr>
          <a:xfrm>
            <a:off x="7415784" y="303580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35" name="Shape 35"/>
          <p:cNvSpPr txBox="1"/>
          <p:nvPr/>
        </p:nvSpPr>
        <p:spPr>
          <a:xfrm>
            <a:off x="3429000" y="348386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gained</a:t>
            </a:r>
          </a:p>
        </p:txBody>
      </p:sp>
      <p:sp>
        <p:nvSpPr>
          <p:cNvPr id="36" name="Shape 36"/>
          <p:cNvSpPr/>
          <p:nvPr/>
        </p:nvSpPr>
        <p:spPr>
          <a:xfrm>
            <a:off x="5257800" y="3582436"/>
            <a:ext cx="1892808" cy="250911"/>
          </a:xfrm>
          <a:prstGeom prst="rect">
            <a:avLst/>
          </a:prstGeom>
          <a:solidFill>
            <a:srgbClr val="2447FF"/>
          </a:solidFill>
          <a:ln>
            <a:noFill/>
          </a:ln>
        </p:spPr>
      </p:sp>
      <p:sp>
        <p:nvSpPr>
          <p:cNvPr id="37" name="Shape 37"/>
          <p:cNvSpPr txBox="1"/>
          <p:nvPr/>
        </p:nvSpPr>
        <p:spPr>
          <a:xfrm>
            <a:off x="7205472" y="348386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38" name="Shape 38"/>
          <p:cNvSpPr txBox="1"/>
          <p:nvPr/>
        </p:nvSpPr>
        <p:spPr>
          <a:xfrm>
            <a:off x="3429000" y="393192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lost</a:t>
            </a:r>
          </a:p>
        </p:txBody>
      </p:sp>
      <p:sp>
        <p:nvSpPr>
          <p:cNvPr id="39" name="Shape 39"/>
          <p:cNvSpPr/>
          <p:nvPr/>
        </p:nvSpPr>
        <p:spPr>
          <a:xfrm>
            <a:off x="5257800" y="4030492"/>
            <a:ext cx="1892808" cy="250911"/>
          </a:xfrm>
          <a:prstGeom prst="rect">
            <a:avLst/>
          </a:prstGeom>
          <a:solidFill>
            <a:srgbClr val="DC2626"/>
          </a:solidFill>
          <a:ln>
            <a:noFill/>
          </a:ln>
        </p:spPr>
      </p:sp>
      <p:sp>
        <p:nvSpPr>
          <p:cNvPr id="40" name="Shape 40"/>
          <p:cNvSpPr txBox="1"/>
          <p:nvPr/>
        </p:nvSpPr>
        <p:spPr>
          <a:xfrm>
            <a:off x="7205472" y="393192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41" name="Shape 41"/>
          <p:cNvSpPr txBox="1"/>
          <p:nvPr/>
        </p:nvSpPr>
        <p:spPr>
          <a:xfrm>
            <a:off x="3429000" y="437997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Out of stock</a:t>
            </a:r>
          </a:p>
        </p:txBody>
      </p:sp>
      <p:sp>
        <p:nvSpPr>
          <p:cNvPr id="42" name="Shape 42"/>
          <p:cNvSpPr/>
          <p:nvPr/>
        </p:nvSpPr>
        <p:spPr>
          <a:xfrm>
            <a:off x="5257800" y="4478548"/>
            <a:ext cx="1261872" cy="250911"/>
          </a:xfrm>
          <a:prstGeom prst="rect">
            <a:avLst/>
          </a:prstGeom>
          <a:solidFill>
            <a:srgbClr val="DC2626"/>
          </a:solidFill>
          <a:ln>
            <a:noFill/>
          </a:ln>
        </p:spPr>
      </p:sp>
      <p:sp>
        <p:nvSpPr>
          <p:cNvPr id="43" name="Shape 43"/>
          <p:cNvSpPr txBox="1"/>
          <p:nvPr/>
        </p:nvSpPr>
        <p:spPr>
          <a:xfrm>
            <a:off x="6574536" y="437997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6</a:t>
            </a:r>
          </a:p>
        </p:txBody>
      </p:sp>
      <p:sp>
        <p:nvSpPr>
          <p:cNvPr id="44" name="Shape 44"/>
          <p:cNvSpPr txBox="1"/>
          <p:nvPr/>
        </p:nvSpPr>
        <p:spPr>
          <a:xfrm>
            <a:off x="3429000" y="482803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Hijacker</a:t>
            </a:r>
          </a:p>
        </p:txBody>
      </p:sp>
      <p:sp>
        <p:nvSpPr>
          <p:cNvPr id="45" name="Shape 45"/>
          <p:cNvSpPr/>
          <p:nvPr/>
        </p:nvSpPr>
        <p:spPr>
          <a:xfrm>
            <a:off x="5257800" y="4926604"/>
            <a:ext cx="630936" cy="250911"/>
          </a:xfrm>
          <a:prstGeom prst="rect">
            <a:avLst/>
          </a:prstGeom>
          <a:solidFill>
            <a:srgbClr val="2447FF"/>
          </a:solidFill>
          <a:ln>
            <a:noFill/>
          </a:ln>
        </p:spPr>
      </p:sp>
      <p:sp>
        <p:nvSpPr>
          <p:cNvPr id="46" name="Shape 46"/>
          <p:cNvSpPr txBox="1"/>
          <p:nvPr/>
        </p:nvSpPr>
        <p:spPr>
          <a:xfrm>
            <a:off x="5943600" y="482803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3</a:t>
            </a:r>
          </a:p>
        </p:txBody>
      </p:sp>
      <p:sp>
        <p:nvSpPr>
          <p:cNvPr id="47" name="Shape 47"/>
          <p:cNvSpPr txBox="1"/>
          <p:nvPr/>
        </p:nvSpPr>
        <p:spPr>
          <a:xfrm>
            <a:off x="3429000" y="527608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Hijacker liquidation</a:t>
            </a:r>
          </a:p>
        </p:txBody>
      </p:sp>
      <p:sp>
        <p:nvSpPr>
          <p:cNvPr id="48" name="Shape 48"/>
          <p:cNvSpPr/>
          <p:nvPr/>
        </p:nvSpPr>
        <p:spPr>
          <a:xfrm>
            <a:off x="5257800" y="5374660"/>
            <a:ext cx="420624" cy="250911"/>
          </a:xfrm>
          <a:prstGeom prst="rect">
            <a:avLst/>
          </a:prstGeom>
          <a:solidFill>
            <a:srgbClr val="2447FF"/>
          </a:solidFill>
          <a:ln>
            <a:noFill/>
          </a:ln>
        </p:spPr>
      </p:sp>
      <p:sp>
        <p:nvSpPr>
          <p:cNvPr id="49" name="Shape 49"/>
          <p:cNvSpPr txBox="1"/>
          <p:nvPr/>
        </p:nvSpPr>
        <p:spPr>
          <a:xfrm>
            <a:off x="5733288" y="527608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a:t>
            </a:r>
          </a:p>
        </p:txBody>
      </p:sp>
      <p:sp>
        <p:nvSpPr>
          <p:cNvPr id="50" name="Shape 50"/>
          <p:cNvSpPr txBox="1"/>
          <p:nvPr/>
        </p:nvSpPr>
        <p:spPr>
          <a:xfrm>
            <a:off x="3429000" y="572414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stock</a:t>
            </a:r>
          </a:p>
        </p:txBody>
      </p:sp>
      <p:sp>
        <p:nvSpPr>
          <p:cNvPr id="51" name="Shape 51"/>
          <p:cNvSpPr/>
          <p:nvPr/>
        </p:nvSpPr>
        <p:spPr>
          <a:xfrm>
            <a:off x="5257800" y="5822716"/>
            <a:ext cx="420624" cy="250911"/>
          </a:xfrm>
          <a:prstGeom prst="rect">
            <a:avLst/>
          </a:prstGeom>
          <a:solidFill>
            <a:srgbClr val="2447FF"/>
          </a:solidFill>
          <a:ln>
            <a:noFill/>
          </a:ln>
        </p:spPr>
      </p:sp>
      <p:sp>
        <p:nvSpPr>
          <p:cNvPr id="52" name="Shape 52"/>
          <p:cNvSpPr txBox="1"/>
          <p:nvPr/>
        </p:nvSpPr>
        <p:spPr>
          <a:xfrm>
            <a:off x="5733288" y="572414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NEXT STEPS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This week's recommendations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15 / 17</a:t>
            </a:r>
          </a:p>
        </p:txBody>
      </p:sp>
      <p:graphicFrame>
        <p:nvGraphicFramePr>
          <p:cNvPr id="10" name="Shape 10"/>
          <p:cNvGraphicFramePr>
            <a:graphicFrameLocks noGrp="1"/>
          </p:cNvGraphicFramePr>
          <p:nvPr/>
        </p:nvGraphicFramePr>
        <p:xfrm>
          <a:off x="548640" y="1371600"/>
          <a:ext cx="11091672" cy="4535424"/>
        </p:xfrm>
        <a:graphic>
          <a:graphicData uri="http://schemas.openxmlformats.org/drawingml/2006/table">
            <a:tbl>
              <a:tblPr firstRow="1" bandRow="1">
                <a:tableStyleId>{5C22544A-7EE6-4342-B048-85BDC9FD1C3A}</a:tableStyleId>
              </a:tblPr>
              <a:tblGrid>
                <a:gridCol w="1463040"/>
                <a:gridCol w="7068312"/>
                <a:gridCol w="1371600"/>
                <a:gridCol w="1188720"/>
              </a:tblGrid>
              <a:tr h="566928">
                <a:tc>
                  <a:txBody>
                    <a:bodyPr wrap="square"/>
                    <a:lstStyle/>
                    <a:p>
                      <a:pPr algn="l"/>
                      <a:r>
                        <a:rPr sz="1000" b="1">
                          <a:solidFill>
                            <a:srgbClr val="FFFFFF"/>
                          </a:solidFill>
                          <a:latin typeface="Inter"/>
                        </a:rPr>
                        <a:t>Area</a:t>
                      </a:r>
                    </a:p>
                  </a:txBody>
                  <a:tcPr marL="54864" marR="54864" marT="27432" marB="27432" anchor="ctr">
                    <a:solidFill>
                      <a:srgbClr val="0F172A"/>
                    </a:solidFill>
                  </a:tcPr>
                </a:tc>
                <a:tc>
                  <a:txBody>
                    <a:bodyPr wrap="square"/>
                    <a:lstStyle/>
                    <a:p>
                      <a:pPr algn="l"/>
                      <a:r>
                        <a:rPr sz="1000" b="1">
                          <a:solidFill>
                            <a:srgbClr val="FFFFFF"/>
                          </a:solidFill>
                          <a:latin typeface="Inter"/>
                        </a:rPr>
                        <a:t>Recommendation</a:t>
                      </a:r>
                    </a:p>
                  </a:txBody>
                  <a:tcPr marL="54864" marR="54864" marT="27432" marB="27432" anchor="ctr">
                    <a:solidFill>
                      <a:srgbClr val="0F172A"/>
                    </a:solidFill>
                  </a:tcPr>
                </a:tc>
                <a:tc>
                  <a:txBody>
                    <a:bodyPr wrap="square"/>
                    <a:lstStyle/>
                    <a:p>
                      <a:pPr algn="l"/>
                      <a:r>
                        <a:rPr sz="1000" b="1">
                          <a:solidFill>
                            <a:srgbClr val="FFFFFF"/>
                          </a:solidFill>
                          <a:latin typeface="Inter"/>
                        </a:rPr>
                        <a:t>Owner</a:t>
                      </a:r>
                    </a:p>
                  </a:txBody>
                  <a:tcPr marL="54864" marR="54864" marT="27432" marB="27432" anchor="ctr">
                    <a:solidFill>
                      <a:srgbClr val="0F172A"/>
                    </a:solidFill>
                  </a:tcPr>
                </a:tc>
                <a:tc>
                  <a:txBody>
                    <a:bodyPr wrap="square"/>
                    <a:lstStyle/>
                    <a:p>
                      <a:pPr algn="l"/>
                      <a:r>
                        <a:rPr sz="1000" b="1">
                          <a:solidFill>
                            <a:srgbClr val="FFFFFF"/>
                          </a:solidFill>
                          <a:latin typeface="Inter"/>
                        </a:rPr>
                        <a:t>Timing</a:t>
                      </a:r>
                    </a:p>
                  </a:txBody>
                  <a:tcPr marL="54864" marR="54864" marT="27432" marB="27432" anchor="ctr">
                    <a:solidFill>
                      <a:srgbClr val="0F172A"/>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FFFFF"/>
                    </a:solidFill>
                  </a:tcPr>
                </a:tc>
                <a:tc>
                  <a:txBody>
                    <a:bodyPr wrap="square"/>
                    <a:lstStyle/>
                    <a:p>
                      <a:pPr algn="l"/>
                      <a:r>
                        <a:rPr sz="1100" b="0">
                          <a:solidFill>
                            <a:srgbClr val="0F172A"/>
                          </a:solidFill>
                          <a:latin typeface="Inter"/>
                        </a:rPr>
                        <a:t>Get the 170 inbound Queen toppers checked in at FBA; only 23 are available (under a week of sales).</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BFAF7"/>
                    </a:solidFill>
                  </a:tcPr>
                </a:tc>
                <a:tc>
                  <a:txBody>
                    <a:bodyPr wrap="square"/>
                    <a:lstStyle/>
                    <a:p>
                      <a:pPr algn="l"/>
                      <a:r>
                        <a:rPr sz="1100" b="0">
                          <a:solidFill>
                            <a:srgbClr val="0F172A"/>
                          </a:solidFill>
                          <a:latin typeface="Inter"/>
                        </a:rPr>
                        <a:t>Restock SnowTek (Full and Twin out, King at 9 units) and Essentials Queen (out); none has stock inbound.</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Review the Streaming TV audience campaign: $1,789 over two weeks with no attributed sales.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BFAF7"/>
                    </a:solidFill>
                  </a:tcPr>
                </a:tc>
                <a:tc>
                  <a:txBody>
                    <a:bodyPr wrap="square"/>
                    <a:lstStyle/>
                    <a:p>
                      <a:pPr algn="l"/>
                      <a:r>
                        <a:rPr sz="1100" b="0">
                          <a:solidFill>
                            <a:srgbClr val="0F172A"/>
                          </a:solidFill>
                          <a:latin typeface="Inter"/>
                        </a:rPr>
                        <a:t>Negate or pause no-sale targets (“mattress +topper” exact, “sur matelas dormeo” exact) and lower the “mattress +topper” phrase bid.</a:t>
                      </a:r>
                    </a:p>
                  </a:txBody>
                  <a:tcPr marL="54864" marR="54864" marT="27432" marB="27432" anchor="ctr">
                    <a:solidFill>
                      <a:srgbClr val="FBFAF7"/>
                    </a:solidFill>
                  </a:tcPr>
                </a:tc>
                <a:tc>
                  <a:txBody>
                    <a:bodyPr wrap="square"/>
                    <a:lstStyle/>
                    <a:p>
                      <a:pPr algn="l"/>
                      <a:r>
                        <a:rPr sz="1100" b="0">
                          <a:solidFill>
                            <a:srgbClr val="0F172A"/>
                          </a:solidFill>
                          <a:latin typeface="Inter"/>
                        </a:rPr>
                        <a:t>Ads team</a:t>
                      </a:r>
                    </a:p>
                  </a:txBody>
                  <a:tcPr marL="54864" marR="54864" marT="27432" marB="27432" anchor="ctr">
                    <a:solidFill>
                      <a:srgbClr val="FBFAF7"/>
                    </a:solidFill>
                  </a:tcPr>
                </a:tc>
                <a:tc>
                  <a:txBody>
                    <a:bodyPr wrap="square"/>
                    <a:lstStyle/>
                    <a:p>
                      <a:pPr algn="l"/>
                      <a:r>
                        <a:rPr sz="1100" b="0">
                          <a:solidFill>
                            <a:srgbClr val="0F172A"/>
                          </a:solidFill>
                          <a:latin typeface="Inter"/>
                        </a:rPr>
                        <a:t>This week</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Add “dormeo mattress topper queen” (SB) and “octaspring mattress topper” as exact keywords; review the 11 no-sale search terms.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Marketing</a:t>
                      </a:r>
                    </a:p>
                  </a:txBody>
                  <a:tcPr marL="54864" marR="54864" marT="27432" marB="27432" anchor="ctr">
                    <a:solidFill>
                      <a:srgbClr val="FBFAF7"/>
                    </a:solidFill>
                  </a:tcPr>
                </a:tc>
                <a:tc>
                  <a:txBody>
                    <a:bodyPr wrap="square"/>
                    <a:lstStyle/>
                    <a:p>
                      <a:pPr algn="l"/>
                      <a:r>
                        <a:rPr sz="1100" b="0">
                          <a:solidFill>
                            <a:srgbClr val="0F172A"/>
                          </a:solidFill>
                          <a:latin typeface="Inter"/>
                        </a:rPr>
                        <a:t>Plan BF/CM and Boxing Day coupons and deals for the toppers and confirm submission deadlines.</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Account health</a:t>
                      </a:r>
                    </a:p>
                  </a:txBody>
                  <a:tcPr marL="54864" marR="54864" marT="27432" marB="27432" anchor="ctr">
                    <a:solidFill>
                      <a:srgbClr val="FFFFFF"/>
                    </a:solidFill>
                  </a:tcPr>
                </a:tc>
                <a:tc>
                  <a:txBody>
                    <a:bodyPr wrap="square"/>
                    <a:lstStyle/>
                    <a:p>
                      <a:pPr algn="l"/>
                      <a:r>
                        <a:rPr sz="1100" b="0">
                          <a:solidFill>
                            <a:srgbClr val="0F172A"/>
                          </a:solidFill>
                          <a:latin typeface="Inter"/>
                        </a:rPr>
                        <a:t>Check the 9 Buy Box losses and 3 hijacker alerts from the last 30 days; turn on review tracking.</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Next week</a:t>
                      </a:r>
                    </a:p>
                  </a:txBody>
                  <a:tcPr marL="54864" marR="54864" marT="27432" marB="27432"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6F3EC"/>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2296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performance — this week vs last</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1417320"/>
            <a:ext cx="2651760" cy="1554480"/>
          </a:xfrm>
          <a:prstGeom prst="roundRect">
            <a:avLst>
              <a:gd name="" fmla="val 6000"/>
            </a:avLst>
          </a:prstGeom>
          <a:solidFill>
            <a:srgbClr val="FFFFFF"/>
          </a:solidFill>
          <a:ln>
            <a:noFill/>
          </a:ln>
        </p:spPr>
      </p:sp>
      <p:sp>
        <p:nvSpPr>
          <p:cNvPr id="8" name="Shape 8"/>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SPEND</a:t>
            </a:r>
          </a:p>
        </p:txBody>
      </p:sp>
      <p:sp>
        <p:nvSpPr>
          <p:cNvPr id="9" name="Shape 9"/>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$3,612</a:t>
            </a:r>
          </a:p>
        </p:txBody>
      </p:sp>
      <p:sp>
        <p:nvSpPr>
          <p:cNvPr id="10" name="Shape 10"/>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-26% vs $4,911</a:t>
            </a:r>
          </a:p>
        </p:txBody>
      </p:sp>
      <p:sp>
        <p:nvSpPr>
          <p:cNvPr id="11" name="Shape 11"/>
          <p:cNvSpPr/>
          <p:nvPr/>
        </p:nvSpPr>
        <p:spPr>
          <a:xfrm>
            <a:off x="3364992" y="1417320"/>
            <a:ext cx="2651760" cy="1554480"/>
          </a:xfrm>
          <a:prstGeom prst="roundRect">
            <a:avLst>
              <a:gd name="" fmla="val 6000"/>
            </a:avLst>
          </a:prstGeom>
          <a:solidFill>
            <a:srgbClr val="FFFFFF"/>
          </a:solidFill>
          <a:ln>
            <a:noFill/>
          </a:ln>
        </p:spPr>
      </p:sp>
      <p:sp>
        <p:nvSpPr>
          <p:cNvPr id="12" name="Shape 12"/>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SALES</a:t>
            </a:r>
          </a:p>
        </p:txBody>
      </p:sp>
      <p:sp>
        <p:nvSpPr>
          <p:cNvPr id="13" name="Shape 13"/>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$34,696</a:t>
            </a:r>
          </a:p>
        </p:txBody>
      </p:sp>
      <p:sp>
        <p:nvSpPr>
          <p:cNvPr id="14" name="Shape 14"/>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+19% vs $29,112</a:t>
            </a:r>
          </a:p>
        </p:txBody>
      </p:sp>
      <p:sp>
        <p:nvSpPr>
          <p:cNvPr id="15" name="Shape 15"/>
          <p:cNvSpPr/>
          <p:nvPr/>
        </p:nvSpPr>
        <p:spPr>
          <a:xfrm>
            <a:off x="6181344" y="1417320"/>
            <a:ext cx="2651760" cy="1554480"/>
          </a:xfrm>
          <a:prstGeom prst="roundRect">
            <a:avLst>
              <a:gd name="" fmla="val 6000"/>
            </a:avLst>
          </a:prstGeom>
          <a:solidFill>
            <a:srgbClr val="FFFFFF"/>
          </a:solidFill>
          <a:ln>
            <a:noFill/>
          </a:ln>
        </p:spPr>
      </p:sp>
      <p:sp>
        <p:nvSpPr>
          <p:cNvPr id="16" name="Shape 16"/>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ACOS</a:t>
            </a:r>
          </a:p>
        </p:txBody>
      </p:sp>
      <p:sp>
        <p:nvSpPr>
          <p:cNvPr id="17" name="Shape 17"/>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10.4%</a:t>
            </a:r>
          </a:p>
        </p:txBody>
      </p:sp>
      <p:sp>
        <p:nvSpPr>
          <p:cNvPr id="18" name="Shape 18"/>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-6.5 pts vs 16.9%</a:t>
            </a:r>
          </a:p>
        </p:txBody>
      </p:sp>
      <p:sp>
        <p:nvSpPr>
          <p:cNvPr id="19" name="Shape 19"/>
          <p:cNvSpPr/>
          <p:nvPr/>
        </p:nvSpPr>
        <p:spPr>
          <a:xfrm>
            <a:off x="8997696" y="1417320"/>
            <a:ext cx="2651760" cy="1554480"/>
          </a:xfrm>
          <a:prstGeom prst="roundRect">
            <a:avLst>
              <a:gd name="" fmla="val 6000"/>
            </a:avLst>
          </a:prstGeom>
          <a:solidFill>
            <a:srgbClr val="FFFFFF"/>
          </a:solidFill>
          <a:ln>
            <a:noFill/>
          </a:ln>
        </p:spPr>
      </p:sp>
      <p:sp>
        <p:nvSpPr>
          <p:cNvPr id="20" name="Shape 20"/>
          <p:cNvSpPr txBox="1"/>
          <p:nvPr/>
        </p:nvSpPr>
        <p:spPr>
          <a:xfrm>
            <a:off x="9162288"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TACOS</a:t>
            </a:r>
          </a:p>
        </p:txBody>
      </p:sp>
      <p:sp>
        <p:nvSpPr>
          <p:cNvPr id="21" name="Shape 21"/>
          <p:cNvSpPr txBox="1"/>
          <p:nvPr/>
        </p:nvSpPr>
        <p:spPr>
          <a:xfrm>
            <a:off x="9162288"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6.3%</a:t>
            </a:r>
          </a:p>
        </p:txBody>
      </p:sp>
      <p:sp>
        <p:nvSpPr>
          <p:cNvPr id="22" name="Shape 22"/>
          <p:cNvSpPr txBox="1"/>
          <p:nvPr/>
        </p:nvSpPr>
        <p:spPr>
          <a:xfrm>
            <a:off x="9162288"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-4.1 pts vs 10.3%</a:t>
            </a:r>
          </a:p>
        </p:txBody>
      </p:sp>
      <p:sp>
        <p:nvSpPr>
          <p:cNvPr id="23" name="Shape 23"/>
          <p:cNvSpPr txBox="1"/>
          <p:nvPr/>
        </p:nvSpPr>
        <p:spPr>
          <a:xfrm>
            <a:off x="548640"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spend</a:t>
            </a:r>
          </a:p>
        </p:txBody>
      </p:sp>
      <p:sp>
        <p:nvSpPr>
          <p:cNvPr id="24" name="Shape 24"/>
          <p:cNvSpPr/>
          <p:nvPr/>
        </p:nvSpPr>
        <p:spPr>
          <a:xfrm>
            <a:off x="914400" y="3840479"/>
            <a:ext cx="1005840" cy="2148840"/>
          </a:xfrm>
          <a:prstGeom prst="rect">
            <a:avLst/>
          </a:prstGeom>
          <a:solidFill>
            <a:srgbClr val="C7D2FE"/>
          </a:solidFill>
          <a:ln>
            <a:noFill/>
          </a:ln>
        </p:spPr>
      </p:sp>
      <p:sp>
        <p:nvSpPr>
          <p:cNvPr id="25" name="Shape 25"/>
          <p:cNvSpPr txBox="1"/>
          <p:nvPr/>
        </p:nvSpPr>
        <p:spPr>
          <a:xfrm>
            <a:off x="73152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$4.9K</a:t>
            </a:r>
          </a:p>
        </p:txBody>
      </p:sp>
      <p:sp>
        <p:nvSpPr>
          <p:cNvPr id="26" name="Shape 26"/>
          <p:cNvSpPr txBox="1"/>
          <p:nvPr/>
        </p:nvSpPr>
        <p:spPr>
          <a:xfrm>
            <a:off x="7315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27" name="Shape 27"/>
          <p:cNvSpPr/>
          <p:nvPr/>
        </p:nvSpPr>
        <p:spPr>
          <a:xfrm>
            <a:off x="2286000" y="4408947"/>
            <a:ext cx="1005840" cy="1580372"/>
          </a:xfrm>
          <a:prstGeom prst="rect">
            <a:avLst/>
          </a:prstGeom>
          <a:solidFill>
            <a:srgbClr val="2447FF"/>
          </a:solidFill>
          <a:ln>
            <a:noFill/>
          </a:ln>
        </p:spPr>
      </p:sp>
      <p:sp>
        <p:nvSpPr>
          <p:cNvPr id="28" name="Shape 28"/>
          <p:cNvSpPr txBox="1"/>
          <p:nvPr/>
        </p:nvSpPr>
        <p:spPr>
          <a:xfrm>
            <a:off x="2103120" y="4134627"/>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$3.6K</a:t>
            </a:r>
          </a:p>
        </p:txBody>
      </p:sp>
      <p:sp>
        <p:nvSpPr>
          <p:cNvPr id="29" name="Shape 29"/>
          <p:cNvSpPr txBox="1"/>
          <p:nvPr/>
        </p:nvSpPr>
        <p:spPr>
          <a:xfrm>
            <a:off x="21031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0" name="Shape 30"/>
          <p:cNvSpPr txBox="1"/>
          <p:nvPr/>
        </p:nvSpPr>
        <p:spPr>
          <a:xfrm>
            <a:off x="429767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sales</a:t>
            </a:r>
          </a:p>
        </p:txBody>
      </p:sp>
      <p:sp>
        <p:nvSpPr>
          <p:cNvPr id="31" name="Shape 31"/>
          <p:cNvSpPr/>
          <p:nvPr/>
        </p:nvSpPr>
        <p:spPr>
          <a:xfrm>
            <a:off x="4663440" y="4186315"/>
            <a:ext cx="1005840" cy="1803004"/>
          </a:xfrm>
          <a:prstGeom prst="rect">
            <a:avLst/>
          </a:prstGeom>
          <a:solidFill>
            <a:srgbClr val="C7D2FE"/>
          </a:solidFill>
          <a:ln>
            <a:noFill/>
          </a:ln>
        </p:spPr>
      </p:sp>
      <p:sp>
        <p:nvSpPr>
          <p:cNvPr id="32" name="Shape 32"/>
          <p:cNvSpPr txBox="1"/>
          <p:nvPr/>
        </p:nvSpPr>
        <p:spPr>
          <a:xfrm>
            <a:off x="4480559" y="3911995"/>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$29.1K</a:t>
            </a:r>
          </a:p>
        </p:txBody>
      </p:sp>
      <p:sp>
        <p:nvSpPr>
          <p:cNvPr id="33" name="Shape 33"/>
          <p:cNvSpPr txBox="1"/>
          <p:nvPr/>
        </p:nvSpPr>
        <p:spPr>
          <a:xfrm>
            <a:off x="44805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34" name="Shape 34"/>
          <p:cNvSpPr/>
          <p:nvPr/>
        </p:nvSpPr>
        <p:spPr>
          <a:xfrm>
            <a:off x="6035040" y="3840479"/>
            <a:ext cx="1005840" cy="2148840"/>
          </a:xfrm>
          <a:prstGeom prst="rect">
            <a:avLst/>
          </a:prstGeom>
          <a:solidFill>
            <a:srgbClr val="2447FF"/>
          </a:solidFill>
          <a:ln>
            <a:noFill/>
          </a:ln>
        </p:spPr>
      </p:sp>
      <p:sp>
        <p:nvSpPr>
          <p:cNvPr id="35" name="Shape 35"/>
          <p:cNvSpPr txBox="1"/>
          <p:nvPr/>
        </p:nvSpPr>
        <p:spPr>
          <a:xfrm>
            <a:off x="5852159"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$34.7K</a:t>
            </a:r>
          </a:p>
        </p:txBody>
      </p:sp>
      <p:sp>
        <p:nvSpPr>
          <p:cNvPr id="36" name="Shape 36"/>
          <p:cNvSpPr txBox="1"/>
          <p:nvPr/>
        </p:nvSpPr>
        <p:spPr>
          <a:xfrm>
            <a:off x="58521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7" name="Shape 37"/>
          <p:cNvSpPr txBox="1"/>
          <p:nvPr/>
        </p:nvSpPr>
        <p:spPr>
          <a:xfrm>
            <a:off x="804671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Total sales</a:t>
            </a:r>
          </a:p>
        </p:txBody>
      </p:sp>
      <p:sp>
        <p:nvSpPr>
          <p:cNvPr id="38" name="Shape 38"/>
          <p:cNvSpPr/>
          <p:nvPr/>
        </p:nvSpPr>
        <p:spPr>
          <a:xfrm>
            <a:off x="8412480" y="4216843"/>
            <a:ext cx="1005840" cy="1772476"/>
          </a:xfrm>
          <a:prstGeom prst="rect">
            <a:avLst/>
          </a:prstGeom>
          <a:solidFill>
            <a:srgbClr val="C7D2FE"/>
          </a:solidFill>
          <a:ln>
            <a:noFill/>
          </a:ln>
        </p:spPr>
      </p:sp>
      <p:sp>
        <p:nvSpPr>
          <p:cNvPr id="39" name="Shape 39"/>
          <p:cNvSpPr txBox="1"/>
          <p:nvPr/>
        </p:nvSpPr>
        <p:spPr>
          <a:xfrm>
            <a:off x="8229600" y="3942523"/>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$47.6K</a:t>
            </a:r>
          </a:p>
        </p:txBody>
      </p:sp>
      <p:sp>
        <p:nvSpPr>
          <p:cNvPr id="40" name="Shape 40"/>
          <p:cNvSpPr txBox="1"/>
          <p:nvPr/>
        </p:nvSpPr>
        <p:spPr>
          <a:xfrm>
            <a:off x="82296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41" name="Shape 41"/>
          <p:cNvSpPr/>
          <p:nvPr/>
        </p:nvSpPr>
        <p:spPr>
          <a:xfrm>
            <a:off x="9784080" y="3840479"/>
            <a:ext cx="1005840" cy="2148840"/>
          </a:xfrm>
          <a:prstGeom prst="rect">
            <a:avLst/>
          </a:prstGeom>
          <a:solidFill>
            <a:srgbClr val="2447FF"/>
          </a:solidFill>
          <a:ln>
            <a:noFill/>
          </a:ln>
        </p:spPr>
      </p:sp>
      <p:sp>
        <p:nvSpPr>
          <p:cNvPr id="42" name="Shape 42"/>
          <p:cNvSpPr txBox="1"/>
          <p:nvPr/>
        </p:nvSpPr>
        <p:spPr>
          <a:xfrm>
            <a:off x="960120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$57.7K</a:t>
            </a:r>
          </a:p>
        </p:txBody>
      </p:sp>
      <p:sp>
        <p:nvSpPr>
          <p:cNvPr id="43" name="Shape 43"/>
          <p:cNvSpPr txBox="1"/>
          <p:nvPr/>
        </p:nvSpPr>
        <p:spPr>
          <a:xfrm>
            <a:off x="96012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44" name="Shape 44"/>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45" name="Shape 45"/>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PATH FORWARD</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Where we stand and what's next</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Canada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17 / 17</a:t>
            </a:r>
          </a:p>
        </p:txBody>
      </p:sp>
      <p:sp>
        <p:nvSpPr>
          <p:cNvPr id="10" name="Shape 10"/>
          <p:cNvSpPr/>
          <p:nvPr/>
        </p:nvSpPr>
        <p:spPr>
          <a:xfrm>
            <a:off x="548640" y="1371600"/>
            <a:ext cx="2651760" cy="1417320"/>
          </a:xfrm>
          <a:prstGeom prst="roundRect">
            <a:avLst>
              <a:gd name="" fmla="val 6000"/>
            </a:avLst>
          </a:prstGeom>
          <a:solidFill>
            <a:srgbClr val="F6F3EC"/>
          </a:solidFill>
          <a:ln>
            <a:noFill/>
          </a:ln>
        </p:spPr>
      </p:sp>
      <p:sp>
        <p:nvSpPr>
          <p:cNvPr id="11" name="Shape 11"/>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Shape 12"/>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$18.4K</a:t>
            </a:r>
          </a:p>
        </p:txBody>
      </p:sp>
      <p:sp>
        <p:nvSpPr>
          <p:cNvPr id="13" name="Shape 13"/>
          <p:cNvSpPr/>
          <p:nvPr/>
        </p:nvSpPr>
        <p:spPr>
          <a:xfrm>
            <a:off x="3364992" y="1371600"/>
            <a:ext cx="2651760" cy="1417320"/>
          </a:xfrm>
          <a:prstGeom prst="roundRect">
            <a:avLst>
              <a:gd name="" fmla="val 6000"/>
            </a:avLst>
          </a:prstGeom>
          <a:solidFill>
            <a:srgbClr val="F6F3EC"/>
          </a:solidFill>
          <a:ln>
            <a:noFill/>
          </a:ln>
        </p:spPr>
      </p:sp>
      <p:sp>
        <p:nvSpPr>
          <p:cNvPr id="14" name="Shape 14"/>
          <p:cNvSpPr txBox="1"/>
          <p:nvPr/>
        </p:nvSpPr>
        <p:spPr>
          <a:xfrm>
            <a:off x="3529584"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5" name="Shape 15"/>
          <p:cNvSpPr txBox="1"/>
          <p:nvPr/>
        </p:nvSpPr>
        <p:spPr>
          <a:xfrm>
            <a:off x="3529584"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$22.8K</a:t>
            </a:r>
          </a:p>
        </p:txBody>
      </p:sp>
      <p:sp>
        <p:nvSpPr>
          <p:cNvPr id="16" name="Shape 16"/>
          <p:cNvSpPr/>
          <p:nvPr/>
        </p:nvSpPr>
        <p:spPr>
          <a:xfrm>
            <a:off x="6181344" y="1371600"/>
            <a:ext cx="2651760" cy="1417320"/>
          </a:xfrm>
          <a:prstGeom prst="roundRect">
            <a:avLst>
              <a:gd name="" fmla="val 6000"/>
            </a:avLst>
          </a:prstGeom>
          <a:solidFill>
            <a:srgbClr val="F6F3EC"/>
          </a:solidFill>
          <a:ln>
            <a:noFill/>
          </a:ln>
        </p:spPr>
      </p:sp>
      <p:sp>
        <p:nvSpPr>
          <p:cNvPr id="17" name="Shape 17"/>
          <p:cNvSpPr txBox="1"/>
          <p:nvPr/>
        </p:nvSpPr>
        <p:spPr>
          <a:xfrm>
            <a:off x="6345936"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18" name="Shape 18"/>
          <p:cNvSpPr txBox="1"/>
          <p:nvPr/>
        </p:nvSpPr>
        <p:spPr>
          <a:xfrm>
            <a:off x="6345936"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10.9%</a:t>
            </a:r>
          </a:p>
        </p:txBody>
      </p:sp>
      <p:sp>
        <p:nvSpPr>
          <p:cNvPr id="19" name="Shape 19"/>
          <p:cNvSpPr/>
          <p:nvPr/>
        </p:nvSpPr>
        <p:spPr>
          <a:xfrm>
            <a:off x="8997696" y="1371600"/>
            <a:ext cx="2642616" cy="1417320"/>
          </a:xfrm>
          <a:prstGeom prst="roundRect">
            <a:avLst>
              <a:gd name="" fmla="val 6000"/>
            </a:avLst>
          </a:prstGeom>
          <a:solidFill>
            <a:srgbClr val="F6F3EC"/>
          </a:solidFill>
          <a:ln>
            <a:noFill/>
          </a:ln>
        </p:spPr>
      </p:sp>
      <p:sp>
        <p:nvSpPr>
          <p:cNvPr id="20" name="Shape 20"/>
          <p:cNvSpPr txBox="1"/>
          <p:nvPr/>
        </p:nvSpPr>
        <p:spPr>
          <a:xfrm>
            <a:off x="9162288" y="149961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DAYS LEFT IN OCT</a:t>
            </a:r>
          </a:p>
        </p:txBody>
      </p:sp>
      <p:sp>
        <p:nvSpPr>
          <p:cNvPr id="21" name="Shape 21"/>
          <p:cNvSpPr txBox="1"/>
          <p:nvPr/>
        </p:nvSpPr>
        <p:spPr>
          <a:xfrm>
            <a:off x="9162288" y="175564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a:t>
            </a:r>
          </a:p>
        </p:txBody>
      </p:sp>
      <p:sp>
        <p:nvSpPr>
          <p:cNvPr id="22" name="Shape 22"/>
          <p:cNvSpPr/>
          <p:nvPr/>
        </p:nvSpPr>
        <p:spPr>
          <a:xfrm>
            <a:off x="548640" y="2971800"/>
            <a:ext cx="3611880" cy="3246120"/>
          </a:xfrm>
          <a:prstGeom prst="roundRect">
            <a:avLst>
              <a:gd name="" fmla="val 6000"/>
            </a:avLst>
          </a:prstGeom>
          <a:solidFill>
            <a:srgbClr val="FFFFFF"/>
          </a:solidFill>
          <a:ln w="9525">
            <a:solidFill>
              <a:srgbClr val="E5E0D6"/>
            </a:solidFill>
          </a:ln>
        </p:spPr>
      </p:sp>
      <p:sp>
        <p:nvSpPr>
          <p:cNvPr id="23" name="Shape 23"/>
          <p:cNvSpPr txBox="1"/>
          <p:nvPr/>
        </p:nvSpPr>
        <p:spPr>
          <a:xfrm>
            <a:off x="731520"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Position</a:t>
            </a:r>
          </a:p>
        </p:txBody>
      </p:sp>
      <p:sp>
        <p:nvSpPr>
          <p:cNvPr id="24" name="Shape 24"/>
          <p:cNvSpPr txBox="1"/>
          <p:nvPr/>
        </p:nvSpPr>
        <p:spPr>
          <a:xfrm>
            <a:off x="731520"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16% behind last year to date and pacing to about $309.6K (last October: $350.6K).</a:t>
            </a:r>
          </a:p>
          <a:p>
            <a:pPr algn="l">
              <a:spcAft>
                <a:spcPts val="500"/>
              </a:spcAft>
            </a:pPr>
            <a:r>
              <a:rPr sz="1050" b="0">
                <a:solidFill>
                  <a:srgbClr val="334155"/>
                </a:solidFill>
                <a:latin typeface="Inter"/>
              </a:rPr>
              <a:t>This week grew 21% to $57.7K, led by the Queen topper.</a:t>
            </a:r>
          </a:p>
        </p:txBody>
      </p:sp>
      <p:sp>
        <p:nvSpPr>
          <p:cNvPr id="25" name="Shape 25"/>
          <p:cNvSpPr/>
          <p:nvPr/>
        </p:nvSpPr>
        <p:spPr>
          <a:xfrm>
            <a:off x="4288536" y="2971800"/>
            <a:ext cx="3611880" cy="3246120"/>
          </a:xfrm>
          <a:prstGeom prst="roundRect">
            <a:avLst>
              <a:gd name="" fmla="val 6000"/>
            </a:avLst>
          </a:prstGeom>
          <a:solidFill>
            <a:srgbClr val="FFFFFF"/>
          </a:solidFill>
          <a:ln w="9525">
            <a:solidFill>
              <a:srgbClr val="E5E0D6"/>
            </a:solidFill>
          </a:ln>
        </p:spPr>
      </p:sp>
      <p:sp>
        <p:nvSpPr>
          <p:cNvPr id="26" name="Shape 26"/>
          <p:cNvSpPr txBox="1"/>
          <p:nvPr/>
        </p:nvSpPr>
        <p:spPr>
          <a:xfrm>
            <a:off x="4471416"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steps</a:t>
            </a:r>
          </a:p>
        </p:txBody>
      </p:sp>
      <p:sp>
        <p:nvSpPr>
          <p:cNvPr id="27" name="Shape 27"/>
          <p:cNvSpPr txBox="1"/>
          <p:nvPr/>
        </p:nvSpPr>
        <p:spPr>
          <a:xfrm>
            <a:off x="4471416"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1. Restock Queen at FBA; restock SnowTek and Essentials.</a:t>
            </a:r>
          </a:p>
          <a:p>
            <a:pPr algn="l">
              <a:spcAft>
                <a:spcPts val="500"/>
              </a:spcAft>
            </a:pPr>
            <a:r>
              <a:rPr sz="1050" b="0">
                <a:solidFill>
                  <a:srgbClr val="334155"/>
                </a:solidFill>
                <a:latin typeface="Inter"/>
              </a:rPr>
              <a:t>2. Review Streaming TV and no-sale targets.</a:t>
            </a:r>
          </a:p>
          <a:p>
            <a:pPr algn="l">
              <a:spcAft>
                <a:spcPts val="500"/>
              </a:spcAft>
            </a:pPr>
            <a:r>
              <a:rPr sz="1050" b="0">
                <a:solidFill>
                  <a:srgbClr val="334155"/>
                </a:solidFill>
                <a:latin typeface="Inter"/>
              </a:rPr>
              <a:t>3. Lock BF/CM and Boxing Day deals.</a:t>
            </a:r>
          </a:p>
          <a:p>
            <a:pPr algn="l">
              <a:spcAft>
                <a:spcPts val="500"/>
              </a:spcAft>
            </a:pPr>
            <a:r>
              <a:rPr sz="1050" b="0">
                <a:solidFill>
                  <a:srgbClr val="334155"/>
                </a:solidFill>
                <a:latin typeface="Inter"/>
              </a:rPr>
              <a:t>4. Fix Buy Box and hijacker alerts.</a:t>
            </a:r>
          </a:p>
        </p:txBody>
      </p:sp>
      <p:sp>
        <p:nvSpPr>
          <p:cNvPr id="28" name="Shape 28"/>
          <p:cNvSpPr/>
          <p:nvPr/>
        </p:nvSpPr>
        <p:spPr>
          <a:xfrm>
            <a:off x="8028431" y="2971800"/>
            <a:ext cx="3611880" cy="3246120"/>
          </a:xfrm>
          <a:prstGeom prst="roundRect">
            <a:avLst>
              <a:gd name="" fmla="val 6000"/>
            </a:avLst>
          </a:prstGeom>
          <a:solidFill>
            <a:srgbClr val="FFFFFF"/>
          </a:solidFill>
          <a:ln w="9525">
            <a:solidFill>
              <a:srgbClr val="E5E0D6"/>
            </a:solidFill>
          </a:ln>
        </p:spPr>
      </p:sp>
      <p:sp>
        <p:nvSpPr>
          <p:cNvPr id="29" name="Shape 29"/>
          <p:cNvSpPr txBox="1"/>
          <p:nvPr/>
        </p:nvSpPr>
        <p:spPr>
          <a:xfrm>
            <a:off x="8211311"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Data ask</a:t>
            </a:r>
          </a:p>
        </p:txBody>
      </p:sp>
      <p:sp>
        <p:nvSpPr>
          <p:cNvPr id="30" name="Shape 30"/>
          <p:cNvSpPr txBox="1"/>
          <p:nvPr/>
        </p:nvSpPr>
        <p:spPr>
          <a:xfrm>
            <a:off x="8211311"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Queen inbound ETA and PO dates.</a:t>
            </a:r>
          </a:p>
          <a:p>
            <a:pPr algn="l">
              <a:spcAft>
                <a:spcPts val="500"/>
              </a:spcAft>
            </a:pPr>
            <a:r>
              <a:rPr sz="1050" b="0">
                <a:solidFill>
                  <a:srgbClr val="334155"/>
                </a:solidFill>
                <a:latin typeface="Inter"/>
              </a:rPr>
              <a:t>SnowTek and Essentials replenishment plan.</a:t>
            </a:r>
          </a:p>
          <a:p>
            <a:pPr algn="l">
              <a:spcAft>
                <a:spcPts val="500"/>
              </a:spcAft>
            </a:pPr>
            <a:r>
              <a:rPr sz="1050" b="0">
                <a:solidFill>
                  <a:srgbClr val="334155"/>
                </a:solidFill>
                <a:latin typeface="Inter"/>
              </a:rPr>
              <a:t>BF/CM and Boxing Day deal and coupon plan.</a:t>
            </a:r>
          </a:p>
          <a:p>
            <a:pPr algn="l">
              <a:spcAft>
                <a:spcPts val="500"/>
              </a:spcAft>
            </a:pPr>
            <a:r>
              <a:rPr sz="1050" b="0">
                <a:solidFill>
                  <a:srgbClr val="334155"/>
                </a:solidFill>
                <a:latin typeface="Inter"/>
              </a:rPr>
              <a:t>Review tracking turned on in Sellerise.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