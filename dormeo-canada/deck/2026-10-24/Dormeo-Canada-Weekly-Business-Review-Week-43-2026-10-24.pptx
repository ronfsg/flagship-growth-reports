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
          <p:cNvSpPr/>
          <p:nvPr/>
        </p:nvSpPr>
        <p:spPr>
          <a:xfrm>
            <a:off x="0" y="0"/>
            <a:ext cx="12191695" cy="6858000"/>
          </a:xfrm>
          <a:prstGeom prst="rect">
            <a:avLst/>
          </a:prstGeom>
          <a:solidFill>
            <a:srgbClr val="0F172A"/>
          </a:solidFill>
          <a:ln>
            <a:noFill/>
          </a:ln>
        </p:spPr>
      </p:sp>
      <p:sp>
        <p:nvSpPr>
          <p:cNvPr id="3" name=""/>
          <p:cNvSpPr/>
          <p:nvPr/>
        </p:nvSpPr>
        <p:spPr>
          <a:xfrm>
            <a:off x="0" y="0"/>
            <a:ext cx="164592" cy="6858000"/>
          </a:xfrm>
          <a:prstGeom prst="rect">
            <a:avLst/>
          </a:prstGeom>
          <a:solidFill>
            <a:srgbClr val="2447FF"/>
          </a:solidFill>
          <a:ln>
            <a:noFill/>
          </a:ln>
        </p:spPr>
      </p:sp>
      <p:pic>
        <p:nvPicPr>
          <p:cNvPr id="4" name="" descr="logo_dark_s.png"/>
          <p:cNvPicPr>
            <a:picLocks noChangeAspect="1"/>
          </p:cNvPicPr>
          <p:nvPr/>
        </p:nvPicPr>
        <p:blipFill>
          <a:blip r:embed="rId2"/>
          <a:stretch>
            <a:fillRect/>
          </a:stretch>
        </p:blipFill>
        <p:spPr>
          <a:xfrm>
            <a:off x="822960" y="777240"/>
            <a:ext cx="2560320" cy="312928"/>
          </a:xfrm>
          <a:prstGeom prst="rect">
            <a:avLst/>
          </a:prstGeom>
        </p:spPr>
      </p:pic>
      <p:sp>
        <p:nvSpPr>
          <p:cNvPr id="5" name=""/>
          <p:cNvSpPr txBox="1"/>
          <p:nvPr/>
        </p:nvSpPr>
        <p:spPr>
          <a:xfrm>
            <a:off x="822960" y="2148840"/>
            <a:ext cx="10058400" cy="365760"/>
          </a:xfrm>
          <a:prstGeom prst="rect">
            <a:avLst/>
          </a:prstGeom>
          <a:noFill/>
        </p:spPr>
        <p:txBody>
          <a:bodyPr wrap="square" lIns="36576" rIns="36576" tIns="18288" bIns="18288" anchor="t">
            <a:spAutoFit/>
          </a:bodyPr>
          <a:lstStyle/>
          <a:p>
            <a:pPr algn="l"/>
            <a:r>
              <a:rPr sz="1400" b="1">
                <a:solidFill>
                  <a:srgbClr val="7EB8F7"/>
                </a:solidFill>
                <a:latin typeface="Space Grotesk"/>
              </a:rPr>
              <a:t>WEEKLY PERFORMANCE &amp; GROWTH REVIEW</a:t>
            </a:r>
          </a:p>
        </p:txBody>
      </p:sp>
      <p:sp>
        <p:nvSpPr>
          <p:cNvPr id="6" name=""/>
          <p:cNvSpPr txBox="1"/>
          <p:nvPr/>
        </p:nvSpPr>
        <p:spPr>
          <a:xfrm>
            <a:off x="822960" y="2560320"/>
            <a:ext cx="10058400" cy="1097280"/>
          </a:xfrm>
          <a:prstGeom prst="rect">
            <a:avLst/>
          </a:prstGeom>
          <a:noFill/>
        </p:spPr>
        <p:txBody>
          <a:bodyPr wrap="square" lIns="36576" rIns="36576" tIns="18288" bIns="18288" anchor="t">
            <a:spAutoFit/>
          </a:bodyPr>
          <a:lstStyle/>
          <a:p>
            <a:pPr algn="l"/>
            <a:r>
              <a:rPr sz="6000" b="1">
                <a:solidFill>
                  <a:srgbClr val="FFFFFF"/>
                </a:solidFill>
                <a:latin typeface="Space Grotesk"/>
              </a:rPr>
              <a:t>Dormeo Canada</a:t>
            </a:r>
          </a:p>
        </p:txBody>
      </p:sp>
      <p:sp>
        <p:nvSpPr>
          <p:cNvPr id="7" name=""/>
          <p:cNvSpPr txBox="1"/>
          <p:nvPr/>
        </p:nvSpPr>
        <p:spPr>
          <a:xfrm>
            <a:off x="822960" y="3703320"/>
            <a:ext cx="10058400" cy="457200"/>
          </a:xfrm>
          <a:prstGeom prst="rect">
            <a:avLst/>
          </a:prstGeom>
          <a:noFill/>
        </p:spPr>
        <p:txBody>
          <a:bodyPr wrap="square" lIns="36576" rIns="36576" tIns="18288" bIns="18288" anchor="t">
            <a:spAutoFit/>
          </a:bodyPr>
          <a:lstStyle/>
          <a:p>
            <a:pPr algn="l"/>
            <a:r>
              <a:rPr sz="2200" b="0">
                <a:solidFill>
                  <a:srgbClr val="FFFFFF"/>
                </a:solidFill>
                <a:latin typeface="Space Grotesk"/>
              </a:rPr>
              <a:t>Amazon Business Review · Week 43</a:t>
            </a:r>
          </a:p>
        </p:txBody>
      </p:sp>
      <p:sp>
        <p:nvSpPr>
          <p:cNvPr id="8" name=""/>
          <p:cNvSpPr txBox="1"/>
          <p:nvPr/>
        </p:nvSpPr>
        <p:spPr>
          <a:xfrm>
            <a:off x="822960" y="4297680"/>
            <a:ext cx="10058400" cy="365760"/>
          </a:xfrm>
          <a:prstGeom prst="rect">
            <a:avLst/>
          </a:prstGeom>
          <a:noFill/>
        </p:spPr>
        <p:txBody>
          <a:bodyPr wrap="square" lIns="36576" rIns="36576" tIns="18288" bIns="18288" anchor="t">
            <a:spAutoFit/>
          </a:bodyPr>
          <a:lstStyle/>
          <a:p>
            <a:pPr algn="l"/>
            <a:r>
              <a:rPr sz="1400" b="0">
                <a:solidFill>
                  <a:srgbClr val="7EB8F7"/>
                </a:solidFill>
                <a:latin typeface="Inter"/>
              </a:rPr>
              <a:t>Week ending Saturday, October 24, 2026  ·  Oct 18–24, 2026</a:t>
            </a:r>
          </a:p>
        </p:txBody>
      </p:sp>
      <p:sp>
        <p:nvSpPr>
          <p:cNvPr id="9" name=""/>
          <p:cNvSpPr txBox="1"/>
          <p:nvPr/>
        </p:nvSpPr>
        <p:spPr>
          <a:xfrm>
            <a:off x="822960" y="4754880"/>
            <a:ext cx="10058400" cy="365760"/>
          </a:xfrm>
          <a:prstGeom prst="rect">
            <a:avLst/>
          </a:prstGeom>
          <a:noFill/>
        </p:spPr>
        <p:txBody>
          <a:bodyPr wrap="square" lIns="36576" rIns="36576" tIns="18288" bIns="18288" anchor="t">
            <a:spAutoFit/>
          </a:bodyPr>
          <a:lstStyle/>
          <a:p>
            <a:pPr algn="l"/>
            <a:r>
              <a:rPr sz="1200" b="0">
                <a:solidFill>
                  <a:srgbClr val="7EB8F7"/>
                </a:solidFill>
                <a:latin typeface="Inter"/>
              </a:rPr>
              <a:t>All amounts in CAD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
          <p:cNvSpPr/>
          <p:nvPr/>
        </p:nvSpPr>
        <p:spPr>
          <a:xfrm>
            <a:off x="0" y="0"/>
            <a:ext cx="12191695" cy="6858000"/>
          </a:xfrm>
          <a:prstGeom prst="rect">
            <a:avLst/>
          </a:prstGeom>
          <a:solidFill>
            <a:srgbClr val="FFFFFF"/>
          </a:solidFill>
          <a:ln>
            <a:noFill/>
          </a:ln>
        </p:spPr>
      </p:sp>
      <p:sp>
        <p:nvSpPr>
          <p:cNvPr id="3" name=""/>
          <p:cNvSpPr/>
          <p:nvPr/>
        </p:nvSpPr>
        <p:spPr>
          <a:xfrm>
            <a:off x="548640" y="502920"/>
            <a:ext cx="73152" cy="566928"/>
          </a:xfrm>
          <a:prstGeom prst="rect">
            <a:avLst/>
          </a:prstGeom>
          <a:solidFill>
            <a:srgbClr val="2447FF"/>
          </a:solidFill>
          <a:ln>
            <a:noFill/>
          </a:ln>
        </p:spPr>
      </p:sp>
      <p:sp>
        <p:nvSpPr>
          <p:cNvPr id="4" name=""/>
          <p:cNvSpPr txBox="1"/>
          <p:nvPr/>
        </p:nvSpPr>
        <p:spPr>
          <a:xfrm>
            <a:off x="731520" y="384048"/>
            <a:ext cx="8686800" cy="274320"/>
          </a:xfrm>
          <a:prstGeom prst="rect">
            <a:avLst/>
          </a:prstGeom>
          <a:noFill/>
        </p:spPr>
        <p:txBody>
          <a:bodyPr wrap="square" lIns="36576" rIns="36576" tIns="18288" bIns="18288" anchor="t">
            <a:spAutoFit/>
          </a:bodyPr>
          <a:lstStyle/>
          <a:p>
            <a:pPr algn="l"/>
            <a:r>
              <a:rPr sz="1000" b="1">
                <a:solidFill>
                  <a:srgbClr val="2447FF"/>
                </a:solidFill>
                <a:latin typeface="Space Grotesk"/>
              </a:rPr>
              <a:t>TODAY'S AGENDA</a:t>
            </a:r>
          </a:p>
        </p:txBody>
      </p:sp>
      <p:sp>
        <p:nvSpPr>
          <p:cNvPr id="5" name=""/>
          <p:cNvSpPr txBox="1"/>
          <p:nvPr/>
        </p:nvSpPr>
        <p:spPr>
          <a:xfrm>
            <a:off x="731520" y="603504"/>
            <a:ext cx="9601200" cy="548640"/>
          </a:xfrm>
          <a:prstGeom prst="rect">
            <a:avLst/>
          </a:prstGeom>
          <a:noFill/>
        </p:spPr>
        <p:txBody>
          <a:bodyPr wrap="square" lIns="36576" rIns="36576" tIns="18288" bIns="18288" anchor="t">
            <a:spAutoFit/>
          </a:bodyPr>
          <a:lstStyle/>
          <a:p>
            <a:pPr algn="l"/>
            <a:r>
              <a:rPr sz="2600" b="1">
                <a:solidFill>
                  <a:srgbClr val="0F172A"/>
                </a:solidFill>
                <a:latin typeface="Space Grotesk"/>
              </a:rPr>
              <a:t>What we'll cover</a:t>
            </a:r>
          </a:p>
        </p:txBody>
      </p:sp>
      <p:pic>
        <p:nvPicPr>
          <p:cNvPr id="6" name="" descr="logo_s.png"/>
          <p:cNvPicPr>
            <a:picLocks noChangeAspect="1"/>
          </p:cNvPicPr>
          <p:nvPr/>
        </p:nvPicPr>
        <p:blipFill>
          <a:blip r:embed="rId2"/>
          <a:stretch>
            <a:fillRect/>
          </a:stretch>
        </p:blipFill>
        <p:spPr>
          <a:xfrm>
            <a:off x="10195560" y="457200"/>
            <a:ext cx="1463040" cy="256032"/>
          </a:xfrm>
          <a:prstGeom prst="rect">
            <a:avLst/>
          </a:prstGeom>
        </p:spPr>
      </p:pic>
      <p:sp>
        <p:nvSpPr>
          <p:cNvPr id="7" name=""/>
          <p:cNvSpPr/>
          <p:nvPr/>
        </p:nvSpPr>
        <p:spPr>
          <a:xfrm>
            <a:off x="548640" y="6400800"/>
            <a:ext cx="11091672" cy="10972"/>
          </a:xfrm>
          <a:prstGeom prst="rect">
            <a:avLst/>
          </a:prstGeom>
          <a:solidFill>
            <a:srgbClr val="E5E0D6"/>
          </a:solidFill>
          <a:ln>
            <a:noFill/>
          </a:ln>
        </p:spPr>
      </p:sp>
      <p:sp>
        <p:nvSpPr>
          <p:cNvPr id="8" name=""/>
          <p:cNvSpPr txBox="1"/>
          <p:nvPr/>
        </p:nvSpPr>
        <p:spPr>
          <a:xfrm>
            <a:off x="548640" y="6455664"/>
            <a:ext cx="8229600" cy="274320"/>
          </a:xfrm>
          <a:prstGeom prst="rect">
            <a:avLst/>
          </a:prstGeom>
          <a:noFill/>
        </p:spPr>
        <p:txBody>
          <a:bodyPr wrap="square" lIns="36576" rIns="36576" tIns="18288" bIns="18288" anchor="t">
            <a:spAutoFit/>
          </a:bodyPr>
          <a:lstStyle/>
          <a:p>
            <a:pPr algn="l"/>
            <a:r>
              <a:rPr sz="900" b="0">
                <a:solidFill>
                  <a:srgbClr val="6B6558"/>
                </a:solidFill>
                <a:latin typeface="Inter"/>
              </a:rPr>
              <a:t>Dormeo Canada · Weekly Business Review · Week 43 (Oct 18–24, 2026)</a:t>
            </a:r>
          </a:p>
        </p:txBody>
      </p:sp>
      <p:sp>
        <p:nvSpPr>
          <p:cNvPr id="9" name=""/>
          <p:cNvSpPr txBox="1"/>
          <p:nvPr/>
        </p:nvSpPr>
        <p:spPr>
          <a:xfrm>
            <a:off x="10241280" y="6455664"/>
            <a:ext cx="1399032" cy="274320"/>
          </a:xfrm>
          <a:prstGeom prst="rect">
            <a:avLst/>
          </a:prstGeom>
          <a:noFill/>
        </p:spPr>
        <p:txBody>
          <a:bodyPr wrap="square" lIns="36576" rIns="36576" tIns="18288" bIns="18288" anchor="t">
            <a:spAutoFit/>
          </a:bodyPr>
          <a:lstStyle/>
          <a:p>
            <a:pPr algn="r"/>
            <a:r>
              <a:rPr sz="900" b="0">
                <a:solidFill>
                  <a:srgbClr val="6B6558"/>
                </a:solidFill>
                <a:latin typeface="Inter"/>
              </a:rPr>
              <a:t>2 / 17</a:t>
            </a:r>
          </a:p>
        </p:txBody>
      </p:sp>
      <p:sp>
        <p:nvSpPr>
          <p:cNvPr id="10" name=""/>
          <p:cNvSpPr/>
          <p:nvPr/>
        </p:nvSpPr>
        <p:spPr>
          <a:xfrm>
            <a:off x="548640" y="1600200"/>
            <a:ext cx="3566160" cy="2011680"/>
          </a:xfrm>
          <a:prstGeom prst="roundRect">
            <a:avLst>
              <a:gd name="" fmla="val 6000"/>
            </a:avLst>
          </a:prstGeom>
          <a:solidFill>
            <a:srgbClr val="F6F3EC"/>
          </a:solidFill>
          <a:ln>
            <a:noFill/>
          </a:ln>
        </p:spPr>
      </p:sp>
      <p:sp>
        <p:nvSpPr>
          <p:cNvPr id="11" name=""/>
          <p:cNvSpPr txBox="1"/>
          <p:nvPr/>
        </p:nvSpPr>
        <p:spPr>
          <a:xfrm>
            <a:off x="777240" y="1783080"/>
            <a:ext cx="1371600" cy="548640"/>
          </a:xfrm>
          <a:prstGeom prst="rect">
            <a:avLst/>
          </a:prstGeom>
          <a:noFill/>
        </p:spPr>
        <p:txBody>
          <a:bodyPr wrap="square" lIns="36576" rIns="36576" tIns="18288" bIns="18288" anchor="t">
            <a:spAutoFit/>
          </a:bodyPr>
          <a:lstStyle/>
          <a:p>
            <a:pPr algn="l"/>
            <a:r>
              <a:rPr sz="3000" b="1">
                <a:solidFill>
                  <a:srgbClr val="2447FF"/>
                </a:solidFill>
                <a:latin typeface="Space Grotesk"/>
              </a:rPr>
              <a:t>01</a:t>
            </a:r>
          </a:p>
        </p:txBody>
      </p:sp>
      <p:sp>
        <p:nvSpPr>
          <p:cNvPr id="12" name=""/>
          <p:cNvSpPr txBox="1"/>
          <p:nvPr/>
        </p:nvSpPr>
        <p:spPr>
          <a:xfrm>
            <a:off x="777240" y="2468880"/>
            <a:ext cx="3108960" cy="365760"/>
          </a:xfrm>
          <a:prstGeom prst="rect">
            <a:avLst/>
          </a:prstGeom>
          <a:noFill/>
        </p:spPr>
        <p:txBody>
          <a:bodyPr wrap="square" lIns="36576" rIns="36576" tIns="18288" bIns="18288" anchor="t">
            <a:spAutoFit/>
          </a:bodyPr>
          <a:lstStyle/>
          <a:p>
            <a:pPr algn="l"/>
            <a:r>
              <a:rPr sz="1700" b="1">
                <a:solidFill>
                  <a:srgbClr val="0F172A"/>
                </a:solidFill>
                <a:latin typeface="Space Grotesk"/>
              </a:rPr>
              <a:t>Sales overview</a:t>
            </a:r>
          </a:p>
        </p:txBody>
      </p:sp>
      <p:sp>
        <p:nvSpPr>
          <p:cNvPr id="13" name=""/>
          <p:cNvSpPr txBox="1"/>
          <p:nvPr/>
        </p:nvSpPr>
        <p:spPr>
          <a:xfrm>
            <a:off x="777240" y="2880360"/>
            <a:ext cx="3108960" cy="640080"/>
          </a:xfrm>
          <a:prstGeom prst="rect">
            <a:avLst/>
          </a:prstGeom>
          <a:noFill/>
        </p:spPr>
        <p:txBody>
          <a:bodyPr wrap="square" lIns="36576" rIns="36576" tIns="18288" bIns="18288" anchor="t">
            <a:spAutoFit/>
          </a:bodyPr>
          <a:lstStyle/>
          <a:p>
            <a:pPr algn="l"/>
            <a:r>
              <a:rPr sz="1100" b="0">
                <a:solidFill>
                  <a:srgbClr val="6B6558"/>
                </a:solidFill>
                <a:latin typeface="Inter"/>
              </a:rPr>
              <a:t>Four-week channel performance, price and refunds</a:t>
            </a:r>
          </a:p>
        </p:txBody>
      </p:sp>
      <p:sp>
        <p:nvSpPr>
          <p:cNvPr id="14" name=""/>
          <p:cNvSpPr/>
          <p:nvPr/>
        </p:nvSpPr>
        <p:spPr>
          <a:xfrm>
            <a:off x="4279392" y="1600200"/>
            <a:ext cx="3566160" cy="2011680"/>
          </a:xfrm>
          <a:prstGeom prst="roundRect">
            <a:avLst>
              <a:gd name="" fmla="val 6000"/>
            </a:avLst>
          </a:prstGeom>
          <a:solidFill>
            <a:srgbClr val="F6F3EC"/>
          </a:solidFill>
          <a:ln>
            <a:noFill/>
          </a:ln>
        </p:spPr>
      </p:sp>
      <p:sp>
        <p:nvSpPr>
          <p:cNvPr id="15" name=""/>
          <p:cNvSpPr txBox="1"/>
          <p:nvPr/>
        </p:nvSpPr>
        <p:spPr>
          <a:xfrm>
            <a:off x="4507992" y="1783080"/>
            <a:ext cx="1371600" cy="548640"/>
          </a:xfrm>
          <a:prstGeom prst="rect">
            <a:avLst/>
          </a:prstGeom>
          <a:noFill/>
        </p:spPr>
        <p:txBody>
          <a:bodyPr wrap="square" lIns="36576" rIns="36576" tIns="18288" bIns="18288" anchor="t">
            <a:spAutoFit/>
          </a:bodyPr>
          <a:lstStyle/>
          <a:p>
            <a:pPr algn="l"/>
            <a:r>
              <a:rPr sz="3000" b="1">
                <a:solidFill>
                  <a:srgbClr val="2447FF"/>
                </a:solidFill>
                <a:latin typeface="Space Grotesk"/>
              </a:rPr>
              <a:t>02</a:t>
            </a:r>
          </a:p>
        </p:txBody>
      </p:sp>
      <p:sp>
        <p:nvSpPr>
          <p:cNvPr id="16" name=""/>
          <p:cNvSpPr txBox="1"/>
          <p:nvPr/>
        </p:nvSpPr>
        <p:spPr>
          <a:xfrm>
            <a:off x="4507992" y="2468880"/>
            <a:ext cx="3108960" cy="365760"/>
          </a:xfrm>
          <a:prstGeom prst="rect">
            <a:avLst/>
          </a:prstGeom>
          <a:noFill/>
        </p:spPr>
        <p:txBody>
          <a:bodyPr wrap="square" lIns="36576" rIns="36576" tIns="18288" bIns="18288" anchor="t">
            <a:spAutoFit/>
          </a:bodyPr>
          <a:lstStyle/>
          <a:p>
            <a:pPr algn="l"/>
            <a:r>
              <a:rPr sz="1700" b="1">
                <a:solidFill>
                  <a:srgbClr val="0F172A"/>
                </a:solidFill>
                <a:latin typeface="Space Grotesk"/>
              </a:rPr>
              <a:t>Sales pacing</a:t>
            </a:r>
          </a:p>
        </p:txBody>
      </p:sp>
      <p:sp>
        <p:nvSpPr>
          <p:cNvPr id="17" name=""/>
          <p:cNvSpPr txBox="1"/>
          <p:nvPr/>
        </p:nvSpPr>
        <p:spPr>
          <a:xfrm>
            <a:off x="4507992" y="2880360"/>
            <a:ext cx="3108960" cy="640080"/>
          </a:xfrm>
          <a:prstGeom prst="rect">
            <a:avLst/>
          </a:prstGeom>
          <a:noFill/>
        </p:spPr>
        <p:txBody>
          <a:bodyPr wrap="square" lIns="36576" rIns="36576" tIns="18288" bIns="18288" anchor="t">
            <a:spAutoFit/>
          </a:bodyPr>
          <a:lstStyle/>
          <a:p>
            <a:pPr algn="l"/>
            <a:r>
              <a:rPr sz="1100" b="0">
                <a:solidFill>
                  <a:srgbClr val="6B6558"/>
                </a:solidFill>
                <a:latin typeface="Inter"/>
              </a:rPr>
              <a:t>October month to date vs last month and last year</a:t>
            </a:r>
          </a:p>
        </p:txBody>
      </p:sp>
      <p:sp>
        <p:nvSpPr>
          <p:cNvPr id="18" name=""/>
          <p:cNvSpPr/>
          <p:nvPr/>
        </p:nvSpPr>
        <p:spPr>
          <a:xfrm>
            <a:off x="8010144" y="1600200"/>
            <a:ext cx="3566160" cy="2011680"/>
          </a:xfrm>
          <a:prstGeom prst="roundRect">
            <a:avLst>
              <a:gd name="" fmla="val 6000"/>
            </a:avLst>
          </a:prstGeom>
          <a:solidFill>
            <a:srgbClr val="F6F3EC"/>
          </a:solidFill>
          <a:ln>
            <a:noFill/>
          </a:ln>
        </p:spPr>
      </p:sp>
      <p:sp>
        <p:nvSpPr>
          <p:cNvPr id="19" name=""/>
          <p:cNvSpPr txBox="1"/>
          <p:nvPr/>
        </p:nvSpPr>
        <p:spPr>
          <a:xfrm>
            <a:off x="8238744" y="1783080"/>
            <a:ext cx="1371600" cy="548640"/>
          </a:xfrm>
          <a:prstGeom prst="rect">
            <a:avLst/>
          </a:prstGeom>
          <a:noFill/>
        </p:spPr>
        <p:txBody>
          <a:bodyPr wrap="square" lIns="36576" rIns="36576" tIns="18288" bIns="18288" anchor="t">
            <a:spAutoFit/>
          </a:bodyPr>
          <a:lstStyle/>
          <a:p>
            <a:pPr algn="l"/>
            <a:r>
              <a:rPr sz="3000" b="1">
                <a:solidFill>
                  <a:srgbClr val="2447FF"/>
                </a:solidFill>
                <a:latin typeface="Space Grotesk"/>
              </a:rPr>
              <a:t>03</a:t>
            </a:r>
          </a:p>
        </p:txBody>
      </p:sp>
      <p:sp>
        <p:nvSpPr>
          <p:cNvPr id="20" name=""/>
          <p:cNvSpPr txBox="1"/>
          <p:nvPr/>
        </p:nvSpPr>
        <p:spPr>
          <a:xfrm>
            <a:off x="8238744" y="2468880"/>
            <a:ext cx="3108960" cy="365760"/>
          </a:xfrm>
          <a:prstGeom prst="rect">
            <a:avLst/>
          </a:prstGeom>
          <a:noFill/>
        </p:spPr>
        <p:txBody>
          <a:bodyPr wrap="square" lIns="36576" rIns="36576" tIns="18288" bIns="18288" anchor="t">
            <a:spAutoFit/>
          </a:bodyPr>
          <a:lstStyle/>
          <a:p>
            <a:pPr algn="l"/>
            <a:r>
              <a:rPr sz="1700" b="1">
                <a:solidFill>
                  <a:srgbClr val="0F172A"/>
                </a:solidFill>
                <a:latin typeface="Space Grotesk"/>
              </a:rPr>
              <a:t>Amazon Ads results</a:t>
            </a:r>
          </a:p>
        </p:txBody>
      </p:sp>
      <p:sp>
        <p:nvSpPr>
          <p:cNvPr id="21" name=""/>
          <p:cNvSpPr txBox="1"/>
          <p:nvPr/>
        </p:nvSpPr>
        <p:spPr>
          <a:xfrm>
            <a:off x="8238744" y="2880360"/>
            <a:ext cx="3108960" cy="640080"/>
          </a:xfrm>
          <a:prstGeom prst="rect">
            <a:avLst/>
          </a:prstGeom>
          <a:noFill/>
        </p:spPr>
        <p:txBody>
          <a:bodyPr wrap="square" lIns="36576" rIns="36576" tIns="18288" bIns="18288" anchor="t">
            <a:spAutoFit/>
          </a:bodyPr>
          <a:lstStyle/>
          <a:p>
            <a:pPr algn="l"/>
            <a:r>
              <a:rPr sz="1100" b="0">
                <a:solidFill>
                  <a:srgbClr val="6B6558"/>
                </a:solidFill>
                <a:latin typeface="Inter"/>
              </a:rPr>
              <a:t>Spend, efficiency, brand vs category, keywords</a:t>
            </a:r>
          </a:p>
        </p:txBody>
      </p:sp>
      <p:sp>
        <p:nvSpPr>
          <p:cNvPr id="22" name=""/>
          <p:cNvSpPr/>
          <p:nvPr/>
        </p:nvSpPr>
        <p:spPr>
          <a:xfrm>
            <a:off x="548640" y="3840480"/>
            <a:ext cx="3566160" cy="2011680"/>
          </a:xfrm>
          <a:prstGeom prst="roundRect">
            <a:avLst>
              <a:gd name="" fmla="val 6000"/>
            </a:avLst>
          </a:prstGeom>
          <a:solidFill>
            <a:srgbClr val="F6F3EC"/>
          </a:solidFill>
          <a:ln>
            <a:noFill/>
          </a:ln>
        </p:spPr>
      </p:sp>
      <p:sp>
        <p:nvSpPr>
          <p:cNvPr id="23" name=""/>
          <p:cNvSpPr txBox="1"/>
          <p:nvPr/>
        </p:nvSpPr>
        <p:spPr>
          <a:xfrm>
            <a:off x="777240" y="4023360"/>
            <a:ext cx="1371600" cy="548640"/>
          </a:xfrm>
          <a:prstGeom prst="rect">
            <a:avLst/>
          </a:prstGeom>
          <a:noFill/>
        </p:spPr>
        <p:txBody>
          <a:bodyPr wrap="square" lIns="36576" rIns="36576" tIns="18288" bIns="18288" anchor="t">
            <a:spAutoFit/>
          </a:bodyPr>
          <a:lstStyle/>
          <a:p>
            <a:pPr algn="l"/>
            <a:r>
              <a:rPr sz="3000" b="1">
                <a:solidFill>
                  <a:srgbClr val="2447FF"/>
                </a:solidFill>
                <a:latin typeface="Space Grotesk"/>
              </a:rPr>
              <a:t>04</a:t>
            </a:r>
          </a:p>
        </p:txBody>
      </p:sp>
      <p:sp>
        <p:nvSpPr>
          <p:cNvPr id="24" name=""/>
          <p:cNvSpPr txBox="1"/>
          <p:nvPr/>
        </p:nvSpPr>
        <p:spPr>
          <a:xfrm>
            <a:off x="777240" y="4709160"/>
            <a:ext cx="3108960" cy="365760"/>
          </a:xfrm>
          <a:prstGeom prst="rect">
            <a:avLst/>
          </a:prstGeom>
          <a:noFill/>
        </p:spPr>
        <p:txBody>
          <a:bodyPr wrap="square" lIns="36576" rIns="36576" tIns="18288" bIns="18288" anchor="t">
            <a:spAutoFit/>
          </a:bodyPr>
          <a:lstStyle/>
          <a:p>
            <a:pPr algn="l"/>
            <a:r>
              <a:rPr sz="1700" b="1">
                <a:solidFill>
                  <a:srgbClr val="0F172A"/>
                </a:solidFill>
                <a:latin typeface="Space Grotesk"/>
              </a:rPr>
              <a:t>Marketing</a:t>
            </a:r>
          </a:p>
        </p:txBody>
      </p:sp>
      <p:sp>
        <p:nvSpPr>
          <p:cNvPr id="25" name=""/>
          <p:cNvSpPr txBox="1"/>
          <p:nvPr/>
        </p:nvSpPr>
        <p:spPr>
          <a:xfrm>
            <a:off x="777240" y="5120640"/>
            <a:ext cx="3108960" cy="640080"/>
          </a:xfrm>
          <a:prstGeom prst="rect">
            <a:avLst/>
          </a:prstGeom>
          <a:noFill/>
        </p:spPr>
        <p:txBody>
          <a:bodyPr wrap="square" lIns="36576" rIns="36576" tIns="18288" bIns="18288" anchor="t">
            <a:spAutoFit/>
          </a:bodyPr>
          <a:lstStyle/>
          <a:p>
            <a:pPr algn="l"/>
            <a:r>
              <a:rPr sz="1100" b="0">
                <a:solidFill>
                  <a:srgbClr val="6B6558"/>
                </a:solidFill>
                <a:latin typeface="Inter"/>
              </a:rPr>
              <a:t>Coupons, promotions and upcoming events</a:t>
            </a:r>
          </a:p>
        </p:txBody>
      </p:sp>
      <p:sp>
        <p:nvSpPr>
          <p:cNvPr id="26" name=""/>
          <p:cNvSpPr/>
          <p:nvPr/>
        </p:nvSpPr>
        <p:spPr>
          <a:xfrm>
            <a:off x="4279392" y="3840480"/>
            <a:ext cx="3566160" cy="2011680"/>
          </a:xfrm>
          <a:prstGeom prst="roundRect">
            <a:avLst>
              <a:gd name="" fmla="val 6000"/>
            </a:avLst>
          </a:prstGeom>
          <a:solidFill>
            <a:srgbClr val="F6F3EC"/>
          </a:solidFill>
          <a:ln>
            <a:noFill/>
          </a:ln>
        </p:spPr>
      </p:sp>
      <p:sp>
        <p:nvSpPr>
          <p:cNvPr id="27" name=""/>
          <p:cNvSpPr txBox="1"/>
          <p:nvPr/>
        </p:nvSpPr>
        <p:spPr>
          <a:xfrm>
            <a:off x="4507992" y="4023360"/>
            <a:ext cx="1371600" cy="548640"/>
          </a:xfrm>
          <a:prstGeom prst="rect">
            <a:avLst/>
          </a:prstGeom>
          <a:noFill/>
        </p:spPr>
        <p:txBody>
          <a:bodyPr wrap="square" lIns="36576" rIns="36576" tIns="18288" bIns="18288" anchor="t">
            <a:spAutoFit/>
          </a:bodyPr>
          <a:lstStyle/>
          <a:p>
            <a:pPr algn="l"/>
            <a:r>
              <a:rPr sz="3000" b="1">
                <a:solidFill>
                  <a:srgbClr val="2447FF"/>
                </a:solidFill>
                <a:latin typeface="Space Grotesk"/>
              </a:rPr>
              <a:t>05</a:t>
            </a:r>
          </a:p>
        </p:txBody>
      </p:sp>
      <p:sp>
        <p:nvSpPr>
          <p:cNvPr id="28" name=""/>
          <p:cNvSpPr txBox="1"/>
          <p:nvPr/>
        </p:nvSpPr>
        <p:spPr>
          <a:xfrm>
            <a:off x="4507992" y="4709160"/>
            <a:ext cx="3108960" cy="365760"/>
          </a:xfrm>
          <a:prstGeom prst="rect">
            <a:avLst/>
          </a:prstGeom>
          <a:noFill/>
        </p:spPr>
        <p:txBody>
          <a:bodyPr wrap="square" lIns="36576" rIns="36576" tIns="18288" bIns="18288" anchor="t">
            <a:spAutoFit/>
          </a:bodyPr>
          <a:lstStyle/>
          <a:p>
            <a:pPr algn="l"/>
            <a:r>
              <a:rPr sz="1700" b="1">
                <a:solidFill>
                  <a:srgbClr val="0F172A"/>
                </a:solidFill>
                <a:latin typeface="Space Grotesk"/>
              </a:rPr>
              <a:t>Inventory</a:t>
            </a:r>
          </a:p>
        </p:txBody>
      </p:sp>
      <p:sp>
        <p:nvSpPr>
          <p:cNvPr id="29" name=""/>
          <p:cNvSpPr txBox="1"/>
          <p:nvPr/>
        </p:nvSpPr>
        <p:spPr>
          <a:xfrm>
            <a:off x="4507992" y="5120640"/>
            <a:ext cx="3108960" cy="640080"/>
          </a:xfrm>
          <a:prstGeom prst="rect">
            <a:avLst/>
          </a:prstGeom>
          <a:noFill/>
        </p:spPr>
        <p:txBody>
          <a:bodyPr wrap="square" lIns="36576" rIns="36576" tIns="18288" bIns="18288" anchor="t">
            <a:spAutoFit/>
          </a:bodyPr>
          <a:lstStyle/>
          <a:p>
            <a:pPr algn="l"/>
            <a:r>
              <a:rPr sz="1100" b="0">
                <a:solidFill>
                  <a:srgbClr val="6B6558"/>
                </a:solidFill>
                <a:latin typeface="Inter"/>
              </a:rPr>
              <a:t>Stock position, weeks of supply, restock risk</a:t>
            </a:r>
          </a:p>
        </p:txBody>
      </p:sp>
      <p:sp>
        <p:nvSpPr>
          <p:cNvPr id="30" name=""/>
          <p:cNvSpPr/>
          <p:nvPr/>
        </p:nvSpPr>
        <p:spPr>
          <a:xfrm>
            <a:off x="8010144" y="3840480"/>
            <a:ext cx="3566160" cy="2011680"/>
          </a:xfrm>
          <a:prstGeom prst="roundRect">
            <a:avLst>
              <a:gd name="" fmla="val 6000"/>
            </a:avLst>
          </a:prstGeom>
          <a:solidFill>
            <a:srgbClr val="F6F3EC"/>
          </a:solidFill>
          <a:ln>
            <a:noFill/>
          </a:ln>
        </p:spPr>
      </p:sp>
      <p:sp>
        <p:nvSpPr>
          <p:cNvPr id="31" name=""/>
          <p:cNvSpPr txBox="1"/>
          <p:nvPr/>
        </p:nvSpPr>
        <p:spPr>
          <a:xfrm>
            <a:off x="8238744" y="4023360"/>
            <a:ext cx="1371600" cy="548640"/>
          </a:xfrm>
          <a:prstGeom prst="rect">
            <a:avLst/>
          </a:prstGeom>
          <a:noFill/>
        </p:spPr>
        <p:txBody>
          <a:bodyPr wrap="square" lIns="36576" rIns="36576" tIns="18288" bIns="18288" anchor="t">
            <a:spAutoFit/>
          </a:bodyPr>
          <a:lstStyle/>
          <a:p>
            <a:pPr algn="l"/>
            <a:r>
              <a:rPr sz="3000" b="1">
                <a:solidFill>
                  <a:srgbClr val="2447FF"/>
                </a:solidFill>
                <a:latin typeface="Space Grotesk"/>
              </a:rPr>
              <a:t>06</a:t>
            </a:r>
          </a:p>
        </p:txBody>
      </p:sp>
      <p:sp>
        <p:nvSpPr>
          <p:cNvPr id="32" name=""/>
          <p:cNvSpPr txBox="1"/>
          <p:nvPr/>
        </p:nvSpPr>
        <p:spPr>
          <a:xfrm>
            <a:off x="8238744" y="4709160"/>
            <a:ext cx="3108960" cy="365760"/>
          </a:xfrm>
          <a:prstGeom prst="rect">
            <a:avLst/>
          </a:prstGeom>
          <a:noFill/>
        </p:spPr>
        <p:txBody>
          <a:bodyPr wrap="square" lIns="36576" rIns="36576" tIns="18288" bIns="18288" anchor="t">
            <a:spAutoFit/>
          </a:bodyPr>
          <a:lstStyle/>
          <a:p>
            <a:pPr algn="l"/>
            <a:r>
              <a:rPr sz="1700" b="1">
                <a:solidFill>
                  <a:srgbClr val="0F172A"/>
                </a:solidFill>
                <a:latin typeface="Space Grotesk"/>
              </a:rPr>
              <a:t>Reviews &amp; account health</a:t>
            </a:r>
          </a:p>
        </p:txBody>
      </p:sp>
      <p:sp>
        <p:nvSpPr>
          <p:cNvPr id="33" name=""/>
          <p:cNvSpPr txBox="1"/>
          <p:nvPr/>
        </p:nvSpPr>
        <p:spPr>
          <a:xfrm>
            <a:off x="8238744" y="5120640"/>
            <a:ext cx="3108960" cy="640080"/>
          </a:xfrm>
          <a:prstGeom prst="rect">
            <a:avLst/>
          </a:prstGeom>
          <a:noFill/>
        </p:spPr>
        <p:txBody>
          <a:bodyPr wrap="square" lIns="36576" rIns="36576" tIns="18288" bIns="18288" anchor="t">
            <a:spAutoFit/>
          </a:bodyPr>
          <a:lstStyle/>
          <a:p>
            <a:pPr algn="l"/>
            <a:r>
              <a:rPr sz="1100" b="0">
                <a:solidFill>
                  <a:srgbClr val="6B6558"/>
                </a:solidFill>
                <a:latin typeface="Inter"/>
              </a:rPr>
              <a:t>Ratings, alerts and Buy Box</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
          <p:cNvSpPr/>
          <p:nvPr/>
        </p:nvSpPr>
        <p:spPr>
          <a:xfrm>
            <a:off x="0" y="0"/>
            <a:ext cx="12191695" cy="6858000"/>
          </a:xfrm>
          <a:prstGeom prst="rect">
            <a:avLst/>
          </a:prstGeom>
          <a:solidFill>
            <a:srgbClr val="FFFFFF"/>
          </a:solidFill>
          <a:ln>
            <a:noFill/>
          </a:ln>
        </p:spPr>
      </p:sp>
      <p:sp>
        <p:nvSpPr>
          <p:cNvPr id="3" name=""/>
          <p:cNvSpPr/>
          <p:nvPr/>
        </p:nvSpPr>
        <p:spPr>
          <a:xfrm>
            <a:off x="548640" y="502920"/>
            <a:ext cx="73152" cy="566928"/>
          </a:xfrm>
          <a:prstGeom prst="rect">
            <a:avLst/>
          </a:prstGeom>
          <a:solidFill>
            <a:srgbClr val="2447FF"/>
          </a:solidFill>
          <a:ln>
            <a:noFill/>
          </a:ln>
        </p:spPr>
      </p:sp>
      <p:sp>
        <p:nvSpPr>
          <p:cNvPr id="4" name=""/>
          <p:cNvSpPr txBox="1"/>
          <p:nvPr/>
        </p:nvSpPr>
        <p:spPr>
          <a:xfrm>
            <a:off x="731520" y="384048"/>
            <a:ext cx="8686800" cy="274320"/>
          </a:xfrm>
          <a:prstGeom prst="rect">
            <a:avLst/>
          </a:prstGeom>
          <a:noFill/>
        </p:spPr>
        <p:txBody>
          <a:bodyPr wrap="square" lIns="36576" rIns="36576" tIns="18288" bIns="18288" anchor="t">
            <a:spAutoFit/>
          </a:bodyPr>
          <a:lstStyle/>
          <a:p>
            <a:pPr algn="l"/>
            <a:r>
              <a:rPr sz="1000" b="1">
                <a:solidFill>
                  <a:srgbClr val="2447FF"/>
                </a:solidFill>
                <a:latin typeface="Space Grotesk"/>
              </a:rPr>
              <a:t>SALES OVERVIEW</a:t>
            </a:r>
          </a:p>
        </p:txBody>
      </p:sp>
      <p:sp>
        <p:nvSpPr>
          <p:cNvPr id="5" name=""/>
          <p:cNvSpPr txBox="1"/>
          <p:nvPr/>
        </p:nvSpPr>
        <p:spPr>
          <a:xfrm>
            <a:off x="731520" y="603504"/>
            <a:ext cx="9601200" cy="548640"/>
          </a:xfrm>
          <a:prstGeom prst="rect">
            <a:avLst/>
          </a:prstGeom>
          <a:noFill/>
        </p:spPr>
        <p:txBody>
          <a:bodyPr wrap="square" lIns="36576" rIns="36576" tIns="18288" bIns="18288" anchor="t">
            <a:spAutoFit/>
          </a:bodyPr>
          <a:lstStyle/>
          <a:p>
            <a:pPr algn="l"/>
            <a:r>
              <a:rPr sz="2600" b="1">
                <a:solidFill>
                  <a:srgbClr val="0F172A"/>
                </a:solidFill>
                <a:latin typeface="Space Grotesk"/>
              </a:rPr>
              <a:t>Amazon channel performance — last 4 weeks</a:t>
            </a:r>
          </a:p>
        </p:txBody>
      </p:sp>
      <p:pic>
        <p:nvPicPr>
          <p:cNvPr id="6" name="" descr="logo_s.png"/>
          <p:cNvPicPr>
            <a:picLocks noChangeAspect="1"/>
          </p:cNvPicPr>
          <p:nvPr/>
        </p:nvPicPr>
        <p:blipFill>
          <a:blip r:embed="rId2"/>
          <a:stretch>
            <a:fillRect/>
          </a:stretch>
        </p:blipFill>
        <p:spPr>
          <a:xfrm>
            <a:off x="10195560" y="457200"/>
            <a:ext cx="1463040" cy="256032"/>
          </a:xfrm>
          <a:prstGeom prst="rect">
            <a:avLst/>
          </a:prstGeom>
        </p:spPr>
      </p:pic>
      <p:sp>
        <p:nvSpPr>
          <p:cNvPr id="7" name=""/>
          <p:cNvSpPr/>
          <p:nvPr/>
        </p:nvSpPr>
        <p:spPr>
          <a:xfrm>
            <a:off x="548640" y="6400800"/>
            <a:ext cx="11091672" cy="10972"/>
          </a:xfrm>
          <a:prstGeom prst="rect">
            <a:avLst/>
          </a:prstGeom>
          <a:solidFill>
            <a:srgbClr val="E5E0D6"/>
          </a:solidFill>
          <a:ln>
            <a:noFill/>
          </a:ln>
        </p:spPr>
      </p:sp>
      <p:sp>
        <p:nvSpPr>
          <p:cNvPr id="8" name=""/>
          <p:cNvSpPr txBox="1"/>
          <p:nvPr/>
        </p:nvSpPr>
        <p:spPr>
          <a:xfrm>
            <a:off x="548640" y="6455664"/>
            <a:ext cx="8229600" cy="274320"/>
          </a:xfrm>
          <a:prstGeom prst="rect">
            <a:avLst/>
          </a:prstGeom>
          <a:noFill/>
        </p:spPr>
        <p:txBody>
          <a:bodyPr wrap="square" lIns="36576" rIns="36576" tIns="18288" bIns="18288" anchor="t">
            <a:spAutoFit/>
          </a:bodyPr>
          <a:lstStyle/>
          <a:p>
            <a:pPr algn="l"/>
            <a:r>
              <a:rPr sz="900" b="0">
                <a:solidFill>
                  <a:srgbClr val="6B6558"/>
                </a:solidFill>
                <a:latin typeface="Inter"/>
              </a:rPr>
              <a:t>Dormeo Canada · Weekly Business Review · Week 43 (Oct 18–24, 2026)</a:t>
            </a:r>
          </a:p>
        </p:txBody>
      </p:sp>
      <p:sp>
        <p:nvSpPr>
          <p:cNvPr id="9" name=""/>
          <p:cNvSpPr txBox="1"/>
          <p:nvPr/>
        </p:nvSpPr>
        <p:spPr>
          <a:xfrm>
            <a:off x="10241280" y="6455664"/>
            <a:ext cx="1399032" cy="274320"/>
          </a:xfrm>
          <a:prstGeom prst="rect">
            <a:avLst/>
          </a:prstGeom>
          <a:noFill/>
        </p:spPr>
        <p:txBody>
          <a:bodyPr wrap="square" lIns="36576" rIns="36576" tIns="18288" bIns="18288" anchor="t">
            <a:spAutoFit/>
          </a:bodyPr>
          <a:lstStyle/>
          <a:p>
            <a:pPr algn="r"/>
            <a:r>
              <a:rPr sz="900" b="0">
                <a:solidFill>
                  <a:srgbClr val="6B6558"/>
                </a:solidFill>
                <a:latin typeface="Inter"/>
              </a:rPr>
              <a:t>3 / 17</a:t>
            </a:r>
          </a:p>
        </p:txBody>
      </p:sp>
      <p:graphicFrame>
        <p:nvGraphicFramePr>
          <p:cNvPr id="10" name=""/>
          <p:cNvGraphicFramePr>
            <a:graphicFrameLocks noGrp="1"/>
          </p:cNvGraphicFramePr>
          <p:nvPr/>
        </p:nvGraphicFramePr>
        <p:xfrm>
          <a:off x="548640" y="1417320"/>
          <a:ext cx="11091672" cy="2194560"/>
        </p:xfrm>
        <a:graphic>
          <a:graphicData uri="http://schemas.openxmlformats.org/drawingml/2006/table">
            <a:tbl>
              <a:tblPr firstRow="1" bandRow="1">
                <a:tableStyleId>{5C22544A-7EE6-4342-B048-85BDC9FD1C3A}</a:tableStyleId>
              </a:tblPr>
              <a:tblGrid>
                <a:gridCol w="1920240"/>
                <a:gridCol w="2011680"/>
                <a:gridCol w="1371600"/>
                <a:gridCol w="1280160"/>
                <a:gridCol w="1737360"/>
                <a:gridCol w="1371600"/>
                <a:gridCol w="1399032"/>
              </a:tblGrid>
              <a:tr h="365760">
                <a:tc>
                  <a:txBody>
                    <a:bodyPr wrap="square"/>
                    <a:lstStyle/>
                    <a:p>
                      <a:pPr algn="l"/>
                      <a:r>
                        <a:rPr sz="1000" b="1">
                          <a:solidFill>
                            <a:srgbClr val="FFFFFF"/>
                          </a:solidFill>
                          <a:latin typeface="Inter"/>
                        </a:rPr>
                        <a:t>Week</a:t>
                      </a:r>
                    </a:p>
                  </a:txBody>
                  <a:tcPr marL="54864" marR="54864" marT="27432" marB="27432" anchor="ctr">
                    <a:solidFill>
                      <a:srgbClr val="0F172A"/>
                    </a:solidFill>
                  </a:tcPr>
                </a:tc>
                <a:tc>
                  <a:txBody>
                    <a:bodyPr wrap="square"/>
                    <a:lstStyle/>
                    <a:p>
                      <a:pPr algn="r"/>
                      <a:r>
                        <a:rPr sz="1000" b="1">
                          <a:solidFill>
                            <a:srgbClr val="FFFFFF"/>
                          </a:solidFill>
                          <a:latin typeface="Inter"/>
                        </a:rPr>
                        <a:t>Ordered product sales</a:t>
                      </a:r>
                    </a:p>
                  </a:txBody>
                  <a:tcPr marL="54864" marR="54864" marT="27432" marB="27432" anchor="ctr">
                    <a:solidFill>
                      <a:srgbClr val="0F172A"/>
                    </a:solidFill>
                  </a:tcPr>
                </a:tc>
                <a:tc>
                  <a:txBody>
                    <a:bodyPr wrap="square"/>
                    <a:lstStyle/>
                    <a:p>
                      <a:pPr algn="r"/>
                      <a:r>
                        <a:rPr sz="1000" b="1">
                          <a:solidFill>
                            <a:srgbClr val="FFFFFF"/>
                          </a:solidFill>
                          <a:latin typeface="Inter"/>
                        </a:rPr>
                        <a:t>Units ordered</a:t>
                      </a:r>
                    </a:p>
                  </a:txBody>
                  <a:tcPr marL="54864" marR="54864" marT="27432" marB="27432" anchor="ctr">
                    <a:solidFill>
                      <a:srgbClr val="0F172A"/>
                    </a:solidFill>
                  </a:tcPr>
                </a:tc>
                <a:tc>
                  <a:txBody>
                    <a:bodyPr wrap="square"/>
                    <a:lstStyle/>
                    <a:p>
                      <a:pPr algn="r"/>
                      <a:r>
                        <a:rPr sz="1000" b="1">
                          <a:solidFill>
                            <a:srgbClr val="FFFFFF"/>
                          </a:solidFill>
                          <a:latin typeface="Inter"/>
                        </a:rPr>
                        <a:t>ASP</a:t>
                      </a:r>
                    </a:p>
                  </a:txBody>
                  <a:tcPr marL="54864" marR="54864" marT="27432" marB="27432" anchor="ctr">
                    <a:solidFill>
                      <a:srgbClr val="0F172A"/>
                    </a:solidFill>
                  </a:tcPr>
                </a:tc>
                <a:tc>
                  <a:txBody>
                    <a:bodyPr wrap="square"/>
                    <a:lstStyle/>
                    <a:p>
                      <a:pPr algn="r"/>
                      <a:r>
                        <a:rPr sz="1000" b="1">
                          <a:solidFill>
                            <a:srgbClr val="FFFFFF"/>
                          </a:solidFill>
                          <a:latin typeface="Inter"/>
                        </a:rPr>
                        <a:t>Ad impressions</a:t>
                      </a:r>
                    </a:p>
                  </a:txBody>
                  <a:tcPr marL="54864" marR="54864" marT="27432" marB="27432" anchor="ctr">
                    <a:solidFill>
                      <a:srgbClr val="0F172A"/>
                    </a:solidFill>
                  </a:tcPr>
                </a:tc>
                <a:tc>
                  <a:txBody>
                    <a:bodyPr wrap="square"/>
                    <a:lstStyle/>
                    <a:p>
                      <a:pPr algn="r"/>
                      <a:r>
                        <a:rPr sz="1000" b="1">
                          <a:solidFill>
                            <a:srgbClr val="FFFFFF"/>
                          </a:solidFill>
                          <a:latin typeface="Inter"/>
                        </a:rPr>
                        <a:t>Units refunded</a:t>
                      </a:r>
                    </a:p>
                  </a:txBody>
                  <a:tcPr marL="54864" marR="54864" marT="27432" marB="27432" anchor="ctr">
                    <a:solidFill>
                      <a:srgbClr val="0F172A"/>
                    </a:solidFill>
                  </a:tcPr>
                </a:tc>
                <a:tc>
                  <a:txBody>
                    <a:bodyPr wrap="square"/>
                    <a:lstStyle/>
                    <a:p>
                      <a:pPr algn="r"/>
                      <a:r>
                        <a:rPr sz="1000" b="1">
                          <a:solidFill>
                            <a:srgbClr val="FFFFFF"/>
                          </a:solidFill>
                          <a:latin typeface="Inter"/>
                        </a:rPr>
                        <a:t>Refund rate</a:t>
                      </a:r>
                    </a:p>
                  </a:txBody>
                  <a:tcPr marL="54864" marR="54864" marT="27432" marB="27432" anchor="ctr">
                    <a:solidFill>
                      <a:srgbClr val="0F172A"/>
                    </a:solidFill>
                  </a:tcPr>
                </a:tc>
              </a:tr>
              <a:tr h="365760">
                <a:tc>
                  <a:txBody>
                    <a:bodyPr wrap="square"/>
                    <a:lstStyle/>
                    <a:p>
                      <a:pPr algn="l"/>
                      <a:r>
                        <a:rPr sz="1100" b="0">
                          <a:solidFill>
                            <a:srgbClr val="0F172A"/>
                          </a:solidFill>
                          <a:latin typeface="Inter"/>
                        </a:rPr>
                        <a:t>Sep 27 – Oct 3</a:t>
                      </a:r>
                    </a:p>
                  </a:txBody>
                  <a:tcPr marL="54864" marR="54864" marT="27432" marB="27432" anchor="ctr">
                    <a:solidFill>
                      <a:srgbClr val="FFFFFF"/>
                    </a:solidFill>
                  </a:tcPr>
                </a:tc>
                <a:tc>
                  <a:txBody>
                    <a:bodyPr wrap="square"/>
                    <a:lstStyle/>
                    <a:p>
                      <a:pPr algn="r"/>
                      <a:r>
                        <a:rPr sz="1100" b="0">
                          <a:solidFill>
                            <a:srgbClr val="0F172A"/>
                          </a:solidFill>
                          <a:latin typeface="Inter"/>
                        </a:rPr>
                        <a:t>$59,700</a:t>
                      </a:r>
                    </a:p>
                  </a:txBody>
                  <a:tcPr marL="54864" marR="54864" marT="27432" marB="27432" anchor="ctr">
                    <a:solidFill>
                      <a:srgbClr val="FFFFFF"/>
                    </a:solidFill>
                  </a:tcPr>
                </a:tc>
                <a:tc>
                  <a:txBody>
                    <a:bodyPr wrap="square"/>
                    <a:lstStyle/>
                    <a:p>
                      <a:pPr algn="r"/>
                      <a:r>
                        <a:rPr sz="1100" b="0">
                          <a:solidFill>
                            <a:srgbClr val="0F172A"/>
                          </a:solidFill>
                          <a:latin typeface="Inter"/>
                        </a:rPr>
                        <a:t>117</a:t>
                      </a:r>
                    </a:p>
                  </a:txBody>
                  <a:tcPr marL="54864" marR="54864" marT="27432" marB="27432" anchor="ctr">
                    <a:solidFill>
                      <a:srgbClr val="FFFFFF"/>
                    </a:solidFill>
                  </a:tcPr>
                </a:tc>
                <a:tc>
                  <a:txBody>
                    <a:bodyPr wrap="square"/>
                    <a:lstStyle/>
                    <a:p>
                      <a:pPr algn="r"/>
                      <a:r>
                        <a:rPr sz="1100" b="0">
                          <a:solidFill>
                            <a:srgbClr val="0F172A"/>
                          </a:solidFill>
                          <a:latin typeface="Inter"/>
                        </a:rPr>
                        <a:t>$510</a:t>
                      </a:r>
                    </a:p>
                  </a:txBody>
                  <a:tcPr marL="54864" marR="54864" marT="27432" marB="27432" anchor="ctr">
                    <a:solidFill>
                      <a:srgbClr val="FFFFFF"/>
                    </a:solidFill>
                  </a:tcPr>
                </a:tc>
                <a:tc>
                  <a:txBody>
                    <a:bodyPr wrap="square"/>
                    <a:lstStyle/>
                    <a:p>
                      <a:pPr algn="r"/>
                      <a:r>
                        <a:rPr sz="1100" b="0">
                          <a:solidFill>
                            <a:srgbClr val="0F172A"/>
                          </a:solidFill>
                          <a:latin typeface="Inter"/>
                        </a:rPr>
                        <a:t>693,747</a:t>
                      </a:r>
                    </a:p>
                  </a:txBody>
                  <a:tcPr marL="54864" marR="54864" marT="27432" marB="27432" anchor="ctr">
                    <a:solidFill>
                      <a:srgbClr val="FFFFFF"/>
                    </a:solidFill>
                  </a:tcPr>
                </a:tc>
                <a:tc>
                  <a:txBody>
                    <a:bodyPr wrap="square"/>
                    <a:lstStyle/>
                    <a:p>
                      <a:pPr algn="r"/>
                      <a:r>
                        <a:rPr sz="1100" b="0">
                          <a:solidFill>
                            <a:srgbClr val="0F172A"/>
                          </a:solidFill>
                          <a:latin typeface="Inter"/>
                        </a:rPr>
                        <a:t>8</a:t>
                      </a:r>
                    </a:p>
                  </a:txBody>
                  <a:tcPr marL="54864" marR="54864" marT="27432" marB="27432" anchor="ctr">
                    <a:solidFill>
                      <a:srgbClr val="FFFFFF"/>
                    </a:solidFill>
                  </a:tcPr>
                </a:tc>
                <a:tc>
                  <a:txBody>
                    <a:bodyPr wrap="square"/>
                    <a:lstStyle/>
                    <a:p>
                      <a:pPr algn="r"/>
                      <a:r>
                        <a:rPr sz="1100" b="0">
                          <a:solidFill>
                            <a:srgbClr val="0F172A"/>
                          </a:solidFill>
                          <a:latin typeface="Inter"/>
                        </a:rPr>
                        <a:t>6.96%</a:t>
                      </a:r>
                    </a:p>
                  </a:txBody>
                  <a:tcPr marL="54864" marR="54864" marT="27432" marB="27432" anchor="ctr">
                    <a:solidFill>
                      <a:srgbClr val="FFFFFF"/>
                    </a:solidFill>
                  </a:tcPr>
                </a:tc>
              </a:tr>
              <a:tr h="365760">
                <a:tc>
                  <a:txBody>
                    <a:bodyPr wrap="square"/>
                    <a:lstStyle/>
                    <a:p>
                      <a:pPr algn="l"/>
                      <a:r>
                        <a:rPr sz="1100" b="0">
                          <a:solidFill>
                            <a:srgbClr val="0F172A"/>
                          </a:solidFill>
                          <a:latin typeface="Inter"/>
                        </a:rPr>
                        <a:t>Oct 4 – 10</a:t>
                      </a:r>
                    </a:p>
                  </a:txBody>
                  <a:tcPr marL="54864" marR="54864" marT="27432" marB="27432" anchor="ctr">
                    <a:solidFill>
                      <a:srgbClr val="FBFAF7"/>
                    </a:solidFill>
                  </a:tcPr>
                </a:tc>
                <a:tc>
                  <a:txBody>
                    <a:bodyPr wrap="square"/>
                    <a:lstStyle/>
                    <a:p>
                      <a:pPr algn="r"/>
                      <a:r>
                        <a:rPr sz="1100" b="0">
                          <a:solidFill>
                            <a:srgbClr val="0F172A"/>
                          </a:solidFill>
                          <a:latin typeface="Inter"/>
                        </a:rPr>
                        <a:t>$118,943</a:t>
                      </a:r>
                    </a:p>
                  </a:txBody>
                  <a:tcPr marL="54864" marR="54864" marT="27432" marB="27432" anchor="ctr">
                    <a:solidFill>
                      <a:srgbClr val="FBFAF7"/>
                    </a:solidFill>
                  </a:tcPr>
                </a:tc>
                <a:tc>
                  <a:txBody>
                    <a:bodyPr wrap="square"/>
                    <a:lstStyle/>
                    <a:p>
                      <a:pPr algn="r"/>
                      <a:r>
                        <a:rPr sz="1100" b="0">
                          <a:solidFill>
                            <a:srgbClr val="0F172A"/>
                          </a:solidFill>
                          <a:latin typeface="Inter"/>
                        </a:rPr>
                        <a:t>277</a:t>
                      </a:r>
                    </a:p>
                  </a:txBody>
                  <a:tcPr marL="54864" marR="54864" marT="27432" marB="27432" anchor="ctr">
                    <a:solidFill>
                      <a:srgbClr val="FBFAF7"/>
                    </a:solidFill>
                  </a:tcPr>
                </a:tc>
                <a:tc>
                  <a:txBody>
                    <a:bodyPr wrap="square"/>
                    <a:lstStyle/>
                    <a:p>
                      <a:pPr algn="r"/>
                      <a:r>
                        <a:rPr sz="1100" b="0">
                          <a:solidFill>
                            <a:srgbClr val="0F172A"/>
                          </a:solidFill>
                          <a:latin typeface="Inter"/>
                        </a:rPr>
                        <a:t>$429</a:t>
                      </a:r>
                    </a:p>
                  </a:txBody>
                  <a:tcPr marL="54864" marR="54864" marT="27432" marB="27432" anchor="ctr">
                    <a:solidFill>
                      <a:srgbClr val="FBFAF7"/>
                    </a:solidFill>
                  </a:tcPr>
                </a:tc>
                <a:tc>
                  <a:txBody>
                    <a:bodyPr wrap="square"/>
                    <a:lstStyle/>
                    <a:p>
                      <a:pPr algn="r"/>
                      <a:r>
                        <a:rPr sz="1100" b="0">
                          <a:solidFill>
                            <a:srgbClr val="0F172A"/>
                          </a:solidFill>
                          <a:latin typeface="Inter"/>
                        </a:rPr>
                        <a:t>1,296,298</a:t>
                      </a:r>
                    </a:p>
                  </a:txBody>
                  <a:tcPr marL="54864" marR="54864" marT="27432" marB="27432" anchor="ctr">
                    <a:solidFill>
                      <a:srgbClr val="FBFAF7"/>
                    </a:solidFill>
                  </a:tcPr>
                </a:tc>
                <a:tc>
                  <a:txBody>
                    <a:bodyPr wrap="square"/>
                    <a:lstStyle/>
                    <a:p>
                      <a:pPr algn="r"/>
                      <a:r>
                        <a:rPr sz="1100" b="0">
                          <a:solidFill>
                            <a:srgbClr val="0F172A"/>
                          </a:solidFill>
                          <a:latin typeface="Inter"/>
                        </a:rPr>
                        <a:t>8</a:t>
                      </a:r>
                    </a:p>
                  </a:txBody>
                  <a:tcPr marL="54864" marR="54864" marT="27432" marB="27432" anchor="ctr">
                    <a:solidFill>
                      <a:srgbClr val="FBFAF7"/>
                    </a:solidFill>
                  </a:tcPr>
                </a:tc>
                <a:tc>
                  <a:txBody>
                    <a:bodyPr wrap="square"/>
                    <a:lstStyle/>
                    <a:p>
                      <a:pPr algn="r"/>
                      <a:r>
                        <a:rPr sz="1100" b="0">
                          <a:solidFill>
                            <a:srgbClr val="0F172A"/>
                          </a:solidFill>
                          <a:latin typeface="Inter"/>
                        </a:rPr>
                        <a:t>2.93%</a:t>
                      </a:r>
                    </a:p>
                  </a:txBody>
                  <a:tcPr marL="54864" marR="54864" marT="27432" marB="27432" anchor="ctr">
                    <a:solidFill>
                      <a:srgbClr val="FBFAF7"/>
                    </a:solidFill>
                  </a:tcPr>
                </a:tc>
              </a:tr>
              <a:tr h="365760">
                <a:tc>
                  <a:txBody>
                    <a:bodyPr wrap="square"/>
                    <a:lstStyle/>
                    <a:p>
                      <a:pPr algn="l"/>
                      <a:r>
                        <a:rPr sz="1100" b="0">
                          <a:solidFill>
                            <a:srgbClr val="0F172A"/>
                          </a:solidFill>
                          <a:latin typeface="Inter"/>
                        </a:rPr>
                        <a:t>Oct 11 – 17</a:t>
                      </a:r>
                    </a:p>
                  </a:txBody>
                  <a:tcPr marL="54864" marR="54864" marT="27432" marB="27432" anchor="ctr">
                    <a:solidFill>
                      <a:srgbClr val="FFFFFF"/>
                    </a:solidFill>
                  </a:tcPr>
                </a:tc>
                <a:tc>
                  <a:txBody>
                    <a:bodyPr wrap="square"/>
                    <a:lstStyle/>
                    <a:p>
                      <a:pPr algn="r"/>
                      <a:r>
                        <a:rPr sz="1100" b="0">
                          <a:solidFill>
                            <a:srgbClr val="0F172A"/>
                          </a:solidFill>
                          <a:latin typeface="Inter"/>
                        </a:rPr>
                        <a:t>$47,564</a:t>
                      </a:r>
                    </a:p>
                  </a:txBody>
                  <a:tcPr marL="54864" marR="54864" marT="27432" marB="27432" anchor="ctr">
                    <a:solidFill>
                      <a:srgbClr val="FFFFFF"/>
                    </a:solidFill>
                  </a:tcPr>
                </a:tc>
                <a:tc>
                  <a:txBody>
                    <a:bodyPr wrap="square"/>
                    <a:lstStyle/>
                    <a:p>
                      <a:pPr algn="r"/>
                      <a:r>
                        <a:rPr sz="1100" b="0">
                          <a:solidFill>
                            <a:srgbClr val="0F172A"/>
                          </a:solidFill>
                          <a:latin typeface="Inter"/>
                        </a:rPr>
                        <a:t>116</a:t>
                      </a:r>
                    </a:p>
                  </a:txBody>
                  <a:tcPr marL="54864" marR="54864" marT="27432" marB="27432" anchor="ctr">
                    <a:solidFill>
                      <a:srgbClr val="FFFFFF"/>
                    </a:solidFill>
                  </a:tcPr>
                </a:tc>
                <a:tc>
                  <a:txBody>
                    <a:bodyPr wrap="square"/>
                    <a:lstStyle/>
                    <a:p>
                      <a:pPr algn="r"/>
                      <a:r>
                        <a:rPr sz="1100" b="0">
                          <a:solidFill>
                            <a:srgbClr val="0F172A"/>
                          </a:solidFill>
                          <a:latin typeface="Inter"/>
                        </a:rPr>
                        <a:t>$410</a:t>
                      </a:r>
                    </a:p>
                  </a:txBody>
                  <a:tcPr marL="54864" marR="54864" marT="27432" marB="27432" anchor="ctr">
                    <a:solidFill>
                      <a:srgbClr val="FFFFFF"/>
                    </a:solidFill>
                  </a:tcPr>
                </a:tc>
                <a:tc>
                  <a:txBody>
                    <a:bodyPr wrap="square"/>
                    <a:lstStyle/>
                    <a:p>
                      <a:pPr algn="r"/>
                      <a:r>
                        <a:rPr sz="1100" b="0">
                          <a:solidFill>
                            <a:srgbClr val="0F172A"/>
                          </a:solidFill>
                          <a:latin typeface="Inter"/>
                        </a:rPr>
                        <a:t>682,497</a:t>
                      </a:r>
                    </a:p>
                  </a:txBody>
                  <a:tcPr marL="54864" marR="54864" marT="27432" marB="27432" anchor="ctr">
                    <a:solidFill>
                      <a:srgbClr val="FFFFFF"/>
                    </a:solidFill>
                  </a:tcPr>
                </a:tc>
                <a:tc>
                  <a:txBody>
                    <a:bodyPr wrap="square"/>
                    <a:lstStyle/>
                    <a:p>
                      <a:pPr algn="r"/>
                      <a:r>
                        <a:rPr sz="1100" b="0">
                          <a:solidFill>
                            <a:srgbClr val="0F172A"/>
                          </a:solidFill>
                          <a:latin typeface="Inter"/>
                        </a:rPr>
                        <a:t>23</a:t>
                      </a:r>
                    </a:p>
                  </a:txBody>
                  <a:tcPr marL="54864" marR="54864" marT="27432" marB="27432" anchor="ctr">
                    <a:solidFill>
                      <a:srgbClr val="FFFFFF"/>
                    </a:solidFill>
                  </a:tcPr>
                </a:tc>
                <a:tc>
                  <a:txBody>
                    <a:bodyPr wrap="square"/>
                    <a:lstStyle/>
                    <a:p>
                      <a:pPr algn="r"/>
                      <a:r>
                        <a:rPr sz="1100" b="0">
                          <a:solidFill>
                            <a:srgbClr val="0F172A"/>
                          </a:solidFill>
                          <a:latin typeface="Inter"/>
                        </a:rPr>
                        <a:t>20.54%</a:t>
                      </a:r>
                    </a:p>
                  </a:txBody>
                  <a:tcPr marL="54864" marR="54864" marT="27432" marB="27432" anchor="ctr">
                    <a:solidFill>
                      <a:srgbClr val="FFFFFF"/>
                    </a:solidFill>
                  </a:tcPr>
                </a:tc>
              </a:tr>
              <a:tr h="365760">
                <a:tc>
                  <a:txBody>
                    <a:bodyPr wrap="square"/>
                    <a:lstStyle/>
                    <a:p>
                      <a:pPr algn="l"/>
                      <a:r>
                        <a:rPr sz="1100" b="0">
                          <a:solidFill>
                            <a:srgbClr val="0F172A"/>
                          </a:solidFill>
                          <a:latin typeface="Inter"/>
                        </a:rPr>
                        <a:t>Oct 18 – 24</a:t>
                      </a:r>
                    </a:p>
                  </a:txBody>
                  <a:tcPr marL="54864" marR="54864" marT="27432" marB="27432" anchor="ctr">
                    <a:solidFill>
                      <a:srgbClr val="FBFAF7"/>
                    </a:solidFill>
                  </a:tcPr>
                </a:tc>
                <a:tc>
                  <a:txBody>
                    <a:bodyPr wrap="square"/>
                    <a:lstStyle/>
                    <a:p>
                      <a:pPr algn="r"/>
                      <a:r>
                        <a:rPr sz="1100" b="0">
                          <a:solidFill>
                            <a:srgbClr val="0F172A"/>
                          </a:solidFill>
                          <a:latin typeface="Inter"/>
                        </a:rPr>
                        <a:t>$57,663</a:t>
                      </a:r>
                    </a:p>
                  </a:txBody>
                  <a:tcPr marL="54864" marR="54864" marT="27432" marB="27432" anchor="ctr">
                    <a:solidFill>
                      <a:srgbClr val="FBFAF7"/>
                    </a:solidFill>
                  </a:tcPr>
                </a:tc>
                <a:tc>
                  <a:txBody>
                    <a:bodyPr wrap="square"/>
                    <a:lstStyle/>
                    <a:p>
                      <a:pPr algn="r"/>
                      <a:r>
                        <a:rPr sz="1100" b="0">
                          <a:solidFill>
                            <a:srgbClr val="0F172A"/>
                          </a:solidFill>
                          <a:latin typeface="Inter"/>
                        </a:rPr>
                        <a:t>118</a:t>
                      </a:r>
                    </a:p>
                  </a:txBody>
                  <a:tcPr marL="54864" marR="54864" marT="27432" marB="27432" anchor="ctr">
                    <a:solidFill>
                      <a:srgbClr val="FBFAF7"/>
                    </a:solidFill>
                  </a:tcPr>
                </a:tc>
                <a:tc>
                  <a:txBody>
                    <a:bodyPr wrap="square"/>
                    <a:lstStyle/>
                    <a:p>
                      <a:pPr algn="r"/>
                      <a:r>
                        <a:rPr sz="1100" b="0">
                          <a:solidFill>
                            <a:srgbClr val="0F172A"/>
                          </a:solidFill>
                          <a:latin typeface="Inter"/>
                        </a:rPr>
                        <a:t>$489</a:t>
                      </a:r>
                    </a:p>
                  </a:txBody>
                  <a:tcPr marL="54864" marR="54864" marT="27432" marB="27432" anchor="ctr">
                    <a:solidFill>
                      <a:srgbClr val="FBFAF7"/>
                    </a:solidFill>
                  </a:tcPr>
                </a:tc>
                <a:tc>
                  <a:txBody>
                    <a:bodyPr wrap="square"/>
                    <a:lstStyle/>
                    <a:p>
                      <a:pPr algn="r"/>
                      <a:r>
                        <a:rPr sz="1100" b="0">
                          <a:solidFill>
                            <a:srgbClr val="0F172A"/>
                          </a:solidFill>
                          <a:latin typeface="Inter"/>
                        </a:rPr>
                        <a:t>559,135</a:t>
                      </a:r>
                    </a:p>
                  </a:txBody>
                  <a:tcPr marL="54864" marR="54864" marT="27432" marB="27432" anchor="ctr">
                    <a:solidFill>
                      <a:srgbClr val="FBFAF7"/>
                    </a:solidFill>
                  </a:tcPr>
                </a:tc>
                <a:tc>
                  <a:txBody>
                    <a:bodyPr wrap="square"/>
                    <a:lstStyle/>
                    <a:p>
                      <a:pPr algn="r"/>
                      <a:r>
                        <a:rPr sz="1100" b="0">
                          <a:solidFill>
                            <a:srgbClr val="0F172A"/>
                          </a:solidFill>
                          <a:latin typeface="Inter"/>
                        </a:rPr>
                        <a:t>12</a:t>
                      </a:r>
                    </a:p>
                  </a:txBody>
                  <a:tcPr marL="54864" marR="54864" marT="27432" marB="27432" anchor="ctr">
                    <a:solidFill>
                      <a:srgbClr val="FBFAF7"/>
                    </a:solidFill>
                  </a:tcPr>
                </a:tc>
                <a:tc>
                  <a:txBody>
                    <a:bodyPr wrap="square"/>
                    <a:lstStyle/>
                    <a:p>
                      <a:pPr algn="r"/>
                      <a:r>
                        <a:rPr sz="1100" b="0">
                          <a:solidFill>
                            <a:srgbClr val="DC2626"/>
                          </a:solidFill>
                          <a:latin typeface="Inter"/>
                        </a:rPr>
                        <a:t>10.43%</a:t>
                      </a:r>
                    </a:p>
                  </a:txBody>
                  <a:tcPr marL="54864" marR="54864" marT="27432" marB="27432" anchor="ctr">
                    <a:solidFill>
                      <a:srgbClr val="FBFAF7"/>
                    </a:solidFill>
                  </a:tcPr>
                </a:tc>
              </a:tr>
              <a:tr h="365760">
                <a:tc>
                  <a:txBody>
                    <a:bodyPr wrap="square"/>
                    <a:lstStyle/>
                    <a:p>
                      <a:pPr algn="l"/>
                      <a:r>
                        <a:rPr sz="1100" b="1">
                          <a:solidFill>
                            <a:srgbClr val="0F172A"/>
                          </a:solidFill>
                          <a:latin typeface="Inter"/>
                        </a:rPr>
                        <a:t>4-week total</a:t>
                      </a:r>
                    </a:p>
                  </a:txBody>
                  <a:tcPr marL="54864" marR="54864" marT="27432" marB="27432" anchor="ctr">
                    <a:solidFill>
                      <a:srgbClr val="F6F3EC"/>
                    </a:solidFill>
                  </a:tcPr>
                </a:tc>
                <a:tc>
                  <a:txBody>
                    <a:bodyPr wrap="square"/>
                    <a:lstStyle/>
                    <a:p>
                      <a:pPr algn="r"/>
                      <a:r>
                        <a:rPr sz="1100" b="1">
                          <a:solidFill>
                            <a:srgbClr val="0F172A"/>
                          </a:solidFill>
                          <a:latin typeface="Inter"/>
                        </a:rPr>
                        <a:t>$283,870</a:t>
                      </a:r>
                    </a:p>
                  </a:txBody>
                  <a:tcPr marL="54864" marR="54864" marT="27432" marB="27432" anchor="ctr">
                    <a:solidFill>
                      <a:srgbClr val="F6F3EC"/>
                    </a:solidFill>
                  </a:tcPr>
                </a:tc>
                <a:tc>
                  <a:txBody>
                    <a:bodyPr wrap="square"/>
                    <a:lstStyle/>
                    <a:p>
                      <a:pPr algn="r"/>
                      <a:r>
                        <a:rPr sz="1100" b="1">
                          <a:solidFill>
                            <a:srgbClr val="0F172A"/>
                          </a:solidFill>
                          <a:latin typeface="Inter"/>
                        </a:rPr>
                        <a:t>628</a:t>
                      </a:r>
                    </a:p>
                  </a:txBody>
                  <a:tcPr marL="54864" marR="54864" marT="27432" marB="27432" anchor="ctr">
                    <a:solidFill>
                      <a:srgbClr val="F6F3EC"/>
                    </a:solidFill>
                  </a:tcPr>
                </a:tc>
                <a:tc>
                  <a:txBody>
                    <a:bodyPr wrap="square"/>
                    <a:lstStyle/>
                    <a:p>
                      <a:pPr algn="r"/>
                      <a:r>
                        <a:rPr sz="1100" b="1">
                          <a:solidFill>
                            <a:srgbClr val="0F172A"/>
                          </a:solidFill>
                          <a:latin typeface="Inter"/>
                        </a:rPr>
                        <a:t>$452</a:t>
                      </a:r>
                    </a:p>
                  </a:txBody>
                  <a:tcPr marL="54864" marR="54864" marT="27432" marB="27432" anchor="ctr">
                    <a:solidFill>
                      <a:srgbClr val="F6F3EC"/>
                    </a:solidFill>
                  </a:tcPr>
                </a:tc>
                <a:tc>
                  <a:txBody>
                    <a:bodyPr wrap="square"/>
                    <a:lstStyle/>
                    <a:p>
                      <a:pPr algn="r"/>
                      <a:r>
                        <a:rPr sz="1100" b="1">
                          <a:solidFill>
                            <a:srgbClr val="0F172A"/>
                          </a:solidFill>
                          <a:latin typeface="Inter"/>
                        </a:rPr>
                        <a:t>3,231,677</a:t>
                      </a:r>
                    </a:p>
                  </a:txBody>
                  <a:tcPr marL="54864" marR="54864" marT="27432" marB="27432" anchor="ctr">
                    <a:solidFill>
                      <a:srgbClr val="F6F3EC"/>
                    </a:solidFill>
                  </a:tcPr>
                </a:tc>
                <a:tc>
                  <a:txBody>
                    <a:bodyPr wrap="square"/>
                    <a:lstStyle/>
                    <a:p>
                      <a:pPr algn="r"/>
                      <a:r>
                        <a:rPr sz="1100" b="1">
                          <a:solidFill>
                            <a:srgbClr val="0F172A"/>
                          </a:solidFill>
                          <a:latin typeface="Inter"/>
                        </a:rPr>
                        <a:t>51</a:t>
                      </a:r>
                    </a:p>
                  </a:txBody>
                  <a:tcPr marL="54864" marR="54864" marT="27432" marB="27432" anchor="ctr">
                    <a:solidFill>
                      <a:srgbClr val="F6F3EC"/>
                    </a:solidFill>
                  </a:tcPr>
                </a:tc>
                <a:tc>
                  <a:txBody>
                    <a:bodyPr wrap="square"/>
                    <a:lstStyle/>
                    <a:p>
                      <a:pPr algn="r"/>
                      <a:r>
                        <a:rPr sz="1100" b="1">
                          <a:solidFill>
                            <a:srgbClr val="0F172A"/>
                          </a:solidFill>
                          <a:latin typeface="Inter"/>
                        </a:rPr>
                        <a:t>—</a:t>
                      </a:r>
                    </a:p>
                  </a:txBody>
                  <a:tcPr marL="54864" marR="54864" marT="27432" marB="27432" anchor="ctr">
                    <a:solidFill>
                      <a:srgbClr val="F6F3EC"/>
                    </a:solidFill>
                  </a:tcPr>
                </a:tc>
              </a:tr>
            </a:tbl>
          </a:graphicData>
        </a:graphic>
      </p:graphicFrame>
      <p:sp>
        <p:nvSpPr>
          <p:cNvPr id="11" name=""/>
          <p:cNvSpPr/>
          <p:nvPr/>
        </p:nvSpPr>
        <p:spPr>
          <a:xfrm>
            <a:off x="548640" y="3886200"/>
            <a:ext cx="5440680" cy="2331720"/>
          </a:xfrm>
          <a:prstGeom prst="roundRect">
            <a:avLst>
              <a:gd name="" fmla="val 6000"/>
            </a:avLst>
          </a:prstGeom>
          <a:solidFill>
            <a:srgbClr val="FFFFFF"/>
          </a:solidFill>
          <a:ln w="9525">
            <a:solidFill>
              <a:srgbClr val="E5E0D6"/>
            </a:solidFill>
          </a:ln>
        </p:spPr>
      </p:sp>
      <p:sp>
        <p:nvSpPr>
          <p:cNvPr id="12" name=""/>
          <p:cNvSpPr txBox="1"/>
          <p:nvPr/>
        </p:nvSpPr>
        <p:spPr>
          <a:xfrm>
            <a:off x="731520" y="4023360"/>
            <a:ext cx="5074920" cy="274320"/>
          </a:xfrm>
          <a:prstGeom prst="rect">
            <a:avLst/>
          </a:prstGeom>
          <a:noFill/>
        </p:spPr>
        <p:txBody>
          <a:bodyPr wrap="square" lIns="36576" rIns="36576" tIns="18288" bIns="18288" anchor="t">
            <a:spAutoFit/>
          </a:bodyPr>
          <a:lstStyle/>
          <a:p>
            <a:pPr algn="l"/>
            <a:r>
              <a:rPr sz="1200" b="1">
                <a:solidFill>
                  <a:srgbClr val="0F172A"/>
                </a:solidFill>
                <a:latin typeface="Space Grotesk"/>
              </a:rPr>
              <a:t>What happened this week</a:t>
            </a:r>
          </a:p>
        </p:txBody>
      </p:sp>
      <p:sp>
        <p:nvSpPr>
          <p:cNvPr id="13" name=""/>
          <p:cNvSpPr txBox="1"/>
          <p:nvPr/>
        </p:nvSpPr>
        <p:spPr>
          <a:xfrm>
            <a:off x="731520" y="4343400"/>
            <a:ext cx="5074920" cy="1783079"/>
          </a:xfrm>
          <a:prstGeom prst="rect">
            <a:avLst/>
          </a:prstGeom>
          <a:noFill/>
        </p:spPr>
        <p:txBody>
          <a:bodyPr wrap="square" lIns="36576" rIns="36576" tIns="18288" bIns="18288" anchor="t">
            <a:spAutoFit/>
          </a:bodyPr>
          <a:lstStyle/>
          <a:p>
            <a:pPr algn="l">
              <a:spcAft>
                <a:spcPts val="500"/>
              </a:spcAft>
            </a:pPr>
            <a:r>
              <a:rPr sz="1100" b="0">
                <a:solidFill>
                  <a:srgbClr val="334155"/>
                </a:solidFill>
                <a:latin typeface="Inter"/>
              </a:rPr>
              <a:t>Sales were $57,663, +21% vs the prior week ($47,564), on 118 units (+2%).</a:t>
            </a:r>
          </a:p>
          <a:p>
            <a:pPr algn="l">
              <a:spcAft>
                <a:spcPts val="500"/>
              </a:spcAft>
            </a:pPr>
            <a:r>
              <a:rPr sz="1100" b="0">
                <a:solidFill>
                  <a:srgbClr val="334155"/>
                </a:solidFill>
                <a:latin typeface="Inter"/>
              </a:rPr>
              <a:t>Octaspring Queen drove the week: 43 units vs 23 the week before (+91%), almost half of all sales.</a:t>
            </a:r>
          </a:p>
        </p:txBody>
      </p:sp>
      <p:sp>
        <p:nvSpPr>
          <p:cNvPr id="14" name=""/>
          <p:cNvSpPr/>
          <p:nvPr/>
        </p:nvSpPr>
        <p:spPr>
          <a:xfrm>
            <a:off x="6199632" y="3886200"/>
            <a:ext cx="5440680" cy="2331720"/>
          </a:xfrm>
          <a:prstGeom prst="roundRect">
            <a:avLst>
              <a:gd name="" fmla="val 6000"/>
            </a:avLst>
          </a:prstGeom>
          <a:solidFill>
            <a:srgbClr val="FFFFFF"/>
          </a:solidFill>
          <a:ln w="9525">
            <a:solidFill>
              <a:srgbClr val="E5E0D6"/>
            </a:solidFill>
          </a:ln>
        </p:spPr>
      </p:sp>
      <p:sp>
        <p:nvSpPr>
          <p:cNvPr id="15" name=""/>
          <p:cNvSpPr txBox="1"/>
          <p:nvPr/>
        </p:nvSpPr>
        <p:spPr>
          <a:xfrm>
            <a:off x="6382512" y="4023360"/>
            <a:ext cx="5074920" cy="274320"/>
          </a:xfrm>
          <a:prstGeom prst="rect">
            <a:avLst/>
          </a:prstGeom>
          <a:noFill/>
        </p:spPr>
        <p:txBody>
          <a:bodyPr wrap="square" lIns="36576" rIns="36576" tIns="18288" bIns="18288" anchor="t">
            <a:spAutoFit/>
          </a:bodyPr>
          <a:lstStyle/>
          <a:p>
            <a:pPr algn="l"/>
            <a:r>
              <a:rPr sz="1200" b="1">
                <a:solidFill>
                  <a:srgbClr val="0F172A"/>
                </a:solidFill>
                <a:latin typeface="Space Grotesk"/>
              </a:rPr>
              <a:t>Refunds eased</a:t>
            </a:r>
          </a:p>
        </p:txBody>
      </p:sp>
      <p:sp>
        <p:nvSpPr>
          <p:cNvPr id="16" name=""/>
          <p:cNvSpPr txBox="1"/>
          <p:nvPr/>
        </p:nvSpPr>
        <p:spPr>
          <a:xfrm>
            <a:off x="6382512" y="4343400"/>
            <a:ext cx="5074920" cy="1783079"/>
          </a:xfrm>
          <a:prstGeom prst="rect">
            <a:avLst/>
          </a:prstGeom>
          <a:noFill/>
        </p:spPr>
        <p:txBody>
          <a:bodyPr wrap="square" lIns="36576" rIns="36576" tIns="18288" bIns="18288" anchor="t">
            <a:spAutoFit/>
          </a:bodyPr>
          <a:lstStyle/>
          <a:p>
            <a:pPr algn="l">
              <a:spcAft>
                <a:spcPts val="500"/>
              </a:spcAft>
            </a:pPr>
            <a:r>
              <a:rPr sz="1100" b="0">
                <a:solidFill>
                  <a:srgbClr val="334155"/>
                </a:solidFill>
                <a:latin typeface="Inter"/>
              </a:rPr>
              <a:t>12 units were refunded this week (10.4% refund rate), vs 23 (20.5%) the week before.</a:t>
            </a:r>
          </a:p>
          <a:p>
            <a:pPr algn="l">
              <a:spcAft>
                <a:spcPts val="500"/>
              </a:spcAft>
            </a:pPr>
            <a:r>
              <a:rPr sz="1100" b="0">
                <a:solidFill>
                  <a:srgbClr val="334155"/>
                </a:solidFill>
                <a:latin typeface="Inter"/>
              </a:rPr>
              <a:t>Last week's spike was mostly the Queen and Twin XL toppers (6 refunded units each), largely Prime Big Deal Days orders coming back. This week King had the most refunds (4 units).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
          <p:cNvSpPr/>
          <p:nvPr/>
        </p:nvSpPr>
        <p:spPr>
          <a:xfrm>
            <a:off x="0" y="0"/>
            <a:ext cx="12191695" cy="6858000"/>
          </a:xfrm>
          <a:prstGeom prst="rect">
            <a:avLst/>
          </a:prstGeom>
          <a:solidFill>
            <a:srgbClr val="FFFFFF"/>
          </a:solidFill>
          <a:ln>
            <a:noFill/>
          </a:ln>
        </p:spPr>
      </p:sp>
      <p:sp>
        <p:nvSpPr>
          <p:cNvPr id="3" name=""/>
          <p:cNvSpPr/>
          <p:nvPr/>
        </p:nvSpPr>
        <p:spPr>
          <a:xfrm>
            <a:off x="548640" y="502920"/>
            <a:ext cx="73152" cy="566928"/>
          </a:xfrm>
          <a:prstGeom prst="rect">
            <a:avLst/>
          </a:prstGeom>
          <a:solidFill>
            <a:srgbClr val="2447FF"/>
          </a:solidFill>
          <a:ln>
            <a:noFill/>
          </a:ln>
        </p:spPr>
      </p:sp>
      <p:sp>
        <p:nvSpPr>
          <p:cNvPr id="4" name=""/>
          <p:cNvSpPr txBox="1"/>
          <p:nvPr/>
        </p:nvSpPr>
        <p:spPr>
          <a:xfrm>
            <a:off x="731520" y="384048"/>
            <a:ext cx="8686800" cy="274320"/>
          </a:xfrm>
          <a:prstGeom prst="rect">
            <a:avLst/>
          </a:prstGeom>
          <a:noFill/>
        </p:spPr>
        <p:txBody>
          <a:bodyPr wrap="square" lIns="36576" rIns="36576" tIns="18288" bIns="18288" anchor="t">
            <a:spAutoFit/>
          </a:bodyPr>
          <a:lstStyle/>
          <a:p>
            <a:pPr algn="l"/>
            <a:r>
              <a:rPr sz="1000" b="1">
                <a:solidFill>
                  <a:srgbClr val="2447FF"/>
                </a:solidFill>
                <a:latin typeface="Space Grotesk"/>
              </a:rPr>
              <a:t>SALES PACING</a:t>
            </a:r>
          </a:p>
        </p:txBody>
      </p:sp>
      <p:sp>
        <p:nvSpPr>
          <p:cNvPr id="5" name=""/>
          <p:cNvSpPr txBox="1"/>
          <p:nvPr/>
        </p:nvSpPr>
        <p:spPr>
          <a:xfrm>
            <a:off x="731520" y="603504"/>
            <a:ext cx="9601200" cy="548640"/>
          </a:xfrm>
          <a:prstGeom prst="rect">
            <a:avLst/>
          </a:prstGeom>
          <a:noFill/>
        </p:spPr>
        <p:txBody>
          <a:bodyPr wrap="square" lIns="36576" rIns="36576" tIns="18288" bIns="18288" anchor="t">
            <a:spAutoFit/>
          </a:bodyPr>
          <a:lstStyle/>
          <a:p>
            <a:pPr algn="l"/>
            <a:r>
              <a:rPr sz="2600" b="1">
                <a:solidFill>
                  <a:srgbClr val="0F172A"/>
                </a:solidFill>
                <a:latin typeface="Space Grotesk"/>
              </a:rPr>
              <a:t>October month to date</a:t>
            </a:r>
          </a:p>
        </p:txBody>
      </p:sp>
      <p:pic>
        <p:nvPicPr>
          <p:cNvPr id="6" name="" descr="logo_s.png"/>
          <p:cNvPicPr>
            <a:picLocks noChangeAspect="1"/>
          </p:cNvPicPr>
          <p:nvPr/>
        </p:nvPicPr>
        <p:blipFill>
          <a:blip r:embed="rId2"/>
          <a:stretch>
            <a:fillRect/>
          </a:stretch>
        </p:blipFill>
        <p:spPr>
          <a:xfrm>
            <a:off x="10195560" y="457200"/>
            <a:ext cx="1463040" cy="256032"/>
          </a:xfrm>
          <a:prstGeom prst="rect">
            <a:avLst/>
          </a:prstGeom>
        </p:spPr>
      </p:pic>
      <p:sp>
        <p:nvSpPr>
          <p:cNvPr id="7" name=""/>
          <p:cNvSpPr/>
          <p:nvPr/>
        </p:nvSpPr>
        <p:spPr>
          <a:xfrm>
            <a:off x="548640" y="6400800"/>
            <a:ext cx="11091672" cy="10972"/>
          </a:xfrm>
          <a:prstGeom prst="rect">
            <a:avLst/>
          </a:prstGeom>
          <a:solidFill>
            <a:srgbClr val="E5E0D6"/>
          </a:solidFill>
          <a:ln>
            <a:noFill/>
          </a:ln>
        </p:spPr>
      </p:sp>
      <p:sp>
        <p:nvSpPr>
          <p:cNvPr id="8" name=""/>
          <p:cNvSpPr txBox="1"/>
          <p:nvPr/>
        </p:nvSpPr>
        <p:spPr>
          <a:xfrm>
            <a:off x="548640" y="6455664"/>
            <a:ext cx="8229600" cy="274320"/>
          </a:xfrm>
          <a:prstGeom prst="rect">
            <a:avLst/>
          </a:prstGeom>
          <a:noFill/>
        </p:spPr>
        <p:txBody>
          <a:bodyPr wrap="square" lIns="36576" rIns="36576" tIns="18288" bIns="18288" anchor="t">
            <a:spAutoFit/>
          </a:bodyPr>
          <a:lstStyle/>
          <a:p>
            <a:pPr algn="l"/>
            <a:r>
              <a:rPr sz="900" b="0">
                <a:solidFill>
                  <a:srgbClr val="6B6558"/>
                </a:solidFill>
                <a:latin typeface="Inter"/>
              </a:rPr>
              <a:t>Dormeo Canada · Weekly Business Review · Week 43 (Oct 18–24, 2026)</a:t>
            </a:r>
          </a:p>
        </p:txBody>
      </p:sp>
      <p:sp>
        <p:nvSpPr>
          <p:cNvPr id="9" name=""/>
          <p:cNvSpPr txBox="1"/>
          <p:nvPr/>
        </p:nvSpPr>
        <p:spPr>
          <a:xfrm>
            <a:off x="10241280" y="6455664"/>
            <a:ext cx="1399032" cy="274320"/>
          </a:xfrm>
          <a:prstGeom prst="rect">
            <a:avLst/>
          </a:prstGeom>
          <a:noFill/>
        </p:spPr>
        <p:txBody>
          <a:bodyPr wrap="square" lIns="36576" rIns="36576" tIns="18288" bIns="18288" anchor="t">
            <a:spAutoFit/>
          </a:bodyPr>
          <a:lstStyle/>
          <a:p>
            <a:pPr algn="r"/>
            <a:r>
              <a:rPr sz="900" b="0">
                <a:solidFill>
                  <a:srgbClr val="6B6558"/>
                </a:solidFill>
                <a:latin typeface="Inter"/>
              </a:rPr>
              <a:t>4 / 17</a:t>
            </a:r>
          </a:p>
        </p:txBody>
      </p:sp>
      <p:sp>
        <p:nvSpPr>
          <p:cNvPr id="10" name=""/>
          <p:cNvSpPr/>
          <p:nvPr/>
        </p:nvSpPr>
        <p:spPr>
          <a:xfrm>
            <a:off x="548640" y="1417320"/>
            <a:ext cx="2651760" cy="1554480"/>
          </a:xfrm>
          <a:prstGeom prst="roundRect">
            <a:avLst>
              <a:gd name="" fmla="val 6000"/>
            </a:avLst>
          </a:prstGeom>
          <a:solidFill>
            <a:srgbClr val="F6F3EC"/>
          </a:solidFill>
          <a:ln>
            <a:noFill/>
          </a:ln>
        </p:spPr>
      </p:sp>
      <p:sp>
        <p:nvSpPr>
          <p:cNvPr id="11" name=""/>
          <p:cNvSpPr txBox="1"/>
          <p:nvPr/>
        </p:nvSpPr>
        <p:spPr>
          <a:xfrm>
            <a:off x="713232" y="154533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MTD REVENUE</a:t>
            </a:r>
          </a:p>
        </p:txBody>
      </p:sp>
      <p:sp>
        <p:nvSpPr>
          <p:cNvPr id="12" name=""/>
          <p:cNvSpPr txBox="1"/>
          <p:nvPr/>
        </p:nvSpPr>
        <p:spPr>
          <a:xfrm>
            <a:off x="713232" y="1801368"/>
            <a:ext cx="2377440" cy="548640"/>
          </a:xfrm>
          <a:prstGeom prst="rect">
            <a:avLst/>
          </a:prstGeom>
          <a:noFill/>
        </p:spPr>
        <p:txBody>
          <a:bodyPr wrap="square" lIns="36576" rIns="36576" tIns="18288" bIns="18288" anchor="t">
            <a:spAutoFit/>
          </a:bodyPr>
          <a:lstStyle/>
          <a:p>
            <a:pPr algn="l"/>
            <a:r>
              <a:rPr sz="2600" b="1">
                <a:solidFill>
                  <a:srgbClr val="2447FF"/>
                </a:solidFill>
                <a:latin typeface="Space Grotesk"/>
              </a:rPr>
              <a:t>$260.5K</a:t>
            </a:r>
          </a:p>
        </p:txBody>
      </p:sp>
      <p:sp>
        <p:nvSpPr>
          <p:cNvPr id="13" name=""/>
          <p:cNvSpPr txBox="1"/>
          <p:nvPr/>
        </p:nvSpPr>
        <p:spPr>
          <a:xfrm>
            <a:off x="713232" y="2560320"/>
            <a:ext cx="2377440" cy="320040"/>
          </a:xfrm>
          <a:prstGeom prst="rect">
            <a:avLst/>
          </a:prstGeom>
          <a:noFill/>
        </p:spPr>
        <p:txBody>
          <a:bodyPr wrap="square" lIns="36576" rIns="36576" tIns="18288" bIns="18288" anchor="t">
            <a:spAutoFit/>
          </a:bodyPr>
          <a:lstStyle/>
          <a:p>
            <a:pPr algn="l"/>
            <a:r>
              <a:rPr sz="1000" b="0">
                <a:solidFill>
                  <a:srgbClr val="6B6558"/>
                </a:solidFill>
                <a:latin typeface="Inter"/>
              </a:rPr>
              <a:t>Oct 1–25 · 574 orders</a:t>
            </a:r>
          </a:p>
        </p:txBody>
      </p:sp>
      <p:sp>
        <p:nvSpPr>
          <p:cNvPr id="14" name=""/>
          <p:cNvSpPr/>
          <p:nvPr/>
        </p:nvSpPr>
        <p:spPr>
          <a:xfrm>
            <a:off x="3364992" y="1417320"/>
            <a:ext cx="2651760" cy="1554480"/>
          </a:xfrm>
          <a:prstGeom prst="roundRect">
            <a:avLst>
              <a:gd name="" fmla="val 6000"/>
            </a:avLst>
          </a:prstGeom>
          <a:solidFill>
            <a:srgbClr val="F6F3EC"/>
          </a:solidFill>
          <a:ln>
            <a:noFill/>
          </a:ln>
        </p:spPr>
      </p:sp>
      <p:sp>
        <p:nvSpPr>
          <p:cNvPr id="15" name=""/>
          <p:cNvSpPr txBox="1"/>
          <p:nvPr/>
        </p:nvSpPr>
        <p:spPr>
          <a:xfrm>
            <a:off x="3529584" y="154533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MTD AD SPEND</a:t>
            </a:r>
          </a:p>
        </p:txBody>
      </p:sp>
      <p:sp>
        <p:nvSpPr>
          <p:cNvPr id="16" name=""/>
          <p:cNvSpPr txBox="1"/>
          <p:nvPr/>
        </p:nvSpPr>
        <p:spPr>
          <a:xfrm>
            <a:off x="3529584" y="1801368"/>
            <a:ext cx="2377440" cy="548640"/>
          </a:xfrm>
          <a:prstGeom prst="rect">
            <a:avLst/>
          </a:prstGeom>
          <a:noFill/>
        </p:spPr>
        <p:txBody>
          <a:bodyPr wrap="square" lIns="36576" rIns="36576" tIns="18288" bIns="18288" anchor="t">
            <a:spAutoFit/>
          </a:bodyPr>
          <a:lstStyle/>
          <a:p>
            <a:pPr algn="l"/>
            <a:r>
              <a:rPr sz="2600" b="1">
                <a:solidFill>
                  <a:srgbClr val="2447FF"/>
                </a:solidFill>
                <a:latin typeface="Space Grotesk"/>
              </a:rPr>
              <a:t>$18.4K</a:t>
            </a:r>
          </a:p>
        </p:txBody>
      </p:sp>
      <p:sp>
        <p:nvSpPr>
          <p:cNvPr id="17" name=""/>
          <p:cNvSpPr txBox="1"/>
          <p:nvPr/>
        </p:nvSpPr>
        <p:spPr>
          <a:xfrm>
            <a:off x="3529584" y="2560320"/>
            <a:ext cx="2377440" cy="320040"/>
          </a:xfrm>
          <a:prstGeom prst="rect">
            <a:avLst/>
          </a:prstGeom>
          <a:noFill/>
        </p:spPr>
        <p:txBody>
          <a:bodyPr wrap="square" lIns="36576" rIns="36576" tIns="18288" bIns="18288" anchor="t">
            <a:spAutoFit/>
          </a:bodyPr>
          <a:lstStyle/>
          <a:p>
            <a:pPr algn="l"/>
            <a:r>
              <a:rPr sz="1000" b="0">
                <a:solidFill>
                  <a:srgbClr val="6B6558"/>
                </a:solidFill>
                <a:latin typeface="Inter"/>
              </a:rPr>
              <a:t>ACoS 10.9%</a:t>
            </a:r>
          </a:p>
        </p:txBody>
      </p:sp>
      <p:sp>
        <p:nvSpPr>
          <p:cNvPr id="18" name=""/>
          <p:cNvSpPr/>
          <p:nvPr/>
        </p:nvSpPr>
        <p:spPr>
          <a:xfrm>
            <a:off x="6181344" y="1417320"/>
            <a:ext cx="2651760" cy="1554480"/>
          </a:xfrm>
          <a:prstGeom prst="roundRect">
            <a:avLst>
              <a:gd name="" fmla="val 6000"/>
            </a:avLst>
          </a:prstGeom>
          <a:solidFill>
            <a:srgbClr val="F6F3EC"/>
          </a:solidFill>
          <a:ln>
            <a:noFill/>
          </a:ln>
        </p:spPr>
      </p:sp>
      <p:sp>
        <p:nvSpPr>
          <p:cNvPr id="19" name=""/>
          <p:cNvSpPr txBox="1"/>
          <p:nvPr/>
        </p:nvSpPr>
        <p:spPr>
          <a:xfrm>
            <a:off x="6345936" y="154533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MTD TACOS</a:t>
            </a:r>
          </a:p>
        </p:txBody>
      </p:sp>
      <p:sp>
        <p:nvSpPr>
          <p:cNvPr id="20" name=""/>
          <p:cNvSpPr txBox="1"/>
          <p:nvPr/>
        </p:nvSpPr>
        <p:spPr>
          <a:xfrm>
            <a:off x="6345936" y="1801368"/>
            <a:ext cx="2377440" cy="548640"/>
          </a:xfrm>
          <a:prstGeom prst="rect">
            <a:avLst/>
          </a:prstGeom>
          <a:noFill/>
        </p:spPr>
        <p:txBody>
          <a:bodyPr wrap="square" lIns="36576" rIns="36576" tIns="18288" bIns="18288" anchor="t">
            <a:spAutoFit/>
          </a:bodyPr>
          <a:lstStyle/>
          <a:p>
            <a:pPr algn="l"/>
            <a:r>
              <a:rPr sz="2600" b="1">
                <a:solidFill>
                  <a:srgbClr val="2447FF"/>
                </a:solidFill>
                <a:latin typeface="Space Grotesk"/>
              </a:rPr>
              <a:t>7.1%</a:t>
            </a:r>
          </a:p>
        </p:txBody>
      </p:sp>
      <p:sp>
        <p:nvSpPr>
          <p:cNvPr id="21" name=""/>
          <p:cNvSpPr txBox="1"/>
          <p:nvPr/>
        </p:nvSpPr>
        <p:spPr>
          <a:xfrm>
            <a:off x="6345936" y="2560320"/>
            <a:ext cx="2377440" cy="320040"/>
          </a:xfrm>
          <a:prstGeom prst="rect">
            <a:avLst/>
          </a:prstGeom>
          <a:noFill/>
        </p:spPr>
        <p:txBody>
          <a:bodyPr wrap="square" lIns="36576" rIns="36576" tIns="18288" bIns="18288" anchor="t">
            <a:spAutoFit/>
          </a:bodyPr>
          <a:lstStyle/>
          <a:p>
            <a:pPr algn="l"/>
            <a:r>
              <a:rPr sz="1000" b="0">
                <a:solidFill>
                  <a:srgbClr val="6B6558"/>
                </a:solidFill>
                <a:latin typeface="Inter"/>
              </a:rPr>
              <a:t>ad spend ÷ total sales</a:t>
            </a:r>
          </a:p>
        </p:txBody>
      </p:sp>
      <p:sp>
        <p:nvSpPr>
          <p:cNvPr id="22" name=""/>
          <p:cNvSpPr/>
          <p:nvPr/>
        </p:nvSpPr>
        <p:spPr>
          <a:xfrm>
            <a:off x="8997696" y="1417320"/>
            <a:ext cx="2642616" cy="1554480"/>
          </a:xfrm>
          <a:prstGeom prst="roundRect">
            <a:avLst>
              <a:gd name="" fmla="val 6000"/>
            </a:avLst>
          </a:prstGeom>
          <a:solidFill>
            <a:srgbClr val="F6F3EC"/>
          </a:solidFill>
          <a:ln>
            <a:noFill/>
          </a:ln>
        </p:spPr>
      </p:sp>
      <p:sp>
        <p:nvSpPr>
          <p:cNvPr id="23" name=""/>
          <p:cNvSpPr txBox="1"/>
          <p:nvPr/>
        </p:nvSpPr>
        <p:spPr>
          <a:xfrm>
            <a:off x="9162288" y="1545336"/>
            <a:ext cx="2368296" cy="274320"/>
          </a:xfrm>
          <a:prstGeom prst="rect">
            <a:avLst/>
          </a:prstGeom>
          <a:noFill/>
        </p:spPr>
        <p:txBody>
          <a:bodyPr wrap="square" lIns="36576" rIns="36576" tIns="18288" bIns="18288" anchor="t">
            <a:spAutoFit/>
          </a:bodyPr>
          <a:lstStyle/>
          <a:p>
            <a:pPr algn="l"/>
            <a:r>
              <a:rPr sz="900" b="1">
                <a:solidFill>
                  <a:srgbClr val="6B6558"/>
                </a:solidFill>
                <a:latin typeface="Inter"/>
              </a:rPr>
              <a:t>VS LAST YEAR</a:t>
            </a:r>
          </a:p>
        </p:txBody>
      </p:sp>
      <p:sp>
        <p:nvSpPr>
          <p:cNvPr id="24" name=""/>
          <p:cNvSpPr txBox="1"/>
          <p:nvPr/>
        </p:nvSpPr>
        <p:spPr>
          <a:xfrm>
            <a:off x="9162288" y="1801368"/>
            <a:ext cx="2368296" cy="548640"/>
          </a:xfrm>
          <a:prstGeom prst="rect">
            <a:avLst/>
          </a:prstGeom>
          <a:noFill/>
        </p:spPr>
        <p:txBody>
          <a:bodyPr wrap="square" lIns="36576" rIns="36576" tIns="18288" bIns="18288" anchor="t">
            <a:spAutoFit/>
          </a:bodyPr>
          <a:lstStyle/>
          <a:p>
            <a:pPr algn="l"/>
            <a:r>
              <a:rPr sz="2600" b="1">
                <a:solidFill>
                  <a:srgbClr val="DC2626"/>
                </a:solidFill>
                <a:latin typeface="Space Grotesk"/>
              </a:rPr>
              <a:t>-16%</a:t>
            </a:r>
          </a:p>
        </p:txBody>
      </p:sp>
      <p:sp>
        <p:nvSpPr>
          <p:cNvPr id="25" name=""/>
          <p:cNvSpPr txBox="1"/>
          <p:nvPr/>
        </p:nvSpPr>
        <p:spPr>
          <a:xfrm>
            <a:off x="9162288" y="2560320"/>
            <a:ext cx="2368296" cy="320040"/>
          </a:xfrm>
          <a:prstGeom prst="rect">
            <a:avLst/>
          </a:prstGeom>
          <a:noFill/>
        </p:spPr>
        <p:txBody>
          <a:bodyPr wrap="square" lIns="36576" rIns="36576" tIns="18288" bIns="18288" anchor="t">
            <a:spAutoFit/>
          </a:bodyPr>
          <a:lstStyle/>
          <a:p>
            <a:pPr algn="l"/>
            <a:r>
              <a:rPr sz="1000" b="0">
                <a:solidFill>
                  <a:srgbClr val="DC2626"/>
                </a:solidFill>
                <a:latin typeface="Inter"/>
              </a:rPr>
              <a:t>Oct 1–25, 2025: $310.4K</a:t>
            </a:r>
          </a:p>
        </p:txBody>
      </p:sp>
      <p:sp>
        <p:nvSpPr>
          <p:cNvPr id="26" name=""/>
          <p:cNvSpPr/>
          <p:nvPr/>
        </p:nvSpPr>
        <p:spPr>
          <a:xfrm>
            <a:off x="807872" y="3474720"/>
            <a:ext cx="921715" cy="2468879"/>
          </a:xfrm>
          <a:prstGeom prst="rect">
            <a:avLst/>
          </a:prstGeom>
          <a:solidFill>
            <a:srgbClr val="C7D2FE"/>
          </a:solidFill>
          <a:ln>
            <a:noFill/>
          </a:ln>
        </p:spPr>
      </p:sp>
      <p:sp>
        <p:nvSpPr>
          <p:cNvPr id="27" name=""/>
          <p:cNvSpPr txBox="1"/>
          <p:nvPr/>
        </p:nvSpPr>
        <p:spPr>
          <a:xfrm>
            <a:off x="548640" y="3200400"/>
            <a:ext cx="1440180" cy="237744"/>
          </a:xfrm>
          <a:prstGeom prst="rect">
            <a:avLst/>
          </a:prstGeom>
          <a:noFill/>
        </p:spPr>
        <p:txBody>
          <a:bodyPr wrap="square" lIns="36576" rIns="36576" tIns="18288" bIns="18288" anchor="t">
            <a:spAutoFit/>
          </a:bodyPr>
          <a:lstStyle/>
          <a:p>
            <a:pPr algn="ctr"/>
            <a:r>
              <a:rPr sz="900" b="1">
                <a:solidFill>
                  <a:srgbClr val="0F172A"/>
                </a:solidFill>
                <a:latin typeface="Inter"/>
              </a:rPr>
              <a:t>$350.6K</a:t>
            </a:r>
          </a:p>
        </p:txBody>
      </p:sp>
      <p:sp>
        <p:nvSpPr>
          <p:cNvPr id="28" name=""/>
          <p:cNvSpPr txBox="1"/>
          <p:nvPr/>
        </p:nvSpPr>
        <p:spPr>
          <a:xfrm>
            <a:off x="548640" y="5961888"/>
            <a:ext cx="1440180" cy="256032"/>
          </a:xfrm>
          <a:prstGeom prst="rect">
            <a:avLst/>
          </a:prstGeom>
          <a:noFill/>
        </p:spPr>
        <p:txBody>
          <a:bodyPr wrap="square" lIns="36576" rIns="36576" tIns="18288" bIns="18288" anchor="t">
            <a:spAutoFit/>
          </a:bodyPr>
          <a:lstStyle/>
          <a:p>
            <a:pPr algn="ctr"/>
            <a:r>
              <a:rPr sz="900" b="0">
                <a:solidFill>
                  <a:srgbClr val="6B6558"/>
                </a:solidFill>
                <a:latin typeface="Inter"/>
              </a:rPr>
              <a:t>Oct 2025</a:t>
            </a:r>
          </a:p>
        </p:txBody>
      </p:sp>
      <p:sp>
        <p:nvSpPr>
          <p:cNvPr id="29" name=""/>
          <p:cNvSpPr/>
          <p:nvPr/>
        </p:nvSpPr>
        <p:spPr>
          <a:xfrm>
            <a:off x="2248052" y="4117013"/>
            <a:ext cx="921715" cy="1826586"/>
          </a:xfrm>
          <a:prstGeom prst="rect">
            <a:avLst/>
          </a:prstGeom>
          <a:solidFill>
            <a:srgbClr val="C7D2FE"/>
          </a:solidFill>
          <a:ln>
            <a:noFill/>
          </a:ln>
        </p:spPr>
      </p:sp>
      <p:sp>
        <p:nvSpPr>
          <p:cNvPr id="30" name=""/>
          <p:cNvSpPr txBox="1"/>
          <p:nvPr/>
        </p:nvSpPr>
        <p:spPr>
          <a:xfrm>
            <a:off x="1988819" y="3842693"/>
            <a:ext cx="1440180" cy="237744"/>
          </a:xfrm>
          <a:prstGeom prst="rect">
            <a:avLst/>
          </a:prstGeom>
          <a:noFill/>
        </p:spPr>
        <p:txBody>
          <a:bodyPr wrap="square" lIns="36576" rIns="36576" tIns="18288" bIns="18288" anchor="t">
            <a:spAutoFit/>
          </a:bodyPr>
          <a:lstStyle/>
          <a:p>
            <a:pPr algn="ctr"/>
            <a:r>
              <a:rPr sz="900" b="1">
                <a:solidFill>
                  <a:srgbClr val="0F172A"/>
                </a:solidFill>
                <a:latin typeface="Inter"/>
              </a:rPr>
              <a:t>$259.4K</a:t>
            </a:r>
          </a:p>
        </p:txBody>
      </p:sp>
      <p:sp>
        <p:nvSpPr>
          <p:cNvPr id="31" name=""/>
          <p:cNvSpPr txBox="1"/>
          <p:nvPr/>
        </p:nvSpPr>
        <p:spPr>
          <a:xfrm>
            <a:off x="1988819" y="5961888"/>
            <a:ext cx="1440180" cy="256032"/>
          </a:xfrm>
          <a:prstGeom prst="rect">
            <a:avLst/>
          </a:prstGeom>
          <a:noFill/>
        </p:spPr>
        <p:txBody>
          <a:bodyPr wrap="square" lIns="36576" rIns="36576" tIns="18288" bIns="18288" anchor="t">
            <a:spAutoFit/>
          </a:bodyPr>
          <a:lstStyle/>
          <a:p>
            <a:pPr algn="ctr"/>
            <a:r>
              <a:rPr sz="900" b="0">
                <a:solidFill>
                  <a:srgbClr val="6B6558"/>
                </a:solidFill>
                <a:latin typeface="Inter"/>
              </a:rPr>
              <a:t>Sep 2026</a:t>
            </a:r>
          </a:p>
        </p:txBody>
      </p:sp>
      <p:sp>
        <p:nvSpPr>
          <p:cNvPr id="32" name=""/>
          <p:cNvSpPr/>
          <p:nvPr/>
        </p:nvSpPr>
        <p:spPr>
          <a:xfrm>
            <a:off x="3688232" y="4109388"/>
            <a:ext cx="921715" cy="1834211"/>
          </a:xfrm>
          <a:prstGeom prst="rect">
            <a:avLst/>
          </a:prstGeom>
          <a:solidFill>
            <a:srgbClr val="C7D2FE"/>
          </a:solidFill>
          <a:ln>
            <a:noFill/>
          </a:ln>
        </p:spPr>
      </p:sp>
      <p:sp>
        <p:nvSpPr>
          <p:cNvPr id="33" name=""/>
          <p:cNvSpPr txBox="1"/>
          <p:nvPr/>
        </p:nvSpPr>
        <p:spPr>
          <a:xfrm>
            <a:off x="3429000" y="3835068"/>
            <a:ext cx="1440180" cy="237744"/>
          </a:xfrm>
          <a:prstGeom prst="rect">
            <a:avLst/>
          </a:prstGeom>
          <a:noFill/>
        </p:spPr>
        <p:txBody>
          <a:bodyPr wrap="square" lIns="36576" rIns="36576" tIns="18288" bIns="18288" anchor="t">
            <a:spAutoFit/>
          </a:bodyPr>
          <a:lstStyle/>
          <a:p>
            <a:pPr algn="ctr"/>
            <a:r>
              <a:rPr sz="900" b="1">
                <a:solidFill>
                  <a:srgbClr val="0F172A"/>
                </a:solidFill>
                <a:latin typeface="Inter"/>
              </a:rPr>
              <a:t>$260.5K</a:t>
            </a:r>
          </a:p>
        </p:txBody>
      </p:sp>
      <p:sp>
        <p:nvSpPr>
          <p:cNvPr id="34" name=""/>
          <p:cNvSpPr txBox="1"/>
          <p:nvPr/>
        </p:nvSpPr>
        <p:spPr>
          <a:xfrm>
            <a:off x="3429000" y="5961888"/>
            <a:ext cx="1440180" cy="256032"/>
          </a:xfrm>
          <a:prstGeom prst="rect">
            <a:avLst/>
          </a:prstGeom>
          <a:noFill/>
        </p:spPr>
        <p:txBody>
          <a:bodyPr wrap="square" lIns="36576" rIns="36576" tIns="18288" bIns="18288" anchor="t">
            <a:spAutoFit/>
          </a:bodyPr>
          <a:lstStyle/>
          <a:p>
            <a:pPr algn="ctr"/>
            <a:r>
              <a:rPr sz="900" b="0">
                <a:solidFill>
                  <a:srgbClr val="6B6558"/>
                </a:solidFill>
                <a:latin typeface="Inter"/>
              </a:rPr>
              <a:t>Oct MTD</a:t>
            </a:r>
          </a:p>
        </p:txBody>
      </p:sp>
      <p:sp>
        <p:nvSpPr>
          <p:cNvPr id="35" name=""/>
          <p:cNvSpPr/>
          <p:nvPr/>
        </p:nvSpPr>
        <p:spPr>
          <a:xfrm>
            <a:off x="5128412" y="3763703"/>
            <a:ext cx="921715" cy="2179896"/>
          </a:xfrm>
          <a:prstGeom prst="rect">
            <a:avLst/>
          </a:prstGeom>
          <a:solidFill>
            <a:srgbClr val="2447FF"/>
          </a:solidFill>
          <a:ln>
            <a:noFill/>
          </a:ln>
        </p:spPr>
      </p:sp>
      <p:sp>
        <p:nvSpPr>
          <p:cNvPr id="36" name=""/>
          <p:cNvSpPr txBox="1"/>
          <p:nvPr/>
        </p:nvSpPr>
        <p:spPr>
          <a:xfrm>
            <a:off x="4869179" y="3489383"/>
            <a:ext cx="1440180" cy="237744"/>
          </a:xfrm>
          <a:prstGeom prst="rect">
            <a:avLst/>
          </a:prstGeom>
          <a:noFill/>
        </p:spPr>
        <p:txBody>
          <a:bodyPr wrap="square" lIns="36576" rIns="36576" tIns="18288" bIns="18288" anchor="t">
            <a:spAutoFit/>
          </a:bodyPr>
          <a:lstStyle/>
          <a:p>
            <a:pPr algn="ctr"/>
            <a:r>
              <a:rPr sz="900" b="1">
                <a:solidFill>
                  <a:srgbClr val="0F172A"/>
                </a:solidFill>
                <a:latin typeface="Inter"/>
              </a:rPr>
              <a:t>$309.6K</a:t>
            </a:r>
          </a:p>
        </p:txBody>
      </p:sp>
      <p:sp>
        <p:nvSpPr>
          <p:cNvPr id="37" name=""/>
          <p:cNvSpPr txBox="1"/>
          <p:nvPr/>
        </p:nvSpPr>
        <p:spPr>
          <a:xfrm>
            <a:off x="4869179" y="5961888"/>
            <a:ext cx="1440180" cy="256032"/>
          </a:xfrm>
          <a:prstGeom prst="rect">
            <a:avLst/>
          </a:prstGeom>
          <a:noFill/>
        </p:spPr>
        <p:txBody>
          <a:bodyPr wrap="square" lIns="36576" rIns="36576" tIns="18288" bIns="18288" anchor="t">
            <a:spAutoFit/>
          </a:bodyPr>
          <a:lstStyle/>
          <a:p>
            <a:pPr algn="ctr"/>
            <a:r>
              <a:rPr sz="900" b="0">
                <a:solidFill>
                  <a:srgbClr val="6B6558"/>
                </a:solidFill>
                <a:latin typeface="Inter"/>
              </a:rPr>
              <a:t>Oct pace</a:t>
            </a:r>
          </a:p>
        </p:txBody>
      </p:sp>
      <p:sp>
        <p:nvSpPr>
          <p:cNvPr id="38" name=""/>
          <p:cNvSpPr/>
          <p:nvPr/>
        </p:nvSpPr>
        <p:spPr>
          <a:xfrm>
            <a:off x="548640" y="5943600"/>
            <a:ext cx="5760720" cy="9144"/>
          </a:xfrm>
          <a:prstGeom prst="rect">
            <a:avLst/>
          </a:prstGeom>
          <a:solidFill>
            <a:srgbClr val="E5E0D6"/>
          </a:solidFill>
          <a:ln>
            <a:noFill/>
          </a:ln>
        </p:spPr>
      </p:sp>
      <p:sp>
        <p:nvSpPr>
          <p:cNvPr id="39" name=""/>
          <p:cNvSpPr/>
          <p:nvPr/>
        </p:nvSpPr>
        <p:spPr>
          <a:xfrm>
            <a:off x="6583680" y="3200400"/>
            <a:ext cx="5056632" cy="1325880"/>
          </a:xfrm>
          <a:prstGeom prst="roundRect">
            <a:avLst>
              <a:gd name="" fmla="val 6000"/>
            </a:avLst>
          </a:prstGeom>
          <a:solidFill>
            <a:srgbClr val="FFFFFF"/>
          </a:solidFill>
          <a:ln w="9525">
            <a:solidFill>
              <a:srgbClr val="E5E0D6"/>
            </a:solidFill>
          </a:ln>
        </p:spPr>
      </p:sp>
      <p:sp>
        <p:nvSpPr>
          <p:cNvPr id="40" name=""/>
          <p:cNvSpPr txBox="1"/>
          <p:nvPr/>
        </p:nvSpPr>
        <p:spPr>
          <a:xfrm>
            <a:off x="6766560" y="3337560"/>
            <a:ext cx="4690872" cy="274320"/>
          </a:xfrm>
          <a:prstGeom prst="rect">
            <a:avLst/>
          </a:prstGeom>
          <a:noFill/>
        </p:spPr>
        <p:txBody>
          <a:bodyPr wrap="square" lIns="36576" rIns="36576" tIns="18288" bIns="18288" anchor="t">
            <a:spAutoFit/>
          </a:bodyPr>
          <a:lstStyle/>
          <a:p>
            <a:pPr algn="l"/>
            <a:r>
              <a:rPr sz="1200" b="1">
                <a:solidFill>
                  <a:srgbClr val="0F172A"/>
                </a:solidFill>
                <a:latin typeface="Space Grotesk"/>
              </a:rPr>
              <a:t>Full-month pace</a:t>
            </a:r>
          </a:p>
        </p:txBody>
      </p:sp>
      <p:sp>
        <p:nvSpPr>
          <p:cNvPr id="41" name=""/>
          <p:cNvSpPr txBox="1"/>
          <p:nvPr/>
        </p:nvSpPr>
        <p:spPr>
          <a:xfrm>
            <a:off x="6766560" y="3657600"/>
            <a:ext cx="4690872" cy="777240"/>
          </a:xfrm>
          <a:prstGeom prst="rect">
            <a:avLst/>
          </a:prstGeom>
          <a:noFill/>
        </p:spPr>
        <p:txBody>
          <a:bodyPr wrap="square" lIns="36576" rIns="36576" tIns="18288" bIns="18288" anchor="t">
            <a:spAutoFit/>
          </a:bodyPr>
          <a:lstStyle/>
          <a:p>
            <a:pPr algn="l">
              <a:spcAft>
                <a:spcPts val="500"/>
              </a:spcAft>
            </a:pPr>
            <a:r>
              <a:rPr sz="1050" b="0">
                <a:solidFill>
                  <a:srgbClr val="334155"/>
                </a:solidFill>
                <a:latin typeface="Inter"/>
              </a:rPr>
              <a:t>October is pacing to about $309.6K: $260.5K so far plus 6 days at $8.2K/day (the October daily average without the 2 event days).</a:t>
            </a:r>
          </a:p>
        </p:txBody>
      </p:sp>
      <p:sp>
        <p:nvSpPr>
          <p:cNvPr id="42" name=""/>
          <p:cNvSpPr/>
          <p:nvPr/>
        </p:nvSpPr>
        <p:spPr>
          <a:xfrm>
            <a:off x="6583680" y="4663440"/>
            <a:ext cx="5056632" cy="1554480"/>
          </a:xfrm>
          <a:prstGeom prst="roundRect">
            <a:avLst>
              <a:gd name="" fmla="val 6000"/>
            </a:avLst>
          </a:prstGeom>
          <a:solidFill>
            <a:srgbClr val="FEF2F2"/>
          </a:solidFill>
          <a:ln>
            <a:noFill/>
          </a:ln>
        </p:spPr>
      </p:sp>
      <p:sp>
        <p:nvSpPr>
          <p:cNvPr id="43" name=""/>
          <p:cNvSpPr txBox="1"/>
          <p:nvPr/>
        </p:nvSpPr>
        <p:spPr>
          <a:xfrm>
            <a:off x="6766560" y="4773168"/>
            <a:ext cx="4754880" cy="274320"/>
          </a:xfrm>
          <a:prstGeom prst="rect">
            <a:avLst/>
          </a:prstGeom>
          <a:noFill/>
        </p:spPr>
        <p:txBody>
          <a:bodyPr wrap="square" lIns="36576" rIns="36576" tIns="18288" bIns="18288" anchor="t">
            <a:spAutoFit/>
          </a:bodyPr>
          <a:lstStyle/>
          <a:p>
            <a:pPr algn="l"/>
            <a:r>
              <a:rPr sz="1200" b="1">
                <a:solidFill>
                  <a:srgbClr val="DC2626"/>
                </a:solidFill>
                <a:latin typeface="Space Grotesk"/>
              </a:rPr>
              <a:t>Recommendation</a:t>
            </a:r>
          </a:p>
        </p:txBody>
      </p:sp>
      <p:sp>
        <p:nvSpPr>
          <p:cNvPr id="44" name=""/>
          <p:cNvSpPr txBox="1"/>
          <p:nvPr/>
        </p:nvSpPr>
        <p:spPr>
          <a:xfrm>
            <a:off x="6766560" y="5074920"/>
            <a:ext cx="4754880" cy="1097280"/>
          </a:xfrm>
          <a:prstGeom prst="rect">
            <a:avLst/>
          </a:prstGeom>
          <a:noFill/>
        </p:spPr>
        <p:txBody>
          <a:bodyPr wrap="square" lIns="36576" rIns="36576" tIns="18288" bIns="18288" anchor="t">
            <a:spAutoFit/>
          </a:bodyPr>
          <a:lstStyle/>
          <a:p>
            <a:pPr algn="l"/>
            <a:r>
              <a:rPr sz="1050" b="0">
                <a:solidFill>
                  <a:srgbClr val="334155"/>
                </a:solidFill>
                <a:latin typeface="Inter"/>
              </a:rPr>
              <a:t>Pace is +19% vs Sep. October is behind last year on the same days. Keeping the Queen topper in stock at FBA is the biggest lever: it has 23 units available, under one week of sales.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
          <p:cNvSpPr/>
          <p:nvPr/>
        </p:nvSpPr>
        <p:spPr>
          <a:xfrm>
            <a:off x="0" y="0"/>
            <a:ext cx="12191695" cy="6858000"/>
          </a:xfrm>
          <a:prstGeom prst="rect">
            <a:avLst/>
          </a:prstGeom>
          <a:solidFill>
            <a:srgbClr val="FFFFFF"/>
          </a:solidFill>
          <a:ln>
            <a:noFill/>
          </a:ln>
        </p:spPr>
      </p:sp>
      <p:sp>
        <p:nvSpPr>
          <p:cNvPr id="3" name=""/>
          <p:cNvSpPr/>
          <p:nvPr/>
        </p:nvSpPr>
        <p:spPr>
          <a:xfrm>
            <a:off x="548640" y="502920"/>
            <a:ext cx="73152" cy="566928"/>
          </a:xfrm>
          <a:prstGeom prst="rect">
            <a:avLst/>
          </a:prstGeom>
          <a:solidFill>
            <a:srgbClr val="2447FF"/>
          </a:solidFill>
          <a:ln>
            <a:noFill/>
          </a:ln>
        </p:spPr>
      </p:sp>
      <p:sp>
        <p:nvSpPr>
          <p:cNvPr id="4" name=""/>
          <p:cNvSpPr txBox="1"/>
          <p:nvPr/>
        </p:nvSpPr>
        <p:spPr>
          <a:xfrm>
            <a:off x="731520" y="384048"/>
            <a:ext cx="8686800" cy="274320"/>
          </a:xfrm>
          <a:prstGeom prst="rect">
            <a:avLst/>
          </a:prstGeom>
          <a:noFill/>
        </p:spPr>
        <p:txBody>
          <a:bodyPr wrap="square" lIns="36576" rIns="36576" tIns="18288" bIns="18288" anchor="t">
            <a:spAutoFit/>
          </a:bodyPr>
          <a:lstStyle/>
          <a:p>
            <a:pPr algn="l"/>
            <a:r>
              <a:rPr sz="1000" b="1">
                <a:solidFill>
                  <a:srgbClr val="2447FF"/>
                </a:solidFill>
                <a:latin typeface="Space Grotesk"/>
              </a:rPr>
              <a:t>SALES PACING</a:t>
            </a:r>
          </a:p>
        </p:txBody>
      </p:sp>
      <p:sp>
        <p:nvSpPr>
          <p:cNvPr id="5" name=""/>
          <p:cNvSpPr txBox="1"/>
          <p:nvPr/>
        </p:nvSpPr>
        <p:spPr>
          <a:xfrm>
            <a:off x="731520" y="603504"/>
            <a:ext cx="9601200" cy="548640"/>
          </a:xfrm>
          <a:prstGeom prst="rect">
            <a:avLst/>
          </a:prstGeom>
          <a:noFill/>
        </p:spPr>
        <p:txBody>
          <a:bodyPr wrap="square" lIns="36576" rIns="36576" tIns="18288" bIns="18288" anchor="t">
            <a:spAutoFit/>
          </a:bodyPr>
          <a:lstStyle/>
          <a:p>
            <a:pPr algn="l"/>
            <a:r>
              <a:rPr sz="2600" b="1">
                <a:solidFill>
                  <a:srgbClr val="0F172A"/>
                </a:solidFill>
                <a:latin typeface="Space Grotesk"/>
              </a:rPr>
              <a:t>Ad spend pacing — month to date</a:t>
            </a:r>
          </a:p>
        </p:txBody>
      </p:sp>
      <p:pic>
        <p:nvPicPr>
          <p:cNvPr id="6" name="" descr="logo_s.png"/>
          <p:cNvPicPr>
            <a:picLocks noChangeAspect="1"/>
          </p:cNvPicPr>
          <p:nvPr/>
        </p:nvPicPr>
        <p:blipFill>
          <a:blip r:embed="rId2"/>
          <a:stretch>
            <a:fillRect/>
          </a:stretch>
        </p:blipFill>
        <p:spPr>
          <a:xfrm>
            <a:off x="10195560" y="457200"/>
            <a:ext cx="1463040" cy="256032"/>
          </a:xfrm>
          <a:prstGeom prst="rect">
            <a:avLst/>
          </a:prstGeom>
        </p:spPr>
      </p:pic>
      <p:sp>
        <p:nvSpPr>
          <p:cNvPr id="7" name=""/>
          <p:cNvSpPr/>
          <p:nvPr/>
        </p:nvSpPr>
        <p:spPr>
          <a:xfrm>
            <a:off x="548640" y="6400800"/>
            <a:ext cx="11091672" cy="10972"/>
          </a:xfrm>
          <a:prstGeom prst="rect">
            <a:avLst/>
          </a:prstGeom>
          <a:solidFill>
            <a:srgbClr val="E5E0D6"/>
          </a:solidFill>
          <a:ln>
            <a:noFill/>
          </a:ln>
        </p:spPr>
      </p:sp>
      <p:sp>
        <p:nvSpPr>
          <p:cNvPr id="8" name=""/>
          <p:cNvSpPr txBox="1"/>
          <p:nvPr/>
        </p:nvSpPr>
        <p:spPr>
          <a:xfrm>
            <a:off x="548640" y="6455664"/>
            <a:ext cx="8229600" cy="274320"/>
          </a:xfrm>
          <a:prstGeom prst="rect">
            <a:avLst/>
          </a:prstGeom>
          <a:noFill/>
        </p:spPr>
        <p:txBody>
          <a:bodyPr wrap="square" lIns="36576" rIns="36576" tIns="18288" bIns="18288" anchor="t">
            <a:spAutoFit/>
          </a:bodyPr>
          <a:lstStyle/>
          <a:p>
            <a:pPr algn="l"/>
            <a:r>
              <a:rPr sz="900" b="0">
                <a:solidFill>
                  <a:srgbClr val="6B6558"/>
                </a:solidFill>
                <a:latin typeface="Inter"/>
              </a:rPr>
              <a:t>Dormeo Canada · Weekly Business Review · Week 43 (Oct 18–24, 2026)</a:t>
            </a:r>
          </a:p>
        </p:txBody>
      </p:sp>
      <p:sp>
        <p:nvSpPr>
          <p:cNvPr id="9" name=""/>
          <p:cNvSpPr txBox="1"/>
          <p:nvPr/>
        </p:nvSpPr>
        <p:spPr>
          <a:xfrm>
            <a:off x="10241280" y="6455664"/>
            <a:ext cx="1399032" cy="274320"/>
          </a:xfrm>
          <a:prstGeom prst="rect">
            <a:avLst/>
          </a:prstGeom>
          <a:noFill/>
        </p:spPr>
        <p:txBody>
          <a:bodyPr wrap="square" lIns="36576" rIns="36576" tIns="18288" bIns="18288" anchor="t">
            <a:spAutoFit/>
          </a:bodyPr>
          <a:lstStyle/>
          <a:p>
            <a:pPr algn="r"/>
            <a:r>
              <a:rPr sz="900" b="0">
                <a:solidFill>
                  <a:srgbClr val="6B6558"/>
                </a:solidFill>
                <a:latin typeface="Inter"/>
              </a:rPr>
              <a:t>5 / 17</a:t>
            </a:r>
          </a:p>
        </p:txBody>
      </p:sp>
      <p:sp>
        <p:nvSpPr>
          <p:cNvPr id="10" name=""/>
          <p:cNvSpPr/>
          <p:nvPr/>
        </p:nvSpPr>
        <p:spPr>
          <a:xfrm>
            <a:off x="548640" y="1417320"/>
            <a:ext cx="2651760" cy="1554480"/>
          </a:xfrm>
          <a:prstGeom prst="roundRect">
            <a:avLst>
              <a:gd name="" fmla="val 6000"/>
            </a:avLst>
          </a:prstGeom>
          <a:solidFill>
            <a:srgbClr val="F6F3EC"/>
          </a:solidFill>
          <a:ln>
            <a:noFill/>
          </a:ln>
        </p:spPr>
      </p:sp>
      <p:sp>
        <p:nvSpPr>
          <p:cNvPr id="11" name=""/>
          <p:cNvSpPr txBox="1"/>
          <p:nvPr/>
        </p:nvSpPr>
        <p:spPr>
          <a:xfrm>
            <a:off x="713232" y="154533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MTD AD SPEND</a:t>
            </a:r>
          </a:p>
        </p:txBody>
      </p:sp>
      <p:sp>
        <p:nvSpPr>
          <p:cNvPr id="12" name=""/>
          <p:cNvSpPr txBox="1"/>
          <p:nvPr/>
        </p:nvSpPr>
        <p:spPr>
          <a:xfrm>
            <a:off x="713232" y="1801368"/>
            <a:ext cx="2377440" cy="548640"/>
          </a:xfrm>
          <a:prstGeom prst="rect">
            <a:avLst/>
          </a:prstGeom>
          <a:noFill/>
        </p:spPr>
        <p:txBody>
          <a:bodyPr wrap="square" lIns="36576" rIns="36576" tIns="18288" bIns="18288" anchor="t">
            <a:spAutoFit/>
          </a:bodyPr>
          <a:lstStyle/>
          <a:p>
            <a:pPr algn="l"/>
            <a:r>
              <a:rPr sz="2600" b="1">
                <a:solidFill>
                  <a:srgbClr val="2447FF"/>
                </a:solidFill>
                <a:latin typeface="Space Grotesk"/>
              </a:rPr>
              <a:t>$18.4K</a:t>
            </a:r>
          </a:p>
        </p:txBody>
      </p:sp>
      <p:sp>
        <p:nvSpPr>
          <p:cNvPr id="13" name=""/>
          <p:cNvSpPr txBox="1"/>
          <p:nvPr/>
        </p:nvSpPr>
        <p:spPr>
          <a:xfrm>
            <a:off x="713232" y="2560320"/>
            <a:ext cx="2377440" cy="320040"/>
          </a:xfrm>
          <a:prstGeom prst="rect">
            <a:avLst/>
          </a:prstGeom>
          <a:noFill/>
        </p:spPr>
        <p:txBody>
          <a:bodyPr wrap="square" lIns="36576" rIns="36576" tIns="18288" bIns="18288" anchor="t">
            <a:spAutoFit/>
          </a:bodyPr>
          <a:lstStyle/>
          <a:p>
            <a:pPr algn="l"/>
            <a:r>
              <a:rPr sz="1000" b="0">
                <a:solidFill>
                  <a:srgbClr val="6B6558"/>
                </a:solidFill>
                <a:latin typeface="Inter"/>
              </a:rPr>
              <a:t>$737 per day</a:t>
            </a:r>
          </a:p>
        </p:txBody>
      </p:sp>
      <p:sp>
        <p:nvSpPr>
          <p:cNvPr id="14" name=""/>
          <p:cNvSpPr/>
          <p:nvPr/>
        </p:nvSpPr>
        <p:spPr>
          <a:xfrm>
            <a:off x="3364992" y="1417320"/>
            <a:ext cx="2651760" cy="1554480"/>
          </a:xfrm>
          <a:prstGeom prst="roundRect">
            <a:avLst>
              <a:gd name="" fmla="val 6000"/>
            </a:avLst>
          </a:prstGeom>
          <a:solidFill>
            <a:srgbClr val="F6F3EC"/>
          </a:solidFill>
          <a:ln>
            <a:noFill/>
          </a:ln>
        </p:spPr>
      </p:sp>
      <p:sp>
        <p:nvSpPr>
          <p:cNvPr id="15" name=""/>
          <p:cNvSpPr txBox="1"/>
          <p:nvPr/>
        </p:nvSpPr>
        <p:spPr>
          <a:xfrm>
            <a:off x="3529584" y="154533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PROJECTED SPEND</a:t>
            </a:r>
          </a:p>
        </p:txBody>
      </p:sp>
      <p:sp>
        <p:nvSpPr>
          <p:cNvPr id="16" name=""/>
          <p:cNvSpPr txBox="1"/>
          <p:nvPr/>
        </p:nvSpPr>
        <p:spPr>
          <a:xfrm>
            <a:off x="3529584" y="1801368"/>
            <a:ext cx="2377440" cy="548640"/>
          </a:xfrm>
          <a:prstGeom prst="rect">
            <a:avLst/>
          </a:prstGeom>
          <a:noFill/>
        </p:spPr>
        <p:txBody>
          <a:bodyPr wrap="square" lIns="36576" rIns="36576" tIns="18288" bIns="18288" anchor="t">
            <a:spAutoFit/>
          </a:bodyPr>
          <a:lstStyle/>
          <a:p>
            <a:pPr algn="l"/>
            <a:r>
              <a:rPr sz="2600" b="1">
                <a:solidFill>
                  <a:srgbClr val="2447FF"/>
                </a:solidFill>
                <a:latin typeface="Space Grotesk"/>
              </a:rPr>
              <a:t>$22.8K</a:t>
            </a:r>
          </a:p>
        </p:txBody>
      </p:sp>
      <p:sp>
        <p:nvSpPr>
          <p:cNvPr id="17" name=""/>
          <p:cNvSpPr txBox="1"/>
          <p:nvPr/>
        </p:nvSpPr>
        <p:spPr>
          <a:xfrm>
            <a:off x="3529584" y="2560320"/>
            <a:ext cx="2377440" cy="320040"/>
          </a:xfrm>
          <a:prstGeom prst="rect">
            <a:avLst/>
          </a:prstGeom>
          <a:noFill/>
        </p:spPr>
        <p:txBody>
          <a:bodyPr wrap="square" lIns="36576" rIns="36576" tIns="18288" bIns="18288" anchor="t">
            <a:spAutoFit/>
          </a:bodyPr>
          <a:lstStyle/>
          <a:p>
            <a:pPr algn="l"/>
            <a:r>
              <a:rPr sz="1000" b="0">
                <a:solidFill>
                  <a:srgbClr val="6B6558"/>
                </a:solidFill>
                <a:latin typeface="Inter"/>
              </a:rPr>
              <a:t>if the daily rate holds to Oct 31</a:t>
            </a:r>
          </a:p>
        </p:txBody>
      </p:sp>
      <p:sp>
        <p:nvSpPr>
          <p:cNvPr id="18" name=""/>
          <p:cNvSpPr/>
          <p:nvPr/>
        </p:nvSpPr>
        <p:spPr>
          <a:xfrm>
            <a:off x="6181344" y="1417320"/>
            <a:ext cx="2651760" cy="1554480"/>
          </a:xfrm>
          <a:prstGeom prst="roundRect">
            <a:avLst>
              <a:gd name="" fmla="val 6000"/>
            </a:avLst>
          </a:prstGeom>
          <a:solidFill>
            <a:srgbClr val="F6F3EC"/>
          </a:solidFill>
          <a:ln>
            <a:noFill/>
          </a:ln>
        </p:spPr>
      </p:sp>
      <p:sp>
        <p:nvSpPr>
          <p:cNvPr id="19" name=""/>
          <p:cNvSpPr txBox="1"/>
          <p:nvPr/>
        </p:nvSpPr>
        <p:spPr>
          <a:xfrm>
            <a:off x="6345936" y="154533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MTD TACOS</a:t>
            </a:r>
          </a:p>
        </p:txBody>
      </p:sp>
      <p:sp>
        <p:nvSpPr>
          <p:cNvPr id="20" name=""/>
          <p:cNvSpPr txBox="1"/>
          <p:nvPr/>
        </p:nvSpPr>
        <p:spPr>
          <a:xfrm>
            <a:off x="6345936" y="1801368"/>
            <a:ext cx="2377440" cy="548640"/>
          </a:xfrm>
          <a:prstGeom prst="rect">
            <a:avLst/>
          </a:prstGeom>
          <a:noFill/>
        </p:spPr>
        <p:txBody>
          <a:bodyPr wrap="square" lIns="36576" rIns="36576" tIns="18288" bIns="18288" anchor="t">
            <a:spAutoFit/>
          </a:bodyPr>
          <a:lstStyle/>
          <a:p>
            <a:pPr algn="l"/>
            <a:r>
              <a:rPr sz="2600" b="1">
                <a:solidFill>
                  <a:srgbClr val="2447FF"/>
                </a:solidFill>
                <a:latin typeface="Space Grotesk"/>
              </a:rPr>
              <a:t>7.1%</a:t>
            </a:r>
          </a:p>
        </p:txBody>
      </p:sp>
      <p:sp>
        <p:nvSpPr>
          <p:cNvPr id="21" name=""/>
          <p:cNvSpPr txBox="1"/>
          <p:nvPr/>
        </p:nvSpPr>
        <p:spPr>
          <a:xfrm>
            <a:off x="6345936" y="2560320"/>
            <a:ext cx="2377440" cy="320040"/>
          </a:xfrm>
          <a:prstGeom prst="rect">
            <a:avLst/>
          </a:prstGeom>
          <a:noFill/>
        </p:spPr>
        <p:txBody>
          <a:bodyPr wrap="square" lIns="36576" rIns="36576" tIns="18288" bIns="18288" anchor="t">
            <a:spAutoFit/>
          </a:bodyPr>
          <a:lstStyle/>
          <a:p>
            <a:pPr algn="l"/>
            <a:r>
              <a:rPr sz="1000" b="0">
                <a:solidFill>
                  <a:srgbClr val="6B6558"/>
                </a:solidFill>
                <a:latin typeface="Inter"/>
              </a:rPr>
              <a:t>this week 6.3%</a:t>
            </a:r>
          </a:p>
        </p:txBody>
      </p:sp>
      <p:sp>
        <p:nvSpPr>
          <p:cNvPr id="22" name=""/>
          <p:cNvSpPr/>
          <p:nvPr/>
        </p:nvSpPr>
        <p:spPr>
          <a:xfrm>
            <a:off x="8997696" y="1417320"/>
            <a:ext cx="2642616" cy="1554480"/>
          </a:xfrm>
          <a:prstGeom prst="roundRect">
            <a:avLst>
              <a:gd name="" fmla="val 6000"/>
            </a:avLst>
          </a:prstGeom>
          <a:solidFill>
            <a:srgbClr val="F6F3EC"/>
          </a:solidFill>
          <a:ln>
            <a:noFill/>
          </a:ln>
        </p:spPr>
      </p:sp>
      <p:sp>
        <p:nvSpPr>
          <p:cNvPr id="23" name=""/>
          <p:cNvSpPr txBox="1"/>
          <p:nvPr/>
        </p:nvSpPr>
        <p:spPr>
          <a:xfrm>
            <a:off x="9162288" y="1545336"/>
            <a:ext cx="2368296" cy="274320"/>
          </a:xfrm>
          <a:prstGeom prst="rect">
            <a:avLst/>
          </a:prstGeom>
          <a:noFill/>
        </p:spPr>
        <p:txBody>
          <a:bodyPr wrap="square" lIns="36576" rIns="36576" tIns="18288" bIns="18288" anchor="t">
            <a:spAutoFit/>
          </a:bodyPr>
          <a:lstStyle/>
          <a:p>
            <a:pPr algn="l"/>
            <a:r>
              <a:rPr sz="900" b="1">
                <a:solidFill>
                  <a:srgbClr val="6B6558"/>
                </a:solidFill>
                <a:latin typeface="Inter"/>
              </a:rPr>
              <a:t>MTD ACOS</a:t>
            </a:r>
          </a:p>
        </p:txBody>
      </p:sp>
      <p:sp>
        <p:nvSpPr>
          <p:cNvPr id="24" name=""/>
          <p:cNvSpPr txBox="1"/>
          <p:nvPr/>
        </p:nvSpPr>
        <p:spPr>
          <a:xfrm>
            <a:off x="9162288" y="1801368"/>
            <a:ext cx="2368296" cy="548640"/>
          </a:xfrm>
          <a:prstGeom prst="rect">
            <a:avLst/>
          </a:prstGeom>
          <a:noFill/>
        </p:spPr>
        <p:txBody>
          <a:bodyPr wrap="square" lIns="36576" rIns="36576" tIns="18288" bIns="18288" anchor="t">
            <a:spAutoFit/>
          </a:bodyPr>
          <a:lstStyle/>
          <a:p>
            <a:pPr algn="l"/>
            <a:r>
              <a:rPr sz="2600" b="1">
                <a:solidFill>
                  <a:srgbClr val="2447FF"/>
                </a:solidFill>
                <a:latin typeface="Space Grotesk"/>
              </a:rPr>
              <a:t>10.9%</a:t>
            </a:r>
          </a:p>
        </p:txBody>
      </p:sp>
      <p:sp>
        <p:nvSpPr>
          <p:cNvPr id="25" name=""/>
          <p:cNvSpPr txBox="1"/>
          <p:nvPr/>
        </p:nvSpPr>
        <p:spPr>
          <a:xfrm>
            <a:off x="9162288" y="2560320"/>
            <a:ext cx="2368296" cy="320040"/>
          </a:xfrm>
          <a:prstGeom prst="rect">
            <a:avLst/>
          </a:prstGeom>
          <a:noFill/>
        </p:spPr>
        <p:txBody>
          <a:bodyPr wrap="square" lIns="36576" rIns="36576" tIns="18288" bIns="18288" anchor="t">
            <a:spAutoFit/>
          </a:bodyPr>
          <a:lstStyle/>
          <a:p>
            <a:pPr algn="l"/>
            <a:r>
              <a:rPr sz="1000" b="0">
                <a:solidFill>
                  <a:srgbClr val="6B6558"/>
                </a:solidFill>
                <a:latin typeface="Inter"/>
              </a:rPr>
              <a:t>this week 10.4%</a:t>
            </a:r>
          </a:p>
        </p:txBody>
      </p:sp>
      <p:sp>
        <p:nvSpPr>
          <p:cNvPr id="26" name=""/>
          <p:cNvSpPr/>
          <p:nvPr/>
        </p:nvSpPr>
        <p:spPr>
          <a:xfrm>
            <a:off x="548640" y="3200400"/>
            <a:ext cx="3611880" cy="3017520"/>
          </a:xfrm>
          <a:prstGeom prst="roundRect">
            <a:avLst>
              <a:gd name="" fmla="val 6000"/>
            </a:avLst>
          </a:prstGeom>
          <a:solidFill>
            <a:srgbClr val="FFFFFF"/>
          </a:solidFill>
          <a:ln w="9525">
            <a:solidFill>
              <a:srgbClr val="E5E0D6"/>
            </a:solidFill>
          </a:ln>
        </p:spPr>
      </p:sp>
      <p:sp>
        <p:nvSpPr>
          <p:cNvPr id="27" name=""/>
          <p:cNvSpPr txBox="1"/>
          <p:nvPr/>
        </p:nvSpPr>
        <p:spPr>
          <a:xfrm>
            <a:off x="731520" y="3337560"/>
            <a:ext cx="3246120" cy="274320"/>
          </a:xfrm>
          <a:prstGeom prst="rect">
            <a:avLst/>
          </a:prstGeom>
          <a:noFill/>
        </p:spPr>
        <p:txBody>
          <a:bodyPr wrap="square" lIns="36576" rIns="36576" tIns="18288" bIns="18288" anchor="t">
            <a:spAutoFit/>
          </a:bodyPr>
          <a:lstStyle/>
          <a:p>
            <a:pPr algn="l"/>
            <a:r>
              <a:rPr sz="1200" b="1">
                <a:solidFill>
                  <a:srgbClr val="0F172A"/>
                </a:solidFill>
                <a:latin typeface="Space Grotesk"/>
              </a:rPr>
              <a:t>MTD performance</a:t>
            </a:r>
          </a:p>
        </p:txBody>
      </p:sp>
      <p:sp>
        <p:nvSpPr>
          <p:cNvPr id="28" name=""/>
          <p:cNvSpPr txBox="1"/>
          <p:nvPr/>
        </p:nvSpPr>
        <p:spPr>
          <a:xfrm>
            <a:off x="731520" y="3657600"/>
            <a:ext cx="3246120" cy="2468879"/>
          </a:xfrm>
          <a:prstGeom prst="rect">
            <a:avLst/>
          </a:prstGeom>
          <a:noFill/>
        </p:spPr>
        <p:txBody>
          <a:bodyPr wrap="square" lIns="36576" rIns="36576" tIns="18288" bIns="18288" anchor="t">
            <a:spAutoFit/>
          </a:bodyPr>
          <a:lstStyle/>
          <a:p>
            <a:pPr algn="l">
              <a:spcAft>
                <a:spcPts val="500"/>
              </a:spcAft>
            </a:pPr>
            <a:r>
              <a:rPr sz="1100" b="0">
                <a:solidFill>
                  <a:srgbClr val="334155"/>
                </a:solidFill>
                <a:latin typeface="Inter"/>
              </a:rPr>
              <a:t>$168.8K in ad sales on $18.4K spend, a 9.2x return.</a:t>
            </a:r>
          </a:p>
          <a:p>
            <a:pPr algn="l">
              <a:spcAft>
                <a:spcPts val="500"/>
              </a:spcAft>
            </a:pPr>
            <a:r>
              <a:rPr sz="1100" b="0">
                <a:solidFill>
                  <a:srgbClr val="334155"/>
                </a:solidFill>
                <a:latin typeface="Inter"/>
              </a:rPr>
              <a:t>Ads drove 65% of October sales.</a:t>
            </a:r>
          </a:p>
        </p:txBody>
      </p:sp>
      <p:sp>
        <p:nvSpPr>
          <p:cNvPr id="29" name=""/>
          <p:cNvSpPr/>
          <p:nvPr/>
        </p:nvSpPr>
        <p:spPr>
          <a:xfrm>
            <a:off x="4288536" y="3200400"/>
            <a:ext cx="3611880" cy="3017520"/>
          </a:xfrm>
          <a:prstGeom prst="roundRect">
            <a:avLst>
              <a:gd name="" fmla="val 6000"/>
            </a:avLst>
          </a:prstGeom>
          <a:solidFill>
            <a:srgbClr val="FFFFFF"/>
          </a:solidFill>
          <a:ln w="9525">
            <a:solidFill>
              <a:srgbClr val="E5E0D6"/>
            </a:solidFill>
          </a:ln>
        </p:spPr>
      </p:sp>
      <p:sp>
        <p:nvSpPr>
          <p:cNvPr id="30" name=""/>
          <p:cNvSpPr txBox="1"/>
          <p:nvPr/>
        </p:nvSpPr>
        <p:spPr>
          <a:xfrm>
            <a:off x="4471416" y="3337560"/>
            <a:ext cx="3246120" cy="274320"/>
          </a:xfrm>
          <a:prstGeom prst="rect">
            <a:avLst/>
          </a:prstGeom>
          <a:noFill/>
        </p:spPr>
        <p:txBody>
          <a:bodyPr wrap="square" lIns="36576" rIns="36576" tIns="18288" bIns="18288" anchor="t">
            <a:spAutoFit/>
          </a:bodyPr>
          <a:lstStyle/>
          <a:p>
            <a:pPr algn="l"/>
            <a:r>
              <a:rPr sz="1200" b="1">
                <a:solidFill>
                  <a:srgbClr val="0F172A"/>
                </a:solidFill>
                <a:latin typeface="Space Grotesk"/>
              </a:rPr>
              <a:t>Context</a:t>
            </a:r>
          </a:p>
        </p:txBody>
      </p:sp>
      <p:sp>
        <p:nvSpPr>
          <p:cNvPr id="31" name=""/>
          <p:cNvSpPr txBox="1"/>
          <p:nvPr/>
        </p:nvSpPr>
        <p:spPr>
          <a:xfrm>
            <a:off x="4471416" y="3657600"/>
            <a:ext cx="3246120" cy="2468879"/>
          </a:xfrm>
          <a:prstGeom prst="rect">
            <a:avLst/>
          </a:prstGeom>
          <a:noFill/>
        </p:spPr>
        <p:txBody>
          <a:bodyPr wrap="square" lIns="36576" rIns="36576" tIns="18288" bIns="18288" anchor="t">
            <a:spAutoFit/>
          </a:bodyPr>
          <a:lstStyle/>
          <a:p>
            <a:pPr algn="l">
              <a:spcAft>
                <a:spcPts val="500"/>
              </a:spcAft>
            </a:pPr>
            <a:r>
              <a:rPr sz="1100" b="0">
                <a:solidFill>
                  <a:srgbClr val="334155"/>
                </a:solidFill>
                <a:latin typeface="Inter"/>
              </a:rPr>
              <a:t>Prime Big Deal Days week (Oct 4–10) ran at 9.7% ACoS and 6.4% TACoS.</a:t>
            </a:r>
          </a:p>
          <a:p>
            <a:pPr algn="l">
              <a:spcAft>
                <a:spcPts val="500"/>
              </a:spcAft>
            </a:pPr>
            <a:r>
              <a:rPr sz="1100" b="0">
                <a:solidFill>
                  <a:srgbClr val="334155"/>
                </a:solidFill>
                <a:latin typeface="Inter"/>
              </a:rPr>
              <a:t>This week ACoS fell to 10.4% from 16.9%, with 26% less spend and 19% more ad sales.</a:t>
            </a:r>
          </a:p>
        </p:txBody>
      </p:sp>
      <p:sp>
        <p:nvSpPr>
          <p:cNvPr id="32" name=""/>
          <p:cNvSpPr/>
          <p:nvPr/>
        </p:nvSpPr>
        <p:spPr>
          <a:xfrm>
            <a:off x="8028431" y="3200400"/>
            <a:ext cx="3611880" cy="3017520"/>
          </a:xfrm>
          <a:prstGeom prst="roundRect">
            <a:avLst>
              <a:gd name="" fmla="val 6000"/>
            </a:avLst>
          </a:prstGeom>
          <a:solidFill>
            <a:srgbClr val="FFFFFF"/>
          </a:solidFill>
          <a:ln w="9525">
            <a:solidFill>
              <a:srgbClr val="E5E0D6"/>
            </a:solidFill>
          </a:ln>
        </p:spPr>
      </p:sp>
      <p:sp>
        <p:nvSpPr>
          <p:cNvPr id="33" name=""/>
          <p:cNvSpPr txBox="1"/>
          <p:nvPr/>
        </p:nvSpPr>
        <p:spPr>
          <a:xfrm>
            <a:off x="8211311" y="3337560"/>
            <a:ext cx="3246120" cy="274320"/>
          </a:xfrm>
          <a:prstGeom prst="rect">
            <a:avLst/>
          </a:prstGeom>
          <a:noFill/>
        </p:spPr>
        <p:txBody>
          <a:bodyPr wrap="square" lIns="36576" rIns="36576" tIns="18288" bIns="18288" anchor="t">
            <a:spAutoFit/>
          </a:bodyPr>
          <a:lstStyle/>
          <a:p>
            <a:pPr algn="l"/>
            <a:r>
              <a:rPr sz="1200" b="1">
                <a:solidFill>
                  <a:srgbClr val="0F172A"/>
                </a:solidFill>
                <a:latin typeface="Space Grotesk"/>
              </a:rPr>
              <a:t>This week's efficiency</a:t>
            </a:r>
          </a:p>
        </p:txBody>
      </p:sp>
      <p:sp>
        <p:nvSpPr>
          <p:cNvPr id="34" name=""/>
          <p:cNvSpPr txBox="1"/>
          <p:nvPr/>
        </p:nvSpPr>
        <p:spPr>
          <a:xfrm>
            <a:off x="8211311" y="3657600"/>
            <a:ext cx="3246120" cy="2468879"/>
          </a:xfrm>
          <a:prstGeom prst="rect">
            <a:avLst/>
          </a:prstGeom>
          <a:noFill/>
        </p:spPr>
        <p:txBody>
          <a:bodyPr wrap="square" lIns="36576" rIns="36576" tIns="18288" bIns="18288" anchor="t">
            <a:spAutoFit/>
          </a:bodyPr>
          <a:lstStyle/>
          <a:p>
            <a:pPr algn="l">
              <a:spcAft>
                <a:spcPts val="500"/>
              </a:spcAft>
            </a:pPr>
            <a:r>
              <a:rPr sz="1100" b="0">
                <a:solidFill>
                  <a:srgbClr val="334155"/>
                </a:solidFill>
                <a:latin typeface="Inter"/>
              </a:rPr>
              <a:t>Spend $3,612 (-26%), ad sales $34,696 (+19%).</a:t>
            </a:r>
          </a:p>
          <a:p>
            <a:pPr algn="l">
              <a:spcAft>
                <a:spcPts val="500"/>
              </a:spcAft>
            </a:pPr>
            <a:r>
              <a:rPr sz="1100" b="0">
                <a:solidFill>
                  <a:srgbClr val="334155"/>
                </a:solidFill>
                <a:latin typeface="Inter"/>
              </a:rPr>
              <a:t>ACoS 10.4% (-6.5 pts); TACoS 6.3% (-4.1 pts).</a:t>
            </a:r>
          </a:p>
          <a:p>
            <a:pPr algn="l">
              <a:spcAft>
                <a:spcPts val="500"/>
              </a:spcAft>
            </a:pPr>
            <a:r>
              <a:rPr sz="1100" b="0">
                <a:solidFill>
                  <a:srgbClr val="334155"/>
                </a:solidFill>
                <a:latin typeface="Inter"/>
              </a:rPr>
              <a:t>CPC $1.43, 78 ad orders.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
          <p:cNvSpPr/>
          <p:nvPr/>
        </p:nvSpPr>
        <p:spPr>
          <a:xfrm>
            <a:off x="0" y="0"/>
            <a:ext cx="12191695" cy="6858000"/>
          </a:xfrm>
          <a:prstGeom prst="rect">
            <a:avLst/>
          </a:prstGeom>
          <a:solidFill>
            <a:srgbClr val="FFFFFF"/>
          </a:solidFill>
          <a:ln>
            <a:noFill/>
          </a:ln>
        </p:spPr>
      </p:sp>
      <p:sp>
        <p:nvSpPr>
          <p:cNvPr id="3" name=""/>
          <p:cNvSpPr/>
          <p:nvPr/>
        </p:nvSpPr>
        <p:spPr>
          <a:xfrm>
            <a:off x="548640" y="502920"/>
            <a:ext cx="73152" cy="566928"/>
          </a:xfrm>
          <a:prstGeom prst="rect">
            <a:avLst/>
          </a:prstGeom>
          <a:solidFill>
            <a:srgbClr val="2447FF"/>
          </a:solidFill>
          <a:ln>
            <a:noFill/>
          </a:ln>
        </p:spPr>
      </p:sp>
      <p:sp>
        <p:nvSpPr>
          <p:cNvPr id="4" name=""/>
          <p:cNvSpPr txBox="1"/>
          <p:nvPr/>
        </p:nvSpPr>
        <p:spPr>
          <a:xfrm>
            <a:off x="731520" y="384048"/>
            <a:ext cx="8686800" cy="274320"/>
          </a:xfrm>
          <a:prstGeom prst="rect">
            <a:avLst/>
          </a:prstGeom>
          <a:noFill/>
        </p:spPr>
        <p:txBody>
          <a:bodyPr wrap="square" lIns="36576" rIns="36576" tIns="18288" bIns="18288" anchor="t">
            <a:spAutoFit/>
          </a:bodyPr>
          <a:lstStyle/>
          <a:p>
            <a:pPr algn="l"/>
            <a:r>
              <a:rPr sz="1000" b="1">
                <a:solidFill>
                  <a:srgbClr val="2447FF"/>
                </a:solidFill>
                <a:latin typeface="Space Grotesk"/>
              </a:rPr>
              <a:t>AMAZON ADS</a:t>
            </a:r>
          </a:p>
        </p:txBody>
      </p:sp>
      <p:sp>
        <p:nvSpPr>
          <p:cNvPr id="5" name=""/>
          <p:cNvSpPr txBox="1"/>
          <p:nvPr/>
        </p:nvSpPr>
        <p:spPr>
          <a:xfrm>
            <a:off x="731520" y="603504"/>
            <a:ext cx="9601200" cy="548640"/>
          </a:xfrm>
          <a:prstGeom prst="rect">
            <a:avLst/>
          </a:prstGeom>
          <a:noFill/>
        </p:spPr>
        <p:txBody>
          <a:bodyPr wrap="square" lIns="36576" rIns="36576" tIns="18288" bIns="18288" anchor="t">
            <a:spAutoFit/>
          </a:bodyPr>
          <a:lstStyle/>
          <a:p>
            <a:pPr algn="l"/>
            <a:r>
              <a:rPr sz="2600" b="1">
                <a:solidFill>
                  <a:srgbClr val="0F172A"/>
                </a:solidFill>
                <a:latin typeface="Space Grotesk"/>
              </a:rPr>
              <a:t>Brand vs. category spend</a:t>
            </a:r>
          </a:p>
        </p:txBody>
      </p:sp>
      <p:pic>
        <p:nvPicPr>
          <p:cNvPr id="6" name="" descr="logo_s.png"/>
          <p:cNvPicPr>
            <a:picLocks noChangeAspect="1"/>
          </p:cNvPicPr>
          <p:nvPr/>
        </p:nvPicPr>
        <p:blipFill>
          <a:blip r:embed="rId2"/>
          <a:stretch>
            <a:fillRect/>
          </a:stretch>
        </p:blipFill>
        <p:spPr>
          <a:xfrm>
            <a:off x="10195560" y="457200"/>
            <a:ext cx="1463040" cy="256032"/>
          </a:xfrm>
          <a:prstGeom prst="rect">
            <a:avLst/>
          </a:prstGeom>
        </p:spPr>
      </p:pic>
      <p:sp>
        <p:nvSpPr>
          <p:cNvPr id="7" name=""/>
          <p:cNvSpPr/>
          <p:nvPr/>
        </p:nvSpPr>
        <p:spPr>
          <a:xfrm>
            <a:off x="548640" y="6400800"/>
            <a:ext cx="11091672" cy="10972"/>
          </a:xfrm>
          <a:prstGeom prst="rect">
            <a:avLst/>
          </a:prstGeom>
          <a:solidFill>
            <a:srgbClr val="E5E0D6"/>
          </a:solidFill>
          <a:ln>
            <a:noFill/>
          </a:ln>
        </p:spPr>
      </p:sp>
      <p:sp>
        <p:nvSpPr>
          <p:cNvPr id="8" name=""/>
          <p:cNvSpPr txBox="1"/>
          <p:nvPr/>
        </p:nvSpPr>
        <p:spPr>
          <a:xfrm>
            <a:off x="548640" y="6455664"/>
            <a:ext cx="8229600" cy="274320"/>
          </a:xfrm>
          <a:prstGeom prst="rect">
            <a:avLst/>
          </a:prstGeom>
          <a:noFill/>
        </p:spPr>
        <p:txBody>
          <a:bodyPr wrap="square" lIns="36576" rIns="36576" tIns="18288" bIns="18288" anchor="t">
            <a:spAutoFit/>
          </a:bodyPr>
          <a:lstStyle/>
          <a:p>
            <a:pPr algn="l"/>
            <a:r>
              <a:rPr sz="900" b="0">
                <a:solidFill>
                  <a:srgbClr val="6B6558"/>
                </a:solidFill>
                <a:latin typeface="Inter"/>
              </a:rPr>
              <a:t>Dormeo Canada · Weekly Business Review · Week 43 (Oct 18–24, 2026)</a:t>
            </a:r>
          </a:p>
        </p:txBody>
      </p:sp>
      <p:sp>
        <p:nvSpPr>
          <p:cNvPr id="9" name=""/>
          <p:cNvSpPr txBox="1"/>
          <p:nvPr/>
        </p:nvSpPr>
        <p:spPr>
          <a:xfrm>
            <a:off x="10241280" y="6455664"/>
            <a:ext cx="1399032" cy="274320"/>
          </a:xfrm>
          <a:prstGeom prst="rect">
            <a:avLst/>
          </a:prstGeom>
          <a:noFill/>
        </p:spPr>
        <p:txBody>
          <a:bodyPr wrap="square" lIns="36576" rIns="36576" tIns="18288" bIns="18288" anchor="t">
            <a:spAutoFit/>
          </a:bodyPr>
          <a:lstStyle/>
          <a:p>
            <a:pPr algn="r"/>
            <a:r>
              <a:rPr sz="900" b="0">
                <a:solidFill>
                  <a:srgbClr val="6B6558"/>
                </a:solidFill>
                <a:latin typeface="Inter"/>
              </a:rPr>
              <a:t>6 / 17</a:t>
            </a:r>
          </a:p>
        </p:txBody>
      </p:sp>
      <p:graphicFrame>
        <p:nvGraphicFramePr>
          <p:cNvPr id="10" name=""/>
          <p:cNvGraphicFramePr>
            <a:graphicFrameLocks noGrp="1"/>
          </p:cNvGraphicFramePr>
          <p:nvPr/>
        </p:nvGraphicFramePr>
        <p:xfrm>
          <a:off x="548640" y="1417320"/>
          <a:ext cx="6766560" cy="3127248"/>
        </p:xfrm>
        <a:graphic>
          <a:graphicData uri="http://schemas.openxmlformats.org/drawingml/2006/table">
            <a:tbl>
              <a:tblPr firstRow="1" bandRow="1">
                <a:tableStyleId>{5C22544A-7EE6-4342-B048-85BDC9FD1C3A}</a:tableStyleId>
              </a:tblPr>
              <a:tblGrid>
                <a:gridCol w="2651760"/>
                <a:gridCol w="914400"/>
                <a:gridCol w="914400"/>
                <a:gridCol w="731520"/>
                <a:gridCol w="777240"/>
                <a:gridCol w="777240"/>
              </a:tblGrid>
              <a:tr h="347472">
                <a:tc>
                  <a:txBody>
                    <a:bodyPr wrap="square"/>
                    <a:lstStyle/>
                    <a:p>
                      <a:pPr algn="l"/>
                      <a:r>
                        <a:rPr sz="950" b="1">
                          <a:solidFill>
                            <a:srgbClr val="FFFFFF"/>
                          </a:solidFill>
                          <a:latin typeface="Inter"/>
                        </a:rPr>
                        <a:t>Strategy</a:t>
                      </a:r>
                    </a:p>
                  </a:txBody>
                  <a:tcPr marL="54864" marR="54864" marT="27432" marB="27432" anchor="ctr">
                    <a:solidFill>
                      <a:srgbClr val="0F172A"/>
                    </a:solidFill>
                  </a:tcPr>
                </a:tc>
                <a:tc>
                  <a:txBody>
                    <a:bodyPr wrap="square"/>
                    <a:lstStyle/>
                    <a:p>
                      <a:pPr algn="r"/>
                      <a:r>
                        <a:rPr sz="950" b="1">
                          <a:solidFill>
                            <a:srgbClr val="FFFFFF"/>
                          </a:solidFill>
                          <a:latin typeface="Inter"/>
                        </a:rPr>
                        <a:t>Ad spend</a:t>
                      </a:r>
                    </a:p>
                  </a:txBody>
                  <a:tcPr marL="54864" marR="54864" marT="27432" marB="27432" anchor="ctr">
                    <a:solidFill>
                      <a:srgbClr val="0F172A"/>
                    </a:solidFill>
                  </a:tcPr>
                </a:tc>
                <a:tc>
                  <a:txBody>
                    <a:bodyPr wrap="square"/>
                    <a:lstStyle/>
                    <a:p>
                      <a:pPr algn="r"/>
                      <a:r>
                        <a:rPr sz="950" b="1">
                          <a:solidFill>
                            <a:srgbClr val="FFFFFF"/>
                          </a:solidFill>
                          <a:latin typeface="Inter"/>
                        </a:rPr>
                        <a:t>Ad sales</a:t>
                      </a:r>
                    </a:p>
                  </a:txBody>
                  <a:tcPr marL="54864" marR="54864" marT="27432" marB="27432" anchor="ctr">
                    <a:solidFill>
                      <a:srgbClr val="0F172A"/>
                    </a:solidFill>
                  </a:tcPr>
                </a:tc>
                <a:tc>
                  <a:txBody>
                    <a:bodyPr wrap="square"/>
                    <a:lstStyle/>
                    <a:p>
                      <a:pPr algn="r"/>
                      <a:r>
                        <a:rPr sz="950" b="1">
                          <a:solidFill>
                            <a:srgbClr val="FFFFFF"/>
                          </a:solidFill>
                          <a:latin typeface="Inter"/>
                        </a:rPr>
                        <a:t>ROAS</a:t>
                      </a:r>
                    </a:p>
                  </a:txBody>
                  <a:tcPr marL="54864" marR="54864" marT="27432" marB="27432" anchor="ctr">
                    <a:solidFill>
                      <a:srgbClr val="0F172A"/>
                    </a:solidFill>
                  </a:tcPr>
                </a:tc>
                <a:tc>
                  <a:txBody>
                    <a:bodyPr wrap="square"/>
                    <a:lstStyle/>
                    <a:p>
                      <a:pPr algn="r"/>
                      <a:r>
                        <a:rPr sz="950" b="1">
                          <a:solidFill>
                            <a:srgbClr val="FFFFFF"/>
                          </a:solidFill>
                          <a:latin typeface="Inter"/>
                        </a:rPr>
                        <a:t>ACoS</a:t>
                      </a:r>
                    </a:p>
                  </a:txBody>
                  <a:tcPr marL="54864" marR="54864" marT="27432" marB="27432" anchor="ctr">
                    <a:solidFill>
                      <a:srgbClr val="0F172A"/>
                    </a:solidFill>
                  </a:tcPr>
                </a:tc>
                <a:tc>
                  <a:txBody>
                    <a:bodyPr wrap="square"/>
                    <a:lstStyle/>
                    <a:p>
                      <a:pPr algn="r"/>
                      <a:r>
                        <a:rPr sz="950" b="1">
                          <a:solidFill>
                            <a:srgbClr val="FFFFFF"/>
                          </a:solidFill>
                          <a:latin typeface="Inter"/>
                        </a:rPr>
                        <a:t>Orders</a:t>
                      </a:r>
                    </a:p>
                  </a:txBody>
                  <a:tcPr marL="54864" marR="54864" marT="27432" marB="27432" anchor="ctr">
                    <a:solidFill>
                      <a:srgbClr val="0F172A"/>
                    </a:solidFill>
                  </a:tcPr>
                </a:tc>
              </a:tr>
              <a:tr h="347472">
                <a:tc>
                  <a:txBody>
                    <a:bodyPr wrap="square"/>
                    <a:lstStyle/>
                    <a:p>
                      <a:pPr algn="l"/>
                      <a:r>
                        <a:rPr sz="1050" b="0">
                          <a:solidFill>
                            <a:srgbClr val="0F172A"/>
                          </a:solidFill>
                          <a:latin typeface="Inter"/>
                        </a:rPr>
                        <a:t>Branded keywords</a:t>
                      </a:r>
                    </a:p>
                  </a:txBody>
                  <a:tcPr marL="54864" marR="54864" marT="27432" marB="27432" anchor="ctr">
                    <a:solidFill>
                      <a:srgbClr val="FFFFFF"/>
                    </a:solidFill>
                  </a:tcPr>
                </a:tc>
                <a:tc>
                  <a:txBody>
                    <a:bodyPr wrap="square"/>
                    <a:lstStyle/>
                    <a:p>
                      <a:pPr algn="r"/>
                      <a:r>
                        <a:rPr sz="1050" b="0">
                          <a:solidFill>
                            <a:srgbClr val="0F172A"/>
                          </a:solidFill>
                          <a:latin typeface="Inter"/>
                        </a:rPr>
                        <a:t>$1,605</a:t>
                      </a:r>
                    </a:p>
                  </a:txBody>
                  <a:tcPr marL="54864" marR="54864" marT="27432" marB="27432" anchor="ctr">
                    <a:solidFill>
                      <a:srgbClr val="FFFFFF"/>
                    </a:solidFill>
                  </a:tcPr>
                </a:tc>
                <a:tc>
                  <a:txBody>
                    <a:bodyPr wrap="square"/>
                    <a:lstStyle/>
                    <a:p>
                      <a:pPr algn="r"/>
                      <a:r>
                        <a:rPr sz="1050" b="0">
                          <a:solidFill>
                            <a:srgbClr val="0F172A"/>
                          </a:solidFill>
                          <a:latin typeface="Inter"/>
                        </a:rPr>
                        <a:t>$27,076</a:t>
                      </a:r>
                    </a:p>
                  </a:txBody>
                  <a:tcPr marL="54864" marR="54864" marT="27432" marB="27432" anchor="ctr">
                    <a:solidFill>
                      <a:srgbClr val="FFFFFF"/>
                    </a:solidFill>
                  </a:tcPr>
                </a:tc>
                <a:tc>
                  <a:txBody>
                    <a:bodyPr wrap="square"/>
                    <a:lstStyle/>
                    <a:p>
                      <a:pPr algn="r"/>
                      <a:r>
                        <a:rPr sz="1050" b="0">
                          <a:solidFill>
                            <a:srgbClr val="0F172A"/>
                          </a:solidFill>
                          <a:latin typeface="Inter"/>
                        </a:rPr>
                        <a:t>16.87x</a:t>
                      </a:r>
                    </a:p>
                  </a:txBody>
                  <a:tcPr marL="54864" marR="54864" marT="27432" marB="27432" anchor="ctr">
                    <a:solidFill>
                      <a:srgbClr val="FFFFFF"/>
                    </a:solidFill>
                  </a:tcPr>
                </a:tc>
                <a:tc>
                  <a:txBody>
                    <a:bodyPr wrap="square"/>
                    <a:lstStyle/>
                    <a:p>
                      <a:pPr algn="r"/>
                      <a:r>
                        <a:rPr sz="1050" b="0">
                          <a:solidFill>
                            <a:srgbClr val="0F172A"/>
                          </a:solidFill>
                          <a:latin typeface="Inter"/>
                        </a:rPr>
                        <a:t>5.9%</a:t>
                      </a:r>
                    </a:p>
                  </a:txBody>
                  <a:tcPr marL="54864" marR="54864" marT="27432" marB="27432" anchor="ctr">
                    <a:solidFill>
                      <a:srgbClr val="FFFFFF"/>
                    </a:solidFill>
                  </a:tcPr>
                </a:tc>
                <a:tc>
                  <a:txBody>
                    <a:bodyPr wrap="square"/>
                    <a:lstStyle/>
                    <a:p>
                      <a:pPr algn="r"/>
                      <a:r>
                        <a:rPr sz="1050" b="0">
                          <a:solidFill>
                            <a:srgbClr val="0F172A"/>
                          </a:solidFill>
                          <a:latin typeface="Inter"/>
                        </a:rPr>
                        <a:t>60</a:t>
                      </a:r>
                    </a:p>
                  </a:txBody>
                  <a:tcPr marL="54864" marR="54864" marT="27432" marB="27432" anchor="ctr">
                    <a:solidFill>
                      <a:srgbClr val="FFFFFF"/>
                    </a:solidFill>
                  </a:tcPr>
                </a:tc>
              </a:tr>
              <a:tr h="347472">
                <a:tc>
                  <a:txBody>
                    <a:bodyPr wrap="square"/>
                    <a:lstStyle/>
                    <a:p>
                      <a:pPr algn="l"/>
                      <a:r>
                        <a:rPr sz="1050" b="0">
                          <a:solidFill>
                            <a:srgbClr val="0F172A"/>
                          </a:solidFill>
                          <a:latin typeface="Inter"/>
                        </a:rPr>
                        <a:t>Audience / category display</a:t>
                      </a:r>
                    </a:p>
                  </a:txBody>
                  <a:tcPr marL="54864" marR="54864" marT="27432" marB="27432" anchor="ctr">
                    <a:solidFill>
                      <a:srgbClr val="FBFAF7"/>
                    </a:solidFill>
                  </a:tcPr>
                </a:tc>
                <a:tc>
                  <a:txBody>
                    <a:bodyPr wrap="square"/>
                    <a:lstStyle/>
                    <a:p>
                      <a:pPr algn="r"/>
                      <a:r>
                        <a:rPr sz="1050" b="0">
                          <a:solidFill>
                            <a:srgbClr val="0F172A"/>
                          </a:solidFill>
                          <a:latin typeface="Inter"/>
                        </a:rPr>
                        <a:t>$942</a:t>
                      </a:r>
                    </a:p>
                  </a:txBody>
                  <a:tcPr marL="54864" marR="54864" marT="27432" marB="27432" anchor="ctr">
                    <a:solidFill>
                      <a:srgbClr val="FBFAF7"/>
                    </a:solidFill>
                  </a:tcPr>
                </a:tc>
                <a:tc>
                  <a:txBody>
                    <a:bodyPr wrap="square"/>
                    <a:lstStyle/>
                    <a:p>
                      <a:pPr algn="r"/>
                      <a:r>
                        <a:rPr sz="1050" b="0">
                          <a:solidFill>
                            <a:srgbClr val="0F172A"/>
                          </a:solidFill>
                          <a:latin typeface="Inter"/>
                        </a:rPr>
                        <a:t>$0</a:t>
                      </a:r>
                    </a:p>
                  </a:txBody>
                  <a:tcPr marL="54864" marR="54864" marT="27432" marB="27432" anchor="ctr">
                    <a:solidFill>
                      <a:srgbClr val="FBFAF7"/>
                    </a:solidFill>
                  </a:tcPr>
                </a:tc>
                <a:tc>
                  <a:txBody>
                    <a:bodyPr wrap="square"/>
                    <a:lstStyle/>
                    <a:p>
                      <a:pPr algn="r"/>
                      <a:r>
                        <a:rPr sz="1050" b="0">
                          <a:solidFill>
                            <a:srgbClr val="0F172A"/>
                          </a:solidFill>
                          <a:latin typeface="Inter"/>
                        </a:rPr>
                        <a:t>0.00x</a:t>
                      </a:r>
                    </a:p>
                  </a:txBody>
                  <a:tcPr marL="54864" marR="54864" marT="27432" marB="27432" anchor="ctr">
                    <a:solidFill>
                      <a:srgbClr val="FBFAF7"/>
                    </a:solidFill>
                  </a:tcPr>
                </a:tc>
                <a:tc>
                  <a:txBody>
                    <a:bodyPr wrap="square"/>
                    <a:lstStyle/>
                    <a:p>
                      <a:pPr algn="r"/>
                      <a:r>
                        <a:rPr sz="1050" b="0">
                          <a:solidFill>
                            <a:srgbClr val="0F172A"/>
                          </a:solidFill>
                          <a:latin typeface="Inter"/>
                        </a:rPr>
                        <a:t>—</a:t>
                      </a:r>
                    </a:p>
                  </a:txBody>
                  <a:tcPr marL="54864" marR="54864" marT="27432" marB="27432" anchor="ctr">
                    <a:solidFill>
                      <a:srgbClr val="FBFAF7"/>
                    </a:solidFill>
                  </a:tcPr>
                </a:tc>
                <a:tc>
                  <a:txBody>
                    <a:bodyPr wrap="square"/>
                    <a:lstStyle/>
                    <a:p>
                      <a:pPr algn="r"/>
                      <a:r>
                        <a:rPr sz="1050" b="0">
                          <a:solidFill>
                            <a:srgbClr val="0F172A"/>
                          </a:solidFill>
                          <a:latin typeface="Inter"/>
                        </a:rPr>
                        <a:t>0</a:t>
                      </a:r>
                    </a:p>
                  </a:txBody>
                  <a:tcPr marL="54864" marR="54864" marT="27432" marB="27432" anchor="ctr">
                    <a:solidFill>
                      <a:srgbClr val="FBFAF7"/>
                    </a:solidFill>
                  </a:tcPr>
                </a:tc>
              </a:tr>
              <a:tr h="347472">
                <a:tc>
                  <a:txBody>
                    <a:bodyPr wrap="square"/>
                    <a:lstStyle/>
                    <a:p>
                      <a:pPr algn="l"/>
                      <a:r>
                        <a:rPr sz="1050" b="0">
                          <a:solidFill>
                            <a:srgbClr val="0F172A"/>
                          </a:solidFill>
                          <a:latin typeface="Inter"/>
                        </a:rPr>
                        <a:t>Category keywords</a:t>
                      </a:r>
                    </a:p>
                  </a:txBody>
                  <a:tcPr marL="54864" marR="54864" marT="27432" marB="27432" anchor="ctr">
                    <a:solidFill>
                      <a:srgbClr val="FFFFFF"/>
                    </a:solidFill>
                  </a:tcPr>
                </a:tc>
                <a:tc>
                  <a:txBody>
                    <a:bodyPr wrap="square"/>
                    <a:lstStyle/>
                    <a:p>
                      <a:pPr algn="r"/>
                      <a:r>
                        <a:rPr sz="1050" b="0">
                          <a:solidFill>
                            <a:srgbClr val="0F172A"/>
                          </a:solidFill>
                          <a:latin typeface="Inter"/>
                        </a:rPr>
                        <a:t>$568</a:t>
                      </a:r>
                    </a:p>
                  </a:txBody>
                  <a:tcPr marL="54864" marR="54864" marT="27432" marB="27432" anchor="ctr">
                    <a:solidFill>
                      <a:srgbClr val="FFFFFF"/>
                    </a:solidFill>
                  </a:tcPr>
                </a:tc>
                <a:tc>
                  <a:txBody>
                    <a:bodyPr wrap="square"/>
                    <a:lstStyle/>
                    <a:p>
                      <a:pPr algn="r"/>
                      <a:r>
                        <a:rPr sz="1050" b="0">
                          <a:solidFill>
                            <a:srgbClr val="0F172A"/>
                          </a:solidFill>
                          <a:latin typeface="Inter"/>
                        </a:rPr>
                        <a:t>$2,122</a:t>
                      </a:r>
                    </a:p>
                  </a:txBody>
                  <a:tcPr marL="54864" marR="54864" marT="27432" marB="27432" anchor="ctr">
                    <a:solidFill>
                      <a:srgbClr val="FFFFFF"/>
                    </a:solidFill>
                  </a:tcPr>
                </a:tc>
                <a:tc>
                  <a:txBody>
                    <a:bodyPr wrap="square"/>
                    <a:lstStyle/>
                    <a:p>
                      <a:pPr algn="r"/>
                      <a:r>
                        <a:rPr sz="1050" b="0">
                          <a:solidFill>
                            <a:srgbClr val="0F172A"/>
                          </a:solidFill>
                          <a:latin typeface="Inter"/>
                        </a:rPr>
                        <a:t>3.73x</a:t>
                      </a:r>
                    </a:p>
                  </a:txBody>
                  <a:tcPr marL="54864" marR="54864" marT="27432" marB="27432" anchor="ctr">
                    <a:solidFill>
                      <a:srgbClr val="FFFFFF"/>
                    </a:solidFill>
                  </a:tcPr>
                </a:tc>
                <a:tc>
                  <a:txBody>
                    <a:bodyPr wrap="square"/>
                    <a:lstStyle/>
                    <a:p>
                      <a:pPr algn="r"/>
                      <a:r>
                        <a:rPr sz="1050" b="0">
                          <a:solidFill>
                            <a:srgbClr val="0F172A"/>
                          </a:solidFill>
                          <a:latin typeface="Inter"/>
                        </a:rPr>
                        <a:t>26.8%</a:t>
                      </a:r>
                    </a:p>
                  </a:txBody>
                  <a:tcPr marL="54864" marR="54864" marT="27432" marB="27432" anchor="ctr">
                    <a:solidFill>
                      <a:srgbClr val="FFFFFF"/>
                    </a:solidFill>
                  </a:tcPr>
                </a:tc>
                <a:tc>
                  <a:txBody>
                    <a:bodyPr wrap="square"/>
                    <a:lstStyle/>
                    <a:p>
                      <a:pPr algn="r"/>
                      <a:r>
                        <a:rPr sz="1050" b="0">
                          <a:solidFill>
                            <a:srgbClr val="0F172A"/>
                          </a:solidFill>
                          <a:latin typeface="Inter"/>
                        </a:rPr>
                        <a:t>6</a:t>
                      </a:r>
                    </a:p>
                  </a:txBody>
                  <a:tcPr marL="54864" marR="54864" marT="27432" marB="27432" anchor="ctr">
                    <a:solidFill>
                      <a:srgbClr val="FFFFFF"/>
                    </a:solidFill>
                  </a:tcPr>
                </a:tc>
              </a:tr>
              <a:tr h="347472">
                <a:tc>
                  <a:txBody>
                    <a:bodyPr wrap="square"/>
                    <a:lstStyle/>
                    <a:p>
                      <a:pPr algn="l"/>
                      <a:r>
                        <a:rPr sz="1050" b="0">
                          <a:solidFill>
                            <a:srgbClr val="0F172A"/>
                          </a:solidFill>
                          <a:latin typeface="Inter"/>
                        </a:rPr>
                        <a:t>Brand defense (product targets)</a:t>
                      </a:r>
                    </a:p>
                  </a:txBody>
                  <a:tcPr marL="54864" marR="54864" marT="27432" marB="27432" anchor="ctr">
                    <a:solidFill>
                      <a:srgbClr val="FBFAF7"/>
                    </a:solidFill>
                  </a:tcPr>
                </a:tc>
                <a:tc>
                  <a:txBody>
                    <a:bodyPr wrap="square"/>
                    <a:lstStyle/>
                    <a:p>
                      <a:pPr algn="r"/>
                      <a:r>
                        <a:rPr sz="1050" b="0">
                          <a:solidFill>
                            <a:srgbClr val="0F172A"/>
                          </a:solidFill>
                          <a:latin typeface="Inter"/>
                        </a:rPr>
                        <a:t>$216</a:t>
                      </a:r>
                    </a:p>
                  </a:txBody>
                  <a:tcPr marL="54864" marR="54864" marT="27432" marB="27432" anchor="ctr">
                    <a:solidFill>
                      <a:srgbClr val="FBFAF7"/>
                    </a:solidFill>
                  </a:tcPr>
                </a:tc>
                <a:tc>
                  <a:txBody>
                    <a:bodyPr wrap="square"/>
                    <a:lstStyle/>
                    <a:p>
                      <a:pPr algn="r"/>
                      <a:r>
                        <a:rPr sz="1050" b="0">
                          <a:solidFill>
                            <a:srgbClr val="0F172A"/>
                          </a:solidFill>
                          <a:latin typeface="Inter"/>
                        </a:rPr>
                        <a:t>$4,301</a:t>
                      </a:r>
                    </a:p>
                  </a:txBody>
                  <a:tcPr marL="54864" marR="54864" marT="27432" marB="27432" anchor="ctr">
                    <a:solidFill>
                      <a:srgbClr val="FBFAF7"/>
                    </a:solidFill>
                  </a:tcPr>
                </a:tc>
                <a:tc>
                  <a:txBody>
                    <a:bodyPr wrap="square"/>
                    <a:lstStyle/>
                    <a:p>
                      <a:pPr algn="r"/>
                      <a:r>
                        <a:rPr sz="1050" b="0">
                          <a:solidFill>
                            <a:srgbClr val="0F172A"/>
                          </a:solidFill>
                          <a:latin typeface="Inter"/>
                        </a:rPr>
                        <a:t>19.89x</a:t>
                      </a:r>
                    </a:p>
                  </a:txBody>
                  <a:tcPr marL="54864" marR="54864" marT="27432" marB="27432" anchor="ctr">
                    <a:solidFill>
                      <a:srgbClr val="FBFAF7"/>
                    </a:solidFill>
                  </a:tcPr>
                </a:tc>
                <a:tc>
                  <a:txBody>
                    <a:bodyPr wrap="square"/>
                    <a:lstStyle/>
                    <a:p>
                      <a:pPr algn="r"/>
                      <a:r>
                        <a:rPr sz="1050" b="0">
                          <a:solidFill>
                            <a:srgbClr val="0F172A"/>
                          </a:solidFill>
                          <a:latin typeface="Inter"/>
                        </a:rPr>
                        <a:t>5.0%</a:t>
                      </a:r>
                    </a:p>
                  </a:txBody>
                  <a:tcPr marL="54864" marR="54864" marT="27432" marB="27432" anchor="ctr">
                    <a:solidFill>
                      <a:srgbClr val="FBFAF7"/>
                    </a:solidFill>
                  </a:tcPr>
                </a:tc>
                <a:tc>
                  <a:txBody>
                    <a:bodyPr wrap="square"/>
                    <a:lstStyle/>
                    <a:p>
                      <a:pPr algn="r"/>
                      <a:r>
                        <a:rPr sz="1050" b="0">
                          <a:solidFill>
                            <a:srgbClr val="0F172A"/>
                          </a:solidFill>
                          <a:latin typeface="Inter"/>
                        </a:rPr>
                        <a:t>7</a:t>
                      </a:r>
                    </a:p>
                  </a:txBody>
                  <a:tcPr marL="54864" marR="54864" marT="27432" marB="27432" anchor="ctr">
                    <a:solidFill>
                      <a:srgbClr val="FBFAF7"/>
                    </a:solidFill>
                  </a:tcPr>
                </a:tc>
              </a:tr>
              <a:tr h="347472">
                <a:tc>
                  <a:txBody>
                    <a:bodyPr wrap="square"/>
                    <a:lstStyle/>
                    <a:p>
                      <a:pPr algn="l"/>
                      <a:r>
                        <a:rPr sz="1050" b="0">
                          <a:solidFill>
                            <a:srgbClr val="0F172A"/>
                          </a:solidFill>
                          <a:latin typeface="Inter"/>
                        </a:rPr>
                        <a:t>Other</a:t>
                      </a:r>
                    </a:p>
                  </a:txBody>
                  <a:tcPr marL="54864" marR="54864" marT="27432" marB="27432" anchor="ctr">
                    <a:solidFill>
                      <a:srgbClr val="FFFFFF"/>
                    </a:solidFill>
                  </a:tcPr>
                </a:tc>
                <a:tc>
                  <a:txBody>
                    <a:bodyPr wrap="square"/>
                    <a:lstStyle/>
                    <a:p>
                      <a:pPr algn="r"/>
                      <a:r>
                        <a:rPr sz="1050" b="0">
                          <a:solidFill>
                            <a:srgbClr val="0F172A"/>
                          </a:solidFill>
                          <a:latin typeface="Inter"/>
                        </a:rPr>
                        <a:t>$126</a:t>
                      </a:r>
                    </a:p>
                  </a:txBody>
                  <a:tcPr marL="54864" marR="54864" marT="27432" marB="27432" anchor="ctr">
                    <a:solidFill>
                      <a:srgbClr val="FFFFFF"/>
                    </a:solidFill>
                  </a:tcPr>
                </a:tc>
                <a:tc>
                  <a:txBody>
                    <a:bodyPr wrap="square"/>
                    <a:lstStyle/>
                    <a:p>
                      <a:pPr algn="r"/>
                      <a:r>
                        <a:rPr sz="1050" b="0">
                          <a:solidFill>
                            <a:srgbClr val="0F172A"/>
                          </a:solidFill>
                          <a:latin typeface="Inter"/>
                        </a:rPr>
                        <a:t>$735</a:t>
                      </a:r>
                    </a:p>
                  </a:txBody>
                  <a:tcPr marL="54864" marR="54864" marT="27432" marB="27432" anchor="ctr">
                    <a:solidFill>
                      <a:srgbClr val="FFFFFF"/>
                    </a:solidFill>
                  </a:tcPr>
                </a:tc>
                <a:tc>
                  <a:txBody>
                    <a:bodyPr wrap="square"/>
                    <a:lstStyle/>
                    <a:p>
                      <a:pPr algn="r"/>
                      <a:r>
                        <a:rPr sz="1050" b="0">
                          <a:solidFill>
                            <a:srgbClr val="0F172A"/>
                          </a:solidFill>
                          <a:latin typeface="Inter"/>
                        </a:rPr>
                        <a:t>5.84x</a:t>
                      </a:r>
                    </a:p>
                  </a:txBody>
                  <a:tcPr marL="54864" marR="54864" marT="27432" marB="27432" anchor="ctr">
                    <a:solidFill>
                      <a:srgbClr val="FFFFFF"/>
                    </a:solidFill>
                  </a:tcPr>
                </a:tc>
                <a:tc>
                  <a:txBody>
                    <a:bodyPr wrap="square"/>
                    <a:lstStyle/>
                    <a:p>
                      <a:pPr algn="r"/>
                      <a:r>
                        <a:rPr sz="1050" b="0">
                          <a:solidFill>
                            <a:srgbClr val="0F172A"/>
                          </a:solidFill>
                          <a:latin typeface="Inter"/>
                        </a:rPr>
                        <a:t>17.1%</a:t>
                      </a:r>
                    </a:p>
                  </a:txBody>
                  <a:tcPr marL="54864" marR="54864" marT="27432" marB="27432" anchor="ctr">
                    <a:solidFill>
                      <a:srgbClr val="FFFFFF"/>
                    </a:solidFill>
                  </a:tcPr>
                </a:tc>
                <a:tc>
                  <a:txBody>
                    <a:bodyPr wrap="square"/>
                    <a:lstStyle/>
                    <a:p>
                      <a:pPr algn="r"/>
                      <a:r>
                        <a:rPr sz="1050" b="0">
                          <a:solidFill>
                            <a:srgbClr val="0F172A"/>
                          </a:solidFill>
                          <a:latin typeface="Inter"/>
                        </a:rPr>
                        <a:t>2</a:t>
                      </a:r>
                    </a:p>
                  </a:txBody>
                  <a:tcPr marL="54864" marR="54864" marT="27432" marB="27432" anchor="ctr">
                    <a:solidFill>
                      <a:srgbClr val="FFFFFF"/>
                    </a:solidFill>
                  </a:tcPr>
                </a:tc>
              </a:tr>
              <a:tr h="347472">
                <a:tc>
                  <a:txBody>
                    <a:bodyPr wrap="square"/>
                    <a:lstStyle/>
                    <a:p>
                      <a:pPr algn="l"/>
                      <a:r>
                        <a:rPr sz="1050" b="0">
                          <a:solidFill>
                            <a:srgbClr val="0F172A"/>
                          </a:solidFill>
                          <a:latin typeface="Inter"/>
                        </a:rPr>
                        <a:t>Competitor targeting</a:t>
                      </a:r>
                    </a:p>
                  </a:txBody>
                  <a:tcPr marL="54864" marR="54864" marT="27432" marB="27432" anchor="ctr">
                    <a:solidFill>
                      <a:srgbClr val="FBFAF7"/>
                    </a:solidFill>
                  </a:tcPr>
                </a:tc>
                <a:tc>
                  <a:txBody>
                    <a:bodyPr wrap="square"/>
                    <a:lstStyle/>
                    <a:p>
                      <a:pPr algn="r"/>
                      <a:r>
                        <a:rPr sz="1050" b="0">
                          <a:solidFill>
                            <a:srgbClr val="0F172A"/>
                          </a:solidFill>
                          <a:latin typeface="Inter"/>
                        </a:rPr>
                        <a:t>$79</a:t>
                      </a:r>
                    </a:p>
                  </a:txBody>
                  <a:tcPr marL="54864" marR="54864" marT="27432" marB="27432" anchor="ctr">
                    <a:solidFill>
                      <a:srgbClr val="FBFAF7"/>
                    </a:solidFill>
                  </a:tcPr>
                </a:tc>
                <a:tc>
                  <a:txBody>
                    <a:bodyPr wrap="square"/>
                    <a:lstStyle/>
                    <a:p>
                      <a:pPr algn="r"/>
                      <a:r>
                        <a:rPr sz="1050" b="0">
                          <a:solidFill>
                            <a:srgbClr val="0F172A"/>
                          </a:solidFill>
                          <a:latin typeface="Inter"/>
                        </a:rPr>
                        <a:t>$0</a:t>
                      </a:r>
                    </a:p>
                  </a:txBody>
                  <a:tcPr marL="54864" marR="54864" marT="27432" marB="27432" anchor="ctr">
                    <a:solidFill>
                      <a:srgbClr val="FBFAF7"/>
                    </a:solidFill>
                  </a:tcPr>
                </a:tc>
                <a:tc>
                  <a:txBody>
                    <a:bodyPr wrap="square"/>
                    <a:lstStyle/>
                    <a:p>
                      <a:pPr algn="r"/>
                      <a:r>
                        <a:rPr sz="1050" b="0">
                          <a:solidFill>
                            <a:srgbClr val="0F172A"/>
                          </a:solidFill>
                          <a:latin typeface="Inter"/>
                        </a:rPr>
                        <a:t>0.00x</a:t>
                      </a:r>
                    </a:p>
                  </a:txBody>
                  <a:tcPr marL="54864" marR="54864" marT="27432" marB="27432" anchor="ctr">
                    <a:solidFill>
                      <a:srgbClr val="FBFAF7"/>
                    </a:solidFill>
                  </a:tcPr>
                </a:tc>
                <a:tc>
                  <a:txBody>
                    <a:bodyPr wrap="square"/>
                    <a:lstStyle/>
                    <a:p>
                      <a:pPr algn="r"/>
                      <a:r>
                        <a:rPr sz="1050" b="0">
                          <a:solidFill>
                            <a:srgbClr val="0F172A"/>
                          </a:solidFill>
                          <a:latin typeface="Inter"/>
                        </a:rPr>
                        <a:t>—</a:t>
                      </a:r>
                    </a:p>
                  </a:txBody>
                  <a:tcPr marL="54864" marR="54864" marT="27432" marB="27432" anchor="ctr">
                    <a:solidFill>
                      <a:srgbClr val="FBFAF7"/>
                    </a:solidFill>
                  </a:tcPr>
                </a:tc>
                <a:tc>
                  <a:txBody>
                    <a:bodyPr wrap="square"/>
                    <a:lstStyle/>
                    <a:p>
                      <a:pPr algn="r"/>
                      <a:r>
                        <a:rPr sz="1050" b="0">
                          <a:solidFill>
                            <a:srgbClr val="0F172A"/>
                          </a:solidFill>
                          <a:latin typeface="Inter"/>
                        </a:rPr>
                        <a:t>0</a:t>
                      </a:r>
                    </a:p>
                  </a:txBody>
                  <a:tcPr marL="54864" marR="54864" marT="27432" marB="27432" anchor="ctr">
                    <a:solidFill>
                      <a:srgbClr val="FBFAF7"/>
                    </a:solidFill>
                  </a:tcPr>
                </a:tc>
              </a:tr>
              <a:tr h="347472">
                <a:tc>
                  <a:txBody>
                    <a:bodyPr wrap="square"/>
                    <a:lstStyle/>
                    <a:p>
                      <a:pPr algn="l"/>
                      <a:r>
                        <a:rPr sz="1050" b="0">
                          <a:solidFill>
                            <a:srgbClr val="0F172A"/>
                          </a:solidFill>
                          <a:latin typeface="Inter"/>
                        </a:rPr>
                        <a:t>Auto targeting</a:t>
                      </a:r>
                    </a:p>
                  </a:txBody>
                  <a:tcPr marL="54864" marR="54864" marT="27432" marB="27432" anchor="ctr">
                    <a:solidFill>
                      <a:srgbClr val="FFFFFF"/>
                    </a:solidFill>
                  </a:tcPr>
                </a:tc>
                <a:tc>
                  <a:txBody>
                    <a:bodyPr wrap="square"/>
                    <a:lstStyle/>
                    <a:p>
                      <a:pPr algn="r"/>
                      <a:r>
                        <a:rPr sz="1050" b="0">
                          <a:solidFill>
                            <a:srgbClr val="0F172A"/>
                          </a:solidFill>
                          <a:latin typeface="Inter"/>
                        </a:rPr>
                        <a:t>$55</a:t>
                      </a:r>
                    </a:p>
                  </a:txBody>
                  <a:tcPr marL="54864" marR="54864" marT="27432" marB="27432" anchor="ctr">
                    <a:solidFill>
                      <a:srgbClr val="FFFFFF"/>
                    </a:solidFill>
                  </a:tcPr>
                </a:tc>
                <a:tc>
                  <a:txBody>
                    <a:bodyPr wrap="square"/>
                    <a:lstStyle/>
                    <a:p>
                      <a:pPr algn="r"/>
                      <a:r>
                        <a:rPr sz="1050" b="0">
                          <a:solidFill>
                            <a:srgbClr val="0F172A"/>
                          </a:solidFill>
                          <a:latin typeface="Inter"/>
                        </a:rPr>
                        <a:t>$462</a:t>
                      </a:r>
                    </a:p>
                  </a:txBody>
                  <a:tcPr marL="54864" marR="54864" marT="27432" marB="27432" anchor="ctr">
                    <a:solidFill>
                      <a:srgbClr val="FFFFFF"/>
                    </a:solidFill>
                  </a:tcPr>
                </a:tc>
                <a:tc>
                  <a:txBody>
                    <a:bodyPr wrap="square"/>
                    <a:lstStyle/>
                    <a:p>
                      <a:pPr algn="r"/>
                      <a:r>
                        <a:rPr sz="1050" b="0">
                          <a:solidFill>
                            <a:srgbClr val="0F172A"/>
                          </a:solidFill>
                          <a:latin typeface="Inter"/>
                        </a:rPr>
                        <a:t>8.42x</a:t>
                      </a:r>
                    </a:p>
                  </a:txBody>
                  <a:tcPr marL="54864" marR="54864" marT="27432" marB="27432" anchor="ctr">
                    <a:solidFill>
                      <a:srgbClr val="FFFFFF"/>
                    </a:solidFill>
                  </a:tcPr>
                </a:tc>
                <a:tc>
                  <a:txBody>
                    <a:bodyPr wrap="square"/>
                    <a:lstStyle/>
                    <a:p>
                      <a:pPr algn="r"/>
                      <a:r>
                        <a:rPr sz="1050" b="0">
                          <a:solidFill>
                            <a:srgbClr val="0F172A"/>
                          </a:solidFill>
                          <a:latin typeface="Inter"/>
                        </a:rPr>
                        <a:t>11.9%</a:t>
                      </a:r>
                    </a:p>
                  </a:txBody>
                  <a:tcPr marL="54864" marR="54864" marT="27432" marB="27432" anchor="ctr">
                    <a:solidFill>
                      <a:srgbClr val="FFFFFF"/>
                    </a:solidFill>
                  </a:tcPr>
                </a:tc>
                <a:tc>
                  <a:txBody>
                    <a:bodyPr wrap="square"/>
                    <a:lstStyle/>
                    <a:p>
                      <a:pPr algn="r"/>
                      <a:r>
                        <a:rPr sz="1050" b="0">
                          <a:solidFill>
                            <a:srgbClr val="0F172A"/>
                          </a:solidFill>
                          <a:latin typeface="Inter"/>
                        </a:rPr>
                        <a:t>3</a:t>
                      </a:r>
                    </a:p>
                  </a:txBody>
                  <a:tcPr marL="54864" marR="54864" marT="27432" marB="27432" anchor="ctr">
                    <a:solidFill>
                      <a:srgbClr val="FFFFFF"/>
                    </a:solidFill>
                  </a:tcPr>
                </a:tc>
              </a:tr>
              <a:tr h="347472">
                <a:tc>
                  <a:txBody>
                    <a:bodyPr wrap="square"/>
                    <a:lstStyle/>
                    <a:p>
                      <a:pPr algn="l"/>
                      <a:r>
                        <a:rPr sz="1050" b="1">
                          <a:solidFill>
                            <a:srgbClr val="0F172A"/>
                          </a:solidFill>
                          <a:latin typeface="Inter"/>
                        </a:rPr>
                        <a:t>All campaigns</a:t>
                      </a:r>
                    </a:p>
                  </a:txBody>
                  <a:tcPr marL="54864" marR="54864" marT="27432" marB="27432" anchor="ctr">
                    <a:solidFill>
                      <a:srgbClr val="F6F3EC"/>
                    </a:solidFill>
                  </a:tcPr>
                </a:tc>
                <a:tc>
                  <a:txBody>
                    <a:bodyPr wrap="square"/>
                    <a:lstStyle/>
                    <a:p>
                      <a:pPr algn="r"/>
                      <a:r>
                        <a:rPr sz="1050" b="1">
                          <a:solidFill>
                            <a:srgbClr val="0F172A"/>
                          </a:solidFill>
                          <a:latin typeface="Inter"/>
                        </a:rPr>
                        <a:t>$3,602</a:t>
                      </a:r>
                    </a:p>
                  </a:txBody>
                  <a:tcPr marL="54864" marR="54864" marT="27432" marB="27432" anchor="ctr">
                    <a:solidFill>
                      <a:srgbClr val="F6F3EC"/>
                    </a:solidFill>
                  </a:tcPr>
                </a:tc>
                <a:tc>
                  <a:txBody>
                    <a:bodyPr wrap="square"/>
                    <a:lstStyle/>
                    <a:p>
                      <a:pPr algn="r"/>
                      <a:r>
                        <a:rPr sz="1050" b="1">
                          <a:solidFill>
                            <a:srgbClr val="0F172A"/>
                          </a:solidFill>
                          <a:latin typeface="Inter"/>
                        </a:rPr>
                        <a:t>$34,696</a:t>
                      </a:r>
                    </a:p>
                  </a:txBody>
                  <a:tcPr marL="54864" marR="54864" marT="27432" marB="27432" anchor="ctr">
                    <a:solidFill>
                      <a:srgbClr val="F6F3EC"/>
                    </a:solidFill>
                  </a:tcPr>
                </a:tc>
                <a:tc>
                  <a:txBody>
                    <a:bodyPr wrap="square"/>
                    <a:lstStyle/>
                    <a:p>
                      <a:pPr algn="r"/>
                      <a:r>
                        <a:rPr sz="1050" b="1">
                          <a:solidFill>
                            <a:srgbClr val="0F172A"/>
                          </a:solidFill>
                          <a:latin typeface="Inter"/>
                        </a:rPr>
                        <a:t>9.63x</a:t>
                      </a:r>
                    </a:p>
                  </a:txBody>
                  <a:tcPr marL="54864" marR="54864" marT="27432" marB="27432" anchor="ctr">
                    <a:solidFill>
                      <a:srgbClr val="F6F3EC"/>
                    </a:solidFill>
                  </a:tcPr>
                </a:tc>
                <a:tc>
                  <a:txBody>
                    <a:bodyPr wrap="square"/>
                    <a:lstStyle/>
                    <a:p>
                      <a:pPr algn="r"/>
                      <a:r>
                        <a:rPr sz="1050" b="1">
                          <a:solidFill>
                            <a:srgbClr val="0F172A"/>
                          </a:solidFill>
                          <a:latin typeface="Inter"/>
                        </a:rPr>
                        <a:t>10.4%</a:t>
                      </a:r>
                    </a:p>
                  </a:txBody>
                  <a:tcPr marL="54864" marR="54864" marT="27432" marB="27432" anchor="ctr">
                    <a:solidFill>
                      <a:srgbClr val="F6F3EC"/>
                    </a:solidFill>
                  </a:tcPr>
                </a:tc>
                <a:tc>
                  <a:txBody>
                    <a:bodyPr wrap="square"/>
                    <a:lstStyle/>
                    <a:p>
                      <a:pPr algn="r"/>
                      <a:r>
                        <a:rPr sz="1050" b="1">
                          <a:solidFill>
                            <a:srgbClr val="0F172A"/>
                          </a:solidFill>
                          <a:latin typeface="Inter"/>
                        </a:rPr>
                        <a:t>78</a:t>
                      </a:r>
                    </a:p>
                  </a:txBody>
                  <a:tcPr marL="54864" marR="54864" marT="27432" marB="27432" anchor="ctr">
                    <a:solidFill>
                      <a:srgbClr val="F6F3EC"/>
                    </a:solidFill>
                  </a:tcPr>
                </a:tc>
              </a:tr>
            </a:tbl>
          </a:graphicData>
        </a:graphic>
      </p:graphicFrame>
      <p:sp>
        <p:nvSpPr>
          <p:cNvPr id="11" name=""/>
          <p:cNvSpPr/>
          <p:nvPr/>
        </p:nvSpPr>
        <p:spPr>
          <a:xfrm>
            <a:off x="7543800" y="1417320"/>
            <a:ext cx="4096512" cy="2468880"/>
          </a:xfrm>
          <a:prstGeom prst="roundRect">
            <a:avLst>
              <a:gd name="" fmla="val 6000"/>
            </a:avLst>
          </a:prstGeom>
          <a:solidFill>
            <a:srgbClr val="FFFFFF"/>
          </a:solidFill>
          <a:ln w="9525">
            <a:solidFill>
              <a:srgbClr val="E5E0D6"/>
            </a:solidFill>
          </a:ln>
        </p:spPr>
      </p:sp>
      <p:sp>
        <p:nvSpPr>
          <p:cNvPr id="12" name=""/>
          <p:cNvSpPr txBox="1"/>
          <p:nvPr/>
        </p:nvSpPr>
        <p:spPr>
          <a:xfrm>
            <a:off x="7726679" y="1554480"/>
            <a:ext cx="3730752" cy="274320"/>
          </a:xfrm>
          <a:prstGeom prst="rect">
            <a:avLst/>
          </a:prstGeom>
          <a:noFill/>
        </p:spPr>
        <p:txBody>
          <a:bodyPr wrap="square" lIns="36576" rIns="36576" tIns="18288" bIns="18288" anchor="t">
            <a:spAutoFit/>
          </a:bodyPr>
          <a:lstStyle/>
          <a:p>
            <a:pPr algn="l"/>
            <a:r>
              <a:rPr sz="1200" b="1">
                <a:solidFill>
                  <a:srgbClr val="0F172A"/>
                </a:solidFill>
                <a:latin typeface="Space Grotesk"/>
              </a:rPr>
              <a:t>What it says</a:t>
            </a:r>
          </a:p>
        </p:txBody>
      </p:sp>
      <p:sp>
        <p:nvSpPr>
          <p:cNvPr id="13" name=""/>
          <p:cNvSpPr txBox="1"/>
          <p:nvPr/>
        </p:nvSpPr>
        <p:spPr>
          <a:xfrm>
            <a:off x="7726679" y="1874519"/>
            <a:ext cx="3730752" cy="1920240"/>
          </a:xfrm>
          <a:prstGeom prst="rect">
            <a:avLst/>
          </a:prstGeom>
          <a:noFill/>
        </p:spPr>
        <p:txBody>
          <a:bodyPr wrap="square" lIns="36576" rIns="36576" tIns="18288" bIns="18288" anchor="t">
            <a:spAutoFit/>
          </a:bodyPr>
          <a:lstStyle/>
          <a:p>
            <a:pPr algn="l">
              <a:spcAft>
                <a:spcPts val="500"/>
              </a:spcAft>
            </a:pPr>
            <a:r>
              <a:rPr sz="1050" b="0">
                <a:solidFill>
                  <a:srgbClr val="334155"/>
                </a:solidFill>
                <a:latin typeface="Inter"/>
              </a:rPr>
              <a:t>Branded keywords brought $27,076 in sales on $1,605 spend (5.9% ACoS) and 60 orders.</a:t>
            </a:r>
          </a:p>
          <a:p>
            <a:pPr algn="l">
              <a:spcAft>
                <a:spcPts val="500"/>
              </a:spcAft>
            </a:pPr>
            <a:r>
              <a:rPr sz="1050" b="0">
                <a:solidFill>
                  <a:srgbClr val="334155"/>
                </a:solidFill>
                <a:latin typeface="Inter"/>
              </a:rPr>
              <a:t>Category keywords spent $568 for $2,122 (26.8% ACoS); spend there was cut 55% vs last week.</a:t>
            </a:r>
          </a:p>
          <a:p>
            <a:pPr algn="l">
              <a:spcAft>
                <a:spcPts val="500"/>
              </a:spcAft>
            </a:pPr>
            <a:r>
              <a:rPr sz="1050" b="0">
                <a:solidFill>
                  <a:srgbClr val="334155"/>
                </a:solidFill>
                <a:latin typeface="Inter"/>
              </a:rPr>
              <a:t>Streaming TV spent $897 this week with no attributed sales.</a:t>
            </a:r>
          </a:p>
        </p:txBody>
      </p:sp>
      <p:sp>
        <p:nvSpPr>
          <p:cNvPr id="14" name=""/>
          <p:cNvSpPr/>
          <p:nvPr/>
        </p:nvSpPr>
        <p:spPr>
          <a:xfrm>
            <a:off x="7543800" y="4023360"/>
            <a:ext cx="4096512" cy="2194560"/>
          </a:xfrm>
          <a:prstGeom prst="roundRect">
            <a:avLst>
              <a:gd name="" fmla="val 6000"/>
            </a:avLst>
          </a:prstGeom>
          <a:solidFill>
            <a:srgbClr val="FFFFFF"/>
          </a:solidFill>
          <a:ln w="9525">
            <a:solidFill>
              <a:srgbClr val="E5E0D6"/>
            </a:solidFill>
          </a:ln>
        </p:spPr>
      </p:sp>
      <p:sp>
        <p:nvSpPr>
          <p:cNvPr id="15" name=""/>
          <p:cNvSpPr txBox="1"/>
          <p:nvPr/>
        </p:nvSpPr>
        <p:spPr>
          <a:xfrm>
            <a:off x="7726679" y="4160520"/>
            <a:ext cx="3730752" cy="274320"/>
          </a:xfrm>
          <a:prstGeom prst="rect">
            <a:avLst/>
          </a:prstGeom>
          <a:noFill/>
        </p:spPr>
        <p:txBody>
          <a:bodyPr wrap="square" lIns="36576" rIns="36576" tIns="18288" bIns="18288" anchor="t">
            <a:spAutoFit/>
          </a:bodyPr>
          <a:lstStyle/>
          <a:p>
            <a:pPr algn="l"/>
            <a:r>
              <a:rPr sz="1200" b="1">
                <a:solidFill>
                  <a:srgbClr val="0F172A"/>
                </a:solidFill>
                <a:latin typeface="Space Grotesk"/>
              </a:rPr>
              <a:t>Coverage note</a:t>
            </a:r>
          </a:p>
        </p:txBody>
      </p:sp>
      <p:sp>
        <p:nvSpPr>
          <p:cNvPr id="16" name=""/>
          <p:cNvSpPr txBox="1"/>
          <p:nvPr/>
        </p:nvSpPr>
        <p:spPr>
          <a:xfrm>
            <a:off x="7726679" y="4480560"/>
            <a:ext cx="3730752" cy="1645919"/>
          </a:xfrm>
          <a:prstGeom prst="rect">
            <a:avLst/>
          </a:prstGeom>
          <a:noFill/>
        </p:spPr>
        <p:txBody>
          <a:bodyPr wrap="square" lIns="36576" rIns="36576" tIns="18288" bIns="18288" anchor="t">
            <a:spAutoFit/>
          </a:bodyPr>
          <a:lstStyle/>
          <a:p>
            <a:pPr algn="l">
              <a:spcAft>
                <a:spcPts val="500"/>
              </a:spcAft>
            </a:pPr>
            <a:r>
              <a:rPr sz="1000" b="0">
                <a:solidFill>
                  <a:srgbClr val="334155"/>
                </a:solidFill>
                <a:latin typeface="Inter"/>
              </a:rPr>
              <a:t>Strategy is read from the campaign names (Brand / Category / Auto / Audience).</a:t>
            </a:r>
          </a:p>
          <a:p>
            <a:pPr algn="l">
              <a:spcAft>
                <a:spcPts val="500"/>
              </a:spcAft>
            </a:pPr>
            <a:r>
              <a:rPr sz="1000" b="0">
                <a:solidFill>
                  <a:srgbClr val="334155"/>
                </a:solidFill>
                <a:latin typeface="Inter"/>
              </a:rPr>
              <a:t>Campaign totals come from the campaign report and can differ slightly from account totals.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
          <p:cNvSpPr/>
          <p:nvPr/>
        </p:nvSpPr>
        <p:spPr>
          <a:xfrm>
            <a:off x="0" y="0"/>
            <a:ext cx="12191695" cy="6858000"/>
          </a:xfrm>
          <a:prstGeom prst="rect">
            <a:avLst/>
          </a:prstGeom>
          <a:solidFill>
            <a:srgbClr val="FFFFFF"/>
          </a:solidFill>
          <a:ln>
            <a:noFill/>
          </a:ln>
        </p:spPr>
      </p:sp>
      <p:sp>
        <p:nvSpPr>
          <p:cNvPr id="3" name=""/>
          <p:cNvSpPr/>
          <p:nvPr/>
        </p:nvSpPr>
        <p:spPr>
          <a:xfrm>
            <a:off x="548640" y="502920"/>
            <a:ext cx="73152" cy="566928"/>
          </a:xfrm>
          <a:prstGeom prst="rect">
            <a:avLst/>
          </a:prstGeom>
          <a:solidFill>
            <a:srgbClr val="2447FF"/>
          </a:solidFill>
          <a:ln>
            <a:noFill/>
          </a:ln>
        </p:spPr>
      </p:sp>
      <p:sp>
        <p:nvSpPr>
          <p:cNvPr id="4" name=""/>
          <p:cNvSpPr txBox="1"/>
          <p:nvPr/>
        </p:nvSpPr>
        <p:spPr>
          <a:xfrm>
            <a:off x="731520" y="384048"/>
            <a:ext cx="8686800" cy="274320"/>
          </a:xfrm>
          <a:prstGeom prst="rect">
            <a:avLst/>
          </a:prstGeom>
          <a:noFill/>
        </p:spPr>
        <p:txBody>
          <a:bodyPr wrap="square" lIns="36576" rIns="36576" tIns="18288" bIns="18288" anchor="t">
            <a:spAutoFit/>
          </a:bodyPr>
          <a:lstStyle/>
          <a:p>
            <a:pPr algn="l"/>
            <a:r>
              <a:rPr sz="1000" b="1">
                <a:solidFill>
                  <a:srgbClr val="2447FF"/>
                </a:solidFill>
                <a:latin typeface="Space Grotesk"/>
              </a:rPr>
              <a:t>AMAZON ADS</a:t>
            </a:r>
          </a:p>
        </p:txBody>
      </p:sp>
      <p:sp>
        <p:nvSpPr>
          <p:cNvPr id="5" name=""/>
          <p:cNvSpPr txBox="1"/>
          <p:nvPr/>
        </p:nvSpPr>
        <p:spPr>
          <a:xfrm>
            <a:off x="731520" y="603504"/>
            <a:ext cx="9601200" cy="548640"/>
          </a:xfrm>
          <a:prstGeom prst="rect">
            <a:avLst/>
          </a:prstGeom>
          <a:noFill/>
        </p:spPr>
        <p:txBody>
          <a:bodyPr wrap="square" lIns="36576" rIns="36576" tIns="18288" bIns="18288" anchor="t">
            <a:spAutoFit/>
          </a:bodyPr>
          <a:lstStyle/>
          <a:p>
            <a:pPr algn="l"/>
            <a:r>
              <a:rPr sz="2600" b="1">
                <a:solidFill>
                  <a:srgbClr val="0F172A"/>
                </a:solidFill>
                <a:latin typeface="Space Grotesk"/>
              </a:rPr>
              <a:t>Bid optimization</a:t>
            </a:r>
          </a:p>
        </p:txBody>
      </p:sp>
      <p:pic>
        <p:nvPicPr>
          <p:cNvPr id="6" name="" descr="logo_s.png"/>
          <p:cNvPicPr>
            <a:picLocks noChangeAspect="1"/>
          </p:cNvPicPr>
          <p:nvPr/>
        </p:nvPicPr>
        <p:blipFill>
          <a:blip r:embed="rId2"/>
          <a:stretch>
            <a:fillRect/>
          </a:stretch>
        </p:blipFill>
        <p:spPr>
          <a:xfrm>
            <a:off x="10195560" y="457200"/>
            <a:ext cx="1463040" cy="256032"/>
          </a:xfrm>
          <a:prstGeom prst="rect">
            <a:avLst/>
          </a:prstGeom>
        </p:spPr>
      </p:pic>
      <p:sp>
        <p:nvSpPr>
          <p:cNvPr id="7" name=""/>
          <p:cNvSpPr/>
          <p:nvPr/>
        </p:nvSpPr>
        <p:spPr>
          <a:xfrm>
            <a:off x="548640" y="6400800"/>
            <a:ext cx="11091672" cy="10972"/>
          </a:xfrm>
          <a:prstGeom prst="rect">
            <a:avLst/>
          </a:prstGeom>
          <a:solidFill>
            <a:srgbClr val="E5E0D6"/>
          </a:solidFill>
          <a:ln>
            <a:noFill/>
          </a:ln>
        </p:spPr>
      </p:sp>
      <p:sp>
        <p:nvSpPr>
          <p:cNvPr id="8" name=""/>
          <p:cNvSpPr txBox="1"/>
          <p:nvPr/>
        </p:nvSpPr>
        <p:spPr>
          <a:xfrm>
            <a:off x="548640" y="6455664"/>
            <a:ext cx="8229600" cy="274320"/>
          </a:xfrm>
          <a:prstGeom prst="rect">
            <a:avLst/>
          </a:prstGeom>
          <a:noFill/>
        </p:spPr>
        <p:txBody>
          <a:bodyPr wrap="square" lIns="36576" rIns="36576" tIns="18288" bIns="18288" anchor="t">
            <a:spAutoFit/>
          </a:bodyPr>
          <a:lstStyle/>
          <a:p>
            <a:pPr algn="l"/>
            <a:r>
              <a:rPr sz="900" b="0">
                <a:solidFill>
                  <a:srgbClr val="6B6558"/>
                </a:solidFill>
                <a:latin typeface="Inter"/>
              </a:rPr>
              <a:t>Dormeo Canada · Weekly Business Review · Week 43 (Oct 18–24, 2026)</a:t>
            </a:r>
          </a:p>
        </p:txBody>
      </p:sp>
      <p:sp>
        <p:nvSpPr>
          <p:cNvPr id="9" name=""/>
          <p:cNvSpPr txBox="1"/>
          <p:nvPr/>
        </p:nvSpPr>
        <p:spPr>
          <a:xfrm>
            <a:off x="10241280" y="6455664"/>
            <a:ext cx="1399032" cy="274320"/>
          </a:xfrm>
          <a:prstGeom prst="rect">
            <a:avLst/>
          </a:prstGeom>
          <a:noFill/>
        </p:spPr>
        <p:txBody>
          <a:bodyPr wrap="square" lIns="36576" rIns="36576" tIns="18288" bIns="18288" anchor="t">
            <a:spAutoFit/>
          </a:bodyPr>
          <a:lstStyle/>
          <a:p>
            <a:pPr algn="r"/>
            <a:r>
              <a:rPr sz="900" b="0">
                <a:solidFill>
                  <a:srgbClr val="6B6558"/>
                </a:solidFill>
                <a:latin typeface="Inter"/>
              </a:rPr>
              <a:t>7 / 17</a:t>
            </a:r>
          </a:p>
        </p:txBody>
      </p:sp>
      <p:sp>
        <p:nvSpPr>
          <p:cNvPr id="10" name=""/>
          <p:cNvSpPr/>
          <p:nvPr/>
        </p:nvSpPr>
        <p:spPr>
          <a:xfrm>
            <a:off x="548640" y="1417320"/>
            <a:ext cx="2651760" cy="1463040"/>
          </a:xfrm>
          <a:prstGeom prst="roundRect">
            <a:avLst>
              <a:gd name="" fmla="val 6000"/>
            </a:avLst>
          </a:prstGeom>
          <a:solidFill>
            <a:srgbClr val="F6F3EC"/>
          </a:solidFill>
          <a:ln>
            <a:noFill/>
          </a:ln>
        </p:spPr>
      </p:sp>
      <p:sp>
        <p:nvSpPr>
          <p:cNvPr id="11" name=""/>
          <p:cNvSpPr txBox="1"/>
          <p:nvPr/>
        </p:nvSpPr>
        <p:spPr>
          <a:xfrm>
            <a:off x="713232" y="154533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TARGETS TRACKED</a:t>
            </a:r>
          </a:p>
        </p:txBody>
      </p:sp>
      <p:sp>
        <p:nvSpPr>
          <p:cNvPr id="12" name=""/>
          <p:cNvSpPr txBox="1"/>
          <p:nvPr/>
        </p:nvSpPr>
        <p:spPr>
          <a:xfrm>
            <a:off x="713232" y="1801368"/>
            <a:ext cx="2377440" cy="548640"/>
          </a:xfrm>
          <a:prstGeom prst="rect">
            <a:avLst/>
          </a:prstGeom>
          <a:noFill/>
        </p:spPr>
        <p:txBody>
          <a:bodyPr wrap="square" lIns="36576" rIns="36576" tIns="18288" bIns="18288" anchor="t">
            <a:spAutoFit/>
          </a:bodyPr>
          <a:lstStyle/>
          <a:p>
            <a:pPr algn="l"/>
            <a:r>
              <a:rPr sz="2600" b="1">
                <a:solidFill>
                  <a:srgbClr val="2447FF"/>
                </a:solidFill>
                <a:latin typeface="Space Grotesk"/>
              </a:rPr>
              <a:t>520</a:t>
            </a:r>
          </a:p>
        </p:txBody>
      </p:sp>
      <p:sp>
        <p:nvSpPr>
          <p:cNvPr id="13" name=""/>
          <p:cNvSpPr txBox="1"/>
          <p:nvPr/>
        </p:nvSpPr>
        <p:spPr>
          <a:xfrm>
            <a:off x="713232" y="2468880"/>
            <a:ext cx="2377440" cy="320040"/>
          </a:xfrm>
          <a:prstGeom prst="rect">
            <a:avLst/>
          </a:prstGeom>
          <a:noFill/>
        </p:spPr>
        <p:txBody>
          <a:bodyPr wrap="square" lIns="36576" rIns="36576" tIns="18288" bIns="18288" anchor="t">
            <a:spAutoFit/>
          </a:bodyPr>
          <a:lstStyle/>
          <a:p>
            <a:pPr algn="l"/>
            <a:r>
              <a:rPr sz="1000" b="0">
                <a:solidFill>
                  <a:srgbClr val="6B6558"/>
                </a:solidFill>
                <a:latin typeface="Inter"/>
              </a:rPr>
              <a:t>keywords and product targets</a:t>
            </a:r>
          </a:p>
        </p:txBody>
      </p:sp>
      <p:sp>
        <p:nvSpPr>
          <p:cNvPr id="14" name=""/>
          <p:cNvSpPr/>
          <p:nvPr/>
        </p:nvSpPr>
        <p:spPr>
          <a:xfrm>
            <a:off x="3364992" y="1417320"/>
            <a:ext cx="2651760" cy="1463040"/>
          </a:xfrm>
          <a:prstGeom prst="roundRect">
            <a:avLst>
              <a:gd name="" fmla="val 6000"/>
            </a:avLst>
          </a:prstGeom>
          <a:solidFill>
            <a:srgbClr val="F6F3EC"/>
          </a:solidFill>
          <a:ln>
            <a:noFill/>
          </a:ln>
        </p:spPr>
      </p:sp>
      <p:sp>
        <p:nvSpPr>
          <p:cNvPr id="15" name=""/>
          <p:cNvSpPr txBox="1"/>
          <p:nvPr/>
        </p:nvSpPr>
        <p:spPr>
          <a:xfrm>
            <a:off x="3529584" y="154533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WINNERS</a:t>
            </a:r>
          </a:p>
        </p:txBody>
      </p:sp>
      <p:sp>
        <p:nvSpPr>
          <p:cNvPr id="16" name=""/>
          <p:cNvSpPr txBox="1"/>
          <p:nvPr/>
        </p:nvSpPr>
        <p:spPr>
          <a:xfrm>
            <a:off x="3529584" y="1801368"/>
            <a:ext cx="2377440" cy="548640"/>
          </a:xfrm>
          <a:prstGeom prst="rect">
            <a:avLst/>
          </a:prstGeom>
          <a:noFill/>
        </p:spPr>
        <p:txBody>
          <a:bodyPr wrap="square" lIns="36576" rIns="36576" tIns="18288" bIns="18288" anchor="t">
            <a:spAutoFit/>
          </a:bodyPr>
          <a:lstStyle/>
          <a:p>
            <a:pPr algn="l"/>
            <a:r>
              <a:rPr sz="2600" b="1">
                <a:solidFill>
                  <a:srgbClr val="16A34A"/>
                </a:solidFill>
                <a:latin typeface="Space Grotesk"/>
              </a:rPr>
              <a:t>22</a:t>
            </a:r>
          </a:p>
        </p:txBody>
      </p:sp>
      <p:sp>
        <p:nvSpPr>
          <p:cNvPr id="17" name=""/>
          <p:cNvSpPr txBox="1"/>
          <p:nvPr/>
        </p:nvSpPr>
        <p:spPr>
          <a:xfrm>
            <a:off x="3529584" y="2468880"/>
            <a:ext cx="2377440" cy="320040"/>
          </a:xfrm>
          <a:prstGeom prst="rect">
            <a:avLst/>
          </a:prstGeom>
          <a:noFill/>
        </p:spPr>
        <p:txBody>
          <a:bodyPr wrap="square" lIns="36576" rIns="36576" tIns="18288" bIns="18288" anchor="t">
            <a:spAutoFit/>
          </a:bodyPr>
          <a:lstStyle/>
          <a:p>
            <a:pPr algn="l"/>
            <a:r>
              <a:rPr sz="1000" b="0">
                <a:solidFill>
                  <a:srgbClr val="6B6558"/>
                </a:solidFill>
                <a:latin typeface="Inter"/>
              </a:rPr>
              <a:t>converting at or under 35% ACoS</a:t>
            </a:r>
          </a:p>
        </p:txBody>
      </p:sp>
      <p:sp>
        <p:nvSpPr>
          <p:cNvPr id="18" name=""/>
          <p:cNvSpPr/>
          <p:nvPr/>
        </p:nvSpPr>
        <p:spPr>
          <a:xfrm>
            <a:off x="6181344" y="1417320"/>
            <a:ext cx="2651760" cy="1463040"/>
          </a:xfrm>
          <a:prstGeom prst="roundRect">
            <a:avLst>
              <a:gd name="" fmla="val 6000"/>
            </a:avLst>
          </a:prstGeom>
          <a:solidFill>
            <a:srgbClr val="F6F3EC"/>
          </a:solidFill>
          <a:ln>
            <a:noFill/>
          </a:ln>
        </p:spPr>
      </p:sp>
      <p:sp>
        <p:nvSpPr>
          <p:cNvPr id="19" name=""/>
          <p:cNvSpPr txBox="1"/>
          <p:nvPr/>
        </p:nvSpPr>
        <p:spPr>
          <a:xfrm>
            <a:off x="6345936" y="154533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NEED ATTENTION</a:t>
            </a:r>
          </a:p>
        </p:txBody>
      </p:sp>
      <p:sp>
        <p:nvSpPr>
          <p:cNvPr id="20" name=""/>
          <p:cNvSpPr txBox="1"/>
          <p:nvPr/>
        </p:nvSpPr>
        <p:spPr>
          <a:xfrm>
            <a:off x="6345936" y="1801368"/>
            <a:ext cx="2377440" cy="548640"/>
          </a:xfrm>
          <a:prstGeom prst="rect">
            <a:avLst/>
          </a:prstGeom>
          <a:noFill/>
        </p:spPr>
        <p:txBody>
          <a:bodyPr wrap="square" lIns="36576" rIns="36576" tIns="18288" bIns="18288" anchor="t">
            <a:spAutoFit/>
          </a:bodyPr>
          <a:lstStyle/>
          <a:p>
            <a:pPr algn="l"/>
            <a:r>
              <a:rPr sz="2600" b="1">
                <a:solidFill>
                  <a:srgbClr val="DC2626"/>
                </a:solidFill>
                <a:latin typeface="Space Grotesk"/>
              </a:rPr>
              <a:t>97</a:t>
            </a:r>
          </a:p>
        </p:txBody>
      </p:sp>
      <p:sp>
        <p:nvSpPr>
          <p:cNvPr id="21" name=""/>
          <p:cNvSpPr txBox="1"/>
          <p:nvPr/>
        </p:nvSpPr>
        <p:spPr>
          <a:xfrm>
            <a:off x="6345936" y="2468880"/>
            <a:ext cx="2377440" cy="320040"/>
          </a:xfrm>
          <a:prstGeom prst="rect">
            <a:avLst/>
          </a:prstGeom>
          <a:noFill/>
        </p:spPr>
        <p:txBody>
          <a:bodyPr wrap="square" lIns="36576" rIns="36576" tIns="18288" bIns="18288" anchor="t">
            <a:spAutoFit/>
          </a:bodyPr>
          <a:lstStyle/>
          <a:p>
            <a:pPr algn="l"/>
            <a:r>
              <a:rPr sz="1000" b="0">
                <a:solidFill>
                  <a:srgbClr val="6B6558"/>
                </a:solidFill>
                <a:latin typeface="Inter"/>
              </a:rPr>
              <a:t>0 high ACoS · 10 no sales</a:t>
            </a:r>
          </a:p>
        </p:txBody>
      </p:sp>
      <p:sp>
        <p:nvSpPr>
          <p:cNvPr id="22" name=""/>
          <p:cNvSpPr/>
          <p:nvPr/>
        </p:nvSpPr>
        <p:spPr>
          <a:xfrm>
            <a:off x="8997696" y="1417320"/>
            <a:ext cx="2642616" cy="1463040"/>
          </a:xfrm>
          <a:prstGeom prst="roundRect">
            <a:avLst>
              <a:gd name="" fmla="val 6000"/>
            </a:avLst>
          </a:prstGeom>
          <a:solidFill>
            <a:srgbClr val="F6F3EC"/>
          </a:solidFill>
          <a:ln>
            <a:noFill/>
          </a:ln>
        </p:spPr>
      </p:sp>
      <p:sp>
        <p:nvSpPr>
          <p:cNvPr id="23" name=""/>
          <p:cNvSpPr txBox="1"/>
          <p:nvPr/>
        </p:nvSpPr>
        <p:spPr>
          <a:xfrm>
            <a:off x="9162288" y="1545336"/>
            <a:ext cx="2368296" cy="274320"/>
          </a:xfrm>
          <a:prstGeom prst="rect">
            <a:avLst/>
          </a:prstGeom>
          <a:noFill/>
        </p:spPr>
        <p:txBody>
          <a:bodyPr wrap="square" lIns="36576" rIns="36576" tIns="18288" bIns="18288" anchor="t">
            <a:spAutoFit/>
          </a:bodyPr>
          <a:lstStyle/>
          <a:p>
            <a:pPr algn="l"/>
            <a:r>
              <a:rPr sz="900" b="1">
                <a:solidFill>
                  <a:srgbClr val="6B6558"/>
                </a:solidFill>
                <a:latin typeface="Inter"/>
              </a:rPr>
              <a:t>LOW CLICK RATE</a:t>
            </a:r>
          </a:p>
        </p:txBody>
      </p:sp>
      <p:sp>
        <p:nvSpPr>
          <p:cNvPr id="24" name=""/>
          <p:cNvSpPr txBox="1"/>
          <p:nvPr/>
        </p:nvSpPr>
        <p:spPr>
          <a:xfrm>
            <a:off x="9162288" y="1801368"/>
            <a:ext cx="2368296" cy="548640"/>
          </a:xfrm>
          <a:prstGeom prst="rect">
            <a:avLst/>
          </a:prstGeom>
          <a:noFill/>
        </p:spPr>
        <p:txBody>
          <a:bodyPr wrap="square" lIns="36576" rIns="36576" tIns="18288" bIns="18288" anchor="t">
            <a:spAutoFit/>
          </a:bodyPr>
          <a:lstStyle/>
          <a:p>
            <a:pPr algn="l"/>
            <a:r>
              <a:rPr sz="2600" b="1">
                <a:solidFill>
                  <a:srgbClr val="D97706"/>
                </a:solidFill>
                <a:latin typeface="Space Grotesk"/>
              </a:rPr>
              <a:t>52</a:t>
            </a:r>
          </a:p>
        </p:txBody>
      </p:sp>
      <p:sp>
        <p:nvSpPr>
          <p:cNvPr id="25" name=""/>
          <p:cNvSpPr txBox="1"/>
          <p:nvPr/>
        </p:nvSpPr>
        <p:spPr>
          <a:xfrm>
            <a:off x="9162288" y="2468880"/>
            <a:ext cx="2368296" cy="320040"/>
          </a:xfrm>
          <a:prstGeom prst="rect">
            <a:avLst/>
          </a:prstGeom>
          <a:noFill/>
        </p:spPr>
        <p:txBody>
          <a:bodyPr wrap="square" lIns="36576" rIns="36576" tIns="18288" bIns="18288" anchor="t">
            <a:spAutoFit/>
          </a:bodyPr>
          <a:lstStyle/>
          <a:p>
            <a:pPr algn="l"/>
            <a:r>
              <a:rPr sz="1000" b="0">
                <a:solidFill>
                  <a:srgbClr val="6B6558"/>
                </a:solidFill>
                <a:latin typeface="Inter"/>
              </a:rPr>
              <a:t>seen but rarely clicked</a:t>
            </a:r>
          </a:p>
        </p:txBody>
      </p:sp>
      <p:graphicFrame>
        <p:nvGraphicFramePr>
          <p:cNvPr id="26" name=""/>
          <p:cNvGraphicFramePr>
            <a:graphicFrameLocks noGrp="1"/>
          </p:cNvGraphicFramePr>
          <p:nvPr/>
        </p:nvGraphicFramePr>
        <p:xfrm>
          <a:off x="548640" y="3063240"/>
          <a:ext cx="7223760" cy="1975104"/>
        </p:xfrm>
        <a:graphic>
          <a:graphicData uri="http://schemas.openxmlformats.org/drawingml/2006/table">
            <a:tbl>
              <a:tblPr firstRow="1" bandRow="1">
                <a:tableStyleId>{5C22544A-7EE6-4342-B048-85BDC9FD1C3A}</a:tableStyleId>
              </a:tblPr>
              <a:tblGrid>
                <a:gridCol w="1920240"/>
                <a:gridCol w="731520"/>
                <a:gridCol w="822960"/>
                <a:gridCol w="822960"/>
                <a:gridCol w="822960"/>
                <a:gridCol w="822960"/>
                <a:gridCol w="640080"/>
                <a:gridCol w="640080"/>
              </a:tblGrid>
              <a:tr h="329184">
                <a:tc>
                  <a:txBody>
                    <a:bodyPr wrap="square"/>
                    <a:lstStyle/>
                    <a:p>
                      <a:pPr algn="l"/>
                      <a:r>
                        <a:rPr sz="900" b="1">
                          <a:solidFill>
                            <a:srgbClr val="FFFFFF"/>
                          </a:solidFill>
                          <a:latin typeface="Inter"/>
                        </a:rPr>
                        <a:t>Target</a:t>
                      </a:r>
                    </a:p>
                  </a:txBody>
                  <a:tcPr marL="54864" marR="54864" marT="27432" marB="27432" anchor="ctr">
                    <a:solidFill>
                      <a:srgbClr val="0F172A"/>
                    </a:solidFill>
                  </a:tcPr>
                </a:tc>
                <a:tc>
                  <a:txBody>
                    <a:bodyPr wrap="square"/>
                    <a:lstStyle/>
                    <a:p>
                      <a:pPr algn="r"/>
                      <a:r>
                        <a:rPr sz="900" b="1">
                          <a:solidFill>
                            <a:srgbClr val="FFFFFF"/>
                          </a:solidFill>
                          <a:latin typeface="Inter"/>
                        </a:rPr>
                        <a:t>Match</a:t>
                      </a:r>
                    </a:p>
                  </a:txBody>
                  <a:tcPr marL="54864" marR="54864" marT="27432" marB="27432" anchor="ctr">
                    <a:solidFill>
                      <a:srgbClr val="0F172A"/>
                    </a:solidFill>
                  </a:tcPr>
                </a:tc>
                <a:tc>
                  <a:txBody>
                    <a:bodyPr wrap="square"/>
                    <a:lstStyle/>
                    <a:p>
                      <a:pPr algn="r"/>
                      <a:r>
                        <a:rPr sz="900" b="1">
                          <a:solidFill>
                            <a:srgbClr val="FFFFFF"/>
                          </a:solidFill>
                          <a:latin typeface="Inter"/>
                        </a:rPr>
                        <a:t>Type</a:t>
                      </a:r>
                    </a:p>
                  </a:txBody>
                  <a:tcPr marL="54864" marR="54864" marT="27432" marB="27432" anchor="ctr">
                    <a:solidFill>
                      <a:srgbClr val="0F172A"/>
                    </a:solidFill>
                  </a:tcPr>
                </a:tc>
                <a:tc>
                  <a:txBody>
                    <a:bodyPr wrap="square"/>
                    <a:lstStyle/>
                    <a:p>
                      <a:pPr algn="r"/>
                      <a:r>
                        <a:rPr sz="900" b="1">
                          <a:solidFill>
                            <a:srgbClr val="FFFFFF"/>
                          </a:solidFill>
                          <a:latin typeface="Inter"/>
                        </a:rPr>
                        <a:t>Spend</a:t>
                      </a:r>
                    </a:p>
                  </a:txBody>
                  <a:tcPr marL="54864" marR="54864" marT="27432" marB="27432" anchor="ctr">
                    <a:solidFill>
                      <a:srgbClr val="0F172A"/>
                    </a:solidFill>
                  </a:tcPr>
                </a:tc>
                <a:tc>
                  <a:txBody>
                    <a:bodyPr wrap="square"/>
                    <a:lstStyle/>
                    <a:p>
                      <a:pPr algn="r"/>
                      <a:r>
                        <a:rPr sz="900" b="1">
                          <a:solidFill>
                            <a:srgbClr val="FFFFFF"/>
                          </a:solidFill>
                          <a:latin typeface="Inter"/>
                        </a:rPr>
                        <a:t>Sales</a:t>
                      </a:r>
                    </a:p>
                  </a:txBody>
                  <a:tcPr marL="54864" marR="54864" marT="27432" marB="27432" anchor="ctr">
                    <a:solidFill>
                      <a:srgbClr val="0F172A"/>
                    </a:solidFill>
                  </a:tcPr>
                </a:tc>
                <a:tc>
                  <a:txBody>
                    <a:bodyPr wrap="square"/>
                    <a:lstStyle/>
                    <a:p>
                      <a:pPr algn="r"/>
                      <a:r>
                        <a:rPr sz="900" b="1">
                          <a:solidFill>
                            <a:srgbClr val="FFFFFF"/>
                          </a:solidFill>
                          <a:latin typeface="Inter"/>
                        </a:rPr>
                        <a:t>ACoS</a:t>
                      </a:r>
                    </a:p>
                  </a:txBody>
                  <a:tcPr marL="54864" marR="54864" marT="27432" marB="27432" anchor="ctr">
                    <a:solidFill>
                      <a:srgbClr val="0F172A"/>
                    </a:solidFill>
                  </a:tcPr>
                </a:tc>
                <a:tc>
                  <a:txBody>
                    <a:bodyPr wrap="square"/>
                    <a:lstStyle/>
                    <a:p>
                      <a:pPr algn="r"/>
                      <a:r>
                        <a:rPr sz="900" b="1">
                          <a:solidFill>
                            <a:srgbClr val="FFFFFF"/>
                          </a:solidFill>
                          <a:latin typeface="Inter"/>
                        </a:rPr>
                        <a:t>Clicks</a:t>
                      </a:r>
                    </a:p>
                  </a:txBody>
                  <a:tcPr marL="54864" marR="54864" marT="27432" marB="27432" anchor="ctr">
                    <a:solidFill>
                      <a:srgbClr val="0F172A"/>
                    </a:solidFill>
                  </a:tcPr>
                </a:tc>
                <a:tc>
                  <a:txBody>
                    <a:bodyPr wrap="square"/>
                    <a:lstStyle/>
                    <a:p>
                      <a:pPr algn="r"/>
                      <a:r>
                        <a:rPr sz="900" b="1">
                          <a:solidFill>
                            <a:srgbClr val="FFFFFF"/>
                          </a:solidFill>
                          <a:latin typeface="Inter"/>
                        </a:rPr>
                        <a:t>Orders</a:t>
                      </a:r>
                    </a:p>
                  </a:txBody>
                  <a:tcPr marL="54864" marR="54864" marT="27432" marB="27432" anchor="ctr">
                    <a:solidFill>
                      <a:srgbClr val="0F172A"/>
                    </a:solidFill>
                  </a:tcPr>
                </a:tc>
              </a:tr>
              <a:tr h="329184">
                <a:tc>
                  <a:txBody>
                    <a:bodyPr wrap="square"/>
                    <a:lstStyle/>
                    <a:p>
                      <a:pPr algn="l"/>
                      <a:r>
                        <a:rPr sz="1000" b="0">
                          <a:solidFill>
                            <a:srgbClr val="0F172A"/>
                          </a:solidFill>
                          <a:latin typeface="Inter"/>
                        </a:rPr>
                        <a:t>mattress +topper</a:t>
                      </a:r>
                    </a:p>
                  </a:txBody>
                  <a:tcPr marL="54864" marR="54864" marT="27432" marB="27432" anchor="ctr">
                    <a:solidFill>
                      <a:srgbClr val="FFFFFF"/>
                    </a:solidFill>
                  </a:tcPr>
                </a:tc>
                <a:tc>
                  <a:txBody>
                    <a:bodyPr wrap="square"/>
                    <a:lstStyle/>
                    <a:p>
                      <a:pPr algn="r"/>
                      <a:r>
                        <a:rPr sz="1000" b="0">
                          <a:solidFill>
                            <a:srgbClr val="0F172A"/>
                          </a:solidFill>
                          <a:latin typeface="Inter"/>
                        </a:rPr>
                        <a:t>Phrase</a:t>
                      </a:r>
                    </a:p>
                  </a:txBody>
                  <a:tcPr marL="54864" marR="54864" marT="27432" marB="27432" anchor="ctr">
                    <a:solidFill>
                      <a:srgbClr val="FFFFFF"/>
                    </a:solidFill>
                  </a:tcPr>
                </a:tc>
                <a:tc>
                  <a:txBody>
                    <a:bodyPr wrap="square"/>
                    <a:lstStyle/>
                    <a:p>
                      <a:pPr algn="r"/>
                      <a:r>
                        <a:rPr sz="1000" b="0">
                          <a:solidFill>
                            <a:srgbClr val="0F172A"/>
                          </a:solidFill>
                          <a:latin typeface="Inter"/>
                        </a:rPr>
                        <a:t>Category</a:t>
                      </a:r>
                    </a:p>
                  </a:txBody>
                  <a:tcPr marL="54864" marR="54864" marT="27432" marB="27432" anchor="ctr">
                    <a:solidFill>
                      <a:srgbClr val="FFFFFF"/>
                    </a:solidFill>
                  </a:tcPr>
                </a:tc>
                <a:tc>
                  <a:txBody>
                    <a:bodyPr wrap="square"/>
                    <a:lstStyle/>
                    <a:p>
                      <a:pPr algn="r"/>
                      <a:r>
                        <a:rPr sz="1000" b="0">
                          <a:solidFill>
                            <a:srgbClr val="0F172A"/>
                          </a:solidFill>
                          <a:latin typeface="Inter"/>
                        </a:rPr>
                        <a:t>$183</a:t>
                      </a:r>
                    </a:p>
                  </a:txBody>
                  <a:tcPr marL="54864" marR="54864" marT="27432" marB="27432" anchor="ctr">
                    <a:solidFill>
                      <a:srgbClr val="FFFFFF"/>
                    </a:solidFill>
                  </a:tcPr>
                </a:tc>
                <a:tc>
                  <a:txBody>
                    <a:bodyPr wrap="square"/>
                    <a:lstStyle/>
                    <a:p>
                      <a:pPr algn="r"/>
                      <a:r>
                        <a:rPr sz="1000" b="0">
                          <a:solidFill>
                            <a:srgbClr val="0F172A"/>
                          </a:solidFill>
                          <a:latin typeface="Inter"/>
                        </a:rPr>
                        <a:t>$525</a:t>
                      </a:r>
                    </a:p>
                  </a:txBody>
                  <a:tcPr marL="54864" marR="54864" marT="27432" marB="27432" anchor="ctr">
                    <a:solidFill>
                      <a:srgbClr val="FFFFFF"/>
                    </a:solidFill>
                  </a:tcPr>
                </a:tc>
                <a:tc>
                  <a:txBody>
                    <a:bodyPr wrap="square"/>
                    <a:lstStyle/>
                    <a:p>
                      <a:pPr algn="r"/>
                      <a:r>
                        <a:rPr sz="1000" b="0">
                          <a:solidFill>
                            <a:srgbClr val="DC2626"/>
                          </a:solidFill>
                          <a:latin typeface="Inter"/>
                        </a:rPr>
                        <a:t>34.9%</a:t>
                      </a:r>
                    </a:p>
                  </a:txBody>
                  <a:tcPr marL="54864" marR="54864" marT="27432" marB="27432" anchor="ctr">
                    <a:solidFill>
                      <a:srgbClr val="FFFFFF"/>
                    </a:solidFill>
                  </a:tcPr>
                </a:tc>
                <a:tc>
                  <a:txBody>
                    <a:bodyPr wrap="square"/>
                    <a:lstStyle/>
                    <a:p>
                      <a:pPr algn="r"/>
                      <a:r>
                        <a:rPr sz="1000" b="0">
                          <a:solidFill>
                            <a:srgbClr val="0F172A"/>
                          </a:solidFill>
                          <a:latin typeface="Inter"/>
                        </a:rPr>
                        <a:t>165</a:t>
                      </a:r>
                    </a:p>
                  </a:txBody>
                  <a:tcPr marL="54864" marR="54864" marT="27432" marB="27432" anchor="ctr">
                    <a:solidFill>
                      <a:srgbClr val="FFFFFF"/>
                    </a:solidFill>
                  </a:tcPr>
                </a:tc>
                <a:tc>
                  <a:txBody>
                    <a:bodyPr wrap="square"/>
                    <a:lstStyle/>
                    <a:p>
                      <a:pPr algn="r"/>
                      <a:r>
                        <a:rPr sz="1000" b="0">
                          <a:solidFill>
                            <a:srgbClr val="0F172A"/>
                          </a:solidFill>
                          <a:latin typeface="Inter"/>
                        </a:rPr>
                        <a:t>1</a:t>
                      </a:r>
                    </a:p>
                  </a:txBody>
                  <a:tcPr marL="54864" marR="54864" marT="27432" marB="27432" anchor="ctr">
                    <a:solidFill>
                      <a:srgbClr val="FFFFFF"/>
                    </a:solidFill>
                  </a:tcPr>
                </a:tc>
              </a:tr>
              <a:tr h="329184">
                <a:tc>
                  <a:txBody>
                    <a:bodyPr wrap="square"/>
                    <a:lstStyle/>
                    <a:p>
                      <a:pPr algn="l"/>
                      <a:r>
                        <a:rPr sz="1000" b="0">
                          <a:solidFill>
                            <a:srgbClr val="0F172A"/>
                          </a:solidFill>
                          <a:latin typeface="Inter"/>
                        </a:rPr>
                        <a:t>mattress +topper</a:t>
                      </a:r>
                    </a:p>
                  </a:txBody>
                  <a:tcPr marL="54864" marR="54864" marT="27432" marB="27432" anchor="ctr">
                    <a:solidFill>
                      <a:srgbClr val="FBFAF7"/>
                    </a:solidFill>
                  </a:tcPr>
                </a:tc>
                <a:tc>
                  <a:txBody>
                    <a:bodyPr wrap="square"/>
                    <a:lstStyle/>
                    <a:p>
                      <a:pPr algn="r"/>
                      <a:r>
                        <a:rPr sz="1000" b="0">
                          <a:solidFill>
                            <a:srgbClr val="0F172A"/>
                          </a:solidFill>
                          <a:latin typeface="Inter"/>
                        </a:rPr>
                        <a:t>Exact</a:t>
                      </a:r>
                    </a:p>
                  </a:txBody>
                  <a:tcPr marL="54864" marR="54864" marT="27432" marB="27432" anchor="ctr">
                    <a:solidFill>
                      <a:srgbClr val="FBFAF7"/>
                    </a:solidFill>
                  </a:tcPr>
                </a:tc>
                <a:tc>
                  <a:txBody>
                    <a:bodyPr wrap="square"/>
                    <a:lstStyle/>
                    <a:p>
                      <a:pPr algn="r"/>
                      <a:r>
                        <a:rPr sz="1000" b="0">
                          <a:solidFill>
                            <a:srgbClr val="0F172A"/>
                          </a:solidFill>
                          <a:latin typeface="Inter"/>
                        </a:rPr>
                        <a:t>Category</a:t>
                      </a:r>
                    </a:p>
                  </a:txBody>
                  <a:tcPr marL="54864" marR="54864" marT="27432" marB="27432" anchor="ctr">
                    <a:solidFill>
                      <a:srgbClr val="FBFAF7"/>
                    </a:solidFill>
                  </a:tcPr>
                </a:tc>
                <a:tc>
                  <a:txBody>
                    <a:bodyPr wrap="square"/>
                    <a:lstStyle/>
                    <a:p>
                      <a:pPr algn="r"/>
                      <a:r>
                        <a:rPr sz="1000" b="0">
                          <a:solidFill>
                            <a:srgbClr val="0F172A"/>
                          </a:solidFill>
                          <a:latin typeface="Inter"/>
                        </a:rPr>
                        <a:t>$76</a:t>
                      </a:r>
                    </a:p>
                  </a:txBody>
                  <a:tcPr marL="54864" marR="54864" marT="27432" marB="27432" anchor="ctr">
                    <a:solidFill>
                      <a:srgbClr val="FBFAF7"/>
                    </a:solidFill>
                  </a:tcPr>
                </a:tc>
                <a:tc>
                  <a:txBody>
                    <a:bodyPr wrap="square"/>
                    <a:lstStyle/>
                    <a:p>
                      <a:pPr algn="r"/>
                      <a:r>
                        <a:rPr sz="1000" b="0">
                          <a:solidFill>
                            <a:srgbClr val="0F172A"/>
                          </a:solidFill>
                          <a:latin typeface="Inter"/>
                        </a:rPr>
                        <a:t>$0</a:t>
                      </a:r>
                    </a:p>
                  </a:txBody>
                  <a:tcPr marL="54864" marR="54864" marT="27432" marB="27432" anchor="ctr">
                    <a:solidFill>
                      <a:srgbClr val="FBFAF7"/>
                    </a:solidFill>
                  </a:tcPr>
                </a:tc>
                <a:tc>
                  <a:txBody>
                    <a:bodyPr wrap="square"/>
                    <a:lstStyle/>
                    <a:p>
                      <a:pPr algn="r"/>
                      <a:r>
                        <a:rPr sz="1000" b="0">
                          <a:solidFill>
                            <a:srgbClr val="DC2626"/>
                          </a:solidFill>
                          <a:latin typeface="Inter"/>
                        </a:rPr>
                        <a:t>no sales</a:t>
                      </a:r>
                    </a:p>
                  </a:txBody>
                  <a:tcPr marL="54864" marR="54864" marT="27432" marB="27432" anchor="ctr">
                    <a:solidFill>
                      <a:srgbClr val="FBFAF7"/>
                    </a:solidFill>
                  </a:tcPr>
                </a:tc>
                <a:tc>
                  <a:txBody>
                    <a:bodyPr wrap="square"/>
                    <a:lstStyle/>
                    <a:p>
                      <a:pPr algn="r"/>
                      <a:r>
                        <a:rPr sz="1000" b="0">
                          <a:solidFill>
                            <a:srgbClr val="0F172A"/>
                          </a:solidFill>
                          <a:latin typeface="Inter"/>
                        </a:rPr>
                        <a:t>53</a:t>
                      </a:r>
                    </a:p>
                  </a:txBody>
                  <a:tcPr marL="54864" marR="54864" marT="27432" marB="27432" anchor="ctr">
                    <a:solidFill>
                      <a:srgbClr val="FBFAF7"/>
                    </a:solidFill>
                  </a:tcPr>
                </a:tc>
                <a:tc>
                  <a:txBody>
                    <a:bodyPr wrap="square"/>
                    <a:lstStyle/>
                    <a:p>
                      <a:pPr algn="r"/>
                      <a:r>
                        <a:rPr sz="1000" b="0">
                          <a:solidFill>
                            <a:srgbClr val="0F172A"/>
                          </a:solidFill>
                          <a:latin typeface="Inter"/>
                        </a:rPr>
                        <a:t>0</a:t>
                      </a:r>
                    </a:p>
                  </a:txBody>
                  <a:tcPr marL="54864" marR="54864" marT="27432" marB="27432" anchor="ctr">
                    <a:solidFill>
                      <a:srgbClr val="FBFAF7"/>
                    </a:solidFill>
                  </a:tcPr>
                </a:tc>
              </a:tr>
              <a:tr h="329184">
                <a:tc>
                  <a:txBody>
                    <a:bodyPr wrap="square"/>
                    <a:lstStyle/>
                    <a:p>
                      <a:pPr algn="l"/>
                      <a:r>
                        <a:rPr sz="1000" b="0">
                          <a:solidFill>
                            <a:srgbClr val="0F172A"/>
                          </a:solidFill>
                          <a:latin typeface="Inter"/>
                        </a:rPr>
                        <a:t>sur matelas dormeo</a:t>
                      </a:r>
                    </a:p>
                  </a:txBody>
                  <a:tcPr marL="54864" marR="54864" marT="27432" marB="27432" anchor="ctr">
                    <a:solidFill>
                      <a:srgbClr val="FFFFFF"/>
                    </a:solidFill>
                  </a:tcPr>
                </a:tc>
                <a:tc>
                  <a:txBody>
                    <a:bodyPr wrap="square"/>
                    <a:lstStyle/>
                    <a:p>
                      <a:pPr algn="r"/>
                      <a:r>
                        <a:rPr sz="1000" b="0">
                          <a:solidFill>
                            <a:srgbClr val="0F172A"/>
                          </a:solidFill>
                          <a:latin typeface="Inter"/>
                        </a:rPr>
                        <a:t>Exact</a:t>
                      </a:r>
                    </a:p>
                  </a:txBody>
                  <a:tcPr marL="54864" marR="54864" marT="27432" marB="27432" anchor="ctr">
                    <a:solidFill>
                      <a:srgbClr val="FFFFFF"/>
                    </a:solidFill>
                  </a:tcPr>
                </a:tc>
                <a:tc>
                  <a:txBody>
                    <a:bodyPr wrap="square"/>
                    <a:lstStyle/>
                    <a:p>
                      <a:pPr algn="r"/>
                      <a:r>
                        <a:rPr sz="1000" b="0">
                          <a:solidFill>
                            <a:srgbClr val="0F172A"/>
                          </a:solidFill>
                          <a:latin typeface="Inter"/>
                        </a:rPr>
                        <a:t>Brand</a:t>
                      </a:r>
                    </a:p>
                  </a:txBody>
                  <a:tcPr marL="54864" marR="54864" marT="27432" marB="27432" anchor="ctr">
                    <a:solidFill>
                      <a:srgbClr val="FFFFFF"/>
                    </a:solidFill>
                  </a:tcPr>
                </a:tc>
                <a:tc>
                  <a:txBody>
                    <a:bodyPr wrap="square"/>
                    <a:lstStyle/>
                    <a:p>
                      <a:pPr algn="r"/>
                      <a:r>
                        <a:rPr sz="1000" b="0">
                          <a:solidFill>
                            <a:srgbClr val="0F172A"/>
                          </a:solidFill>
                          <a:latin typeface="Inter"/>
                        </a:rPr>
                        <a:t>$46</a:t>
                      </a:r>
                    </a:p>
                  </a:txBody>
                  <a:tcPr marL="54864" marR="54864" marT="27432" marB="27432" anchor="ctr">
                    <a:solidFill>
                      <a:srgbClr val="FFFFFF"/>
                    </a:solidFill>
                  </a:tcPr>
                </a:tc>
                <a:tc>
                  <a:txBody>
                    <a:bodyPr wrap="square"/>
                    <a:lstStyle/>
                    <a:p>
                      <a:pPr algn="r"/>
                      <a:r>
                        <a:rPr sz="1000" b="0">
                          <a:solidFill>
                            <a:srgbClr val="0F172A"/>
                          </a:solidFill>
                          <a:latin typeface="Inter"/>
                        </a:rPr>
                        <a:t>$0</a:t>
                      </a:r>
                    </a:p>
                  </a:txBody>
                  <a:tcPr marL="54864" marR="54864" marT="27432" marB="27432" anchor="ctr">
                    <a:solidFill>
                      <a:srgbClr val="FFFFFF"/>
                    </a:solidFill>
                  </a:tcPr>
                </a:tc>
                <a:tc>
                  <a:txBody>
                    <a:bodyPr wrap="square"/>
                    <a:lstStyle/>
                    <a:p>
                      <a:pPr algn="r"/>
                      <a:r>
                        <a:rPr sz="1000" b="0">
                          <a:solidFill>
                            <a:srgbClr val="DC2626"/>
                          </a:solidFill>
                          <a:latin typeface="Inter"/>
                        </a:rPr>
                        <a:t>no sales</a:t>
                      </a:r>
                    </a:p>
                  </a:txBody>
                  <a:tcPr marL="54864" marR="54864" marT="27432" marB="27432" anchor="ctr">
                    <a:solidFill>
                      <a:srgbClr val="FFFFFF"/>
                    </a:solidFill>
                  </a:tcPr>
                </a:tc>
                <a:tc>
                  <a:txBody>
                    <a:bodyPr wrap="square"/>
                    <a:lstStyle/>
                    <a:p>
                      <a:pPr algn="r"/>
                      <a:r>
                        <a:rPr sz="1000" b="0">
                          <a:solidFill>
                            <a:srgbClr val="0F172A"/>
                          </a:solidFill>
                          <a:latin typeface="Inter"/>
                        </a:rPr>
                        <a:t>16</a:t>
                      </a:r>
                    </a:p>
                  </a:txBody>
                  <a:tcPr marL="54864" marR="54864" marT="27432" marB="27432" anchor="ctr">
                    <a:solidFill>
                      <a:srgbClr val="FFFFFF"/>
                    </a:solidFill>
                  </a:tcPr>
                </a:tc>
                <a:tc>
                  <a:txBody>
                    <a:bodyPr wrap="square"/>
                    <a:lstStyle/>
                    <a:p>
                      <a:pPr algn="r"/>
                      <a:r>
                        <a:rPr sz="1000" b="0">
                          <a:solidFill>
                            <a:srgbClr val="0F172A"/>
                          </a:solidFill>
                          <a:latin typeface="Inter"/>
                        </a:rPr>
                        <a:t>0</a:t>
                      </a:r>
                    </a:p>
                  </a:txBody>
                  <a:tcPr marL="54864" marR="54864" marT="27432" marB="27432" anchor="ctr">
                    <a:solidFill>
                      <a:srgbClr val="FFFFFF"/>
                    </a:solidFill>
                  </a:tcPr>
                </a:tc>
              </a:tr>
              <a:tr h="329184">
                <a:tc>
                  <a:txBody>
                    <a:bodyPr wrap="square"/>
                    <a:lstStyle/>
                    <a:p>
                      <a:pPr algn="l"/>
                      <a:r>
                        <a:rPr sz="1000" b="0">
                          <a:solidFill>
                            <a:srgbClr val="0F172A"/>
                          </a:solidFill>
                          <a:latin typeface="Inter"/>
                        </a:rPr>
                        <a:t>dormeo mattress topper</a:t>
                      </a:r>
                    </a:p>
                  </a:txBody>
                  <a:tcPr marL="54864" marR="54864" marT="27432" marB="27432" anchor="ctr">
                    <a:solidFill>
                      <a:srgbClr val="FBFAF7"/>
                    </a:solidFill>
                  </a:tcPr>
                </a:tc>
                <a:tc>
                  <a:txBody>
                    <a:bodyPr wrap="square"/>
                    <a:lstStyle/>
                    <a:p>
                      <a:pPr algn="r"/>
                      <a:r>
                        <a:rPr sz="1000" b="0">
                          <a:solidFill>
                            <a:srgbClr val="0F172A"/>
                          </a:solidFill>
                          <a:latin typeface="Inter"/>
                        </a:rPr>
                        <a:t>Exact</a:t>
                      </a:r>
                    </a:p>
                  </a:txBody>
                  <a:tcPr marL="54864" marR="54864" marT="27432" marB="27432" anchor="ctr">
                    <a:solidFill>
                      <a:srgbClr val="FBFAF7"/>
                    </a:solidFill>
                  </a:tcPr>
                </a:tc>
                <a:tc>
                  <a:txBody>
                    <a:bodyPr wrap="square"/>
                    <a:lstStyle/>
                    <a:p>
                      <a:pPr algn="r"/>
                      <a:r>
                        <a:rPr sz="1000" b="0">
                          <a:solidFill>
                            <a:srgbClr val="0F172A"/>
                          </a:solidFill>
                          <a:latin typeface="Inter"/>
                        </a:rPr>
                        <a:t>Brand</a:t>
                      </a:r>
                    </a:p>
                  </a:txBody>
                  <a:tcPr marL="54864" marR="54864" marT="27432" marB="27432" anchor="ctr">
                    <a:solidFill>
                      <a:srgbClr val="FBFAF7"/>
                    </a:solidFill>
                  </a:tcPr>
                </a:tc>
                <a:tc>
                  <a:txBody>
                    <a:bodyPr wrap="square"/>
                    <a:lstStyle/>
                    <a:p>
                      <a:pPr algn="r"/>
                      <a:r>
                        <a:rPr sz="1000" b="0">
                          <a:solidFill>
                            <a:srgbClr val="0F172A"/>
                          </a:solidFill>
                          <a:latin typeface="Inter"/>
                        </a:rPr>
                        <a:t>$44</a:t>
                      </a:r>
                    </a:p>
                  </a:txBody>
                  <a:tcPr marL="54864" marR="54864" marT="27432" marB="27432" anchor="ctr">
                    <a:solidFill>
                      <a:srgbClr val="FBFAF7"/>
                    </a:solidFill>
                  </a:tcPr>
                </a:tc>
                <a:tc>
                  <a:txBody>
                    <a:bodyPr wrap="square"/>
                    <a:lstStyle/>
                    <a:p>
                      <a:pPr algn="r"/>
                      <a:r>
                        <a:rPr sz="1000" b="0">
                          <a:solidFill>
                            <a:srgbClr val="0F172A"/>
                          </a:solidFill>
                          <a:latin typeface="Inter"/>
                        </a:rPr>
                        <a:t>$0</a:t>
                      </a:r>
                    </a:p>
                  </a:txBody>
                  <a:tcPr marL="54864" marR="54864" marT="27432" marB="27432" anchor="ctr">
                    <a:solidFill>
                      <a:srgbClr val="FBFAF7"/>
                    </a:solidFill>
                  </a:tcPr>
                </a:tc>
                <a:tc>
                  <a:txBody>
                    <a:bodyPr wrap="square"/>
                    <a:lstStyle/>
                    <a:p>
                      <a:pPr algn="r"/>
                      <a:r>
                        <a:rPr sz="1000" b="0">
                          <a:solidFill>
                            <a:srgbClr val="DC2626"/>
                          </a:solidFill>
                          <a:latin typeface="Inter"/>
                        </a:rPr>
                        <a:t>no sales</a:t>
                      </a:r>
                    </a:p>
                  </a:txBody>
                  <a:tcPr marL="54864" marR="54864" marT="27432" marB="27432" anchor="ctr">
                    <a:solidFill>
                      <a:srgbClr val="FBFAF7"/>
                    </a:solidFill>
                  </a:tcPr>
                </a:tc>
                <a:tc>
                  <a:txBody>
                    <a:bodyPr wrap="square"/>
                    <a:lstStyle/>
                    <a:p>
                      <a:pPr algn="r"/>
                      <a:r>
                        <a:rPr sz="1000" b="0">
                          <a:solidFill>
                            <a:srgbClr val="0F172A"/>
                          </a:solidFill>
                          <a:latin typeface="Inter"/>
                        </a:rPr>
                        <a:t>34</a:t>
                      </a:r>
                    </a:p>
                  </a:txBody>
                  <a:tcPr marL="54864" marR="54864" marT="27432" marB="27432" anchor="ctr">
                    <a:solidFill>
                      <a:srgbClr val="FBFAF7"/>
                    </a:solidFill>
                  </a:tcPr>
                </a:tc>
                <a:tc>
                  <a:txBody>
                    <a:bodyPr wrap="square"/>
                    <a:lstStyle/>
                    <a:p>
                      <a:pPr algn="r"/>
                      <a:r>
                        <a:rPr sz="1000" b="0">
                          <a:solidFill>
                            <a:srgbClr val="0F172A"/>
                          </a:solidFill>
                          <a:latin typeface="Inter"/>
                        </a:rPr>
                        <a:t>0</a:t>
                      </a:r>
                    </a:p>
                  </a:txBody>
                  <a:tcPr marL="54864" marR="54864" marT="27432" marB="27432" anchor="ctr">
                    <a:solidFill>
                      <a:srgbClr val="FBFAF7"/>
                    </a:solidFill>
                  </a:tcPr>
                </a:tc>
              </a:tr>
              <a:tr h="329184">
                <a:tc>
                  <a:txBody>
                    <a:bodyPr wrap="square"/>
                    <a:lstStyle/>
                    <a:p>
                      <a:pPr algn="l"/>
                      <a:r>
                        <a:rPr sz="1000" b="0">
                          <a:solidFill>
                            <a:srgbClr val="0F172A"/>
                          </a:solidFill>
                          <a:latin typeface="Inter"/>
                        </a:rPr>
                        <a:t>dormeo</a:t>
                      </a:r>
                    </a:p>
                  </a:txBody>
                  <a:tcPr marL="54864" marR="54864" marT="27432" marB="27432" anchor="ctr">
                    <a:solidFill>
                      <a:srgbClr val="FFFFFF"/>
                    </a:solidFill>
                  </a:tcPr>
                </a:tc>
                <a:tc>
                  <a:txBody>
                    <a:bodyPr wrap="square"/>
                    <a:lstStyle/>
                    <a:p>
                      <a:pPr algn="r"/>
                      <a:r>
                        <a:rPr sz="1000" b="0">
                          <a:solidFill>
                            <a:srgbClr val="0F172A"/>
                          </a:solidFill>
                          <a:latin typeface="Inter"/>
                        </a:rPr>
                        <a:t>Phrase</a:t>
                      </a:r>
                    </a:p>
                  </a:txBody>
                  <a:tcPr marL="54864" marR="54864" marT="27432" marB="27432" anchor="ctr">
                    <a:solidFill>
                      <a:srgbClr val="FFFFFF"/>
                    </a:solidFill>
                  </a:tcPr>
                </a:tc>
                <a:tc>
                  <a:txBody>
                    <a:bodyPr wrap="square"/>
                    <a:lstStyle/>
                    <a:p>
                      <a:pPr algn="r"/>
                      <a:r>
                        <a:rPr sz="1000" b="0">
                          <a:solidFill>
                            <a:srgbClr val="0F172A"/>
                          </a:solidFill>
                          <a:latin typeface="Inter"/>
                        </a:rPr>
                        <a:t>Brand</a:t>
                      </a:r>
                    </a:p>
                  </a:txBody>
                  <a:tcPr marL="54864" marR="54864" marT="27432" marB="27432" anchor="ctr">
                    <a:solidFill>
                      <a:srgbClr val="FFFFFF"/>
                    </a:solidFill>
                  </a:tcPr>
                </a:tc>
                <a:tc>
                  <a:txBody>
                    <a:bodyPr wrap="square"/>
                    <a:lstStyle/>
                    <a:p>
                      <a:pPr algn="r"/>
                      <a:r>
                        <a:rPr sz="1000" b="0">
                          <a:solidFill>
                            <a:srgbClr val="0F172A"/>
                          </a:solidFill>
                          <a:latin typeface="Inter"/>
                        </a:rPr>
                        <a:t>$40</a:t>
                      </a:r>
                    </a:p>
                  </a:txBody>
                  <a:tcPr marL="54864" marR="54864" marT="27432" marB="27432" anchor="ctr">
                    <a:solidFill>
                      <a:srgbClr val="FFFFFF"/>
                    </a:solidFill>
                  </a:tcPr>
                </a:tc>
                <a:tc>
                  <a:txBody>
                    <a:bodyPr wrap="square"/>
                    <a:lstStyle/>
                    <a:p>
                      <a:pPr algn="r"/>
                      <a:r>
                        <a:rPr sz="1000" b="0">
                          <a:solidFill>
                            <a:srgbClr val="0F172A"/>
                          </a:solidFill>
                          <a:latin typeface="Inter"/>
                        </a:rPr>
                        <a:t>$0</a:t>
                      </a:r>
                    </a:p>
                  </a:txBody>
                  <a:tcPr marL="54864" marR="54864" marT="27432" marB="27432" anchor="ctr">
                    <a:solidFill>
                      <a:srgbClr val="FFFFFF"/>
                    </a:solidFill>
                  </a:tcPr>
                </a:tc>
                <a:tc>
                  <a:txBody>
                    <a:bodyPr wrap="square"/>
                    <a:lstStyle/>
                    <a:p>
                      <a:pPr algn="r"/>
                      <a:r>
                        <a:rPr sz="1000" b="0">
                          <a:solidFill>
                            <a:srgbClr val="DC2626"/>
                          </a:solidFill>
                          <a:latin typeface="Inter"/>
                        </a:rPr>
                        <a:t>no sales</a:t>
                      </a:r>
                    </a:p>
                  </a:txBody>
                  <a:tcPr marL="54864" marR="54864" marT="27432" marB="27432" anchor="ctr">
                    <a:solidFill>
                      <a:srgbClr val="FFFFFF"/>
                    </a:solidFill>
                  </a:tcPr>
                </a:tc>
                <a:tc>
                  <a:txBody>
                    <a:bodyPr wrap="square"/>
                    <a:lstStyle/>
                    <a:p>
                      <a:pPr algn="r"/>
                      <a:r>
                        <a:rPr sz="1000" b="0">
                          <a:solidFill>
                            <a:srgbClr val="0F172A"/>
                          </a:solidFill>
                          <a:latin typeface="Inter"/>
                        </a:rPr>
                        <a:t>57</a:t>
                      </a:r>
                    </a:p>
                  </a:txBody>
                  <a:tcPr marL="54864" marR="54864" marT="27432" marB="27432" anchor="ctr">
                    <a:solidFill>
                      <a:srgbClr val="FFFFFF"/>
                    </a:solidFill>
                  </a:tcPr>
                </a:tc>
                <a:tc>
                  <a:txBody>
                    <a:bodyPr wrap="square"/>
                    <a:lstStyle/>
                    <a:p>
                      <a:pPr algn="r"/>
                      <a:r>
                        <a:rPr sz="1000" b="0">
                          <a:solidFill>
                            <a:srgbClr val="0F172A"/>
                          </a:solidFill>
                          <a:latin typeface="Inter"/>
                        </a:rPr>
                        <a:t>0</a:t>
                      </a:r>
                    </a:p>
                  </a:txBody>
                  <a:tcPr marL="54864" marR="54864" marT="27432" marB="27432" anchor="ctr">
                    <a:solidFill>
                      <a:srgbClr val="FFFFFF"/>
                    </a:solidFill>
                  </a:tcPr>
                </a:tc>
              </a:tr>
            </a:tbl>
          </a:graphicData>
        </a:graphic>
      </p:graphicFrame>
      <p:sp>
        <p:nvSpPr>
          <p:cNvPr id="27" name=""/>
          <p:cNvSpPr/>
          <p:nvPr/>
        </p:nvSpPr>
        <p:spPr>
          <a:xfrm>
            <a:off x="8001000" y="3063240"/>
            <a:ext cx="3639312" cy="3154680"/>
          </a:xfrm>
          <a:prstGeom prst="roundRect">
            <a:avLst>
              <a:gd name="" fmla="val 6000"/>
            </a:avLst>
          </a:prstGeom>
          <a:solidFill>
            <a:srgbClr val="FFFFFF"/>
          </a:solidFill>
          <a:ln w="9525">
            <a:solidFill>
              <a:srgbClr val="E5E0D6"/>
            </a:solidFill>
          </a:ln>
        </p:spPr>
      </p:sp>
      <p:sp>
        <p:nvSpPr>
          <p:cNvPr id="28" name=""/>
          <p:cNvSpPr txBox="1"/>
          <p:nvPr/>
        </p:nvSpPr>
        <p:spPr>
          <a:xfrm>
            <a:off x="8183879" y="3200400"/>
            <a:ext cx="3273552" cy="274320"/>
          </a:xfrm>
          <a:prstGeom prst="rect">
            <a:avLst/>
          </a:prstGeom>
          <a:noFill/>
        </p:spPr>
        <p:txBody>
          <a:bodyPr wrap="square" lIns="36576" rIns="36576" tIns="18288" bIns="18288" anchor="t">
            <a:spAutoFit/>
          </a:bodyPr>
          <a:lstStyle/>
          <a:p>
            <a:pPr algn="l"/>
            <a:r>
              <a:rPr sz="1200" b="1">
                <a:solidFill>
                  <a:srgbClr val="0F172A"/>
                </a:solidFill>
                <a:latin typeface="Space Grotesk"/>
              </a:rPr>
              <a:t>Next moves</a:t>
            </a:r>
          </a:p>
        </p:txBody>
      </p:sp>
      <p:sp>
        <p:nvSpPr>
          <p:cNvPr id="29" name=""/>
          <p:cNvSpPr txBox="1"/>
          <p:nvPr/>
        </p:nvSpPr>
        <p:spPr>
          <a:xfrm>
            <a:off x="8183879" y="3520440"/>
            <a:ext cx="3273552" cy="2606040"/>
          </a:xfrm>
          <a:prstGeom prst="rect">
            <a:avLst/>
          </a:prstGeom>
          <a:noFill/>
        </p:spPr>
        <p:txBody>
          <a:bodyPr wrap="square" lIns="36576" rIns="36576" tIns="18288" bIns="18288" anchor="t">
            <a:spAutoFit/>
          </a:bodyPr>
          <a:lstStyle/>
          <a:p>
            <a:pPr algn="l">
              <a:spcAft>
                <a:spcPts val="500"/>
              </a:spcAft>
            </a:pPr>
            <a:r>
              <a:rPr sz="1050" b="0">
                <a:solidFill>
                  <a:srgbClr val="334155"/>
                </a:solidFill>
                <a:latin typeface="Inter"/>
              </a:rPr>
              <a:t>Review the Streaming TV audience campaign for the Queen topper: $897 this week and $892 last week with no attributed sales.</a:t>
            </a:r>
          </a:p>
          <a:p>
            <a:pPr algn="l">
              <a:spcAft>
                <a:spcPts val="500"/>
              </a:spcAft>
            </a:pPr>
            <a:r>
              <a:rPr sz="1050" b="0">
                <a:solidFill>
                  <a:srgbClr val="334155"/>
                </a:solidFill>
                <a:latin typeface="Inter"/>
              </a:rPr>
              <a:t>Pause or negate “mattress +topper” (exact, $76) and “sur matelas dormeo” (exact, $46): clicks, no sales.</a:t>
            </a:r>
          </a:p>
          <a:p>
            <a:pPr algn="l">
              <a:spcAft>
                <a:spcPts val="500"/>
              </a:spcAft>
            </a:pPr>
            <a:r>
              <a:rPr sz="1050" b="0">
                <a:solidFill>
                  <a:srgbClr val="334155"/>
                </a:solidFill>
                <a:latin typeface="Inter"/>
              </a:rPr>
              <a:t>Lower the bid on “mattress +topper” (phrase): $183 for 1 order.</a:t>
            </a:r>
          </a:p>
          <a:p>
            <a:pPr algn="l">
              <a:spcAft>
                <a:spcPts val="500"/>
              </a:spcAft>
            </a:pPr>
            <a:r>
              <a:rPr sz="1050" b="0">
                <a:solidFill>
                  <a:srgbClr val="334155"/>
                </a:solidFill>
                <a:latin typeface="Inter"/>
              </a:rPr>
              <a:t>Impression share and bid-change history are not in the Sellerise report, so they aren't tracked here.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
          <p:cNvSpPr/>
          <p:nvPr/>
        </p:nvSpPr>
        <p:spPr>
          <a:xfrm>
            <a:off x="0" y="0"/>
            <a:ext cx="12191695" cy="6858000"/>
          </a:xfrm>
          <a:prstGeom prst="rect">
            <a:avLst/>
          </a:prstGeom>
          <a:solidFill>
            <a:srgbClr val="FFFFFF"/>
          </a:solidFill>
          <a:ln>
            <a:noFill/>
          </a:ln>
        </p:spPr>
      </p:sp>
      <p:sp>
        <p:nvSpPr>
          <p:cNvPr id="3" name=""/>
          <p:cNvSpPr/>
          <p:nvPr/>
        </p:nvSpPr>
        <p:spPr>
          <a:xfrm>
            <a:off x="548640" y="502920"/>
            <a:ext cx="73152" cy="566928"/>
          </a:xfrm>
          <a:prstGeom prst="rect">
            <a:avLst/>
          </a:prstGeom>
          <a:solidFill>
            <a:srgbClr val="2447FF"/>
          </a:solidFill>
          <a:ln>
            <a:noFill/>
          </a:ln>
        </p:spPr>
      </p:sp>
      <p:sp>
        <p:nvSpPr>
          <p:cNvPr id="4" name=""/>
          <p:cNvSpPr txBox="1"/>
          <p:nvPr/>
        </p:nvSpPr>
        <p:spPr>
          <a:xfrm>
            <a:off x="731520" y="384048"/>
            <a:ext cx="8686800" cy="274320"/>
          </a:xfrm>
          <a:prstGeom prst="rect">
            <a:avLst/>
          </a:prstGeom>
          <a:noFill/>
        </p:spPr>
        <p:txBody>
          <a:bodyPr wrap="square" lIns="36576" rIns="36576" tIns="18288" bIns="18288" anchor="t">
            <a:spAutoFit/>
          </a:bodyPr>
          <a:lstStyle/>
          <a:p>
            <a:pPr algn="l"/>
            <a:r>
              <a:rPr sz="1000" b="1">
                <a:solidFill>
                  <a:srgbClr val="2447FF"/>
                </a:solidFill>
                <a:latin typeface="Space Grotesk"/>
              </a:rPr>
              <a:t>AMAZON ADS</a:t>
            </a:r>
          </a:p>
        </p:txBody>
      </p:sp>
      <p:sp>
        <p:nvSpPr>
          <p:cNvPr id="5" name=""/>
          <p:cNvSpPr txBox="1"/>
          <p:nvPr/>
        </p:nvSpPr>
        <p:spPr>
          <a:xfrm>
            <a:off x="731520" y="603504"/>
            <a:ext cx="9601200" cy="548640"/>
          </a:xfrm>
          <a:prstGeom prst="rect">
            <a:avLst/>
          </a:prstGeom>
          <a:noFill/>
        </p:spPr>
        <p:txBody>
          <a:bodyPr wrap="square" lIns="36576" rIns="36576" tIns="18288" bIns="18288" anchor="t">
            <a:spAutoFit/>
          </a:bodyPr>
          <a:lstStyle/>
          <a:p>
            <a:pPr algn="l"/>
            <a:r>
              <a:rPr sz="2600" b="1">
                <a:solidFill>
                  <a:srgbClr val="0F172A"/>
                </a:solidFill>
                <a:latin typeface="Space Grotesk"/>
              </a:rPr>
              <a:t>Brand keywords — top customer searches</a:t>
            </a:r>
          </a:p>
        </p:txBody>
      </p:sp>
      <p:pic>
        <p:nvPicPr>
          <p:cNvPr id="6" name="" descr="logo_s.png"/>
          <p:cNvPicPr>
            <a:picLocks noChangeAspect="1"/>
          </p:cNvPicPr>
          <p:nvPr/>
        </p:nvPicPr>
        <p:blipFill>
          <a:blip r:embed="rId2"/>
          <a:stretch>
            <a:fillRect/>
          </a:stretch>
        </p:blipFill>
        <p:spPr>
          <a:xfrm>
            <a:off x="10195560" y="457200"/>
            <a:ext cx="1463040" cy="256032"/>
          </a:xfrm>
          <a:prstGeom prst="rect">
            <a:avLst/>
          </a:prstGeom>
        </p:spPr>
      </p:pic>
      <p:sp>
        <p:nvSpPr>
          <p:cNvPr id="7" name=""/>
          <p:cNvSpPr/>
          <p:nvPr/>
        </p:nvSpPr>
        <p:spPr>
          <a:xfrm>
            <a:off x="548640" y="6400800"/>
            <a:ext cx="11091672" cy="10972"/>
          </a:xfrm>
          <a:prstGeom prst="rect">
            <a:avLst/>
          </a:prstGeom>
          <a:solidFill>
            <a:srgbClr val="E5E0D6"/>
          </a:solidFill>
          <a:ln>
            <a:noFill/>
          </a:ln>
        </p:spPr>
      </p:sp>
      <p:sp>
        <p:nvSpPr>
          <p:cNvPr id="8" name=""/>
          <p:cNvSpPr txBox="1"/>
          <p:nvPr/>
        </p:nvSpPr>
        <p:spPr>
          <a:xfrm>
            <a:off x="548640" y="6455664"/>
            <a:ext cx="8229600" cy="274320"/>
          </a:xfrm>
          <a:prstGeom prst="rect">
            <a:avLst/>
          </a:prstGeom>
          <a:noFill/>
        </p:spPr>
        <p:txBody>
          <a:bodyPr wrap="square" lIns="36576" rIns="36576" tIns="18288" bIns="18288" anchor="t">
            <a:spAutoFit/>
          </a:bodyPr>
          <a:lstStyle/>
          <a:p>
            <a:pPr algn="l"/>
            <a:r>
              <a:rPr sz="900" b="0">
                <a:solidFill>
                  <a:srgbClr val="6B6558"/>
                </a:solidFill>
                <a:latin typeface="Inter"/>
              </a:rPr>
              <a:t>Dormeo Canada · Weekly Business Review · Week 43 (Oct 18–24, 2026)</a:t>
            </a:r>
          </a:p>
        </p:txBody>
      </p:sp>
      <p:sp>
        <p:nvSpPr>
          <p:cNvPr id="9" name=""/>
          <p:cNvSpPr txBox="1"/>
          <p:nvPr/>
        </p:nvSpPr>
        <p:spPr>
          <a:xfrm>
            <a:off x="10241280" y="6455664"/>
            <a:ext cx="1399032" cy="274320"/>
          </a:xfrm>
          <a:prstGeom prst="rect">
            <a:avLst/>
          </a:prstGeom>
          <a:noFill/>
        </p:spPr>
        <p:txBody>
          <a:bodyPr wrap="square" lIns="36576" rIns="36576" tIns="18288" bIns="18288" anchor="t">
            <a:spAutoFit/>
          </a:bodyPr>
          <a:lstStyle/>
          <a:p>
            <a:pPr algn="r"/>
            <a:r>
              <a:rPr sz="900" b="0">
                <a:solidFill>
                  <a:srgbClr val="6B6558"/>
                </a:solidFill>
                <a:latin typeface="Inter"/>
              </a:rPr>
              <a:t>8 / 17</a:t>
            </a:r>
          </a:p>
        </p:txBody>
      </p:sp>
      <p:sp>
        <p:nvSpPr>
          <p:cNvPr id="10" name=""/>
          <p:cNvSpPr/>
          <p:nvPr/>
        </p:nvSpPr>
        <p:spPr>
          <a:xfrm>
            <a:off x="548640" y="1371600"/>
            <a:ext cx="3566160" cy="1005840"/>
          </a:xfrm>
          <a:prstGeom prst="roundRect">
            <a:avLst>
              <a:gd name="" fmla="val 6000"/>
            </a:avLst>
          </a:prstGeom>
          <a:solidFill>
            <a:srgbClr val="F6F3EC"/>
          </a:solidFill>
          <a:ln>
            <a:noFill/>
          </a:ln>
        </p:spPr>
      </p:sp>
      <p:sp>
        <p:nvSpPr>
          <p:cNvPr id="11" name=""/>
          <p:cNvSpPr txBox="1"/>
          <p:nvPr/>
        </p:nvSpPr>
        <p:spPr>
          <a:xfrm>
            <a:off x="713232" y="1463040"/>
            <a:ext cx="3291840" cy="274320"/>
          </a:xfrm>
          <a:prstGeom prst="rect">
            <a:avLst/>
          </a:prstGeom>
          <a:noFill/>
        </p:spPr>
        <p:txBody>
          <a:bodyPr wrap="square" lIns="36576" rIns="36576" tIns="18288" bIns="18288" anchor="t">
            <a:spAutoFit/>
          </a:bodyPr>
          <a:lstStyle/>
          <a:p>
            <a:pPr algn="l"/>
            <a:r>
              <a:rPr sz="1050" b="1">
                <a:solidFill>
                  <a:srgbClr val="0F172A"/>
                </a:solidFill>
                <a:latin typeface="Inter"/>
              </a:rPr>
              <a:t>“dormeo mattress topper” · SB</a:t>
            </a:r>
          </a:p>
        </p:txBody>
      </p:sp>
      <p:sp>
        <p:nvSpPr>
          <p:cNvPr id="12" name=""/>
          <p:cNvSpPr txBox="1"/>
          <p:nvPr/>
        </p:nvSpPr>
        <p:spPr>
          <a:xfrm>
            <a:off x="713232" y="1755648"/>
            <a:ext cx="3291840" cy="548640"/>
          </a:xfrm>
          <a:prstGeom prst="rect">
            <a:avLst/>
          </a:prstGeom>
          <a:noFill/>
        </p:spPr>
        <p:txBody>
          <a:bodyPr wrap="square" lIns="36576" rIns="36576" tIns="18288" bIns="18288" anchor="t">
            <a:spAutoFit/>
          </a:bodyPr>
          <a:lstStyle/>
          <a:p>
            <a:pPr algn="l"/>
            <a:r>
              <a:rPr sz="2000" b="1">
                <a:solidFill>
                  <a:srgbClr val="2447FF"/>
                </a:solidFill>
                <a:latin typeface="Space Grotesk"/>
              </a:rPr>
              <a:t>$7,047</a:t>
            </a:r>
            <a:r>
              <a:rPr sz="1000" b="0">
                <a:solidFill>
                  <a:srgbClr val="6B6558"/>
                </a:solidFill>
                <a:latin typeface="Inter"/>
              </a:rPr>
              <a:t>   183 clicks · 13 orders · CVR 7.1%</a:t>
            </a:r>
          </a:p>
        </p:txBody>
      </p:sp>
      <p:sp>
        <p:nvSpPr>
          <p:cNvPr id="13" name=""/>
          <p:cNvSpPr/>
          <p:nvPr/>
        </p:nvSpPr>
        <p:spPr>
          <a:xfrm>
            <a:off x="4279392" y="1371600"/>
            <a:ext cx="3566160" cy="1005840"/>
          </a:xfrm>
          <a:prstGeom prst="roundRect">
            <a:avLst>
              <a:gd name="" fmla="val 6000"/>
            </a:avLst>
          </a:prstGeom>
          <a:solidFill>
            <a:srgbClr val="F6F3EC"/>
          </a:solidFill>
          <a:ln>
            <a:noFill/>
          </a:ln>
        </p:spPr>
      </p:sp>
      <p:sp>
        <p:nvSpPr>
          <p:cNvPr id="14" name=""/>
          <p:cNvSpPr txBox="1"/>
          <p:nvPr/>
        </p:nvSpPr>
        <p:spPr>
          <a:xfrm>
            <a:off x="4443983" y="1463040"/>
            <a:ext cx="3291840" cy="274320"/>
          </a:xfrm>
          <a:prstGeom prst="rect">
            <a:avLst/>
          </a:prstGeom>
          <a:noFill/>
        </p:spPr>
        <p:txBody>
          <a:bodyPr wrap="square" lIns="36576" rIns="36576" tIns="18288" bIns="18288" anchor="t">
            <a:spAutoFit/>
          </a:bodyPr>
          <a:lstStyle/>
          <a:p>
            <a:pPr algn="l"/>
            <a:r>
              <a:rPr sz="1050" b="1">
                <a:solidFill>
                  <a:srgbClr val="0F172A"/>
                </a:solidFill>
                <a:latin typeface="Inter"/>
              </a:rPr>
              <a:t>“dormeo mattress topper queen” · SP</a:t>
            </a:r>
          </a:p>
        </p:txBody>
      </p:sp>
      <p:sp>
        <p:nvSpPr>
          <p:cNvPr id="15" name=""/>
          <p:cNvSpPr txBox="1"/>
          <p:nvPr/>
        </p:nvSpPr>
        <p:spPr>
          <a:xfrm>
            <a:off x="4443983" y="1755648"/>
            <a:ext cx="3291840" cy="548640"/>
          </a:xfrm>
          <a:prstGeom prst="rect">
            <a:avLst/>
          </a:prstGeom>
          <a:noFill/>
        </p:spPr>
        <p:txBody>
          <a:bodyPr wrap="square" lIns="36576" rIns="36576" tIns="18288" bIns="18288" anchor="t">
            <a:spAutoFit/>
          </a:bodyPr>
          <a:lstStyle/>
          <a:p>
            <a:pPr algn="l"/>
            <a:r>
              <a:rPr sz="2000" b="1">
                <a:solidFill>
                  <a:srgbClr val="2447FF"/>
                </a:solidFill>
                <a:latin typeface="Space Grotesk"/>
              </a:rPr>
              <a:t>$3,744</a:t>
            </a:r>
            <a:r>
              <a:rPr sz="1000" b="0">
                <a:solidFill>
                  <a:srgbClr val="6B6558"/>
                </a:solidFill>
                <a:latin typeface="Inter"/>
              </a:rPr>
              <a:t>   74 clicks · 9 orders · CVR 12.2%</a:t>
            </a:r>
          </a:p>
        </p:txBody>
      </p:sp>
      <p:sp>
        <p:nvSpPr>
          <p:cNvPr id="16" name=""/>
          <p:cNvSpPr/>
          <p:nvPr/>
        </p:nvSpPr>
        <p:spPr>
          <a:xfrm>
            <a:off x="8010144" y="1371600"/>
            <a:ext cx="3566160" cy="1005840"/>
          </a:xfrm>
          <a:prstGeom prst="roundRect">
            <a:avLst>
              <a:gd name="" fmla="val 6000"/>
            </a:avLst>
          </a:prstGeom>
          <a:solidFill>
            <a:srgbClr val="F6F3EC"/>
          </a:solidFill>
          <a:ln>
            <a:noFill/>
          </a:ln>
        </p:spPr>
      </p:sp>
      <p:sp>
        <p:nvSpPr>
          <p:cNvPr id="17" name=""/>
          <p:cNvSpPr txBox="1"/>
          <p:nvPr/>
        </p:nvSpPr>
        <p:spPr>
          <a:xfrm>
            <a:off x="8174736" y="1463040"/>
            <a:ext cx="3291840" cy="274320"/>
          </a:xfrm>
          <a:prstGeom prst="rect">
            <a:avLst/>
          </a:prstGeom>
          <a:noFill/>
        </p:spPr>
        <p:txBody>
          <a:bodyPr wrap="square" lIns="36576" rIns="36576" tIns="18288" bIns="18288" anchor="t">
            <a:spAutoFit/>
          </a:bodyPr>
          <a:lstStyle/>
          <a:p>
            <a:pPr algn="l"/>
            <a:r>
              <a:rPr sz="1050" b="1">
                <a:solidFill>
                  <a:srgbClr val="0F172A"/>
                </a:solidFill>
                <a:latin typeface="Inter"/>
              </a:rPr>
              <a:t>“dormeo mattress topper queen” · SB</a:t>
            </a:r>
          </a:p>
        </p:txBody>
      </p:sp>
      <p:sp>
        <p:nvSpPr>
          <p:cNvPr id="18" name=""/>
          <p:cNvSpPr txBox="1"/>
          <p:nvPr/>
        </p:nvSpPr>
        <p:spPr>
          <a:xfrm>
            <a:off x="8174736" y="1755648"/>
            <a:ext cx="3291840" cy="548640"/>
          </a:xfrm>
          <a:prstGeom prst="rect">
            <a:avLst/>
          </a:prstGeom>
          <a:noFill/>
        </p:spPr>
        <p:txBody>
          <a:bodyPr wrap="square" lIns="36576" rIns="36576" tIns="18288" bIns="18288" anchor="t">
            <a:spAutoFit/>
          </a:bodyPr>
          <a:lstStyle/>
          <a:p>
            <a:pPr algn="l"/>
            <a:r>
              <a:rPr sz="2000" b="1">
                <a:solidFill>
                  <a:srgbClr val="2447FF"/>
                </a:solidFill>
                <a:latin typeface="Space Grotesk"/>
              </a:rPr>
              <a:t>$2,770</a:t>
            </a:r>
            <a:r>
              <a:rPr sz="1000" b="0">
                <a:solidFill>
                  <a:srgbClr val="6B6558"/>
                </a:solidFill>
                <a:latin typeface="Inter"/>
              </a:rPr>
              <a:t>   25 clicks · 5 orders · CVR 20.0%</a:t>
            </a:r>
          </a:p>
        </p:txBody>
      </p:sp>
      <p:sp>
        <p:nvSpPr>
          <p:cNvPr id="19" name=""/>
          <p:cNvSpPr/>
          <p:nvPr/>
        </p:nvSpPr>
        <p:spPr>
          <a:xfrm>
            <a:off x="548640" y="2514600"/>
            <a:ext cx="3566160" cy="1005840"/>
          </a:xfrm>
          <a:prstGeom prst="roundRect">
            <a:avLst>
              <a:gd name="" fmla="val 6000"/>
            </a:avLst>
          </a:prstGeom>
          <a:solidFill>
            <a:srgbClr val="F6F3EC"/>
          </a:solidFill>
          <a:ln>
            <a:noFill/>
          </a:ln>
        </p:spPr>
      </p:sp>
      <p:sp>
        <p:nvSpPr>
          <p:cNvPr id="20" name=""/>
          <p:cNvSpPr txBox="1"/>
          <p:nvPr/>
        </p:nvSpPr>
        <p:spPr>
          <a:xfrm>
            <a:off x="713232" y="2606040"/>
            <a:ext cx="3291840" cy="274320"/>
          </a:xfrm>
          <a:prstGeom prst="rect">
            <a:avLst/>
          </a:prstGeom>
          <a:noFill/>
        </p:spPr>
        <p:txBody>
          <a:bodyPr wrap="square" lIns="36576" rIns="36576" tIns="18288" bIns="18288" anchor="t">
            <a:spAutoFit/>
          </a:bodyPr>
          <a:lstStyle/>
          <a:p>
            <a:pPr algn="l"/>
            <a:r>
              <a:rPr sz="1050" b="1">
                <a:solidFill>
                  <a:srgbClr val="0F172A"/>
                </a:solidFill>
                <a:latin typeface="Inter"/>
              </a:rPr>
              <a:t>“dormeo mattress topper king size” · SP</a:t>
            </a:r>
          </a:p>
        </p:txBody>
      </p:sp>
      <p:sp>
        <p:nvSpPr>
          <p:cNvPr id="21" name=""/>
          <p:cNvSpPr txBox="1"/>
          <p:nvPr/>
        </p:nvSpPr>
        <p:spPr>
          <a:xfrm>
            <a:off x="713232" y="2898648"/>
            <a:ext cx="3291840" cy="548640"/>
          </a:xfrm>
          <a:prstGeom prst="rect">
            <a:avLst/>
          </a:prstGeom>
          <a:noFill/>
        </p:spPr>
        <p:txBody>
          <a:bodyPr wrap="square" lIns="36576" rIns="36576" tIns="18288" bIns="18288" anchor="t">
            <a:spAutoFit/>
          </a:bodyPr>
          <a:lstStyle/>
          <a:p>
            <a:pPr algn="l"/>
            <a:r>
              <a:rPr sz="2000" b="1">
                <a:solidFill>
                  <a:srgbClr val="2447FF"/>
                </a:solidFill>
                <a:latin typeface="Space Grotesk"/>
              </a:rPr>
              <a:t>$1,199</a:t>
            </a:r>
            <a:r>
              <a:rPr sz="1000" b="0">
                <a:solidFill>
                  <a:srgbClr val="6B6558"/>
                </a:solidFill>
                <a:latin typeface="Inter"/>
              </a:rPr>
              <a:t>   11 clicks · 2 orders · CVR 18.2%</a:t>
            </a:r>
          </a:p>
        </p:txBody>
      </p:sp>
      <p:sp>
        <p:nvSpPr>
          <p:cNvPr id="22" name=""/>
          <p:cNvSpPr/>
          <p:nvPr/>
        </p:nvSpPr>
        <p:spPr>
          <a:xfrm>
            <a:off x="4279392" y="2514600"/>
            <a:ext cx="3566160" cy="1005840"/>
          </a:xfrm>
          <a:prstGeom prst="roundRect">
            <a:avLst>
              <a:gd name="" fmla="val 6000"/>
            </a:avLst>
          </a:prstGeom>
          <a:solidFill>
            <a:srgbClr val="F6F3EC"/>
          </a:solidFill>
          <a:ln>
            <a:noFill/>
          </a:ln>
        </p:spPr>
      </p:sp>
      <p:sp>
        <p:nvSpPr>
          <p:cNvPr id="23" name=""/>
          <p:cNvSpPr txBox="1"/>
          <p:nvPr/>
        </p:nvSpPr>
        <p:spPr>
          <a:xfrm>
            <a:off x="4443983" y="2606040"/>
            <a:ext cx="3291840" cy="274320"/>
          </a:xfrm>
          <a:prstGeom prst="rect">
            <a:avLst/>
          </a:prstGeom>
          <a:noFill/>
        </p:spPr>
        <p:txBody>
          <a:bodyPr wrap="square" lIns="36576" rIns="36576" tIns="18288" bIns="18288" anchor="t">
            <a:spAutoFit/>
          </a:bodyPr>
          <a:lstStyle/>
          <a:p>
            <a:pPr algn="l"/>
            <a:r>
              <a:rPr sz="1050" b="1">
                <a:solidFill>
                  <a:srgbClr val="0F172A"/>
                </a:solidFill>
                <a:latin typeface="Inter"/>
              </a:rPr>
              <a:t>“dormeo topper canada” · SP</a:t>
            </a:r>
          </a:p>
        </p:txBody>
      </p:sp>
      <p:sp>
        <p:nvSpPr>
          <p:cNvPr id="24" name=""/>
          <p:cNvSpPr txBox="1"/>
          <p:nvPr/>
        </p:nvSpPr>
        <p:spPr>
          <a:xfrm>
            <a:off x="4443983" y="2898648"/>
            <a:ext cx="3291840" cy="548640"/>
          </a:xfrm>
          <a:prstGeom prst="rect">
            <a:avLst/>
          </a:prstGeom>
          <a:noFill/>
        </p:spPr>
        <p:txBody>
          <a:bodyPr wrap="square" lIns="36576" rIns="36576" tIns="18288" bIns="18288" anchor="t">
            <a:spAutoFit/>
          </a:bodyPr>
          <a:lstStyle/>
          <a:p>
            <a:pPr algn="l"/>
            <a:r>
              <a:rPr sz="2000" b="1">
                <a:solidFill>
                  <a:srgbClr val="2447FF"/>
                </a:solidFill>
                <a:latin typeface="Space Grotesk"/>
              </a:rPr>
              <a:t>$1,108</a:t>
            </a:r>
            <a:r>
              <a:rPr sz="1000" b="0">
                <a:solidFill>
                  <a:srgbClr val="6B6558"/>
                </a:solidFill>
                <a:latin typeface="Inter"/>
              </a:rPr>
              <a:t>   12 clicks · 2 orders · CVR 16.7%</a:t>
            </a:r>
          </a:p>
        </p:txBody>
      </p:sp>
      <p:sp>
        <p:nvSpPr>
          <p:cNvPr id="25" name=""/>
          <p:cNvSpPr/>
          <p:nvPr/>
        </p:nvSpPr>
        <p:spPr>
          <a:xfrm>
            <a:off x="8010144" y="2514600"/>
            <a:ext cx="3566160" cy="1005840"/>
          </a:xfrm>
          <a:prstGeom prst="roundRect">
            <a:avLst>
              <a:gd name="" fmla="val 6000"/>
            </a:avLst>
          </a:prstGeom>
          <a:solidFill>
            <a:srgbClr val="F6F3EC"/>
          </a:solidFill>
          <a:ln>
            <a:noFill/>
          </a:ln>
        </p:spPr>
      </p:sp>
      <p:sp>
        <p:nvSpPr>
          <p:cNvPr id="26" name=""/>
          <p:cNvSpPr txBox="1"/>
          <p:nvPr/>
        </p:nvSpPr>
        <p:spPr>
          <a:xfrm>
            <a:off x="8174736" y="2606040"/>
            <a:ext cx="3291840" cy="274320"/>
          </a:xfrm>
          <a:prstGeom prst="rect">
            <a:avLst/>
          </a:prstGeom>
          <a:noFill/>
        </p:spPr>
        <p:txBody>
          <a:bodyPr wrap="square" lIns="36576" rIns="36576" tIns="18288" bIns="18288" anchor="t">
            <a:spAutoFit/>
          </a:bodyPr>
          <a:lstStyle/>
          <a:p>
            <a:pPr algn="l"/>
            <a:r>
              <a:rPr sz="1050" b="1">
                <a:solidFill>
                  <a:srgbClr val="0F172A"/>
                </a:solidFill>
                <a:latin typeface="Inter"/>
              </a:rPr>
              <a:t>“dormeo mattress topper king” · SP</a:t>
            </a:r>
          </a:p>
        </p:txBody>
      </p:sp>
      <p:sp>
        <p:nvSpPr>
          <p:cNvPr id="27" name=""/>
          <p:cNvSpPr txBox="1"/>
          <p:nvPr/>
        </p:nvSpPr>
        <p:spPr>
          <a:xfrm>
            <a:off x="8174736" y="2898648"/>
            <a:ext cx="3291840" cy="548640"/>
          </a:xfrm>
          <a:prstGeom prst="rect">
            <a:avLst/>
          </a:prstGeom>
          <a:noFill/>
        </p:spPr>
        <p:txBody>
          <a:bodyPr wrap="square" lIns="36576" rIns="36576" tIns="18288" bIns="18288" anchor="t">
            <a:spAutoFit/>
          </a:bodyPr>
          <a:lstStyle/>
          <a:p>
            <a:pPr algn="l"/>
            <a:r>
              <a:rPr sz="2000" b="1">
                <a:solidFill>
                  <a:srgbClr val="2447FF"/>
                </a:solidFill>
                <a:latin typeface="Space Grotesk"/>
              </a:rPr>
              <a:t>$953</a:t>
            </a:r>
            <a:r>
              <a:rPr sz="1000" b="0">
                <a:solidFill>
                  <a:srgbClr val="6B6558"/>
                </a:solidFill>
                <a:latin typeface="Inter"/>
              </a:rPr>
              <a:t>   20 clicks · 3 orders · CVR 15.0%</a:t>
            </a:r>
          </a:p>
        </p:txBody>
      </p:sp>
      <p:graphicFrame>
        <p:nvGraphicFramePr>
          <p:cNvPr id="28" name=""/>
          <p:cNvGraphicFramePr>
            <a:graphicFrameLocks noGrp="1"/>
          </p:cNvGraphicFramePr>
          <p:nvPr/>
        </p:nvGraphicFramePr>
        <p:xfrm>
          <a:off x="548640" y="3749039"/>
          <a:ext cx="11091672" cy="2468880"/>
        </p:xfrm>
        <a:graphic>
          <a:graphicData uri="http://schemas.openxmlformats.org/drawingml/2006/table">
            <a:tbl>
              <a:tblPr firstRow="1" bandRow="1">
                <a:tableStyleId>{5C22544A-7EE6-4342-B048-85BDC9FD1C3A}</a:tableStyleId>
              </a:tblPr>
              <a:tblGrid>
                <a:gridCol w="3291840"/>
                <a:gridCol w="548640"/>
                <a:gridCol w="1143000"/>
                <a:gridCol w="822960"/>
                <a:gridCol w="822960"/>
                <a:gridCol w="822960"/>
                <a:gridCol w="1188720"/>
                <a:gridCol w="1188720"/>
                <a:gridCol w="1261872"/>
              </a:tblGrid>
              <a:tr h="274320">
                <a:tc>
                  <a:txBody>
                    <a:bodyPr wrap="square"/>
                    <a:lstStyle/>
                    <a:p>
                      <a:pPr algn="l"/>
                      <a:r>
                        <a:rPr sz="850" b="1">
                          <a:solidFill>
                            <a:srgbClr val="FFFFFF"/>
                          </a:solidFill>
                          <a:latin typeface="Inter"/>
                        </a:rPr>
                        <a:t>Search term</a:t>
                      </a:r>
                    </a:p>
                  </a:txBody>
                  <a:tcPr marL="54864" marR="54864" marT="27432" marB="27432" anchor="ctr">
                    <a:solidFill>
                      <a:srgbClr val="0F172A"/>
                    </a:solidFill>
                  </a:tcPr>
                </a:tc>
                <a:tc>
                  <a:txBody>
                    <a:bodyPr wrap="square"/>
                    <a:lstStyle/>
                    <a:p>
                      <a:pPr algn="r"/>
                      <a:r>
                        <a:rPr sz="850" b="1">
                          <a:solidFill>
                            <a:srgbClr val="FFFFFF"/>
                          </a:solidFill>
                          <a:latin typeface="Inter"/>
                        </a:rPr>
                        <a:t>Ad</a:t>
                      </a:r>
                    </a:p>
                  </a:txBody>
                  <a:tcPr marL="54864" marR="54864" marT="27432" marB="27432" anchor="ctr">
                    <a:solidFill>
                      <a:srgbClr val="0F172A"/>
                    </a:solidFill>
                  </a:tcPr>
                </a:tc>
                <a:tc>
                  <a:txBody>
                    <a:bodyPr wrap="square"/>
                    <a:lstStyle/>
                    <a:p>
                      <a:pPr algn="r"/>
                      <a:r>
                        <a:rPr sz="850" b="1">
                          <a:solidFill>
                            <a:srgbClr val="FFFFFF"/>
                          </a:solidFill>
                          <a:latin typeface="Inter"/>
                        </a:rPr>
                        <a:t>Impressions</a:t>
                      </a:r>
                    </a:p>
                  </a:txBody>
                  <a:tcPr marL="54864" marR="54864" marT="27432" marB="27432" anchor="ctr">
                    <a:solidFill>
                      <a:srgbClr val="0F172A"/>
                    </a:solidFill>
                  </a:tcPr>
                </a:tc>
                <a:tc>
                  <a:txBody>
                    <a:bodyPr wrap="square"/>
                    <a:lstStyle/>
                    <a:p>
                      <a:pPr algn="r"/>
                      <a:r>
                        <a:rPr sz="850" b="1">
                          <a:solidFill>
                            <a:srgbClr val="FFFFFF"/>
                          </a:solidFill>
                          <a:latin typeface="Inter"/>
                        </a:rPr>
                        <a:t>Clicks</a:t>
                      </a:r>
                    </a:p>
                  </a:txBody>
                  <a:tcPr marL="54864" marR="54864" marT="27432" marB="27432" anchor="ctr">
                    <a:solidFill>
                      <a:srgbClr val="0F172A"/>
                    </a:solidFill>
                  </a:tcPr>
                </a:tc>
                <a:tc>
                  <a:txBody>
                    <a:bodyPr wrap="square"/>
                    <a:lstStyle/>
                    <a:p>
                      <a:pPr algn="r"/>
                      <a:r>
                        <a:rPr sz="850" b="1">
                          <a:solidFill>
                            <a:srgbClr val="FFFFFF"/>
                          </a:solidFill>
                          <a:latin typeface="Inter"/>
                        </a:rPr>
                        <a:t>Orders</a:t>
                      </a:r>
                    </a:p>
                  </a:txBody>
                  <a:tcPr marL="54864" marR="54864" marT="27432" marB="27432" anchor="ctr">
                    <a:solidFill>
                      <a:srgbClr val="0F172A"/>
                    </a:solidFill>
                  </a:tcPr>
                </a:tc>
                <a:tc>
                  <a:txBody>
                    <a:bodyPr wrap="square"/>
                    <a:lstStyle/>
                    <a:p>
                      <a:pPr algn="r"/>
                      <a:r>
                        <a:rPr sz="850" b="1">
                          <a:solidFill>
                            <a:srgbClr val="FFFFFF"/>
                          </a:solidFill>
                          <a:latin typeface="Inter"/>
                        </a:rPr>
                        <a:t>CVR</a:t>
                      </a:r>
                    </a:p>
                  </a:txBody>
                  <a:tcPr marL="54864" marR="54864" marT="27432" marB="27432" anchor="ctr">
                    <a:solidFill>
                      <a:srgbClr val="0F172A"/>
                    </a:solidFill>
                  </a:tcPr>
                </a:tc>
                <a:tc>
                  <a:txBody>
                    <a:bodyPr wrap="square"/>
                    <a:lstStyle/>
                    <a:p>
                      <a:pPr algn="r"/>
                      <a:r>
                        <a:rPr sz="850" b="1">
                          <a:solidFill>
                            <a:srgbClr val="FFFFFF"/>
                          </a:solidFill>
                          <a:latin typeface="Inter"/>
                        </a:rPr>
                        <a:t>Spend</a:t>
                      </a:r>
                    </a:p>
                  </a:txBody>
                  <a:tcPr marL="54864" marR="54864" marT="27432" marB="27432" anchor="ctr">
                    <a:solidFill>
                      <a:srgbClr val="0F172A"/>
                    </a:solidFill>
                  </a:tcPr>
                </a:tc>
                <a:tc>
                  <a:txBody>
                    <a:bodyPr wrap="square"/>
                    <a:lstStyle/>
                    <a:p>
                      <a:pPr algn="r"/>
                      <a:r>
                        <a:rPr sz="850" b="1">
                          <a:solidFill>
                            <a:srgbClr val="FFFFFF"/>
                          </a:solidFill>
                          <a:latin typeface="Inter"/>
                        </a:rPr>
                        <a:t>Sales</a:t>
                      </a:r>
                    </a:p>
                  </a:txBody>
                  <a:tcPr marL="54864" marR="54864" marT="27432" marB="27432" anchor="ctr">
                    <a:solidFill>
                      <a:srgbClr val="0F172A"/>
                    </a:solidFill>
                  </a:tcPr>
                </a:tc>
                <a:tc>
                  <a:txBody>
                    <a:bodyPr wrap="square"/>
                    <a:lstStyle/>
                    <a:p>
                      <a:pPr algn="r"/>
                      <a:r>
                        <a:rPr sz="850" b="1">
                          <a:solidFill>
                            <a:srgbClr val="FFFFFF"/>
                          </a:solidFill>
                          <a:latin typeface="Inter"/>
                        </a:rPr>
                        <a:t>ACoS</a:t>
                      </a:r>
                    </a:p>
                  </a:txBody>
                  <a:tcPr marL="54864" marR="54864" marT="27432" marB="27432" anchor="ctr">
                    <a:solidFill>
                      <a:srgbClr val="0F172A"/>
                    </a:solidFill>
                  </a:tcPr>
                </a:tc>
              </a:tr>
              <a:tr h="274320">
                <a:tc>
                  <a:txBody>
                    <a:bodyPr wrap="square"/>
                    <a:lstStyle/>
                    <a:p>
                      <a:pPr algn="l"/>
                      <a:r>
                        <a:rPr sz="950" b="0">
                          <a:solidFill>
                            <a:srgbClr val="0F172A"/>
                          </a:solidFill>
                          <a:latin typeface="Inter"/>
                        </a:rPr>
                        <a:t>dormeo mattress topper</a:t>
                      </a:r>
                    </a:p>
                  </a:txBody>
                  <a:tcPr marL="54864" marR="54864" marT="27432" marB="27432" anchor="ctr">
                    <a:solidFill>
                      <a:srgbClr val="FFFFFF"/>
                    </a:solidFill>
                  </a:tcPr>
                </a:tc>
                <a:tc>
                  <a:txBody>
                    <a:bodyPr wrap="square"/>
                    <a:lstStyle/>
                    <a:p>
                      <a:pPr algn="r"/>
                      <a:r>
                        <a:rPr sz="950" b="0">
                          <a:solidFill>
                            <a:srgbClr val="0F172A"/>
                          </a:solidFill>
                          <a:latin typeface="Inter"/>
                        </a:rPr>
                        <a:t>SB</a:t>
                      </a:r>
                    </a:p>
                  </a:txBody>
                  <a:tcPr marL="54864" marR="54864" marT="27432" marB="27432" anchor="ctr">
                    <a:solidFill>
                      <a:srgbClr val="FFFFFF"/>
                    </a:solidFill>
                  </a:tcPr>
                </a:tc>
                <a:tc>
                  <a:txBody>
                    <a:bodyPr wrap="square"/>
                    <a:lstStyle/>
                    <a:p>
                      <a:pPr algn="r"/>
                      <a:r>
                        <a:rPr sz="950" b="0">
                          <a:solidFill>
                            <a:srgbClr val="0F172A"/>
                          </a:solidFill>
                          <a:latin typeface="Inter"/>
                        </a:rPr>
                        <a:t>5,058</a:t>
                      </a:r>
                    </a:p>
                  </a:txBody>
                  <a:tcPr marL="54864" marR="54864" marT="27432" marB="27432" anchor="ctr">
                    <a:solidFill>
                      <a:srgbClr val="FFFFFF"/>
                    </a:solidFill>
                  </a:tcPr>
                </a:tc>
                <a:tc>
                  <a:txBody>
                    <a:bodyPr wrap="square"/>
                    <a:lstStyle/>
                    <a:p>
                      <a:pPr algn="r"/>
                      <a:r>
                        <a:rPr sz="950" b="0">
                          <a:solidFill>
                            <a:srgbClr val="0F172A"/>
                          </a:solidFill>
                          <a:latin typeface="Inter"/>
                        </a:rPr>
                        <a:t>183</a:t>
                      </a:r>
                    </a:p>
                  </a:txBody>
                  <a:tcPr marL="54864" marR="54864" marT="27432" marB="27432" anchor="ctr">
                    <a:solidFill>
                      <a:srgbClr val="FFFFFF"/>
                    </a:solidFill>
                  </a:tcPr>
                </a:tc>
                <a:tc>
                  <a:txBody>
                    <a:bodyPr wrap="square"/>
                    <a:lstStyle/>
                    <a:p>
                      <a:pPr algn="r"/>
                      <a:r>
                        <a:rPr sz="950" b="0">
                          <a:solidFill>
                            <a:srgbClr val="0F172A"/>
                          </a:solidFill>
                          <a:latin typeface="Inter"/>
                        </a:rPr>
                        <a:t>13</a:t>
                      </a:r>
                    </a:p>
                  </a:txBody>
                  <a:tcPr marL="54864" marR="54864" marT="27432" marB="27432" anchor="ctr">
                    <a:solidFill>
                      <a:srgbClr val="FFFFFF"/>
                    </a:solidFill>
                  </a:tcPr>
                </a:tc>
                <a:tc>
                  <a:txBody>
                    <a:bodyPr wrap="square"/>
                    <a:lstStyle/>
                    <a:p>
                      <a:pPr algn="r"/>
                      <a:r>
                        <a:rPr sz="950" b="0">
                          <a:solidFill>
                            <a:srgbClr val="0F172A"/>
                          </a:solidFill>
                          <a:latin typeface="Inter"/>
                        </a:rPr>
                        <a:t>7.1%</a:t>
                      </a:r>
                    </a:p>
                  </a:txBody>
                  <a:tcPr marL="54864" marR="54864" marT="27432" marB="27432" anchor="ctr">
                    <a:solidFill>
                      <a:srgbClr val="FFFFFF"/>
                    </a:solidFill>
                  </a:tcPr>
                </a:tc>
                <a:tc>
                  <a:txBody>
                    <a:bodyPr wrap="square"/>
                    <a:lstStyle/>
                    <a:p>
                      <a:pPr algn="r"/>
                      <a:r>
                        <a:rPr sz="950" b="0">
                          <a:solidFill>
                            <a:srgbClr val="0F172A"/>
                          </a:solidFill>
                          <a:latin typeface="Inter"/>
                        </a:rPr>
                        <a:t>$273</a:t>
                      </a:r>
                    </a:p>
                  </a:txBody>
                  <a:tcPr marL="54864" marR="54864" marT="27432" marB="27432" anchor="ctr">
                    <a:solidFill>
                      <a:srgbClr val="FFFFFF"/>
                    </a:solidFill>
                  </a:tcPr>
                </a:tc>
                <a:tc>
                  <a:txBody>
                    <a:bodyPr wrap="square"/>
                    <a:lstStyle/>
                    <a:p>
                      <a:pPr algn="r"/>
                      <a:r>
                        <a:rPr sz="950" b="0">
                          <a:solidFill>
                            <a:srgbClr val="0F172A"/>
                          </a:solidFill>
                          <a:latin typeface="Inter"/>
                        </a:rPr>
                        <a:t>$7,047</a:t>
                      </a:r>
                    </a:p>
                  </a:txBody>
                  <a:tcPr marL="54864" marR="54864" marT="27432" marB="27432" anchor="ctr">
                    <a:solidFill>
                      <a:srgbClr val="FFFFFF"/>
                    </a:solidFill>
                  </a:tcPr>
                </a:tc>
                <a:tc>
                  <a:txBody>
                    <a:bodyPr wrap="square"/>
                    <a:lstStyle/>
                    <a:p>
                      <a:pPr algn="r"/>
                      <a:r>
                        <a:rPr sz="950" b="0">
                          <a:solidFill>
                            <a:srgbClr val="0F172A"/>
                          </a:solidFill>
                          <a:latin typeface="Inter"/>
                        </a:rPr>
                        <a:t>3.9%</a:t>
                      </a:r>
                    </a:p>
                  </a:txBody>
                  <a:tcPr marL="54864" marR="54864" marT="27432" marB="27432" anchor="ctr">
                    <a:solidFill>
                      <a:srgbClr val="FFFFFF"/>
                    </a:solidFill>
                  </a:tcPr>
                </a:tc>
              </a:tr>
              <a:tr h="274320">
                <a:tc>
                  <a:txBody>
                    <a:bodyPr wrap="square"/>
                    <a:lstStyle/>
                    <a:p>
                      <a:pPr algn="l"/>
                      <a:r>
                        <a:rPr sz="950" b="0">
                          <a:solidFill>
                            <a:srgbClr val="0F172A"/>
                          </a:solidFill>
                          <a:latin typeface="Inter"/>
                        </a:rPr>
                        <a:t>dormeo mattress topper queen</a:t>
                      </a:r>
                    </a:p>
                  </a:txBody>
                  <a:tcPr marL="54864" marR="54864" marT="27432" marB="27432" anchor="ctr">
                    <a:solidFill>
                      <a:srgbClr val="FBFAF7"/>
                    </a:solidFill>
                  </a:tcPr>
                </a:tc>
                <a:tc>
                  <a:txBody>
                    <a:bodyPr wrap="square"/>
                    <a:lstStyle/>
                    <a:p>
                      <a:pPr algn="r"/>
                      <a:r>
                        <a:rPr sz="950" b="0">
                          <a:solidFill>
                            <a:srgbClr val="0F172A"/>
                          </a:solidFill>
                          <a:latin typeface="Inter"/>
                        </a:rPr>
                        <a:t>SP</a:t>
                      </a:r>
                    </a:p>
                  </a:txBody>
                  <a:tcPr marL="54864" marR="54864" marT="27432" marB="27432" anchor="ctr">
                    <a:solidFill>
                      <a:srgbClr val="FBFAF7"/>
                    </a:solidFill>
                  </a:tcPr>
                </a:tc>
                <a:tc>
                  <a:txBody>
                    <a:bodyPr wrap="square"/>
                    <a:lstStyle/>
                    <a:p>
                      <a:pPr algn="r"/>
                      <a:r>
                        <a:rPr sz="950" b="0">
                          <a:solidFill>
                            <a:srgbClr val="0F172A"/>
                          </a:solidFill>
                          <a:latin typeface="Inter"/>
                        </a:rPr>
                        <a:t>4,811</a:t>
                      </a:r>
                    </a:p>
                  </a:txBody>
                  <a:tcPr marL="54864" marR="54864" marT="27432" marB="27432" anchor="ctr">
                    <a:solidFill>
                      <a:srgbClr val="FBFAF7"/>
                    </a:solidFill>
                  </a:tcPr>
                </a:tc>
                <a:tc>
                  <a:txBody>
                    <a:bodyPr wrap="square"/>
                    <a:lstStyle/>
                    <a:p>
                      <a:pPr algn="r"/>
                      <a:r>
                        <a:rPr sz="950" b="0">
                          <a:solidFill>
                            <a:srgbClr val="0F172A"/>
                          </a:solidFill>
                          <a:latin typeface="Inter"/>
                        </a:rPr>
                        <a:t>74</a:t>
                      </a:r>
                    </a:p>
                  </a:txBody>
                  <a:tcPr marL="54864" marR="54864" marT="27432" marB="27432" anchor="ctr">
                    <a:solidFill>
                      <a:srgbClr val="FBFAF7"/>
                    </a:solidFill>
                  </a:tcPr>
                </a:tc>
                <a:tc>
                  <a:txBody>
                    <a:bodyPr wrap="square"/>
                    <a:lstStyle/>
                    <a:p>
                      <a:pPr algn="r"/>
                      <a:r>
                        <a:rPr sz="950" b="0">
                          <a:solidFill>
                            <a:srgbClr val="0F172A"/>
                          </a:solidFill>
                          <a:latin typeface="Inter"/>
                        </a:rPr>
                        <a:t>9</a:t>
                      </a:r>
                    </a:p>
                  </a:txBody>
                  <a:tcPr marL="54864" marR="54864" marT="27432" marB="27432" anchor="ctr">
                    <a:solidFill>
                      <a:srgbClr val="FBFAF7"/>
                    </a:solidFill>
                  </a:tcPr>
                </a:tc>
                <a:tc>
                  <a:txBody>
                    <a:bodyPr wrap="square"/>
                    <a:lstStyle/>
                    <a:p>
                      <a:pPr algn="r"/>
                      <a:r>
                        <a:rPr sz="950" b="0">
                          <a:solidFill>
                            <a:srgbClr val="0F172A"/>
                          </a:solidFill>
                          <a:latin typeface="Inter"/>
                        </a:rPr>
                        <a:t>12.2%</a:t>
                      </a:r>
                    </a:p>
                  </a:txBody>
                  <a:tcPr marL="54864" marR="54864" marT="27432" marB="27432" anchor="ctr">
                    <a:solidFill>
                      <a:srgbClr val="FBFAF7"/>
                    </a:solidFill>
                  </a:tcPr>
                </a:tc>
                <a:tc>
                  <a:txBody>
                    <a:bodyPr wrap="square"/>
                    <a:lstStyle/>
                    <a:p>
                      <a:pPr algn="r"/>
                      <a:r>
                        <a:rPr sz="950" b="0">
                          <a:solidFill>
                            <a:srgbClr val="0F172A"/>
                          </a:solidFill>
                          <a:latin typeface="Inter"/>
                        </a:rPr>
                        <a:t>$94</a:t>
                      </a:r>
                    </a:p>
                  </a:txBody>
                  <a:tcPr marL="54864" marR="54864" marT="27432" marB="27432" anchor="ctr">
                    <a:solidFill>
                      <a:srgbClr val="FBFAF7"/>
                    </a:solidFill>
                  </a:tcPr>
                </a:tc>
                <a:tc>
                  <a:txBody>
                    <a:bodyPr wrap="square"/>
                    <a:lstStyle/>
                    <a:p>
                      <a:pPr algn="r"/>
                      <a:r>
                        <a:rPr sz="950" b="0">
                          <a:solidFill>
                            <a:srgbClr val="0F172A"/>
                          </a:solidFill>
                          <a:latin typeface="Inter"/>
                        </a:rPr>
                        <a:t>$3,744</a:t>
                      </a:r>
                    </a:p>
                  </a:txBody>
                  <a:tcPr marL="54864" marR="54864" marT="27432" marB="27432" anchor="ctr">
                    <a:solidFill>
                      <a:srgbClr val="FBFAF7"/>
                    </a:solidFill>
                  </a:tcPr>
                </a:tc>
                <a:tc>
                  <a:txBody>
                    <a:bodyPr wrap="square"/>
                    <a:lstStyle/>
                    <a:p>
                      <a:pPr algn="r"/>
                      <a:r>
                        <a:rPr sz="950" b="0">
                          <a:solidFill>
                            <a:srgbClr val="0F172A"/>
                          </a:solidFill>
                          <a:latin typeface="Inter"/>
                        </a:rPr>
                        <a:t>2.5%</a:t>
                      </a:r>
                    </a:p>
                  </a:txBody>
                  <a:tcPr marL="54864" marR="54864" marT="27432" marB="27432" anchor="ctr">
                    <a:solidFill>
                      <a:srgbClr val="FBFAF7"/>
                    </a:solidFill>
                  </a:tcPr>
                </a:tc>
              </a:tr>
              <a:tr h="274320">
                <a:tc>
                  <a:txBody>
                    <a:bodyPr wrap="square"/>
                    <a:lstStyle/>
                    <a:p>
                      <a:pPr algn="l"/>
                      <a:r>
                        <a:rPr sz="950" b="0">
                          <a:solidFill>
                            <a:srgbClr val="0F172A"/>
                          </a:solidFill>
                          <a:latin typeface="Inter"/>
                        </a:rPr>
                        <a:t>dormeo mattress topper queen</a:t>
                      </a:r>
                    </a:p>
                  </a:txBody>
                  <a:tcPr marL="54864" marR="54864" marT="27432" marB="27432" anchor="ctr">
                    <a:solidFill>
                      <a:srgbClr val="FFFFFF"/>
                    </a:solidFill>
                  </a:tcPr>
                </a:tc>
                <a:tc>
                  <a:txBody>
                    <a:bodyPr wrap="square"/>
                    <a:lstStyle/>
                    <a:p>
                      <a:pPr algn="r"/>
                      <a:r>
                        <a:rPr sz="950" b="0">
                          <a:solidFill>
                            <a:srgbClr val="0F172A"/>
                          </a:solidFill>
                          <a:latin typeface="Inter"/>
                        </a:rPr>
                        <a:t>SB</a:t>
                      </a:r>
                    </a:p>
                  </a:txBody>
                  <a:tcPr marL="54864" marR="54864" marT="27432" marB="27432" anchor="ctr">
                    <a:solidFill>
                      <a:srgbClr val="FFFFFF"/>
                    </a:solidFill>
                  </a:tcPr>
                </a:tc>
                <a:tc>
                  <a:txBody>
                    <a:bodyPr wrap="square"/>
                    <a:lstStyle/>
                    <a:p>
                      <a:pPr algn="r"/>
                      <a:r>
                        <a:rPr sz="950" b="0">
                          <a:solidFill>
                            <a:srgbClr val="0F172A"/>
                          </a:solidFill>
                          <a:latin typeface="Inter"/>
                        </a:rPr>
                        <a:t>426</a:t>
                      </a:r>
                    </a:p>
                  </a:txBody>
                  <a:tcPr marL="54864" marR="54864" marT="27432" marB="27432" anchor="ctr">
                    <a:solidFill>
                      <a:srgbClr val="FFFFFF"/>
                    </a:solidFill>
                  </a:tcPr>
                </a:tc>
                <a:tc>
                  <a:txBody>
                    <a:bodyPr wrap="square"/>
                    <a:lstStyle/>
                    <a:p>
                      <a:pPr algn="r"/>
                      <a:r>
                        <a:rPr sz="950" b="0">
                          <a:solidFill>
                            <a:srgbClr val="0F172A"/>
                          </a:solidFill>
                          <a:latin typeface="Inter"/>
                        </a:rPr>
                        <a:t>25</a:t>
                      </a:r>
                    </a:p>
                  </a:txBody>
                  <a:tcPr marL="54864" marR="54864" marT="27432" marB="27432" anchor="ctr">
                    <a:solidFill>
                      <a:srgbClr val="FFFFFF"/>
                    </a:solidFill>
                  </a:tcPr>
                </a:tc>
                <a:tc>
                  <a:txBody>
                    <a:bodyPr wrap="square"/>
                    <a:lstStyle/>
                    <a:p>
                      <a:pPr algn="r"/>
                      <a:r>
                        <a:rPr sz="950" b="0">
                          <a:solidFill>
                            <a:srgbClr val="0F172A"/>
                          </a:solidFill>
                          <a:latin typeface="Inter"/>
                        </a:rPr>
                        <a:t>5</a:t>
                      </a:r>
                    </a:p>
                  </a:txBody>
                  <a:tcPr marL="54864" marR="54864" marT="27432" marB="27432" anchor="ctr">
                    <a:solidFill>
                      <a:srgbClr val="FFFFFF"/>
                    </a:solidFill>
                  </a:tcPr>
                </a:tc>
                <a:tc>
                  <a:txBody>
                    <a:bodyPr wrap="square"/>
                    <a:lstStyle/>
                    <a:p>
                      <a:pPr algn="r"/>
                      <a:r>
                        <a:rPr sz="950" b="0">
                          <a:solidFill>
                            <a:srgbClr val="0F172A"/>
                          </a:solidFill>
                          <a:latin typeface="Inter"/>
                        </a:rPr>
                        <a:t>20.0%</a:t>
                      </a:r>
                    </a:p>
                  </a:txBody>
                  <a:tcPr marL="54864" marR="54864" marT="27432" marB="27432" anchor="ctr">
                    <a:solidFill>
                      <a:srgbClr val="FFFFFF"/>
                    </a:solidFill>
                  </a:tcPr>
                </a:tc>
                <a:tc>
                  <a:txBody>
                    <a:bodyPr wrap="square"/>
                    <a:lstStyle/>
                    <a:p>
                      <a:pPr algn="r"/>
                      <a:r>
                        <a:rPr sz="950" b="0">
                          <a:solidFill>
                            <a:srgbClr val="0F172A"/>
                          </a:solidFill>
                          <a:latin typeface="Inter"/>
                        </a:rPr>
                        <a:t>$36</a:t>
                      </a:r>
                    </a:p>
                  </a:txBody>
                  <a:tcPr marL="54864" marR="54864" marT="27432" marB="27432" anchor="ctr">
                    <a:solidFill>
                      <a:srgbClr val="FFFFFF"/>
                    </a:solidFill>
                  </a:tcPr>
                </a:tc>
                <a:tc>
                  <a:txBody>
                    <a:bodyPr wrap="square"/>
                    <a:lstStyle/>
                    <a:p>
                      <a:pPr algn="r"/>
                      <a:r>
                        <a:rPr sz="950" b="0">
                          <a:solidFill>
                            <a:srgbClr val="0F172A"/>
                          </a:solidFill>
                          <a:latin typeface="Inter"/>
                        </a:rPr>
                        <a:t>$2,770</a:t>
                      </a:r>
                    </a:p>
                  </a:txBody>
                  <a:tcPr marL="54864" marR="54864" marT="27432" marB="27432" anchor="ctr">
                    <a:solidFill>
                      <a:srgbClr val="FFFFFF"/>
                    </a:solidFill>
                  </a:tcPr>
                </a:tc>
                <a:tc>
                  <a:txBody>
                    <a:bodyPr wrap="square"/>
                    <a:lstStyle/>
                    <a:p>
                      <a:pPr algn="r"/>
                      <a:r>
                        <a:rPr sz="950" b="0">
                          <a:solidFill>
                            <a:srgbClr val="0F172A"/>
                          </a:solidFill>
                          <a:latin typeface="Inter"/>
                        </a:rPr>
                        <a:t>1.3%</a:t>
                      </a:r>
                    </a:p>
                  </a:txBody>
                  <a:tcPr marL="54864" marR="54864" marT="27432" marB="27432" anchor="ctr">
                    <a:solidFill>
                      <a:srgbClr val="FFFFFF"/>
                    </a:solidFill>
                  </a:tcPr>
                </a:tc>
              </a:tr>
              <a:tr h="274320">
                <a:tc>
                  <a:txBody>
                    <a:bodyPr wrap="square"/>
                    <a:lstStyle/>
                    <a:p>
                      <a:pPr algn="l"/>
                      <a:r>
                        <a:rPr sz="950" b="0">
                          <a:solidFill>
                            <a:srgbClr val="0F172A"/>
                          </a:solidFill>
                          <a:latin typeface="Inter"/>
                        </a:rPr>
                        <a:t>dormeo mattress topper king size</a:t>
                      </a:r>
                    </a:p>
                  </a:txBody>
                  <a:tcPr marL="54864" marR="54864" marT="27432" marB="27432" anchor="ctr">
                    <a:solidFill>
                      <a:srgbClr val="FBFAF7"/>
                    </a:solidFill>
                  </a:tcPr>
                </a:tc>
                <a:tc>
                  <a:txBody>
                    <a:bodyPr wrap="square"/>
                    <a:lstStyle/>
                    <a:p>
                      <a:pPr algn="r"/>
                      <a:r>
                        <a:rPr sz="950" b="0">
                          <a:solidFill>
                            <a:srgbClr val="0F172A"/>
                          </a:solidFill>
                          <a:latin typeface="Inter"/>
                        </a:rPr>
                        <a:t>SP</a:t>
                      </a:r>
                    </a:p>
                  </a:txBody>
                  <a:tcPr marL="54864" marR="54864" marT="27432" marB="27432" anchor="ctr">
                    <a:solidFill>
                      <a:srgbClr val="FBFAF7"/>
                    </a:solidFill>
                  </a:tcPr>
                </a:tc>
                <a:tc>
                  <a:txBody>
                    <a:bodyPr wrap="square"/>
                    <a:lstStyle/>
                    <a:p>
                      <a:pPr algn="r"/>
                      <a:r>
                        <a:rPr sz="950" b="0">
                          <a:solidFill>
                            <a:srgbClr val="0F172A"/>
                          </a:solidFill>
                          <a:latin typeface="Inter"/>
                        </a:rPr>
                        <a:t>295</a:t>
                      </a:r>
                    </a:p>
                  </a:txBody>
                  <a:tcPr marL="54864" marR="54864" marT="27432" marB="27432" anchor="ctr">
                    <a:solidFill>
                      <a:srgbClr val="FBFAF7"/>
                    </a:solidFill>
                  </a:tcPr>
                </a:tc>
                <a:tc>
                  <a:txBody>
                    <a:bodyPr wrap="square"/>
                    <a:lstStyle/>
                    <a:p>
                      <a:pPr algn="r"/>
                      <a:r>
                        <a:rPr sz="950" b="0">
                          <a:solidFill>
                            <a:srgbClr val="0F172A"/>
                          </a:solidFill>
                          <a:latin typeface="Inter"/>
                        </a:rPr>
                        <a:t>11</a:t>
                      </a:r>
                    </a:p>
                  </a:txBody>
                  <a:tcPr marL="54864" marR="54864" marT="27432" marB="27432" anchor="ctr">
                    <a:solidFill>
                      <a:srgbClr val="FBFAF7"/>
                    </a:solidFill>
                  </a:tcPr>
                </a:tc>
                <a:tc>
                  <a:txBody>
                    <a:bodyPr wrap="square"/>
                    <a:lstStyle/>
                    <a:p>
                      <a:pPr algn="r"/>
                      <a:r>
                        <a:rPr sz="950" b="0">
                          <a:solidFill>
                            <a:srgbClr val="0F172A"/>
                          </a:solidFill>
                          <a:latin typeface="Inter"/>
                        </a:rPr>
                        <a:t>2</a:t>
                      </a:r>
                    </a:p>
                  </a:txBody>
                  <a:tcPr marL="54864" marR="54864" marT="27432" marB="27432" anchor="ctr">
                    <a:solidFill>
                      <a:srgbClr val="FBFAF7"/>
                    </a:solidFill>
                  </a:tcPr>
                </a:tc>
                <a:tc>
                  <a:txBody>
                    <a:bodyPr wrap="square"/>
                    <a:lstStyle/>
                    <a:p>
                      <a:pPr algn="r"/>
                      <a:r>
                        <a:rPr sz="950" b="0">
                          <a:solidFill>
                            <a:srgbClr val="0F172A"/>
                          </a:solidFill>
                          <a:latin typeface="Inter"/>
                        </a:rPr>
                        <a:t>18.2%</a:t>
                      </a:r>
                    </a:p>
                  </a:txBody>
                  <a:tcPr marL="54864" marR="54864" marT="27432" marB="27432" anchor="ctr">
                    <a:solidFill>
                      <a:srgbClr val="FBFAF7"/>
                    </a:solidFill>
                  </a:tcPr>
                </a:tc>
                <a:tc>
                  <a:txBody>
                    <a:bodyPr wrap="square"/>
                    <a:lstStyle/>
                    <a:p>
                      <a:pPr algn="r"/>
                      <a:r>
                        <a:rPr sz="950" b="0">
                          <a:solidFill>
                            <a:srgbClr val="0F172A"/>
                          </a:solidFill>
                          <a:latin typeface="Inter"/>
                        </a:rPr>
                        <a:t>$28</a:t>
                      </a:r>
                    </a:p>
                  </a:txBody>
                  <a:tcPr marL="54864" marR="54864" marT="27432" marB="27432" anchor="ctr">
                    <a:solidFill>
                      <a:srgbClr val="FBFAF7"/>
                    </a:solidFill>
                  </a:tcPr>
                </a:tc>
                <a:tc>
                  <a:txBody>
                    <a:bodyPr wrap="square"/>
                    <a:lstStyle/>
                    <a:p>
                      <a:pPr algn="r"/>
                      <a:r>
                        <a:rPr sz="950" b="0">
                          <a:solidFill>
                            <a:srgbClr val="0F172A"/>
                          </a:solidFill>
                          <a:latin typeface="Inter"/>
                        </a:rPr>
                        <a:t>$1,199</a:t>
                      </a:r>
                    </a:p>
                  </a:txBody>
                  <a:tcPr marL="54864" marR="54864" marT="27432" marB="27432" anchor="ctr">
                    <a:solidFill>
                      <a:srgbClr val="FBFAF7"/>
                    </a:solidFill>
                  </a:tcPr>
                </a:tc>
                <a:tc>
                  <a:txBody>
                    <a:bodyPr wrap="square"/>
                    <a:lstStyle/>
                    <a:p>
                      <a:pPr algn="r"/>
                      <a:r>
                        <a:rPr sz="950" b="0">
                          <a:solidFill>
                            <a:srgbClr val="0F172A"/>
                          </a:solidFill>
                          <a:latin typeface="Inter"/>
                        </a:rPr>
                        <a:t>2.4%</a:t>
                      </a:r>
                    </a:p>
                  </a:txBody>
                  <a:tcPr marL="54864" marR="54864" marT="27432" marB="27432" anchor="ctr">
                    <a:solidFill>
                      <a:srgbClr val="FBFAF7"/>
                    </a:solidFill>
                  </a:tcPr>
                </a:tc>
              </a:tr>
              <a:tr h="274320">
                <a:tc>
                  <a:txBody>
                    <a:bodyPr wrap="square"/>
                    <a:lstStyle/>
                    <a:p>
                      <a:pPr algn="l"/>
                      <a:r>
                        <a:rPr sz="950" b="0">
                          <a:solidFill>
                            <a:srgbClr val="0F172A"/>
                          </a:solidFill>
                          <a:latin typeface="Inter"/>
                        </a:rPr>
                        <a:t>dormeo topper canada</a:t>
                      </a:r>
                    </a:p>
                  </a:txBody>
                  <a:tcPr marL="54864" marR="54864" marT="27432" marB="27432" anchor="ctr">
                    <a:solidFill>
                      <a:srgbClr val="FFFFFF"/>
                    </a:solidFill>
                  </a:tcPr>
                </a:tc>
                <a:tc>
                  <a:txBody>
                    <a:bodyPr wrap="square"/>
                    <a:lstStyle/>
                    <a:p>
                      <a:pPr algn="r"/>
                      <a:r>
                        <a:rPr sz="950" b="0">
                          <a:solidFill>
                            <a:srgbClr val="0F172A"/>
                          </a:solidFill>
                          <a:latin typeface="Inter"/>
                        </a:rPr>
                        <a:t>SP</a:t>
                      </a:r>
                    </a:p>
                  </a:txBody>
                  <a:tcPr marL="54864" marR="54864" marT="27432" marB="27432" anchor="ctr">
                    <a:solidFill>
                      <a:srgbClr val="FFFFFF"/>
                    </a:solidFill>
                  </a:tcPr>
                </a:tc>
                <a:tc>
                  <a:txBody>
                    <a:bodyPr wrap="square"/>
                    <a:lstStyle/>
                    <a:p>
                      <a:pPr algn="r"/>
                      <a:r>
                        <a:rPr sz="950" b="0">
                          <a:solidFill>
                            <a:srgbClr val="0F172A"/>
                          </a:solidFill>
                          <a:latin typeface="Inter"/>
                        </a:rPr>
                        <a:t>1,007</a:t>
                      </a:r>
                    </a:p>
                  </a:txBody>
                  <a:tcPr marL="54864" marR="54864" marT="27432" marB="27432" anchor="ctr">
                    <a:solidFill>
                      <a:srgbClr val="FFFFFF"/>
                    </a:solidFill>
                  </a:tcPr>
                </a:tc>
                <a:tc>
                  <a:txBody>
                    <a:bodyPr wrap="square"/>
                    <a:lstStyle/>
                    <a:p>
                      <a:pPr algn="r"/>
                      <a:r>
                        <a:rPr sz="950" b="0">
                          <a:solidFill>
                            <a:srgbClr val="0F172A"/>
                          </a:solidFill>
                          <a:latin typeface="Inter"/>
                        </a:rPr>
                        <a:t>12</a:t>
                      </a:r>
                    </a:p>
                  </a:txBody>
                  <a:tcPr marL="54864" marR="54864" marT="27432" marB="27432" anchor="ctr">
                    <a:solidFill>
                      <a:srgbClr val="FFFFFF"/>
                    </a:solidFill>
                  </a:tcPr>
                </a:tc>
                <a:tc>
                  <a:txBody>
                    <a:bodyPr wrap="square"/>
                    <a:lstStyle/>
                    <a:p>
                      <a:pPr algn="r"/>
                      <a:r>
                        <a:rPr sz="950" b="0">
                          <a:solidFill>
                            <a:srgbClr val="0F172A"/>
                          </a:solidFill>
                          <a:latin typeface="Inter"/>
                        </a:rPr>
                        <a:t>2</a:t>
                      </a:r>
                    </a:p>
                  </a:txBody>
                  <a:tcPr marL="54864" marR="54864" marT="27432" marB="27432" anchor="ctr">
                    <a:solidFill>
                      <a:srgbClr val="FFFFFF"/>
                    </a:solidFill>
                  </a:tcPr>
                </a:tc>
                <a:tc>
                  <a:txBody>
                    <a:bodyPr wrap="square"/>
                    <a:lstStyle/>
                    <a:p>
                      <a:pPr algn="r"/>
                      <a:r>
                        <a:rPr sz="950" b="0">
                          <a:solidFill>
                            <a:srgbClr val="0F172A"/>
                          </a:solidFill>
                          <a:latin typeface="Inter"/>
                        </a:rPr>
                        <a:t>16.7%</a:t>
                      </a:r>
                    </a:p>
                  </a:txBody>
                  <a:tcPr marL="54864" marR="54864" marT="27432" marB="27432" anchor="ctr">
                    <a:solidFill>
                      <a:srgbClr val="FFFFFF"/>
                    </a:solidFill>
                  </a:tcPr>
                </a:tc>
                <a:tc>
                  <a:txBody>
                    <a:bodyPr wrap="square"/>
                    <a:lstStyle/>
                    <a:p>
                      <a:pPr algn="r"/>
                      <a:r>
                        <a:rPr sz="950" b="0">
                          <a:solidFill>
                            <a:srgbClr val="0F172A"/>
                          </a:solidFill>
                          <a:latin typeface="Inter"/>
                        </a:rPr>
                        <a:t>$24</a:t>
                      </a:r>
                    </a:p>
                  </a:txBody>
                  <a:tcPr marL="54864" marR="54864" marT="27432" marB="27432" anchor="ctr">
                    <a:solidFill>
                      <a:srgbClr val="FFFFFF"/>
                    </a:solidFill>
                  </a:tcPr>
                </a:tc>
                <a:tc>
                  <a:txBody>
                    <a:bodyPr wrap="square"/>
                    <a:lstStyle/>
                    <a:p>
                      <a:pPr algn="r"/>
                      <a:r>
                        <a:rPr sz="950" b="0">
                          <a:solidFill>
                            <a:srgbClr val="0F172A"/>
                          </a:solidFill>
                          <a:latin typeface="Inter"/>
                        </a:rPr>
                        <a:t>$1,108</a:t>
                      </a:r>
                    </a:p>
                  </a:txBody>
                  <a:tcPr marL="54864" marR="54864" marT="27432" marB="27432" anchor="ctr">
                    <a:solidFill>
                      <a:srgbClr val="FFFFFF"/>
                    </a:solidFill>
                  </a:tcPr>
                </a:tc>
                <a:tc>
                  <a:txBody>
                    <a:bodyPr wrap="square"/>
                    <a:lstStyle/>
                    <a:p>
                      <a:pPr algn="r"/>
                      <a:r>
                        <a:rPr sz="950" b="0">
                          <a:solidFill>
                            <a:srgbClr val="0F172A"/>
                          </a:solidFill>
                          <a:latin typeface="Inter"/>
                        </a:rPr>
                        <a:t>2.2%</a:t>
                      </a:r>
                    </a:p>
                  </a:txBody>
                  <a:tcPr marL="54864" marR="54864" marT="27432" marB="27432" anchor="ctr">
                    <a:solidFill>
                      <a:srgbClr val="FFFFFF"/>
                    </a:solidFill>
                  </a:tcPr>
                </a:tc>
              </a:tr>
              <a:tr h="274320">
                <a:tc>
                  <a:txBody>
                    <a:bodyPr wrap="square"/>
                    <a:lstStyle/>
                    <a:p>
                      <a:pPr algn="l"/>
                      <a:r>
                        <a:rPr sz="950" b="0">
                          <a:solidFill>
                            <a:srgbClr val="0F172A"/>
                          </a:solidFill>
                          <a:latin typeface="Inter"/>
                        </a:rPr>
                        <a:t>dormeo mattress topper king</a:t>
                      </a:r>
                    </a:p>
                  </a:txBody>
                  <a:tcPr marL="54864" marR="54864" marT="27432" marB="27432" anchor="ctr">
                    <a:solidFill>
                      <a:srgbClr val="FBFAF7"/>
                    </a:solidFill>
                  </a:tcPr>
                </a:tc>
                <a:tc>
                  <a:txBody>
                    <a:bodyPr wrap="square"/>
                    <a:lstStyle/>
                    <a:p>
                      <a:pPr algn="r"/>
                      <a:r>
                        <a:rPr sz="950" b="0">
                          <a:solidFill>
                            <a:srgbClr val="0F172A"/>
                          </a:solidFill>
                          <a:latin typeface="Inter"/>
                        </a:rPr>
                        <a:t>SP</a:t>
                      </a:r>
                    </a:p>
                  </a:txBody>
                  <a:tcPr marL="54864" marR="54864" marT="27432" marB="27432" anchor="ctr">
                    <a:solidFill>
                      <a:srgbClr val="FBFAF7"/>
                    </a:solidFill>
                  </a:tcPr>
                </a:tc>
                <a:tc>
                  <a:txBody>
                    <a:bodyPr wrap="square"/>
                    <a:lstStyle/>
                    <a:p>
                      <a:pPr algn="r"/>
                      <a:r>
                        <a:rPr sz="950" b="0">
                          <a:solidFill>
                            <a:srgbClr val="0F172A"/>
                          </a:solidFill>
                          <a:latin typeface="Inter"/>
                        </a:rPr>
                        <a:t>906</a:t>
                      </a:r>
                    </a:p>
                  </a:txBody>
                  <a:tcPr marL="54864" marR="54864" marT="27432" marB="27432" anchor="ctr">
                    <a:solidFill>
                      <a:srgbClr val="FBFAF7"/>
                    </a:solidFill>
                  </a:tcPr>
                </a:tc>
                <a:tc>
                  <a:txBody>
                    <a:bodyPr wrap="square"/>
                    <a:lstStyle/>
                    <a:p>
                      <a:pPr algn="r"/>
                      <a:r>
                        <a:rPr sz="950" b="0">
                          <a:solidFill>
                            <a:srgbClr val="0F172A"/>
                          </a:solidFill>
                          <a:latin typeface="Inter"/>
                        </a:rPr>
                        <a:t>20</a:t>
                      </a:r>
                    </a:p>
                  </a:txBody>
                  <a:tcPr marL="54864" marR="54864" marT="27432" marB="27432" anchor="ctr">
                    <a:solidFill>
                      <a:srgbClr val="FBFAF7"/>
                    </a:solidFill>
                  </a:tcPr>
                </a:tc>
                <a:tc>
                  <a:txBody>
                    <a:bodyPr wrap="square"/>
                    <a:lstStyle/>
                    <a:p>
                      <a:pPr algn="r"/>
                      <a:r>
                        <a:rPr sz="950" b="0">
                          <a:solidFill>
                            <a:srgbClr val="0F172A"/>
                          </a:solidFill>
                          <a:latin typeface="Inter"/>
                        </a:rPr>
                        <a:t>3</a:t>
                      </a:r>
                    </a:p>
                  </a:txBody>
                  <a:tcPr marL="54864" marR="54864" marT="27432" marB="27432" anchor="ctr">
                    <a:solidFill>
                      <a:srgbClr val="FBFAF7"/>
                    </a:solidFill>
                  </a:tcPr>
                </a:tc>
                <a:tc>
                  <a:txBody>
                    <a:bodyPr wrap="square"/>
                    <a:lstStyle/>
                    <a:p>
                      <a:pPr algn="r"/>
                      <a:r>
                        <a:rPr sz="950" b="0">
                          <a:solidFill>
                            <a:srgbClr val="0F172A"/>
                          </a:solidFill>
                          <a:latin typeface="Inter"/>
                        </a:rPr>
                        <a:t>15.0%</a:t>
                      </a:r>
                    </a:p>
                  </a:txBody>
                  <a:tcPr marL="54864" marR="54864" marT="27432" marB="27432" anchor="ctr">
                    <a:solidFill>
                      <a:srgbClr val="FBFAF7"/>
                    </a:solidFill>
                  </a:tcPr>
                </a:tc>
                <a:tc>
                  <a:txBody>
                    <a:bodyPr wrap="square"/>
                    <a:lstStyle/>
                    <a:p>
                      <a:pPr algn="r"/>
                      <a:r>
                        <a:rPr sz="950" b="0">
                          <a:solidFill>
                            <a:srgbClr val="0F172A"/>
                          </a:solidFill>
                          <a:latin typeface="Inter"/>
                        </a:rPr>
                        <a:t>$29</a:t>
                      </a:r>
                    </a:p>
                  </a:txBody>
                  <a:tcPr marL="54864" marR="54864" marT="27432" marB="27432" anchor="ctr">
                    <a:solidFill>
                      <a:srgbClr val="FBFAF7"/>
                    </a:solidFill>
                  </a:tcPr>
                </a:tc>
                <a:tc>
                  <a:txBody>
                    <a:bodyPr wrap="square"/>
                    <a:lstStyle/>
                    <a:p>
                      <a:pPr algn="r"/>
                      <a:r>
                        <a:rPr sz="950" b="0">
                          <a:solidFill>
                            <a:srgbClr val="0F172A"/>
                          </a:solidFill>
                          <a:latin typeface="Inter"/>
                        </a:rPr>
                        <a:t>$953</a:t>
                      </a:r>
                    </a:p>
                  </a:txBody>
                  <a:tcPr marL="54864" marR="54864" marT="27432" marB="27432" anchor="ctr">
                    <a:solidFill>
                      <a:srgbClr val="FBFAF7"/>
                    </a:solidFill>
                  </a:tcPr>
                </a:tc>
                <a:tc>
                  <a:txBody>
                    <a:bodyPr wrap="square"/>
                    <a:lstStyle/>
                    <a:p>
                      <a:pPr algn="r"/>
                      <a:r>
                        <a:rPr sz="950" b="0">
                          <a:solidFill>
                            <a:srgbClr val="0F172A"/>
                          </a:solidFill>
                          <a:latin typeface="Inter"/>
                        </a:rPr>
                        <a:t>3.0%</a:t>
                      </a:r>
                    </a:p>
                  </a:txBody>
                  <a:tcPr marL="54864" marR="54864" marT="27432" marB="27432" anchor="ctr">
                    <a:solidFill>
                      <a:srgbClr val="FBFAF7"/>
                    </a:solidFill>
                  </a:tcPr>
                </a:tc>
              </a:tr>
              <a:tr h="274320">
                <a:tc>
                  <a:txBody>
                    <a:bodyPr wrap="square"/>
                    <a:lstStyle/>
                    <a:p>
                      <a:pPr algn="l"/>
                      <a:r>
                        <a:rPr sz="950" b="0">
                          <a:solidFill>
                            <a:srgbClr val="0F172A"/>
                          </a:solidFill>
                          <a:latin typeface="Inter"/>
                        </a:rPr>
                        <a:t>dormeo mattress topper</a:t>
                      </a:r>
                    </a:p>
                  </a:txBody>
                  <a:tcPr marL="54864" marR="54864" marT="27432" marB="27432" anchor="ctr">
                    <a:solidFill>
                      <a:srgbClr val="FFFFFF"/>
                    </a:solidFill>
                  </a:tcPr>
                </a:tc>
                <a:tc>
                  <a:txBody>
                    <a:bodyPr wrap="square"/>
                    <a:lstStyle/>
                    <a:p>
                      <a:pPr algn="r"/>
                      <a:r>
                        <a:rPr sz="950" b="0">
                          <a:solidFill>
                            <a:srgbClr val="0F172A"/>
                          </a:solidFill>
                          <a:latin typeface="Inter"/>
                        </a:rPr>
                        <a:t>SP</a:t>
                      </a:r>
                    </a:p>
                  </a:txBody>
                  <a:tcPr marL="54864" marR="54864" marT="27432" marB="27432" anchor="ctr">
                    <a:solidFill>
                      <a:srgbClr val="FFFFFF"/>
                    </a:solidFill>
                  </a:tcPr>
                </a:tc>
                <a:tc>
                  <a:txBody>
                    <a:bodyPr wrap="square"/>
                    <a:lstStyle/>
                    <a:p>
                      <a:pPr algn="r"/>
                      <a:r>
                        <a:rPr sz="950" b="0">
                          <a:solidFill>
                            <a:srgbClr val="0F172A"/>
                          </a:solidFill>
                          <a:latin typeface="Inter"/>
                        </a:rPr>
                        <a:t>12,349</a:t>
                      </a:r>
                    </a:p>
                  </a:txBody>
                  <a:tcPr marL="54864" marR="54864" marT="27432" marB="27432" anchor="ctr">
                    <a:solidFill>
                      <a:srgbClr val="FFFFFF"/>
                    </a:solidFill>
                  </a:tcPr>
                </a:tc>
                <a:tc>
                  <a:txBody>
                    <a:bodyPr wrap="square"/>
                    <a:lstStyle/>
                    <a:p>
                      <a:pPr algn="r"/>
                      <a:r>
                        <a:rPr sz="950" b="0">
                          <a:solidFill>
                            <a:srgbClr val="0F172A"/>
                          </a:solidFill>
                          <a:latin typeface="Inter"/>
                        </a:rPr>
                        <a:t>222</a:t>
                      </a:r>
                    </a:p>
                  </a:txBody>
                  <a:tcPr marL="54864" marR="54864" marT="27432" marB="27432" anchor="ctr">
                    <a:solidFill>
                      <a:srgbClr val="FFFFFF"/>
                    </a:solidFill>
                  </a:tcPr>
                </a:tc>
                <a:tc>
                  <a:txBody>
                    <a:bodyPr wrap="square"/>
                    <a:lstStyle/>
                    <a:p>
                      <a:pPr algn="r"/>
                      <a:r>
                        <a:rPr sz="950" b="0">
                          <a:solidFill>
                            <a:srgbClr val="0F172A"/>
                          </a:solidFill>
                          <a:latin typeface="Inter"/>
                        </a:rPr>
                        <a:t>2</a:t>
                      </a:r>
                    </a:p>
                  </a:txBody>
                  <a:tcPr marL="54864" marR="54864" marT="27432" marB="27432" anchor="ctr">
                    <a:solidFill>
                      <a:srgbClr val="FFFFFF"/>
                    </a:solidFill>
                  </a:tcPr>
                </a:tc>
                <a:tc>
                  <a:txBody>
                    <a:bodyPr wrap="square"/>
                    <a:lstStyle/>
                    <a:p>
                      <a:pPr algn="r"/>
                      <a:r>
                        <a:rPr sz="950" b="0">
                          <a:solidFill>
                            <a:srgbClr val="0F172A"/>
                          </a:solidFill>
                          <a:latin typeface="Inter"/>
                        </a:rPr>
                        <a:t>0.9%</a:t>
                      </a:r>
                    </a:p>
                  </a:txBody>
                  <a:tcPr marL="54864" marR="54864" marT="27432" marB="27432" anchor="ctr">
                    <a:solidFill>
                      <a:srgbClr val="FFFFFF"/>
                    </a:solidFill>
                  </a:tcPr>
                </a:tc>
                <a:tc>
                  <a:txBody>
                    <a:bodyPr wrap="square"/>
                    <a:lstStyle/>
                    <a:p>
                      <a:pPr algn="r"/>
                      <a:r>
                        <a:rPr sz="950" b="0">
                          <a:solidFill>
                            <a:srgbClr val="0F172A"/>
                          </a:solidFill>
                          <a:latin typeface="Inter"/>
                        </a:rPr>
                        <a:t>$254</a:t>
                      </a:r>
                    </a:p>
                  </a:txBody>
                  <a:tcPr marL="54864" marR="54864" marT="27432" marB="27432" anchor="ctr">
                    <a:solidFill>
                      <a:srgbClr val="FFFFFF"/>
                    </a:solidFill>
                  </a:tcPr>
                </a:tc>
                <a:tc>
                  <a:txBody>
                    <a:bodyPr wrap="square"/>
                    <a:lstStyle/>
                    <a:p>
                      <a:pPr algn="r"/>
                      <a:r>
                        <a:rPr sz="950" b="0">
                          <a:solidFill>
                            <a:srgbClr val="0F172A"/>
                          </a:solidFill>
                          <a:latin typeface="Inter"/>
                        </a:rPr>
                        <a:t>$953</a:t>
                      </a:r>
                    </a:p>
                  </a:txBody>
                  <a:tcPr marL="54864" marR="54864" marT="27432" marB="27432" anchor="ctr">
                    <a:solidFill>
                      <a:srgbClr val="FFFFFF"/>
                    </a:solidFill>
                  </a:tcPr>
                </a:tc>
                <a:tc>
                  <a:txBody>
                    <a:bodyPr wrap="square"/>
                    <a:lstStyle/>
                    <a:p>
                      <a:pPr algn="r"/>
                      <a:r>
                        <a:rPr sz="950" b="0">
                          <a:solidFill>
                            <a:srgbClr val="0F172A"/>
                          </a:solidFill>
                          <a:latin typeface="Inter"/>
                        </a:rPr>
                        <a:t>26.6%</a:t>
                      </a:r>
                    </a:p>
                  </a:txBody>
                  <a:tcPr marL="54864" marR="54864" marT="27432" marB="27432" anchor="ctr">
                    <a:solidFill>
                      <a:srgbClr val="FFFFFF"/>
                    </a:solidFill>
                  </a:tcPr>
                </a:tc>
              </a:tr>
              <a:tr h="274320">
                <a:tc>
                  <a:txBody>
                    <a:bodyPr wrap="square"/>
                    <a:lstStyle/>
                    <a:p>
                      <a:pPr algn="l"/>
                      <a:r>
                        <a:rPr sz="950" b="0">
                          <a:solidFill>
                            <a:srgbClr val="0F172A"/>
                          </a:solidFill>
                          <a:latin typeface="Inter"/>
                        </a:rPr>
                        <a:t>dormeo</a:t>
                      </a:r>
                    </a:p>
                  </a:txBody>
                  <a:tcPr marL="54864" marR="54864" marT="27432" marB="27432" anchor="ctr">
                    <a:solidFill>
                      <a:srgbClr val="FBFAF7"/>
                    </a:solidFill>
                  </a:tcPr>
                </a:tc>
                <a:tc>
                  <a:txBody>
                    <a:bodyPr wrap="square"/>
                    <a:lstStyle/>
                    <a:p>
                      <a:pPr algn="r"/>
                      <a:r>
                        <a:rPr sz="950" b="0">
                          <a:solidFill>
                            <a:srgbClr val="0F172A"/>
                          </a:solidFill>
                          <a:latin typeface="Inter"/>
                        </a:rPr>
                        <a:t>SP</a:t>
                      </a:r>
                    </a:p>
                  </a:txBody>
                  <a:tcPr marL="54864" marR="54864" marT="27432" marB="27432" anchor="ctr">
                    <a:solidFill>
                      <a:srgbClr val="FBFAF7"/>
                    </a:solidFill>
                  </a:tcPr>
                </a:tc>
                <a:tc>
                  <a:txBody>
                    <a:bodyPr wrap="square"/>
                    <a:lstStyle/>
                    <a:p>
                      <a:pPr algn="r"/>
                      <a:r>
                        <a:rPr sz="950" b="0">
                          <a:solidFill>
                            <a:srgbClr val="0F172A"/>
                          </a:solidFill>
                          <a:latin typeface="Inter"/>
                        </a:rPr>
                        <a:t>2,763</a:t>
                      </a:r>
                    </a:p>
                  </a:txBody>
                  <a:tcPr marL="54864" marR="54864" marT="27432" marB="27432" anchor="ctr">
                    <a:solidFill>
                      <a:srgbClr val="FBFAF7"/>
                    </a:solidFill>
                  </a:tcPr>
                </a:tc>
                <a:tc>
                  <a:txBody>
                    <a:bodyPr wrap="square"/>
                    <a:lstStyle/>
                    <a:p>
                      <a:pPr algn="r"/>
                      <a:r>
                        <a:rPr sz="950" b="0">
                          <a:solidFill>
                            <a:srgbClr val="0F172A"/>
                          </a:solidFill>
                          <a:latin typeface="Inter"/>
                        </a:rPr>
                        <a:t>57</a:t>
                      </a:r>
                    </a:p>
                  </a:txBody>
                  <a:tcPr marL="54864" marR="54864" marT="27432" marB="27432" anchor="ctr">
                    <a:solidFill>
                      <a:srgbClr val="FBFAF7"/>
                    </a:solidFill>
                  </a:tcPr>
                </a:tc>
                <a:tc>
                  <a:txBody>
                    <a:bodyPr wrap="square"/>
                    <a:lstStyle/>
                    <a:p>
                      <a:pPr algn="r"/>
                      <a:r>
                        <a:rPr sz="950" b="0">
                          <a:solidFill>
                            <a:srgbClr val="0F172A"/>
                          </a:solidFill>
                          <a:latin typeface="Inter"/>
                        </a:rPr>
                        <a:t>2</a:t>
                      </a:r>
                    </a:p>
                  </a:txBody>
                  <a:tcPr marL="54864" marR="54864" marT="27432" marB="27432" anchor="ctr">
                    <a:solidFill>
                      <a:srgbClr val="FBFAF7"/>
                    </a:solidFill>
                  </a:tcPr>
                </a:tc>
                <a:tc>
                  <a:txBody>
                    <a:bodyPr wrap="square"/>
                    <a:lstStyle/>
                    <a:p>
                      <a:pPr algn="r"/>
                      <a:r>
                        <a:rPr sz="950" b="0">
                          <a:solidFill>
                            <a:srgbClr val="0F172A"/>
                          </a:solidFill>
                          <a:latin typeface="Inter"/>
                        </a:rPr>
                        <a:t>3.5%</a:t>
                      </a:r>
                    </a:p>
                  </a:txBody>
                  <a:tcPr marL="54864" marR="54864" marT="27432" marB="27432" anchor="ctr">
                    <a:solidFill>
                      <a:srgbClr val="FBFAF7"/>
                    </a:solidFill>
                  </a:tcPr>
                </a:tc>
                <a:tc>
                  <a:txBody>
                    <a:bodyPr wrap="square"/>
                    <a:lstStyle/>
                    <a:p>
                      <a:pPr algn="r"/>
                      <a:r>
                        <a:rPr sz="950" b="0">
                          <a:solidFill>
                            <a:srgbClr val="0F172A"/>
                          </a:solidFill>
                          <a:latin typeface="Inter"/>
                        </a:rPr>
                        <a:t>$54</a:t>
                      </a:r>
                    </a:p>
                  </a:txBody>
                  <a:tcPr marL="54864" marR="54864" marT="27432" marB="27432" anchor="ctr">
                    <a:solidFill>
                      <a:srgbClr val="FBFAF7"/>
                    </a:solidFill>
                  </a:tcPr>
                </a:tc>
                <a:tc>
                  <a:txBody>
                    <a:bodyPr wrap="square"/>
                    <a:lstStyle/>
                    <a:p>
                      <a:pPr algn="r"/>
                      <a:r>
                        <a:rPr sz="950" b="0">
                          <a:solidFill>
                            <a:srgbClr val="0F172A"/>
                          </a:solidFill>
                          <a:latin typeface="Inter"/>
                        </a:rPr>
                        <a:t>$694</a:t>
                      </a:r>
                    </a:p>
                  </a:txBody>
                  <a:tcPr marL="54864" marR="54864" marT="27432" marB="27432" anchor="ctr">
                    <a:solidFill>
                      <a:srgbClr val="FBFAF7"/>
                    </a:solidFill>
                  </a:tcPr>
                </a:tc>
                <a:tc>
                  <a:txBody>
                    <a:bodyPr wrap="square"/>
                    <a:lstStyle/>
                    <a:p>
                      <a:pPr algn="r"/>
                      <a:r>
                        <a:rPr sz="950" b="0">
                          <a:solidFill>
                            <a:srgbClr val="0F172A"/>
                          </a:solidFill>
                          <a:latin typeface="Inter"/>
                        </a:rPr>
                        <a:t>7.8%</a:t>
                      </a:r>
                    </a:p>
                  </a:txBody>
                  <a:tcPr marL="54864" marR="54864" marT="27432" marB="27432" anchor="ctr">
                    <a:solidFill>
                      <a:srgbClr val="FBFAF7"/>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
          <p:cNvSpPr/>
          <p:nvPr/>
        </p:nvSpPr>
        <p:spPr>
          <a:xfrm>
            <a:off x="0" y="0"/>
            <a:ext cx="12191695" cy="6858000"/>
          </a:xfrm>
          <a:prstGeom prst="rect">
            <a:avLst/>
          </a:prstGeom>
          <a:solidFill>
            <a:srgbClr val="FFFFFF"/>
          </a:solidFill>
          <a:ln>
            <a:noFill/>
          </a:ln>
        </p:spPr>
      </p:sp>
      <p:sp>
        <p:nvSpPr>
          <p:cNvPr id="3" name=""/>
          <p:cNvSpPr/>
          <p:nvPr/>
        </p:nvSpPr>
        <p:spPr>
          <a:xfrm>
            <a:off x="548640" y="502920"/>
            <a:ext cx="73152" cy="566928"/>
          </a:xfrm>
          <a:prstGeom prst="rect">
            <a:avLst/>
          </a:prstGeom>
          <a:solidFill>
            <a:srgbClr val="2447FF"/>
          </a:solidFill>
          <a:ln>
            <a:noFill/>
          </a:ln>
        </p:spPr>
      </p:sp>
      <p:sp>
        <p:nvSpPr>
          <p:cNvPr id="4" name=""/>
          <p:cNvSpPr txBox="1"/>
          <p:nvPr/>
        </p:nvSpPr>
        <p:spPr>
          <a:xfrm>
            <a:off x="731520" y="384048"/>
            <a:ext cx="8686800" cy="274320"/>
          </a:xfrm>
          <a:prstGeom prst="rect">
            <a:avLst/>
          </a:prstGeom>
          <a:noFill/>
        </p:spPr>
        <p:txBody>
          <a:bodyPr wrap="square" lIns="36576" rIns="36576" tIns="18288" bIns="18288" anchor="t">
            <a:spAutoFit/>
          </a:bodyPr>
          <a:lstStyle/>
          <a:p>
            <a:pPr algn="l"/>
            <a:r>
              <a:rPr sz="1000" b="1">
                <a:solidFill>
                  <a:srgbClr val="2447FF"/>
                </a:solidFill>
                <a:latin typeface="Space Grotesk"/>
              </a:rPr>
              <a:t>AMAZON ADS</a:t>
            </a:r>
          </a:p>
        </p:txBody>
      </p:sp>
      <p:sp>
        <p:nvSpPr>
          <p:cNvPr id="5" name=""/>
          <p:cNvSpPr txBox="1"/>
          <p:nvPr/>
        </p:nvSpPr>
        <p:spPr>
          <a:xfrm>
            <a:off x="731520" y="603504"/>
            <a:ext cx="9601200" cy="548640"/>
          </a:xfrm>
          <a:prstGeom prst="rect">
            <a:avLst/>
          </a:prstGeom>
          <a:noFill/>
        </p:spPr>
        <p:txBody>
          <a:bodyPr wrap="square" lIns="36576" rIns="36576" tIns="18288" bIns="18288" anchor="t">
            <a:spAutoFit/>
          </a:bodyPr>
          <a:lstStyle/>
          <a:p>
            <a:pPr algn="l"/>
            <a:r>
              <a:rPr sz="2600" b="1">
                <a:solidFill>
                  <a:srgbClr val="0F172A"/>
                </a:solidFill>
                <a:latin typeface="Space Grotesk"/>
              </a:rPr>
              <a:t>Category keywords</a:t>
            </a:r>
          </a:p>
        </p:txBody>
      </p:sp>
      <p:pic>
        <p:nvPicPr>
          <p:cNvPr id="6" name="" descr="logo_s.png"/>
          <p:cNvPicPr>
            <a:picLocks noChangeAspect="1"/>
          </p:cNvPicPr>
          <p:nvPr/>
        </p:nvPicPr>
        <p:blipFill>
          <a:blip r:embed="rId2"/>
          <a:stretch>
            <a:fillRect/>
          </a:stretch>
        </p:blipFill>
        <p:spPr>
          <a:xfrm>
            <a:off x="10195560" y="457200"/>
            <a:ext cx="1463040" cy="256032"/>
          </a:xfrm>
          <a:prstGeom prst="rect">
            <a:avLst/>
          </a:prstGeom>
        </p:spPr>
      </p:pic>
      <p:sp>
        <p:nvSpPr>
          <p:cNvPr id="7" name=""/>
          <p:cNvSpPr/>
          <p:nvPr/>
        </p:nvSpPr>
        <p:spPr>
          <a:xfrm>
            <a:off x="548640" y="6400800"/>
            <a:ext cx="11091672" cy="10972"/>
          </a:xfrm>
          <a:prstGeom prst="rect">
            <a:avLst/>
          </a:prstGeom>
          <a:solidFill>
            <a:srgbClr val="E5E0D6"/>
          </a:solidFill>
          <a:ln>
            <a:noFill/>
          </a:ln>
        </p:spPr>
      </p:sp>
      <p:sp>
        <p:nvSpPr>
          <p:cNvPr id="8" name=""/>
          <p:cNvSpPr txBox="1"/>
          <p:nvPr/>
        </p:nvSpPr>
        <p:spPr>
          <a:xfrm>
            <a:off x="548640" y="6455664"/>
            <a:ext cx="8229600" cy="274320"/>
          </a:xfrm>
          <a:prstGeom prst="rect">
            <a:avLst/>
          </a:prstGeom>
          <a:noFill/>
        </p:spPr>
        <p:txBody>
          <a:bodyPr wrap="square" lIns="36576" rIns="36576" tIns="18288" bIns="18288" anchor="t">
            <a:spAutoFit/>
          </a:bodyPr>
          <a:lstStyle/>
          <a:p>
            <a:pPr algn="l"/>
            <a:r>
              <a:rPr sz="900" b="0">
                <a:solidFill>
                  <a:srgbClr val="6B6558"/>
                </a:solidFill>
                <a:latin typeface="Inter"/>
              </a:rPr>
              <a:t>Dormeo Canada · Weekly Business Review · Week 43 (Oct 18–24, 2026)</a:t>
            </a:r>
          </a:p>
        </p:txBody>
      </p:sp>
      <p:sp>
        <p:nvSpPr>
          <p:cNvPr id="9" name=""/>
          <p:cNvSpPr txBox="1"/>
          <p:nvPr/>
        </p:nvSpPr>
        <p:spPr>
          <a:xfrm>
            <a:off x="10241280" y="6455664"/>
            <a:ext cx="1399032" cy="274320"/>
          </a:xfrm>
          <a:prstGeom prst="rect">
            <a:avLst/>
          </a:prstGeom>
          <a:noFill/>
        </p:spPr>
        <p:txBody>
          <a:bodyPr wrap="square" lIns="36576" rIns="36576" tIns="18288" bIns="18288" anchor="t">
            <a:spAutoFit/>
          </a:bodyPr>
          <a:lstStyle/>
          <a:p>
            <a:pPr algn="r"/>
            <a:r>
              <a:rPr sz="900" b="0">
                <a:solidFill>
                  <a:srgbClr val="6B6558"/>
                </a:solidFill>
                <a:latin typeface="Inter"/>
              </a:rPr>
              <a:t>9 / 17</a:t>
            </a:r>
          </a:p>
        </p:txBody>
      </p:sp>
      <p:graphicFrame>
        <p:nvGraphicFramePr>
          <p:cNvPr id="10" name=""/>
          <p:cNvGraphicFramePr>
            <a:graphicFrameLocks noGrp="1"/>
          </p:cNvGraphicFramePr>
          <p:nvPr/>
        </p:nvGraphicFramePr>
        <p:xfrm>
          <a:off x="548640" y="1417320"/>
          <a:ext cx="11091672" cy="1536192"/>
        </p:xfrm>
        <a:graphic>
          <a:graphicData uri="http://schemas.openxmlformats.org/drawingml/2006/table">
            <a:tbl>
              <a:tblPr firstRow="1" bandRow="1">
                <a:tableStyleId>{5C22544A-7EE6-4342-B048-85BDC9FD1C3A}</a:tableStyleId>
              </a:tblPr>
              <a:tblGrid>
                <a:gridCol w="4325112"/>
                <a:gridCol w="914400"/>
                <a:gridCol w="1463040"/>
                <a:gridCol w="1097280"/>
                <a:gridCol w="1097280"/>
                <a:gridCol w="1097280"/>
                <a:gridCol w="1097280"/>
              </a:tblGrid>
              <a:tr h="384048">
                <a:tc>
                  <a:txBody>
                    <a:bodyPr wrap="square"/>
                    <a:lstStyle/>
                    <a:p>
                      <a:pPr algn="l"/>
                      <a:r>
                        <a:rPr sz="1000" b="1">
                          <a:solidFill>
                            <a:srgbClr val="FFFFFF"/>
                          </a:solidFill>
                          <a:latin typeface="Inter"/>
                        </a:rPr>
                        <a:t>Search term</a:t>
                      </a:r>
                    </a:p>
                  </a:txBody>
                  <a:tcPr marL="54864" marR="54864" marT="27432" marB="27432" anchor="ctr">
                    <a:solidFill>
                      <a:srgbClr val="0F172A"/>
                    </a:solidFill>
                  </a:tcPr>
                </a:tc>
                <a:tc>
                  <a:txBody>
                    <a:bodyPr wrap="square"/>
                    <a:lstStyle/>
                    <a:p>
                      <a:pPr algn="r"/>
                      <a:r>
                        <a:rPr sz="1000" b="1">
                          <a:solidFill>
                            <a:srgbClr val="FFFFFF"/>
                          </a:solidFill>
                          <a:latin typeface="Inter"/>
                        </a:rPr>
                        <a:t>Ad</a:t>
                      </a:r>
                    </a:p>
                  </a:txBody>
                  <a:tcPr marL="54864" marR="54864" marT="27432" marB="27432" anchor="ctr">
                    <a:solidFill>
                      <a:srgbClr val="0F172A"/>
                    </a:solidFill>
                  </a:tcPr>
                </a:tc>
                <a:tc>
                  <a:txBody>
                    <a:bodyPr wrap="square"/>
                    <a:lstStyle/>
                    <a:p>
                      <a:pPr algn="r"/>
                      <a:r>
                        <a:rPr sz="1000" b="1">
                          <a:solidFill>
                            <a:srgbClr val="FFFFFF"/>
                          </a:solidFill>
                          <a:latin typeface="Inter"/>
                        </a:rPr>
                        <a:t>Impressions</a:t>
                      </a:r>
                    </a:p>
                  </a:txBody>
                  <a:tcPr marL="54864" marR="54864" marT="27432" marB="27432" anchor="ctr">
                    <a:solidFill>
                      <a:srgbClr val="0F172A"/>
                    </a:solidFill>
                  </a:tcPr>
                </a:tc>
                <a:tc>
                  <a:txBody>
                    <a:bodyPr wrap="square"/>
                    <a:lstStyle/>
                    <a:p>
                      <a:pPr algn="r"/>
                      <a:r>
                        <a:rPr sz="1000" b="1">
                          <a:solidFill>
                            <a:srgbClr val="FFFFFF"/>
                          </a:solidFill>
                          <a:latin typeface="Inter"/>
                        </a:rPr>
                        <a:t>Clicks</a:t>
                      </a:r>
                    </a:p>
                  </a:txBody>
                  <a:tcPr marL="54864" marR="54864" marT="27432" marB="27432" anchor="ctr">
                    <a:solidFill>
                      <a:srgbClr val="0F172A"/>
                    </a:solidFill>
                  </a:tcPr>
                </a:tc>
                <a:tc>
                  <a:txBody>
                    <a:bodyPr wrap="square"/>
                    <a:lstStyle/>
                    <a:p>
                      <a:pPr algn="r"/>
                      <a:r>
                        <a:rPr sz="1000" b="1">
                          <a:solidFill>
                            <a:srgbClr val="FFFFFF"/>
                          </a:solidFill>
                          <a:latin typeface="Inter"/>
                        </a:rPr>
                        <a:t>Orders</a:t>
                      </a:r>
                    </a:p>
                  </a:txBody>
                  <a:tcPr marL="54864" marR="54864" marT="27432" marB="27432" anchor="ctr">
                    <a:solidFill>
                      <a:srgbClr val="0F172A"/>
                    </a:solidFill>
                  </a:tcPr>
                </a:tc>
                <a:tc>
                  <a:txBody>
                    <a:bodyPr wrap="square"/>
                    <a:lstStyle/>
                    <a:p>
                      <a:pPr algn="r"/>
                      <a:r>
                        <a:rPr sz="1000" b="1">
                          <a:solidFill>
                            <a:srgbClr val="FFFFFF"/>
                          </a:solidFill>
                          <a:latin typeface="Inter"/>
                        </a:rPr>
                        <a:t>Spend</a:t>
                      </a:r>
                    </a:p>
                  </a:txBody>
                  <a:tcPr marL="54864" marR="54864" marT="27432" marB="27432" anchor="ctr">
                    <a:solidFill>
                      <a:srgbClr val="0F172A"/>
                    </a:solidFill>
                  </a:tcPr>
                </a:tc>
                <a:tc>
                  <a:txBody>
                    <a:bodyPr wrap="square"/>
                    <a:lstStyle/>
                    <a:p>
                      <a:pPr algn="r"/>
                      <a:r>
                        <a:rPr sz="1000" b="1">
                          <a:solidFill>
                            <a:srgbClr val="FFFFFF"/>
                          </a:solidFill>
                          <a:latin typeface="Inter"/>
                        </a:rPr>
                        <a:t>Sales</a:t>
                      </a:r>
                    </a:p>
                  </a:txBody>
                  <a:tcPr marL="54864" marR="54864" marT="27432" marB="27432" anchor="ctr">
                    <a:solidFill>
                      <a:srgbClr val="0F172A"/>
                    </a:solidFill>
                  </a:tcPr>
                </a:tc>
              </a:tr>
              <a:tr h="384048">
                <a:tc>
                  <a:txBody>
                    <a:bodyPr wrap="square"/>
                    <a:lstStyle/>
                    <a:p>
                      <a:pPr algn="l"/>
                      <a:r>
                        <a:rPr sz="1100" b="0">
                          <a:solidFill>
                            <a:srgbClr val="0F172A"/>
                          </a:solidFill>
                          <a:latin typeface="Inter"/>
                        </a:rPr>
                        <a:t>octaspring mattress topper</a:t>
                      </a:r>
                    </a:p>
                  </a:txBody>
                  <a:tcPr marL="54864" marR="54864" marT="27432" marB="27432" anchor="ctr">
                    <a:solidFill>
                      <a:srgbClr val="FFFFFF"/>
                    </a:solidFill>
                  </a:tcPr>
                </a:tc>
                <a:tc>
                  <a:txBody>
                    <a:bodyPr wrap="square"/>
                    <a:lstStyle/>
                    <a:p>
                      <a:pPr algn="r"/>
                      <a:r>
                        <a:rPr sz="1100" b="0">
                          <a:solidFill>
                            <a:srgbClr val="0F172A"/>
                          </a:solidFill>
                          <a:latin typeface="Inter"/>
                        </a:rPr>
                        <a:t>SP</a:t>
                      </a:r>
                    </a:p>
                  </a:txBody>
                  <a:tcPr marL="54864" marR="54864" marT="27432" marB="27432" anchor="ctr">
                    <a:solidFill>
                      <a:srgbClr val="FFFFFF"/>
                    </a:solidFill>
                  </a:tcPr>
                </a:tc>
                <a:tc>
                  <a:txBody>
                    <a:bodyPr wrap="square"/>
                    <a:lstStyle/>
                    <a:p>
                      <a:pPr algn="r"/>
                      <a:r>
                        <a:rPr sz="1100" b="0">
                          <a:solidFill>
                            <a:srgbClr val="0F172A"/>
                          </a:solidFill>
                          <a:latin typeface="Inter"/>
                        </a:rPr>
                        <a:t>9</a:t>
                      </a:r>
                    </a:p>
                  </a:txBody>
                  <a:tcPr marL="54864" marR="54864" marT="27432" marB="27432" anchor="ctr">
                    <a:solidFill>
                      <a:srgbClr val="FFFFFF"/>
                    </a:solidFill>
                  </a:tcPr>
                </a:tc>
                <a:tc>
                  <a:txBody>
                    <a:bodyPr wrap="square"/>
                    <a:lstStyle/>
                    <a:p>
                      <a:pPr algn="r"/>
                      <a:r>
                        <a:rPr sz="1100" b="0">
                          <a:solidFill>
                            <a:srgbClr val="0F172A"/>
                          </a:solidFill>
                          <a:latin typeface="Inter"/>
                        </a:rPr>
                        <a:t>3</a:t>
                      </a:r>
                    </a:p>
                  </a:txBody>
                  <a:tcPr marL="54864" marR="54864" marT="27432" marB="27432" anchor="ctr">
                    <a:solidFill>
                      <a:srgbClr val="FFFFFF"/>
                    </a:solidFill>
                  </a:tcPr>
                </a:tc>
                <a:tc>
                  <a:txBody>
                    <a:bodyPr wrap="square"/>
                    <a:lstStyle/>
                    <a:p>
                      <a:pPr algn="r"/>
                      <a:r>
                        <a:rPr sz="1100" b="0">
                          <a:solidFill>
                            <a:srgbClr val="0F172A"/>
                          </a:solidFill>
                          <a:latin typeface="Inter"/>
                        </a:rPr>
                        <a:t>2</a:t>
                      </a:r>
                    </a:p>
                  </a:txBody>
                  <a:tcPr marL="54864" marR="54864" marT="27432" marB="27432" anchor="ctr">
                    <a:solidFill>
                      <a:srgbClr val="FFFFFF"/>
                    </a:solidFill>
                  </a:tcPr>
                </a:tc>
                <a:tc>
                  <a:txBody>
                    <a:bodyPr wrap="square"/>
                    <a:lstStyle/>
                    <a:p>
                      <a:pPr algn="r"/>
                      <a:r>
                        <a:rPr sz="1100" b="0">
                          <a:solidFill>
                            <a:srgbClr val="0F172A"/>
                          </a:solidFill>
                          <a:latin typeface="Inter"/>
                        </a:rPr>
                        <a:t>$1</a:t>
                      </a:r>
                    </a:p>
                  </a:txBody>
                  <a:tcPr marL="54864" marR="54864" marT="27432" marB="27432" anchor="ctr">
                    <a:solidFill>
                      <a:srgbClr val="FFFFFF"/>
                    </a:solidFill>
                  </a:tcPr>
                </a:tc>
                <a:tc>
                  <a:txBody>
                    <a:bodyPr wrap="square"/>
                    <a:lstStyle/>
                    <a:p>
                      <a:pPr algn="r"/>
                      <a:r>
                        <a:rPr sz="1100" b="0">
                          <a:solidFill>
                            <a:srgbClr val="0F172A"/>
                          </a:solidFill>
                          <a:latin typeface="Inter"/>
                        </a:rPr>
                        <a:t>$1,079</a:t>
                      </a:r>
                    </a:p>
                  </a:txBody>
                  <a:tcPr marL="54864" marR="54864" marT="27432" marB="27432" anchor="ctr">
                    <a:solidFill>
                      <a:srgbClr val="FFFFFF"/>
                    </a:solidFill>
                  </a:tcPr>
                </a:tc>
              </a:tr>
              <a:tr h="384048">
                <a:tc>
                  <a:txBody>
                    <a:bodyPr wrap="square"/>
                    <a:lstStyle/>
                    <a:p>
                      <a:pPr algn="l"/>
                      <a:r>
                        <a:rPr sz="1100" b="0">
                          <a:solidFill>
                            <a:srgbClr val="0F172A"/>
                          </a:solidFill>
                          <a:latin typeface="Inter"/>
                        </a:rPr>
                        <a:t>memory foam mattress topper</a:t>
                      </a:r>
                    </a:p>
                  </a:txBody>
                  <a:tcPr marL="54864" marR="54864" marT="27432" marB="27432" anchor="ctr">
                    <a:solidFill>
                      <a:srgbClr val="FBFAF7"/>
                    </a:solidFill>
                  </a:tcPr>
                </a:tc>
                <a:tc>
                  <a:txBody>
                    <a:bodyPr wrap="square"/>
                    <a:lstStyle/>
                    <a:p>
                      <a:pPr algn="r"/>
                      <a:r>
                        <a:rPr sz="1100" b="0">
                          <a:solidFill>
                            <a:srgbClr val="0F172A"/>
                          </a:solidFill>
                          <a:latin typeface="Inter"/>
                        </a:rPr>
                        <a:t>SB</a:t>
                      </a:r>
                    </a:p>
                  </a:txBody>
                  <a:tcPr marL="54864" marR="54864" marT="27432" marB="27432" anchor="ctr">
                    <a:solidFill>
                      <a:srgbClr val="FBFAF7"/>
                    </a:solidFill>
                  </a:tcPr>
                </a:tc>
                <a:tc>
                  <a:txBody>
                    <a:bodyPr wrap="square"/>
                    <a:lstStyle/>
                    <a:p>
                      <a:pPr algn="r"/>
                      <a:r>
                        <a:rPr sz="1100" b="0">
                          <a:solidFill>
                            <a:srgbClr val="0F172A"/>
                          </a:solidFill>
                          <a:latin typeface="Inter"/>
                        </a:rPr>
                        <a:t>439</a:t>
                      </a:r>
                    </a:p>
                  </a:txBody>
                  <a:tcPr marL="54864" marR="54864" marT="27432" marB="27432" anchor="ctr">
                    <a:solidFill>
                      <a:srgbClr val="FBFAF7"/>
                    </a:solidFill>
                  </a:tcPr>
                </a:tc>
                <a:tc>
                  <a:txBody>
                    <a:bodyPr wrap="square"/>
                    <a:lstStyle/>
                    <a:p>
                      <a:pPr algn="r"/>
                      <a:r>
                        <a:rPr sz="1100" b="0">
                          <a:solidFill>
                            <a:srgbClr val="0F172A"/>
                          </a:solidFill>
                          <a:latin typeface="Inter"/>
                        </a:rPr>
                        <a:t>2</a:t>
                      </a:r>
                    </a:p>
                  </a:txBody>
                  <a:tcPr marL="54864" marR="54864" marT="27432" marB="27432" anchor="ctr">
                    <a:solidFill>
                      <a:srgbClr val="FBFAF7"/>
                    </a:solidFill>
                  </a:tcPr>
                </a:tc>
                <a:tc>
                  <a:txBody>
                    <a:bodyPr wrap="square"/>
                    <a:lstStyle/>
                    <a:p>
                      <a:pPr algn="r"/>
                      <a:r>
                        <a:rPr sz="1100" b="0">
                          <a:solidFill>
                            <a:srgbClr val="0F172A"/>
                          </a:solidFill>
                          <a:latin typeface="Inter"/>
                        </a:rPr>
                        <a:t>1</a:t>
                      </a:r>
                    </a:p>
                  </a:txBody>
                  <a:tcPr marL="54864" marR="54864" marT="27432" marB="27432" anchor="ctr">
                    <a:solidFill>
                      <a:srgbClr val="FBFAF7"/>
                    </a:solidFill>
                  </a:tcPr>
                </a:tc>
                <a:tc>
                  <a:txBody>
                    <a:bodyPr wrap="square"/>
                    <a:lstStyle/>
                    <a:p>
                      <a:pPr algn="r"/>
                      <a:r>
                        <a:rPr sz="1100" b="0">
                          <a:solidFill>
                            <a:srgbClr val="0F172A"/>
                          </a:solidFill>
                          <a:latin typeface="Inter"/>
                        </a:rPr>
                        <a:t>$0</a:t>
                      </a:r>
                    </a:p>
                  </a:txBody>
                  <a:tcPr marL="54864" marR="54864" marT="27432" marB="27432" anchor="ctr">
                    <a:solidFill>
                      <a:srgbClr val="FBFAF7"/>
                    </a:solidFill>
                  </a:tcPr>
                </a:tc>
                <a:tc>
                  <a:txBody>
                    <a:bodyPr wrap="square"/>
                    <a:lstStyle/>
                    <a:p>
                      <a:pPr algn="r"/>
                      <a:r>
                        <a:rPr sz="1100" b="0">
                          <a:solidFill>
                            <a:srgbClr val="0F172A"/>
                          </a:solidFill>
                          <a:latin typeface="Inter"/>
                        </a:rPr>
                        <a:t>$554</a:t>
                      </a:r>
                    </a:p>
                  </a:txBody>
                  <a:tcPr marL="54864" marR="54864" marT="27432" marB="27432" anchor="ctr">
                    <a:solidFill>
                      <a:srgbClr val="FBFAF7"/>
                    </a:solidFill>
                  </a:tcPr>
                </a:tc>
              </a:tr>
              <a:tr h="384048">
                <a:tc>
                  <a:txBody>
                    <a:bodyPr wrap="square"/>
                    <a:lstStyle/>
                    <a:p>
                      <a:pPr algn="l"/>
                      <a:r>
                        <a:rPr sz="1100" b="0">
                          <a:solidFill>
                            <a:srgbClr val="0F172A"/>
                          </a:solidFill>
                          <a:latin typeface="Inter"/>
                        </a:rPr>
                        <a:t>topper for mattress</a:t>
                      </a:r>
                    </a:p>
                  </a:txBody>
                  <a:tcPr marL="54864" marR="54864" marT="27432" marB="27432" anchor="ctr">
                    <a:solidFill>
                      <a:srgbClr val="FFFFFF"/>
                    </a:solidFill>
                  </a:tcPr>
                </a:tc>
                <a:tc>
                  <a:txBody>
                    <a:bodyPr wrap="square"/>
                    <a:lstStyle/>
                    <a:p>
                      <a:pPr algn="r"/>
                      <a:r>
                        <a:rPr sz="1100" b="0">
                          <a:solidFill>
                            <a:srgbClr val="0F172A"/>
                          </a:solidFill>
                          <a:latin typeface="Inter"/>
                        </a:rPr>
                        <a:t>SB</a:t>
                      </a:r>
                    </a:p>
                  </a:txBody>
                  <a:tcPr marL="54864" marR="54864" marT="27432" marB="27432" anchor="ctr">
                    <a:solidFill>
                      <a:srgbClr val="FFFFFF"/>
                    </a:solidFill>
                  </a:tcPr>
                </a:tc>
                <a:tc>
                  <a:txBody>
                    <a:bodyPr wrap="square"/>
                    <a:lstStyle/>
                    <a:p>
                      <a:pPr algn="r"/>
                      <a:r>
                        <a:rPr sz="1100" b="0">
                          <a:solidFill>
                            <a:srgbClr val="0F172A"/>
                          </a:solidFill>
                          <a:latin typeface="Inter"/>
                        </a:rPr>
                        <a:t>2</a:t>
                      </a:r>
                    </a:p>
                  </a:txBody>
                  <a:tcPr marL="54864" marR="54864" marT="27432" marB="27432" anchor="ctr">
                    <a:solidFill>
                      <a:srgbClr val="FFFFFF"/>
                    </a:solidFill>
                  </a:tcPr>
                </a:tc>
                <a:tc>
                  <a:txBody>
                    <a:bodyPr wrap="square"/>
                    <a:lstStyle/>
                    <a:p>
                      <a:pPr algn="r"/>
                      <a:r>
                        <a:rPr sz="1100" b="0">
                          <a:solidFill>
                            <a:srgbClr val="0F172A"/>
                          </a:solidFill>
                          <a:latin typeface="Inter"/>
                        </a:rPr>
                        <a:t>1</a:t>
                      </a:r>
                    </a:p>
                  </a:txBody>
                  <a:tcPr marL="54864" marR="54864" marT="27432" marB="27432" anchor="ctr">
                    <a:solidFill>
                      <a:srgbClr val="FFFFFF"/>
                    </a:solidFill>
                  </a:tcPr>
                </a:tc>
                <a:tc>
                  <a:txBody>
                    <a:bodyPr wrap="square"/>
                    <a:lstStyle/>
                    <a:p>
                      <a:pPr algn="r"/>
                      <a:r>
                        <a:rPr sz="1100" b="0">
                          <a:solidFill>
                            <a:srgbClr val="0F172A"/>
                          </a:solidFill>
                          <a:latin typeface="Inter"/>
                        </a:rPr>
                        <a:t>1</a:t>
                      </a:r>
                    </a:p>
                  </a:txBody>
                  <a:tcPr marL="54864" marR="54864" marT="27432" marB="27432" anchor="ctr">
                    <a:solidFill>
                      <a:srgbClr val="FFFFFF"/>
                    </a:solidFill>
                  </a:tcPr>
                </a:tc>
                <a:tc>
                  <a:txBody>
                    <a:bodyPr wrap="square"/>
                    <a:lstStyle/>
                    <a:p>
                      <a:pPr algn="r"/>
                      <a:r>
                        <a:rPr sz="1100" b="0">
                          <a:solidFill>
                            <a:srgbClr val="0F172A"/>
                          </a:solidFill>
                          <a:latin typeface="Inter"/>
                        </a:rPr>
                        <a:t>$0</a:t>
                      </a:r>
                    </a:p>
                  </a:txBody>
                  <a:tcPr marL="54864" marR="54864" marT="27432" marB="27432" anchor="ctr">
                    <a:solidFill>
                      <a:srgbClr val="FFFFFF"/>
                    </a:solidFill>
                  </a:tcPr>
                </a:tc>
                <a:tc>
                  <a:txBody>
                    <a:bodyPr wrap="square"/>
                    <a:lstStyle/>
                    <a:p>
                      <a:pPr algn="r"/>
                      <a:r>
                        <a:rPr sz="1100" b="0">
                          <a:solidFill>
                            <a:srgbClr val="0F172A"/>
                          </a:solidFill>
                          <a:latin typeface="Inter"/>
                        </a:rPr>
                        <a:t>$554</a:t>
                      </a:r>
                    </a:p>
                  </a:txBody>
                  <a:tcPr marL="54864" marR="54864" marT="27432" marB="27432" anchor="ctr">
                    <a:solidFill>
                      <a:srgbClr val="FFFFFF"/>
                    </a:solidFill>
                  </a:tcPr>
                </a:tc>
              </a:tr>
            </a:tbl>
          </a:graphicData>
        </a:graphic>
      </p:graphicFrame>
      <p:sp>
        <p:nvSpPr>
          <p:cNvPr id="11" name=""/>
          <p:cNvSpPr txBox="1"/>
          <p:nvPr/>
        </p:nvSpPr>
        <p:spPr>
          <a:xfrm>
            <a:off x="548640" y="3090672"/>
            <a:ext cx="11091672" cy="457200"/>
          </a:xfrm>
          <a:prstGeom prst="rect">
            <a:avLst/>
          </a:prstGeom>
          <a:noFill/>
        </p:spPr>
        <p:txBody>
          <a:bodyPr wrap="square" lIns="36576" rIns="36576" tIns="18288" bIns="18288" anchor="t">
            <a:spAutoFit/>
          </a:bodyPr>
          <a:lstStyle/>
          <a:p>
            <a:pPr algn="l"/>
            <a:r>
              <a:rPr sz="900" b="0">
                <a:solidFill>
                  <a:srgbClr val="6B6558"/>
                </a:solidFill>
                <a:latin typeface="Inter"/>
              </a:rPr>
              <a:t>Top category searches by ad sales, Oct 18–24, 2026 (Sponsored Products and Brands search-term report; only searches with at least one click are reported).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
          <p:cNvSpPr/>
          <p:nvPr/>
        </p:nvSpPr>
        <p:spPr>
          <a:xfrm>
            <a:off x="0" y="0"/>
            <a:ext cx="12191695" cy="6858000"/>
          </a:xfrm>
          <a:prstGeom prst="rect">
            <a:avLst/>
          </a:prstGeom>
          <a:solidFill>
            <a:srgbClr val="FFFFFF"/>
          </a:solidFill>
          <a:ln>
            <a:noFill/>
          </a:ln>
        </p:spPr>
      </p:sp>
      <p:sp>
        <p:nvSpPr>
          <p:cNvPr id="3" name=""/>
          <p:cNvSpPr/>
          <p:nvPr/>
        </p:nvSpPr>
        <p:spPr>
          <a:xfrm>
            <a:off x="548640" y="502920"/>
            <a:ext cx="73152" cy="566928"/>
          </a:xfrm>
          <a:prstGeom prst="rect">
            <a:avLst/>
          </a:prstGeom>
          <a:solidFill>
            <a:srgbClr val="2447FF"/>
          </a:solidFill>
          <a:ln>
            <a:noFill/>
          </a:ln>
        </p:spPr>
      </p:sp>
      <p:sp>
        <p:nvSpPr>
          <p:cNvPr id="4" name=""/>
          <p:cNvSpPr txBox="1"/>
          <p:nvPr/>
        </p:nvSpPr>
        <p:spPr>
          <a:xfrm>
            <a:off x="731520" y="384048"/>
            <a:ext cx="8686800" cy="274320"/>
          </a:xfrm>
          <a:prstGeom prst="rect">
            <a:avLst/>
          </a:prstGeom>
          <a:noFill/>
        </p:spPr>
        <p:txBody>
          <a:bodyPr wrap="square" lIns="36576" rIns="36576" tIns="18288" bIns="18288" anchor="t">
            <a:spAutoFit/>
          </a:bodyPr>
          <a:lstStyle/>
          <a:p>
            <a:pPr algn="l"/>
            <a:r>
              <a:rPr sz="1000" b="1">
                <a:solidFill>
                  <a:srgbClr val="2447FF"/>
                </a:solidFill>
                <a:latin typeface="Space Grotesk"/>
              </a:rPr>
              <a:t>AMAZON ADS</a:t>
            </a:r>
          </a:p>
        </p:txBody>
      </p:sp>
      <p:sp>
        <p:nvSpPr>
          <p:cNvPr id="5" name=""/>
          <p:cNvSpPr txBox="1"/>
          <p:nvPr/>
        </p:nvSpPr>
        <p:spPr>
          <a:xfrm>
            <a:off x="731520" y="603504"/>
            <a:ext cx="9601200" cy="548640"/>
          </a:xfrm>
          <a:prstGeom prst="rect">
            <a:avLst/>
          </a:prstGeom>
          <a:noFill/>
        </p:spPr>
        <p:txBody>
          <a:bodyPr wrap="square" lIns="36576" rIns="36576" tIns="18288" bIns="18288" anchor="t">
            <a:spAutoFit/>
          </a:bodyPr>
          <a:lstStyle/>
          <a:p>
            <a:pPr algn="l"/>
            <a:r>
              <a:rPr sz="2600" b="1">
                <a:solidFill>
                  <a:srgbClr val="0F172A"/>
                </a:solidFill>
                <a:latin typeface="Space Grotesk"/>
              </a:rPr>
              <a:t>Advertising performance — daily, last 2 weeks</a:t>
            </a:r>
          </a:p>
        </p:txBody>
      </p:sp>
      <p:pic>
        <p:nvPicPr>
          <p:cNvPr id="6" name="" descr="logo_s.png"/>
          <p:cNvPicPr>
            <a:picLocks noChangeAspect="1"/>
          </p:cNvPicPr>
          <p:nvPr/>
        </p:nvPicPr>
        <p:blipFill>
          <a:blip r:embed="rId2"/>
          <a:stretch>
            <a:fillRect/>
          </a:stretch>
        </p:blipFill>
        <p:spPr>
          <a:xfrm>
            <a:off x="10195560" y="457200"/>
            <a:ext cx="1463040" cy="256032"/>
          </a:xfrm>
          <a:prstGeom prst="rect">
            <a:avLst/>
          </a:prstGeom>
        </p:spPr>
      </p:pic>
      <p:sp>
        <p:nvSpPr>
          <p:cNvPr id="7" name=""/>
          <p:cNvSpPr/>
          <p:nvPr/>
        </p:nvSpPr>
        <p:spPr>
          <a:xfrm>
            <a:off x="548640" y="6400800"/>
            <a:ext cx="11091672" cy="10972"/>
          </a:xfrm>
          <a:prstGeom prst="rect">
            <a:avLst/>
          </a:prstGeom>
          <a:solidFill>
            <a:srgbClr val="E5E0D6"/>
          </a:solidFill>
          <a:ln>
            <a:noFill/>
          </a:ln>
        </p:spPr>
      </p:sp>
      <p:sp>
        <p:nvSpPr>
          <p:cNvPr id="8" name=""/>
          <p:cNvSpPr txBox="1"/>
          <p:nvPr/>
        </p:nvSpPr>
        <p:spPr>
          <a:xfrm>
            <a:off x="548640" y="6455664"/>
            <a:ext cx="8229600" cy="274320"/>
          </a:xfrm>
          <a:prstGeom prst="rect">
            <a:avLst/>
          </a:prstGeom>
          <a:noFill/>
        </p:spPr>
        <p:txBody>
          <a:bodyPr wrap="square" lIns="36576" rIns="36576" tIns="18288" bIns="18288" anchor="t">
            <a:spAutoFit/>
          </a:bodyPr>
          <a:lstStyle/>
          <a:p>
            <a:pPr algn="l"/>
            <a:r>
              <a:rPr sz="900" b="0">
                <a:solidFill>
                  <a:srgbClr val="6B6558"/>
                </a:solidFill>
                <a:latin typeface="Inter"/>
              </a:rPr>
              <a:t>Dormeo Canada · Weekly Business Review · Week 43 (Oct 18–24, 2026)</a:t>
            </a:r>
          </a:p>
        </p:txBody>
      </p:sp>
      <p:sp>
        <p:nvSpPr>
          <p:cNvPr id="9" name=""/>
          <p:cNvSpPr txBox="1"/>
          <p:nvPr/>
        </p:nvSpPr>
        <p:spPr>
          <a:xfrm>
            <a:off x="10241280" y="6455664"/>
            <a:ext cx="1399032" cy="274320"/>
          </a:xfrm>
          <a:prstGeom prst="rect">
            <a:avLst/>
          </a:prstGeom>
          <a:noFill/>
        </p:spPr>
        <p:txBody>
          <a:bodyPr wrap="square" lIns="36576" rIns="36576" tIns="18288" bIns="18288" anchor="t">
            <a:spAutoFit/>
          </a:bodyPr>
          <a:lstStyle/>
          <a:p>
            <a:pPr algn="r"/>
            <a:r>
              <a:rPr sz="900" b="0">
                <a:solidFill>
                  <a:srgbClr val="6B6558"/>
                </a:solidFill>
                <a:latin typeface="Inter"/>
              </a:rPr>
              <a:t>10 / 17</a:t>
            </a:r>
          </a:p>
        </p:txBody>
      </p:sp>
      <p:graphicFrame>
        <p:nvGraphicFramePr>
          <p:cNvPr id="10" name=""/>
          <p:cNvGraphicFramePr>
            <a:graphicFrameLocks noGrp="1"/>
          </p:cNvGraphicFramePr>
          <p:nvPr/>
        </p:nvGraphicFramePr>
        <p:xfrm>
          <a:off x="548640" y="1325880"/>
          <a:ext cx="10360152" cy="4197096"/>
        </p:xfrm>
        <a:graphic>
          <a:graphicData uri="http://schemas.openxmlformats.org/drawingml/2006/table">
            <a:tbl>
              <a:tblPr firstRow="1" bandRow="1">
                <a:tableStyleId>{5C22544A-7EE6-4342-B048-85BDC9FD1C3A}</a:tableStyleId>
              </a:tblPr>
              <a:tblGrid>
                <a:gridCol w="1234440"/>
                <a:gridCol w="548640"/>
                <a:gridCol w="1051560"/>
                <a:gridCol w="960120"/>
                <a:gridCol w="960120"/>
                <a:gridCol w="731520"/>
                <a:gridCol w="731520"/>
                <a:gridCol w="731520"/>
                <a:gridCol w="731520"/>
                <a:gridCol w="822960"/>
                <a:gridCol w="1097280"/>
                <a:gridCol w="758952"/>
              </a:tblGrid>
              <a:tr h="246888">
                <a:tc>
                  <a:txBody>
                    <a:bodyPr wrap="square"/>
                    <a:lstStyle/>
                    <a:p>
                      <a:pPr algn="l"/>
                      <a:r>
                        <a:rPr sz="750" b="1">
                          <a:solidFill>
                            <a:srgbClr val="FFFFFF"/>
                          </a:solidFill>
                          <a:latin typeface="Inter"/>
                        </a:rPr>
                        <a:t>Date</a:t>
                      </a:r>
                    </a:p>
                  </a:txBody>
                  <a:tcPr marL="54864" marR="54864" marT="27432" marB="27432" anchor="ctr">
                    <a:solidFill>
                      <a:srgbClr val="0F172A"/>
                    </a:solidFill>
                  </a:tcPr>
                </a:tc>
                <a:tc>
                  <a:txBody>
                    <a:bodyPr wrap="square"/>
                    <a:lstStyle/>
                    <a:p>
                      <a:pPr algn="r"/>
                      <a:r>
                        <a:rPr sz="750" b="1">
                          <a:solidFill>
                            <a:srgbClr val="FFFFFF"/>
                          </a:solidFill>
                          <a:latin typeface="Inter"/>
                        </a:rPr>
                        <a:t>Day</a:t>
                      </a:r>
                    </a:p>
                  </a:txBody>
                  <a:tcPr marL="54864" marR="54864" marT="27432" marB="27432" anchor="ctr">
                    <a:solidFill>
                      <a:srgbClr val="0F172A"/>
                    </a:solidFill>
                  </a:tcPr>
                </a:tc>
                <a:tc>
                  <a:txBody>
                    <a:bodyPr wrap="square"/>
                    <a:lstStyle/>
                    <a:p>
                      <a:pPr algn="r"/>
                      <a:r>
                        <a:rPr sz="750" b="1">
                          <a:solidFill>
                            <a:srgbClr val="FFFFFF"/>
                          </a:solidFill>
                          <a:latin typeface="Inter"/>
                        </a:rPr>
                        <a:t>Total sales</a:t>
                      </a:r>
                    </a:p>
                  </a:txBody>
                  <a:tcPr marL="54864" marR="54864" marT="27432" marB="27432" anchor="ctr">
                    <a:solidFill>
                      <a:srgbClr val="0F172A"/>
                    </a:solidFill>
                  </a:tcPr>
                </a:tc>
                <a:tc>
                  <a:txBody>
                    <a:bodyPr wrap="square"/>
                    <a:lstStyle/>
                    <a:p>
                      <a:pPr algn="r"/>
                      <a:r>
                        <a:rPr sz="750" b="1">
                          <a:solidFill>
                            <a:srgbClr val="FFFFFF"/>
                          </a:solidFill>
                          <a:latin typeface="Inter"/>
                        </a:rPr>
                        <a:t>PPC spend</a:t>
                      </a:r>
                    </a:p>
                  </a:txBody>
                  <a:tcPr marL="54864" marR="54864" marT="27432" marB="27432" anchor="ctr">
                    <a:solidFill>
                      <a:srgbClr val="0F172A"/>
                    </a:solidFill>
                  </a:tcPr>
                </a:tc>
                <a:tc>
                  <a:txBody>
                    <a:bodyPr wrap="square"/>
                    <a:lstStyle/>
                    <a:p>
                      <a:pPr algn="r"/>
                      <a:r>
                        <a:rPr sz="750" b="1">
                          <a:solidFill>
                            <a:srgbClr val="FFFFFF"/>
                          </a:solidFill>
                          <a:latin typeface="Inter"/>
                        </a:rPr>
                        <a:t>PPC sales</a:t>
                      </a:r>
                    </a:p>
                  </a:txBody>
                  <a:tcPr marL="54864" marR="54864" marT="27432" marB="27432" anchor="ctr">
                    <a:solidFill>
                      <a:srgbClr val="0F172A"/>
                    </a:solidFill>
                  </a:tcPr>
                </a:tc>
                <a:tc>
                  <a:txBody>
                    <a:bodyPr wrap="square"/>
                    <a:lstStyle/>
                    <a:p>
                      <a:pPr algn="r"/>
                      <a:r>
                        <a:rPr sz="750" b="1">
                          <a:solidFill>
                            <a:srgbClr val="FFFFFF"/>
                          </a:solidFill>
                          <a:latin typeface="Inter"/>
                        </a:rPr>
                        <a:t>ROAS</a:t>
                      </a:r>
                    </a:p>
                  </a:txBody>
                  <a:tcPr marL="54864" marR="54864" marT="27432" marB="27432" anchor="ctr">
                    <a:solidFill>
                      <a:srgbClr val="0F172A"/>
                    </a:solidFill>
                  </a:tcPr>
                </a:tc>
                <a:tc>
                  <a:txBody>
                    <a:bodyPr wrap="square"/>
                    <a:lstStyle/>
                    <a:p>
                      <a:pPr algn="r"/>
                      <a:r>
                        <a:rPr sz="750" b="1">
                          <a:solidFill>
                            <a:srgbClr val="FFFFFF"/>
                          </a:solidFill>
                          <a:latin typeface="Inter"/>
                        </a:rPr>
                        <a:t>ACoS</a:t>
                      </a:r>
                    </a:p>
                  </a:txBody>
                  <a:tcPr marL="54864" marR="54864" marT="27432" marB="27432" anchor="ctr">
                    <a:solidFill>
                      <a:srgbClr val="0F172A"/>
                    </a:solidFill>
                  </a:tcPr>
                </a:tc>
                <a:tc>
                  <a:txBody>
                    <a:bodyPr wrap="square"/>
                    <a:lstStyle/>
                    <a:p>
                      <a:pPr algn="r"/>
                      <a:r>
                        <a:rPr sz="750" b="1">
                          <a:solidFill>
                            <a:srgbClr val="FFFFFF"/>
                          </a:solidFill>
                          <a:latin typeface="Inter"/>
                        </a:rPr>
                        <a:t>TACoS</a:t>
                      </a:r>
                    </a:p>
                  </a:txBody>
                  <a:tcPr marL="54864" marR="54864" marT="27432" marB="27432" anchor="ctr">
                    <a:solidFill>
                      <a:srgbClr val="0F172A"/>
                    </a:solidFill>
                  </a:tcPr>
                </a:tc>
                <a:tc>
                  <a:txBody>
                    <a:bodyPr wrap="square"/>
                    <a:lstStyle/>
                    <a:p>
                      <a:pPr algn="r"/>
                      <a:r>
                        <a:rPr sz="750" b="1">
                          <a:solidFill>
                            <a:srgbClr val="FFFFFF"/>
                          </a:solidFill>
                          <a:latin typeface="Inter"/>
                        </a:rPr>
                        <a:t>Orders</a:t>
                      </a:r>
                    </a:p>
                  </a:txBody>
                  <a:tcPr marL="54864" marR="54864" marT="27432" marB="27432" anchor="ctr">
                    <a:solidFill>
                      <a:srgbClr val="0F172A"/>
                    </a:solidFill>
                  </a:tcPr>
                </a:tc>
                <a:tc>
                  <a:txBody>
                    <a:bodyPr wrap="square"/>
                    <a:lstStyle/>
                    <a:p>
                      <a:pPr algn="r"/>
                      <a:r>
                        <a:rPr sz="750" b="1">
                          <a:solidFill>
                            <a:srgbClr val="FFFFFF"/>
                          </a:solidFill>
                          <a:latin typeface="Inter"/>
                        </a:rPr>
                        <a:t>Ad orders</a:t>
                      </a:r>
                    </a:p>
                  </a:txBody>
                  <a:tcPr marL="54864" marR="54864" marT="27432" marB="27432" anchor="ctr">
                    <a:solidFill>
                      <a:srgbClr val="0F172A"/>
                    </a:solidFill>
                  </a:tcPr>
                </a:tc>
                <a:tc>
                  <a:txBody>
                    <a:bodyPr wrap="square"/>
                    <a:lstStyle/>
                    <a:p>
                      <a:pPr algn="r"/>
                      <a:r>
                        <a:rPr sz="750" b="1">
                          <a:solidFill>
                            <a:srgbClr val="FFFFFF"/>
                          </a:solidFill>
                          <a:latin typeface="Inter"/>
                        </a:rPr>
                        <a:t>Organic sales</a:t>
                      </a:r>
                    </a:p>
                  </a:txBody>
                  <a:tcPr marL="54864" marR="54864" marT="27432" marB="27432" anchor="ctr">
                    <a:solidFill>
                      <a:srgbClr val="0F172A"/>
                    </a:solidFill>
                  </a:tcPr>
                </a:tc>
                <a:tc>
                  <a:txBody>
                    <a:bodyPr wrap="square"/>
                    <a:lstStyle/>
                    <a:p>
                      <a:pPr algn="r"/>
                      <a:r>
                        <a:rPr sz="750" b="1">
                          <a:solidFill>
                            <a:srgbClr val="FFFFFF"/>
                          </a:solidFill>
                          <a:latin typeface="Inter"/>
                        </a:rPr>
                        <a:t>Ad sales %</a:t>
                      </a:r>
                    </a:p>
                  </a:txBody>
                  <a:tcPr marL="54864" marR="54864" marT="27432" marB="27432" anchor="ctr">
                    <a:solidFill>
                      <a:srgbClr val="0F172A"/>
                    </a:solidFill>
                  </a:tcPr>
                </a:tc>
              </a:tr>
              <a:tr h="246888">
                <a:tc>
                  <a:txBody>
                    <a:bodyPr wrap="square"/>
                    <a:lstStyle/>
                    <a:p>
                      <a:pPr algn="l"/>
                      <a:r>
                        <a:rPr sz="850" b="0">
                          <a:solidFill>
                            <a:srgbClr val="0F172A"/>
                          </a:solidFill>
                          <a:latin typeface="Inter"/>
                        </a:rPr>
                        <a:t>Oct 11</a:t>
                      </a:r>
                    </a:p>
                  </a:txBody>
                  <a:tcPr marL="54864" marR="54864" marT="27432" marB="27432" anchor="ctr">
                    <a:solidFill>
                      <a:srgbClr val="FFFFFF"/>
                    </a:solidFill>
                  </a:tcPr>
                </a:tc>
                <a:tc>
                  <a:txBody>
                    <a:bodyPr wrap="square"/>
                    <a:lstStyle/>
                    <a:p>
                      <a:pPr algn="r"/>
                      <a:r>
                        <a:rPr sz="850" b="0">
                          <a:solidFill>
                            <a:srgbClr val="0F172A"/>
                          </a:solidFill>
                          <a:latin typeface="Inter"/>
                        </a:rPr>
                        <a:t>Sun</a:t>
                      </a:r>
                    </a:p>
                  </a:txBody>
                  <a:tcPr marL="54864" marR="54864" marT="27432" marB="27432" anchor="ctr">
                    <a:solidFill>
                      <a:srgbClr val="FFFFFF"/>
                    </a:solidFill>
                  </a:tcPr>
                </a:tc>
                <a:tc>
                  <a:txBody>
                    <a:bodyPr wrap="square"/>
                    <a:lstStyle/>
                    <a:p>
                      <a:pPr algn="r"/>
                      <a:r>
                        <a:rPr sz="850" b="0">
                          <a:solidFill>
                            <a:srgbClr val="0F172A"/>
                          </a:solidFill>
                          <a:latin typeface="Inter"/>
                        </a:rPr>
                        <a:t>$6,656</a:t>
                      </a:r>
                    </a:p>
                  </a:txBody>
                  <a:tcPr marL="54864" marR="54864" marT="27432" marB="27432" anchor="ctr">
                    <a:solidFill>
                      <a:srgbClr val="FFFFFF"/>
                    </a:solidFill>
                  </a:tcPr>
                </a:tc>
                <a:tc>
                  <a:txBody>
                    <a:bodyPr wrap="square"/>
                    <a:lstStyle/>
                    <a:p>
                      <a:pPr algn="r"/>
                      <a:r>
                        <a:rPr sz="850" b="0">
                          <a:solidFill>
                            <a:srgbClr val="0F172A"/>
                          </a:solidFill>
                          <a:latin typeface="Inter"/>
                        </a:rPr>
                        <a:t>$920</a:t>
                      </a:r>
                    </a:p>
                  </a:txBody>
                  <a:tcPr marL="54864" marR="54864" marT="27432" marB="27432" anchor="ctr">
                    <a:solidFill>
                      <a:srgbClr val="FFFFFF"/>
                    </a:solidFill>
                  </a:tcPr>
                </a:tc>
                <a:tc>
                  <a:txBody>
                    <a:bodyPr wrap="square"/>
                    <a:lstStyle/>
                    <a:p>
                      <a:pPr algn="r"/>
                      <a:r>
                        <a:rPr sz="850" b="0">
                          <a:solidFill>
                            <a:srgbClr val="0F172A"/>
                          </a:solidFill>
                          <a:latin typeface="Inter"/>
                        </a:rPr>
                        <a:t>$3,607</a:t>
                      </a:r>
                    </a:p>
                  </a:txBody>
                  <a:tcPr marL="54864" marR="54864" marT="27432" marB="27432" anchor="ctr">
                    <a:solidFill>
                      <a:srgbClr val="FFFFFF"/>
                    </a:solidFill>
                  </a:tcPr>
                </a:tc>
                <a:tc>
                  <a:txBody>
                    <a:bodyPr wrap="square"/>
                    <a:lstStyle/>
                    <a:p>
                      <a:pPr algn="r"/>
                      <a:r>
                        <a:rPr sz="850" b="0">
                          <a:solidFill>
                            <a:srgbClr val="0F172A"/>
                          </a:solidFill>
                          <a:latin typeface="Inter"/>
                        </a:rPr>
                        <a:t>3.92x</a:t>
                      </a:r>
                    </a:p>
                  </a:txBody>
                  <a:tcPr marL="54864" marR="54864" marT="27432" marB="27432" anchor="ctr">
                    <a:solidFill>
                      <a:srgbClr val="FFFFFF"/>
                    </a:solidFill>
                  </a:tcPr>
                </a:tc>
                <a:tc>
                  <a:txBody>
                    <a:bodyPr wrap="square"/>
                    <a:lstStyle/>
                    <a:p>
                      <a:pPr algn="r"/>
                      <a:r>
                        <a:rPr sz="850" b="0">
                          <a:solidFill>
                            <a:srgbClr val="0F172A"/>
                          </a:solidFill>
                          <a:latin typeface="Inter"/>
                        </a:rPr>
                        <a:t>25.5%</a:t>
                      </a:r>
                    </a:p>
                  </a:txBody>
                  <a:tcPr marL="54864" marR="54864" marT="27432" marB="27432" anchor="ctr">
                    <a:solidFill>
                      <a:srgbClr val="FFFFFF"/>
                    </a:solidFill>
                  </a:tcPr>
                </a:tc>
                <a:tc>
                  <a:txBody>
                    <a:bodyPr wrap="square"/>
                    <a:lstStyle/>
                    <a:p>
                      <a:pPr algn="r"/>
                      <a:r>
                        <a:rPr sz="850" b="0">
                          <a:solidFill>
                            <a:srgbClr val="0F172A"/>
                          </a:solidFill>
                          <a:latin typeface="Inter"/>
                        </a:rPr>
                        <a:t>13.8%</a:t>
                      </a:r>
                    </a:p>
                  </a:txBody>
                  <a:tcPr marL="54864" marR="54864" marT="27432" marB="27432" anchor="ctr">
                    <a:solidFill>
                      <a:srgbClr val="FFFFFF"/>
                    </a:solidFill>
                  </a:tcPr>
                </a:tc>
                <a:tc>
                  <a:txBody>
                    <a:bodyPr wrap="square"/>
                    <a:lstStyle/>
                    <a:p>
                      <a:pPr algn="r"/>
                      <a:r>
                        <a:rPr sz="850" b="0">
                          <a:solidFill>
                            <a:srgbClr val="0F172A"/>
                          </a:solidFill>
                          <a:latin typeface="Inter"/>
                        </a:rPr>
                        <a:t>18</a:t>
                      </a:r>
                    </a:p>
                  </a:txBody>
                  <a:tcPr marL="54864" marR="54864" marT="27432" marB="27432" anchor="ctr">
                    <a:solidFill>
                      <a:srgbClr val="FFFFFF"/>
                    </a:solidFill>
                  </a:tcPr>
                </a:tc>
                <a:tc>
                  <a:txBody>
                    <a:bodyPr wrap="square"/>
                    <a:lstStyle/>
                    <a:p>
                      <a:pPr algn="r"/>
                      <a:r>
                        <a:rPr sz="850" b="0">
                          <a:solidFill>
                            <a:srgbClr val="0F172A"/>
                          </a:solidFill>
                          <a:latin typeface="Inter"/>
                        </a:rPr>
                        <a:t>12</a:t>
                      </a:r>
                    </a:p>
                  </a:txBody>
                  <a:tcPr marL="54864" marR="54864" marT="27432" marB="27432" anchor="ctr">
                    <a:solidFill>
                      <a:srgbClr val="FFFFFF"/>
                    </a:solidFill>
                  </a:tcPr>
                </a:tc>
                <a:tc>
                  <a:txBody>
                    <a:bodyPr wrap="square"/>
                    <a:lstStyle/>
                    <a:p>
                      <a:pPr algn="r"/>
                      <a:r>
                        <a:rPr sz="850" b="0">
                          <a:solidFill>
                            <a:srgbClr val="0F172A"/>
                          </a:solidFill>
                          <a:latin typeface="Inter"/>
                        </a:rPr>
                        <a:t>$3,049</a:t>
                      </a:r>
                    </a:p>
                  </a:txBody>
                  <a:tcPr marL="54864" marR="54864" marT="27432" marB="27432" anchor="ctr">
                    <a:solidFill>
                      <a:srgbClr val="FFFFFF"/>
                    </a:solidFill>
                  </a:tcPr>
                </a:tc>
                <a:tc>
                  <a:txBody>
                    <a:bodyPr wrap="square"/>
                    <a:lstStyle/>
                    <a:p>
                      <a:pPr algn="r"/>
                      <a:r>
                        <a:rPr sz="850" b="0">
                          <a:solidFill>
                            <a:srgbClr val="0F172A"/>
                          </a:solidFill>
                          <a:latin typeface="Inter"/>
                        </a:rPr>
                        <a:t>54%</a:t>
                      </a:r>
                    </a:p>
                  </a:txBody>
                  <a:tcPr marL="54864" marR="54864" marT="27432" marB="27432" anchor="ctr">
                    <a:solidFill>
                      <a:srgbClr val="FFFFFF"/>
                    </a:solidFill>
                  </a:tcPr>
                </a:tc>
              </a:tr>
              <a:tr h="246888">
                <a:tc>
                  <a:txBody>
                    <a:bodyPr wrap="square"/>
                    <a:lstStyle/>
                    <a:p>
                      <a:pPr algn="l"/>
                      <a:r>
                        <a:rPr sz="850" b="0">
                          <a:solidFill>
                            <a:srgbClr val="0F172A"/>
                          </a:solidFill>
                          <a:latin typeface="Inter"/>
                        </a:rPr>
                        <a:t>Oct 12</a:t>
                      </a:r>
                    </a:p>
                  </a:txBody>
                  <a:tcPr marL="54864" marR="54864" marT="27432" marB="27432" anchor="ctr">
                    <a:solidFill>
                      <a:srgbClr val="FBFAF7"/>
                    </a:solidFill>
                  </a:tcPr>
                </a:tc>
                <a:tc>
                  <a:txBody>
                    <a:bodyPr wrap="square"/>
                    <a:lstStyle/>
                    <a:p>
                      <a:pPr algn="r"/>
                      <a:r>
                        <a:rPr sz="850" b="0">
                          <a:solidFill>
                            <a:srgbClr val="0F172A"/>
                          </a:solidFill>
                          <a:latin typeface="Inter"/>
                        </a:rPr>
                        <a:t>Mon</a:t>
                      </a:r>
                    </a:p>
                  </a:txBody>
                  <a:tcPr marL="54864" marR="54864" marT="27432" marB="27432" anchor="ctr">
                    <a:solidFill>
                      <a:srgbClr val="FBFAF7"/>
                    </a:solidFill>
                  </a:tcPr>
                </a:tc>
                <a:tc>
                  <a:txBody>
                    <a:bodyPr wrap="square"/>
                    <a:lstStyle/>
                    <a:p>
                      <a:pPr algn="r"/>
                      <a:r>
                        <a:rPr sz="850" b="0">
                          <a:solidFill>
                            <a:srgbClr val="0F172A"/>
                          </a:solidFill>
                          <a:latin typeface="Inter"/>
                        </a:rPr>
                        <a:t>$6,329</a:t>
                      </a:r>
                    </a:p>
                  </a:txBody>
                  <a:tcPr marL="54864" marR="54864" marT="27432" marB="27432" anchor="ctr">
                    <a:solidFill>
                      <a:srgbClr val="FBFAF7"/>
                    </a:solidFill>
                  </a:tcPr>
                </a:tc>
                <a:tc>
                  <a:txBody>
                    <a:bodyPr wrap="square"/>
                    <a:lstStyle/>
                    <a:p>
                      <a:pPr algn="r"/>
                      <a:r>
                        <a:rPr sz="850" b="0">
                          <a:solidFill>
                            <a:srgbClr val="0F172A"/>
                          </a:solidFill>
                          <a:latin typeface="Inter"/>
                        </a:rPr>
                        <a:t>$928</a:t>
                      </a:r>
                    </a:p>
                  </a:txBody>
                  <a:tcPr marL="54864" marR="54864" marT="27432" marB="27432" anchor="ctr">
                    <a:solidFill>
                      <a:srgbClr val="FBFAF7"/>
                    </a:solidFill>
                  </a:tcPr>
                </a:tc>
                <a:tc>
                  <a:txBody>
                    <a:bodyPr wrap="square"/>
                    <a:lstStyle/>
                    <a:p>
                      <a:pPr algn="r"/>
                      <a:r>
                        <a:rPr sz="850" b="0">
                          <a:solidFill>
                            <a:srgbClr val="0F172A"/>
                          </a:solidFill>
                          <a:latin typeface="Inter"/>
                        </a:rPr>
                        <a:t>$3,341</a:t>
                      </a:r>
                    </a:p>
                  </a:txBody>
                  <a:tcPr marL="54864" marR="54864" marT="27432" marB="27432" anchor="ctr">
                    <a:solidFill>
                      <a:srgbClr val="FBFAF7"/>
                    </a:solidFill>
                  </a:tcPr>
                </a:tc>
                <a:tc>
                  <a:txBody>
                    <a:bodyPr wrap="square"/>
                    <a:lstStyle/>
                    <a:p>
                      <a:pPr algn="r"/>
                      <a:r>
                        <a:rPr sz="850" b="0">
                          <a:solidFill>
                            <a:srgbClr val="0F172A"/>
                          </a:solidFill>
                          <a:latin typeface="Inter"/>
                        </a:rPr>
                        <a:t>3.60x</a:t>
                      </a:r>
                    </a:p>
                  </a:txBody>
                  <a:tcPr marL="54864" marR="54864" marT="27432" marB="27432" anchor="ctr">
                    <a:solidFill>
                      <a:srgbClr val="FBFAF7"/>
                    </a:solidFill>
                  </a:tcPr>
                </a:tc>
                <a:tc>
                  <a:txBody>
                    <a:bodyPr wrap="square"/>
                    <a:lstStyle/>
                    <a:p>
                      <a:pPr algn="r"/>
                      <a:r>
                        <a:rPr sz="850" b="0">
                          <a:solidFill>
                            <a:srgbClr val="0F172A"/>
                          </a:solidFill>
                          <a:latin typeface="Inter"/>
                        </a:rPr>
                        <a:t>27.8%</a:t>
                      </a:r>
                    </a:p>
                  </a:txBody>
                  <a:tcPr marL="54864" marR="54864" marT="27432" marB="27432" anchor="ctr">
                    <a:solidFill>
                      <a:srgbClr val="FBFAF7"/>
                    </a:solidFill>
                  </a:tcPr>
                </a:tc>
                <a:tc>
                  <a:txBody>
                    <a:bodyPr wrap="square"/>
                    <a:lstStyle/>
                    <a:p>
                      <a:pPr algn="r"/>
                      <a:r>
                        <a:rPr sz="850" b="0">
                          <a:solidFill>
                            <a:srgbClr val="0F172A"/>
                          </a:solidFill>
                          <a:latin typeface="Inter"/>
                        </a:rPr>
                        <a:t>14.7%</a:t>
                      </a:r>
                    </a:p>
                  </a:txBody>
                  <a:tcPr marL="54864" marR="54864" marT="27432" marB="27432" anchor="ctr">
                    <a:solidFill>
                      <a:srgbClr val="FBFAF7"/>
                    </a:solidFill>
                  </a:tcPr>
                </a:tc>
                <a:tc>
                  <a:txBody>
                    <a:bodyPr wrap="square"/>
                    <a:lstStyle/>
                    <a:p>
                      <a:pPr algn="r"/>
                      <a:r>
                        <a:rPr sz="850" b="0">
                          <a:solidFill>
                            <a:srgbClr val="0F172A"/>
                          </a:solidFill>
                          <a:latin typeface="Inter"/>
                        </a:rPr>
                        <a:t>19</a:t>
                      </a:r>
                    </a:p>
                  </a:txBody>
                  <a:tcPr marL="54864" marR="54864" marT="27432" marB="27432" anchor="ctr">
                    <a:solidFill>
                      <a:srgbClr val="FBFAF7"/>
                    </a:solidFill>
                  </a:tcPr>
                </a:tc>
                <a:tc>
                  <a:txBody>
                    <a:bodyPr wrap="square"/>
                    <a:lstStyle/>
                    <a:p>
                      <a:pPr algn="r"/>
                      <a:r>
                        <a:rPr sz="850" b="0">
                          <a:solidFill>
                            <a:srgbClr val="0F172A"/>
                          </a:solidFill>
                          <a:latin typeface="Inter"/>
                        </a:rPr>
                        <a:t>13</a:t>
                      </a:r>
                    </a:p>
                  </a:txBody>
                  <a:tcPr marL="54864" marR="54864" marT="27432" marB="27432" anchor="ctr">
                    <a:solidFill>
                      <a:srgbClr val="FBFAF7"/>
                    </a:solidFill>
                  </a:tcPr>
                </a:tc>
                <a:tc>
                  <a:txBody>
                    <a:bodyPr wrap="square"/>
                    <a:lstStyle/>
                    <a:p>
                      <a:pPr algn="r"/>
                      <a:r>
                        <a:rPr sz="850" b="0">
                          <a:solidFill>
                            <a:srgbClr val="0F172A"/>
                          </a:solidFill>
                          <a:latin typeface="Inter"/>
                        </a:rPr>
                        <a:t>$2,988</a:t>
                      </a:r>
                    </a:p>
                  </a:txBody>
                  <a:tcPr marL="54864" marR="54864" marT="27432" marB="27432" anchor="ctr">
                    <a:solidFill>
                      <a:srgbClr val="FBFAF7"/>
                    </a:solidFill>
                  </a:tcPr>
                </a:tc>
                <a:tc>
                  <a:txBody>
                    <a:bodyPr wrap="square"/>
                    <a:lstStyle/>
                    <a:p>
                      <a:pPr algn="r"/>
                      <a:r>
                        <a:rPr sz="850" b="0">
                          <a:solidFill>
                            <a:srgbClr val="0F172A"/>
                          </a:solidFill>
                          <a:latin typeface="Inter"/>
                        </a:rPr>
                        <a:t>53%</a:t>
                      </a:r>
                    </a:p>
                  </a:txBody>
                  <a:tcPr marL="54864" marR="54864" marT="27432" marB="27432" anchor="ctr">
                    <a:solidFill>
                      <a:srgbClr val="FBFAF7"/>
                    </a:solidFill>
                  </a:tcPr>
                </a:tc>
              </a:tr>
              <a:tr h="246888">
                <a:tc>
                  <a:txBody>
                    <a:bodyPr wrap="square"/>
                    <a:lstStyle/>
                    <a:p>
                      <a:pPr algn="l"/>
                      <a:r>
                        <a:rPr sz="850" b="0">
                          <a:solidFill>
                            <a:srgbClr val="0F172A"/>
                          </a:solidFill>
                          <a:latin typeface="Inter"/>
                        </a:rPr>
                        <a:t>Oct 13</a:t>
                      </a:r>
                    </a:p>
                  </a:txBody>
                  <a:tcPr marL="54864" marR="54864" marT="27432" marB="27432" anchor="ctr">
                    <a:solidFill>
                      <a:srgbClr val="FFFFFF"/>
                    </a:solidFill>
                  </a:tcPr>
                </a:tc>
                <a:tc>
                  <a:txBody>
                    <a:bodyPr wrap="square"/>
                    <a:lstStyle/>
                    <a:p>
                      <a:pPr algn="r"/>
                      <a:r>
                        <a:rPr sz="850" b="0">
                          <a:solidFill>
                            <a:srgbClr val="0F172A"/>
                          </a:solidFill>
                          <a:latin typeface="Inter"/>
                        </a:rPr>
                        <a:t>Tue</a:t>
                      </a:r>
                    </a:p>
                  </a:txBody>
                  <a:tcPr marL="54864" marR="54864" marT="27432" marB="27432" anchor="ctr">
                    <a:solidFill>
                      <a:srgbClr val="FFFFFF"/>
                    </a:solidFill>
                  </a:tcPr>
                </a:tc>
                <a:tc>
                  <a:txBody>
                    <a:bodyPr wrap="square"/>
                    <a:lstStyle/>
                    <a:p>
                      <a:pPr algn="r"/>
                      <a:r>
                        <a:rPr sz="850" b="0">
                          <a:solidFill>
                            <a:srgbClr val="0F172A"/>
                          </a:solidFill>
                          <a:latin typeface="Inter"/>
                        </a:rPr>
                        <a:t>$4,135</a:t>
                      </a:r>
                    </a:p>
                  </a:txBody>
                  <a:tcPr marL="54864" marR="54864" marT="27432" marB="27432" anchor="ctr">
                    <a:solidFill>
                      <a:srgbClr val="FFFFFF"/>
                    </a:solidFill>
                  </a:tcPr>
                </a:tc>
                <a:tc>
                  <a:txBody>
                    <a:bodyPr wrap="square"/>
                    <a:lstStyle/>
                    <a:p>
                      <a:pPr algn="r"/>
                      <a:r>
                        <a:rPr sz="850" b="0">
                          <a:solidFill>
                            <a:srgbClr val="0F172A"/>
                          </a:solidFill>
                          <a:latin typeface="Inter"/>
                        </a:rPr>
                        <a:t>$704</a:t>
                      </a:r>
                    </a:p>
                  </a:txBody>
                  <a:tcPr marL="54864" marR="54864" marT="27432" marB="27432" anchor="ctr">
                    <a:solidFill>
                      <a:srgbClr val="FFFFFF"/>
                    </a:solidFill>
                  </a:tcPr>
                </a:tc>
                <a:tc>
                  <a:txBody>
                    <a:bodyPr wrap="square"/>
                    <a:lstStyle/>
                    <a:p>
                      <a:pPr algn="r"/>
                      <a:r>
                        <a:rPr sz="850" b="0">
                          <a:solidFill>
                            <a:srgbClr val="0F172A"/>
                          </a:solidFill>
                          <a:latin typeface="Inter"/>
                        </a:rPr>
                        <a:t>$3,125</a:t>
                      </a:r>
                    </a:p>
                  </a:txBody>
                  <a:tcPr marL="54864" marR="54864" marT="27432" marB="27432" anchor="ctr">
                    <a:solidFill>
                      <a:srgbClr val="FFFFFF"/>
                    </a:solidFill>
                  </a:tcPr>
                </a:tc>
                <a:tc>
                  <a:txBody>
                    <a:bodyPr wrap="square"/>
                    <a:lstStyle/>
                    <a:p>
                      <a:pPr algn="r"/>
                      <a:r>
                        <a:rPr sz="850" b="0">
                          <a:solidFill>
                            <a:srgbClr val="0F172A"/>
                          </a:solidFill>
                          <a:latin typeface="Inter"/>
                        </a:rPr>
                        <a:t>4.44x</a:t>
                      </a:r>
                    </a:p>
                  </a:txBody>
                  <a:tcPr marL="54864" marR="54864" marT="27432" marB="27432" anchor="ctr">
                    <a:solidFill>
                      <a:srgbClr val="FFFFFF"/>
                    </a:solidFill>
                  </a:tcPr>
                </a:tc>
                <a:tc>
                  <a:txBody>
                    <a:bodyPr wrap="square"/>
                    <a:lstStyle/>
                    <a:p>
                      <a:pPr algn="r"/>
                      <a:r>
                        <a:rPr sz="850" b="0">
                          <a:solidFill>
                            <a:srgbClr val="0F172A"/>
                          </a:solidFill>
                          <a:latin typeface="Inter"/>
                        </a:rPr>
                        <a:t>22.5%</a:t>
                      </a:r>
                    </a:p>
                  </a:txBody>
                  <a:tcPr marL="54864" marR="54864" marT="27432" marB="27432" anchor="ctr">
                    <a:solidFill>
                      <a:srgbClr val="FFFFFF"/>
                    </a:solidFill>
                  </a:tcPr>
                </a:tc>
                <a:tc>
                  <a:txBody>
                    <a:bodyPr wrap="square"/>
                    <a:lstStyle/>
                    <a:p>
                      <a:pPr algn="r"/>
                      <a:r>
                        <a:rPr sz="850" b="0">
                          <a:solidFill>
                            <a:srgbClr val="0F172A"/>
                          </a:solidFill>
                          <a:latin typeface="Inter"/>
                        </a:rPr>
                        <a:t>17.0%</a:t>
                      </a:r>
                    </a:p>
                  </a:txBody>
                  <a:tcPr marL="54864" marR="54864" marT="27432" marB="27432" anchor="ctr">
                    <a:solidFill>
                      <a:srgbClr val="FFFFFF"/>
                    </a:solidFill>
                  </a:tcPr>
                </a:tc>
                <a:tc>
                  <a:txBody>
                    <a:bodyPr wrap="square"/>
                    <a:lstStyle/>
                    <a:p>
                      <a:pPr algn="r"/>
                      <a:r>
                        <a:rPr sz="850" b="0">
                          <a:solidFill>
                            <a:srgbClr val="0F172A"/>
                          </a:solidFill>
                          <a:latin typeface="Inter"/>
                        </a:rPr>
                        <a:t>13</a:t>
                      </a:r>
                    </a:p>
                  </a:txBody>
                  <a:tcPr marL="54864" marR="54864" marT="27432" marB="27432" anchor="ctr">
                    <a:solidFill>
                      <a:srgbClr val="FFFFFF"/>
                    </a:solidFill>
                  </a:tcPr>
                </a:tc>
                <a:tc>
                  <a:txBody>
                    <a:bodyPr wrap="square"/>
                    <a:lstStyle/>
                    <a:p>
                      <a:pPr algn="r"/>
                      <a:r>
                        <a:rPr sz="850" b="0">
                          <a:solidFill>
                            <a:srgbClr val="0F172A"/>
                          </a:solidFill>
                          <a:latin typeface="Inter"/>
                        </a:rPr>
                        <a:t>12</a:t>
                      </a:r>
                    </a:p>
                  </a:txBody>
                  <a:tcPr marL="54864" marR="54864" marT="27432" marB="27432" anchor="ctr">
                    <a:solidFill>
                      <a:srgbClr val="FFFFFF"/>
                    </a:solidFill>
                  </a:tcPr>
                </a:tc>
                <a:tc>
                  <a:txBody>
                    <a:bodyPr wrap="square"/>
                    <a:lstStyle/>
                    <a:p>
                      <a:pPr algn="r"/>
                      <a:r>
                        <a:rPr sz="850" b="0">
                          <a:solidFill>
                            <a:srgbClr val="0F172A"/>
                          </a:solidFill>
                          <a:latin typeface="Inter"/>
                        </a:rPr>
                        <a:t>$1,010</a:t>
                      </a:r>
                    </a:p>
                  </a:txBody>
                  <a:tcPr marL="54864" marR="54864" marT="27432" marB="27432" anchor="ctr">
                    <a:solidFill>
                      <a:srgbClr val="FFFFFF"/>
                    </a:solidFill>
                  </a:tcPr>
                </a:tc>
                <a:tc>
                  <a:txBody>
                    <a:bodyPr wrap="square"/>
                    <a:lstStyle/>
                    <a:p>
                      <a:pPr algn="r"/>
                      <a:r>
                        <a:rPr sz="850" b="0">
                          <a:solidFill>
                            <a:srgbClr val="0F172A"/>
                          </a:solidFill>
                          <a:latin typeface="Inter"/>
                        </a:rPr>
                        <a:t>76%</a:t>
                      </a:r>
                    </a:p>
                  </a:txBody>
                  <a:tcPr marL="54864" marR="54864" marT="27432" marB="27432" anchor="ctr">
                    <a:solidFill>
                      <a:srgbClr val="FFFFFF"/>
                    </a:solidFill>
                  </a:tcPr>
                </a:tc>
              </a:tr>
              <a:tr h="246888">
                <a:tc>
                  <a:txBody>
                    <a:bodyPr wrap="square"/>
                    <a:lstStyle/>
                    <a:p>
                      <a:pPr algn="l"/>
                      <a:r>
                        <a:rPr sz="850" b="0">
                          <a:solidFill>
                            <a:srgbClr val="0F172A"/>
                          </a:solidFill>
                          <a:latin typeface="Inter"/>
                        </a:rPr>
                        <a:t>Oct 14</a:t>
                      </a:r>
                    </a:p>
                  </a:txBody>
                  <a:tcPr marL="54864" marR="54864" marT="27432" marB="27432" anchor="ctr">
                    <a:solidFill>
                      <a:srgbClr val="FBFAF7"/>
                    </a:solidFill>
                  </a:tcPr>
                </a:tc>
                <a:tc>
                  <a:txBody>
                    <a:bodyPr wrap="square"/>
                    <a:lstStyle/>
                    <a:p>
                      <a:pPr algn="r"/>
                      <a:r>
                        <a:rPr sz="850" b="0">
                          <a:solidFill>
                            <a:srgbClr val="0F172A"/>
                          </a:solidFill>
                          <a:latin typeface="Inter"/>
                        </a:rPr>
                        <a:t>Wed</a:t>
                      </a:r>
                    </a:p>
                  </a:txBody>
                  <a:tcPr marL="54864" marR="54864" marT="27432" marB="27432" anchor="ctr">
                    <a:solidFill>
                      <a:srgbClr val="FBFAF7"/>
                    </a:solidFill>
                  </a:tcPr>
                </a:tc>
                <a:tc>
                  <a:txBody>
                    <a:bodyPr wrap="square"/>
                    <a:lstStyle/>
                    <a:p>
                      <a:pPr algn="r"/>
                      <a:r>
                        <a:rPr sz="850" b="0">
                          <a:solidFill>
                            <a:srgbClr val="0F172A"/>
                          </a:solidFill>
                          <a:latin typeface="Inter"/>
                        </a:rPr>
                        <a:t>$8,377</a:t>
                      </a:r>
                    </a:p>
                  </a:txBody>
                  <a:tcPr marL="54864" marR="54864" marT="27432" marB="27432" anchor="ctr">
                    <a:solidFill>
                      <a:srgbClr val="FBFAF7"/>
                    </a:solidFill>
                  </a:tcPr>
                </a:tc>
                <a:tc>
                  <a:txBody>
                    <a:bodyPr wrap="square"/>
                    <a:lstStyle/>
                    <a:p>
                      <a:pPr algn="r"/>
                      <a:r>
                        <a:rPr sz="850" b="0">
                          <a:solidFill>
                            <a:srgbClr val="0F172A"/>
                          </a:solidFill>
                          <a:latin typeface="Inter"/>
                        </a:rPr>
                        <a:t>$558</a:t>
                      </a:r>
                    </a:p>
                  </a:txBody>
                  <a:tcPr marL="54864" marR="54864" marT="27432" marB="27432" anchor="ctr">
                    <a:solidFill>
                      <a:srgbClr val="FBFAF7"/>
                    </a:solidFill>
                  </a:tcPr>
                </a:tc>
                <a:tc>
                  <a:txBody>
                    <a:bodyPr wrap="square"/>
                    <a:lstStyle/>
                    <a:p>
                      <a:pPr algn="r"/>
                      <a:r>
                        <a:rPr sz="850" b="0">
                          <a:solidFill>
                            <a:srgbClr val="0F172A"/>
                          </a:solidFill>
                          <a:latin typeface="Inter"/>
                        </a:rPr>
                        <a:t>$6,124</a:t>
                      </a:r>
                    </a:p>
                  </a:txBody>
                  <a:tcPr marL="54864" marR="54864" marT="27432" marB="27432" anchor="ctr">
                    <a:solidFill>
                      <a:srgbClr val="FBFAF7"/>
                    </a:solidFill>
                  </a:tcPr>
                </a:tc>
                <a:tc>
                  <a:txBody>
                    <a:bodyPr wrap="square"/>
                    <a:lstStyle/>
                    <a:p>
                      <a:pPr algn="r"/>
                      <a:r>
                        <a:rPr sz="850" b="0">
                          <a:solidFill>
                            <a:srgbClr val="0F172A"/>
                          </a:solidFill>
                          <a:latin typeface="Inter"/>
                        </a:rPr>
                        <a:t>10.97x</a:t>
                      </a:r>
                    </a:p>
                  </a:txBody>
                  <a:tcPr marL="54864" marR="54864" marT="27432" marB="27432" anchor="ctr">
                    <a:solidFill>
                      <a:srgbClr val="FBFAF7"/>
                    </a:solidFill>
                  </a:tcPr>
                </a:tc>
                <a:tc>
                  <a:txBody>
                    <a:bodyPr wrap="square"/>
                    <a:lstStyle/>
                    <a:p>
                      <a:pPr algn="r"/>
                      <a:r>
                        <a:rPr sz="850" b="0">
                          <a:solidFill>
                            <a:srgbClr val="0F172A"/>
                          </a:solidFill>
                          <a:latin typeface="Inter"/>
                        </a:rPr>
                        <a:t>9.1%</a:t>
                      </a:r>
                    </a:p>
                  </a:txBody>
                  <a:tcPr marL="54864" marR="54864" marT="27432" marB="27432" anchor="ctr">
                    <a:solidFill>
                      <a:srgbClr val="FBFAF7"/>
                    </a:solidFill>
                  </a:tcPr>
                </a:tc>
                <a:tc>
                  <a:txBody>
                    <a:bodyPr wrap="square"/>
                    <a:lstStyle/>
                    <a:p>
                      <a:pPr algn="r"/>
                      <a:r>
                        <a:rPr sz="850" b="0">
                          <a:solidFill>
                            <a:srgbClr val="0F172A"/>
                          </a:solidFill>
                          <a:latin typeface="Inter"/>
                        </a:rPr>
                        <a:t>6.7%</a:t>
                      </a:r>
                    </a:p>
                  </a:txBody>
                  <a:tcPr marL="54864" marR="54864" marT="27432" marB="27432" anchor="ctr">
                    <a:solidFill>
                      <a:srgbClr val="FBFAF7"/>
                    </a:solidFill>
                  </a:tcPr>
                </a:tc>
                <a:tc>
                  <a:txBody>
                    <a:bodyPr wrap="square"/>
                    <a:lstStyle/>
                    <a:p>
                      <a:pPr algn="r"/>
                      <a:r>
                        <a:rPr sz="850" b="0">
                          <a:solidFill>
                            <a:srgbClr val="0F172A"/>
                          </a:solidFill>
                          <a:latin typeface="Inter"/>
                        </a:rPr>
                        <a:t>19</a:t>
                      </a:r>
                    </a:p>
                  </a:txBody>
                  <a:tcPr marL="54864" marR="54864" marT="27432" marB="27432" anchor="ctr">
                    <a:solidFill>
                      <a:srgbClr val="FBFAF7"/>
                    </a:solidFill>
                  </a:tcPr>
                </a:tc>
                <a:tc>
                  <a:txBody>
                    <a:bodyPr wrap="square"/>
                    <a:lstStyle/>
                    <a:p>
                      <a:pPr algn="r"/>
                      <a:r>
                        <a:rPr sz="850" b="0">
                          <a:solidFill>
                            <a:srgbClr val="0F172A"/>
                          </a:solidFill>
                          <a:latin typeface="Inter"/>
                        </a:rPr>
                        <a:t>15</a:t>
                      </a:r>
                    </a:p>
                  </a:txBody>
                  <a:tcPr marL="54864" marR="54864" marT="27432" marB="27432" anchor="ctr">
                    <a:solidFill>
                      <a:srgbClr val="FBFAF7"/>
                    </a:solidFill>
                  </a:tcPr>
                </a:tc>
                <a:tc>
                  <a:txBody>
                    <a:bodyPr wrap="square"/>
                    <a:lstStyle/>
                    <a:p>
                      <a:pPr algn="r"/>
                      <a:r>
                        <a:rPr sz="850" b="0">
                          <a:solidFill>
                            <a:srgbClr val="0F172A"/>
                          </a:solidFill>
                          <a:latin typeface="Inter"/>
                        </a:rPr>
                        <a:t>$2,253</a:t>
                      </a:r>
                    </a:p>
                  </a:txBody>
                  <a:tcPr marL="54864" marR="54864" marT="27432" marB="27432" anchor="ctr">
                    <a:solidFill>
                      <a:srgbClr val="FBFAF7"/>
                    </a:solidFill>
                  </a:tcPr>
                </a:tc>
                <a:tc>
                  <a:txBody>
                    <a:bodyPr wrap="square"/>
                    <a:lstStyle/>
                    <a:p>
                      <a:pPr algn="r"/>
                      <a:r>
                        <a:rPr sz="850" b="0">
                          <a:solidFill>
                            <a:srgbClr val="0F172A"/>
                          </a:solidFill>
                          <a:latin typeface="Inter"/>
                        </a:rPr>
                        <a:t>73%</a:t>
                      </a:r>
                    </a:p>
                  </a:txBody>
                  <a:tcPr marL="54864" marR="54864" marT="27432" marB="27432" anchor="ctr">
                    <a:solidFill>
                      <a:srgbClr val="FBFAF7"/>
                    </a:solidFill>
                  </a:tcPr>
                </a:tc>
              </a:tr>
              <a:tr h="246888">
                <a:tc>
                  <a:txBody>
                    <a:bodyPr wrap="square"/>
                    <a:lstStyle/>
                    <a:p>
                      <a:pPr algn="l"/>
                      <a:r>
                        <a:rPr sz="850" b="0">
                          <a:solidFill>
                            <a:srgbClr val="0F172A"/>
                          </a:solidFill>
                          <a:latin typeface="Inter"/>
                        </a:rPr>
                        <a:t>Oct 15</a:t>
                      </a:r>
                    </a:p>
                  </a:txBody>
                  <a:tcPr marL="54864" marR="54864" marT="27432" marB="27432" anchor="ctr">
                    <a:solidFill>
                      <a:srgbClr val="FFFFFF"/>
                    </a:solidFill>
                  </a:tcPr>
                </a:tc>
                <a:tc>
                  <a:txBody>
                    <a:bodyPr wrap="square"/>
                    <a:lstStyle/>
                    <a:p>
                      <a:pPr algn="r"/>
                      <a:r>
                        <a:rPr sz="850" b="0">
                          <a:solidFill>
                            <a:srgbClr val="0F172A"/>
                          </a:solidFill>
                          <a:latin typeface="Inter"/>
                        </a:rPr>
                        <a:t>Thu</a:t>
                      </a:r>
                    </a:p>
                  </a:txBody>
                  <a:tcPr marL="54864" marR="54864" marT="27432" marB="27432" anchor="ctr">
                    <a:solidFill>
                      <a:srgbClr val="FFFFFF"/>
                    </a:solidFill>
                  </a:tcPr>
                </a:tc>
                <a:tc>
                  <a:txBody>
                    <a:bodyPr wrap="square"/>
                    <a:lstStyle/>
                    <a:p>
                      <a:pPr algn="r"/>
                      <a:r>
                        <a:rPr sz="850" b="0">
                          <a:solidFill>
                            <a:srgbClr val="0F172A"/>
                          </a:solidFill>
                          <a:latin typeface="Inter"/>
                        </a:rPr>
                        <a:t>$6,160</a:t>
                      </a:r>
                    </a:p>
                  </a:txBody>
                  <a:tcPr marL="54864" marR="54864" marT="27432" marB="27432" anchor="ctr">
                    <a:solidFill>
                      <a:srgbClr val="FFFFFF"/>
                    </a:solidFill>
                  </a:tcPr>
                </a:tc>
                <a:tc>
                  <a:txBody>
                    <a:bodyPr wrap="square"/>
                    <a:lstStyle/>
                    <a:p>
                      <a:pPr algn="r"/>
                      <a:r>
                        <a:rPr sz="850" b="0">
                          <a:solidFill>
                            <a:srgbClr val="0F172A"/>
                          </a:solidFill>
                          <a:latin typeface="Inter"/>
                        </a:rPr>
                        <a:t>$507</a:t>
                      </a:r>
                    </a:p>
                  </a:txBody>
                  <a:tcPr marL="54864" marR="54864" marT="27432" marB="27432" anchor="ctr">
                    <a:solidFill>
                      <a:srgbClr val="FFFFFF"/>
                    </a:solidFill>
                  </a:tcPr>
                </a:tc>
                <a:tc>
                  <a:txBody>
                    <a:bodyPr wrap="square"/>
                    <a:lstStyle/>
                    <a:p>
                      <a:pPr algn="r"/>
                      <a:r>
                        <a:rPr sz="850" b="0">
                          <a:solidFill>
                            <a:srgbClr val="0F172A"/>
                          </a:solidFill>
                          <a:latin typeface="Inter"/>
                        </a:rPr>
                        <a:t>$3,203</a:t>
                      </a:r>
                    </a:p>
                  </a:txBody>
                  <a:tcPr marL="54864" marR="54864" marT="27432" marB="27432" anchor="ctr">
                    <a:solidFill>
                      <a:srgbClr val="FFFFFF"/>
                    </a:solidFill>
                  </a:tcPr>
                </a:tc>
                <a:tc>
                  <a:txBody>
                    <a:bodyPr wrap="square"/>
                    <a:lstStyle/>
                    <a:p>
                      <a:pPr algn="r"/>
                      <a:r>
                        <a:rPr sz="850" b="0">
                          <a:solidFill>
                            <a:srgbClr val="0F172A"/>
                          </a:solidFill>
                          <a:latin typeface="Inter"/>
                        </a:rPr>
                        <a:t>6.32x</a:t>
                      </a:r>
                    </a:p>
                  </a:txBody>
                  <a:tcPr marL="54864" marR="54864" marT="27432" marB="27432" anchor="ctr">
                    <a:solidFill>
                      <a:srgbClr val="FFFFFF"/>
                    </a:solidFill>
                  </a:tcPr>
                </a:tc>
                <a:tc>
                  <a:txBody>
                    <a:bodyPr wrap="square"/>
                    <a:lstStyle/>
                    <a:p>
                      <a:pPr algn="r"/>
                      <a:r>
                        <a:rPr sz="850" b="0">
                          <a:solidFill>
                            <a:srgbClr val="0F172A"/>
                          </a:solidFill>
                          <a:latin typeface="Inter"/>
                        </a:rPr>
                        <a:t>15.8%</a:t>
                      </a:r>
                    </a:p>
                  </a:txBody>
                  <a:tcPr marL="54864" marR="54864" marT="27432" marB="27432" anchor="ctr">
                    <a:solidFill>
                      <a:srgbClr val="FFFFFF"/>
                    </a:solidFill>
                  </a:tcPr>
                </a:tc>
                <a:tc>
                  <a:txBody>
                    <a:bodyPr wrap="square"/>
                    <a:lstStyle/>
                    <a:p>
                      <a:pPr algn="r"/>
                      <a:r>
                        <a:rPr sz="850" b="0">
                          <a:solidFill>
                            <a:srgbClr val="0F172A"/>
                          </a:solidFill>
                          <a:latin typeface="Inter"/>
                        </a:rPr>
                        <a:t>8.2%</a:t>
                      </a:r>
                    </a:p>
                  </a:txBody>
                  <a:tcPr marL="54864" marR="54864" marT="27432" marB="27432" anchor="ctr">
                    <a:solidFill>
                      <a:srgbClr val="FFFFFF"/>
                    </a:solidFill>
                  </a:tcPr>
                </a:tc>
                <a:tc>
                  <a:txBody>
                    <a:bodyPr wrap="square"/>
                    <a:lstStyle/>
                    <a:p>
                      <a:pPr algn="r"/>
                      <a:r>
                        <a:rPr sz="850" b="0">
                          <a:solidFill>
                            <a:srgbClr val="0F172A"/>
                          </a:solidFill>
                          <a:latin typeface="Inter"/>
                        </a:rPr>
                        <a:t>13</a:t>
                      </a:r>
                    </a:p>
                  </a:txBody>
                  <a:tcPr marL="54864" marR="54864" marT="27432" marB="27432" anchor="ctr">
                    <a:solidFill>
                      <a:srgbClr val="FFFFFF"/>
                    </a:solidFill>
                  </a:tcPr>
                </a:tc>
                <a:tc>
                  <a:txBody>
                    <a:bodyPr wrap="square"/>
                    <a:lstStyle/>
                    <a:p>
                      <a:pPr algn="r"/>
                      <a:r>
                        <a:rPr sz="850" b="0">
                          <a:solidFill>
                            <a:srgbClr val="0F172A"/>
                          </a:solidFill>
                          <a:latin typeface="Inter"/>
                        </a:rPr>
                        <a:t>7</a:t>
                      </a:r>
                    </a:p>
                  </a:txBody>
                  <a:tcPr marL="54864" marR="54864" marT="27432" marB="27432" anchor="ctr">
                    <a:solidFill>
                      <a:srgbClr val="FFFFFF"/>
                    </a:solidFill>
                  </a:tcPr>
                </a:tc>
                <a:tc>
                  <a:txBody>
                    <a:bodyPr wrap="square"/>
                    <a:lstStyle/>
                    <a:p>
                      <a:pPr algn="r"/>
                      <a:r>
                        <a:rPr sz="850" b="0">
                          <a:solidFill>
                            <a:srgbClr val="0F172A"/>
                          </a:solidFill>
                          <a:latin typeface="Inter"/>
                        </a:rPr>
                        <a:t>$2,957</a:t>
                      </a:r>
                    </a:p>
                  </a:txBody>
                  <a:tcPr marL="54864" marR="54864" marT="27432" marB="27432" anchor="ctr">
                    <a:solidFill>
                      <a:srgbClr val="FFFFFF"/>
                    </a:solidFill>
                  </a:tcPr>
                </a:tc>
                <a:tc>
                  <a:txBody>
                    <a:bodyPr wrap="square"/>
                    <a:lstStyle/>
                    <a:p>
                      <a:pPr algn="r"/>
                      <a:r>
                        <a:rPr sz="850" b="0">
                          <a:solidFill>
                            <a:srgbClr val="0F172A"/>
                          </a:solidFill>
                          <a:latin typeface="Inter"/>
                        </a:rPr>
                        <a:t>52%</a:t>
                      </a:r>
                    </a:p>
                  </a:txBody>
                  <a:tcPr marL="54864" marR="54864" marT="27432" marB="27432" anchor="ctr">
                    <a:solidFill>
                      <a:srgbClr val="FFFFFF"/>
                    </a:solidFill>
                  </a:tcPr>
                </a:tc>
              </a:tr>
              <a:tr h="246888">
                <a:tc>
                  <a:txBody>
                    <a:bodyPr wrap="square"/>
                    <a:lstStyle/>
                    <a:p>
                      <a:pPr algn="l"/>
                      <a:r>
                        <a:rPr sz="850" b="0">
                          <a:solidFill>
                            <a:srgbClr val="0F172A"/>
                          </a:solidFill>
                          <a:latin typeface="Inter"/>
                        </a:rPr>
                        <a:t>Oct 16</a:t>
                      </a:r>
                    </a:p>
                  </a:txBody>
                  <a:tcPr marL="54864" marR="54864" marT="27432" marB="27432" anchor="ctr">
                    <a:solidFill>
                      <a:srgbClr val="FBFAF7"/>
                    </a:solidFill>
                  </a:tcPr>
                </a:tc>
                <a:tc>
                  <a:txBody>
                    <a:bodyPr wrap="square"/>
                    <a:lstStyle/>
                    <a:p>
                      <a:pPr algn="r"/>
                      <a:r>
                        <a:rPr sz="850" b="0">
                          <a:solidFill>
                            <a:srgbClr val="0F172A"/>
                          </a:solidFill>
                          <a:latin typeface="Inter"/>
                        </a:rPr>
                        <a:t>Fri</a:t>
                      </a:r>
                    </a:p>
                  </a:txBody>
                  <a:tcPr marL="54864" marR="54864" marT="27432" marB="27432" anchor="ctr">
                    <a:solidFill>
                      <a:srgbClr val="FBFAF7"/>
                    </a:solidFill>
                  </a:tcPr>
                </a:tc>
                <a:tc>
                  <a:txBody>
                    <a:bodyPr wrap="square"/>
                    <a:lstStyle/>
                    <a:p>
                      <a:pPr algn="r"/>
                      <a:r>
                        <a:rPr sz="850" b="0">
                          <a:solidFill>
                            <a:srgbClr val="0F172A"/>
                          </a:solidFill>
                          <a:latin typeface="Inter"/>
                        </a:rPr>
                        <a:t>$3,225</a:t>
                      </a:r>
                    </a:p>
                  </a:txBody>
                  <a:tcPr marL="54864" marR="54864" marT="27432" marB="27432" anchor="ctr">
                    <a:solidFill>
                      <a:srgbClr val="FBFAF7"/>
                    </a:solidFill>
                  </a:tcPr>
                </a:tc>
                <a:tc>
                  <a:txBody>
                    <a:bodyPr wrap="square"/>
                    <a:lstStyle/>
                    <a:p>
                      <a:pPr algn="r"/>
                      <a:r>
                        <a:rPr sz="850" b="0">
                          <a:solidFill>
                            <a:srgbClr val="0F172A"/>
                          </a:solidFill>
                          <a:latin typeface="Inter"/>
                        </a:rPr>
                        <a:t>$577</a:t>
                      </a:r>
                    </a:p>
                  </a:txBody>
                  <a:tcPr marL="54864" marR="54864" marT="27432" marB="27432" anchor="ctr">
                    <a:solidFill>
                      <a:srgbClr val="FBFAF7"/>
                    </a:solidFill>
                  </a:tcPr>
                </a:tc>
                <a:tc>
                  <a:txBody>
                    <a:bodyPr wrap="square"/>
                    <a:lstStyle/>
                    <a:p>
                      <a:pPr algn="r"/>
                      <a:r>
                        <a:rPr sz="850" b="0">
                          <a:solidFill>
                            <a:srgbClr val="0F172A"/>
                          </a:solidFill>
                          <a:latin typeface="Inter"/>
                        </a:rPr>
                        <a:t>$1,912</a:t>
                      </a:r>
                    </a:p>
                  </a:txBody>
                  <a:tcPr marL="54864" marR="54864" marT="27432" marB="27432" anchor="ctr">
                    <a:solidFill>
                      <a:srgbClr val="FBFAF7"/>
                    </a:solidFill>
                  </a:tcPr>
                </a:tc>
                <a:tc>
                  <a:txBody>
                    <a:bodyPr wrap="square"/>
                    <a:lstStyle/>
                    <a:p>
                      <a:pPr algn="r"/>
                      <a:r>
                        <a:rPr sz="850" b="0">
                          <a:solidFill>
                            <a:srgbClr val="0F172A"/>
                          </a:solidFill>
                          <a:latin typeface="Inter"/>
                        </a:rPr>
                        <a:t>3.31x</a:t>
                      </a:r>
                    </a:p>
                  </a:txBody>
                  <a:tcPr marL="54864" marR="54864" marT="27432" marB="27432" anchor="ctr">
                    <a:solidFill>
                      <a:srgbClr val="FBFAF7"/>
                    </a:solidFill>
                  </a:tcPr>
                </a:tc>
                <a:tc>
                  <a:txBody>
                    <a:bodyPr wrap="square"/>
                    <a:lstStyle/>
                    <a:p>
                      <a:pPr algn="r"/>
                      <a:r>
                        <a:rPr sz="850" b="0">
                          <a:solidFill>
                            <a:srgbClr val="0F172A"/>
                          </a:solidFill>
                          <a:latin typeface="Inter"/>
                        </a:rPr>
                        <a:t>30.2%</a:t>
                      </a:r>
                    </a:p>
                  </a:txBody>
                  <a:tcPr marL="54864" marR="54864" marT="27432" marB="27432" anchor="ctr">
                    <a:solidFill>
                      <a:srgbClr val="FBFAF7"/>
                    </a:solidFill>
                  </a:tcPr>
                </a:tc>
                <a:tc>
                  <a:txBody>
                    <a:bodyPr wrap="square"/>
                    <a:lstStyle/>
                    <a:p>
                      <a:pPr algn="r"/>
                      <a:r>
                        <a:rPr sz="850" b="0">
                          <a:solidFill>
                            <a:srgbClr val="0F172A"/>
                          </a:solidFill>
                          <a:latin typeface="Inter"/>
                        </a:rPr>
                        <a:t>17.9%</a:t>
                      </a:r>
                    </a:p>
                  </a:txBody>
                  <a:tcPr marL="54864" marR="54864" marT="27432" marB="27432" anchor="ctr">
                    <a:solidFill>
                      <a:srgbClr val="FBFAF7"/>
                    </a:solidFill>
                  </a:tcPr>
                </a:tc>
                <a:tc>
                  <a:txBody>
                    <a:bodyPr wrap="square"/>
                    <a:lstStyle/>
                    <a:p>
                      <a:pPr algn="r"/>
                      <a:r>
                        <a:rPr sz="850" b="0">
                          <a:solidFill>
                            <a:srgbClr val="0F172A"/>
                          </a:solidFill>
                          <a:latin typeface="Inter"/>
                        </a:rPr>
                        <a:t>9</a:t>
                      </a:r>
                    </a:p>
                  </a:txBody>
                  <a:tcPr marL="54864" marR="54864" marT="27432" marB="27432" anchor="ctr">
                    <a:solidFill>
                      <a:srgbClr val="FBFAF7"/>
                    </a:solidFill>
                  </a:tcPr>
                </a:tc>
                <a:tc>
                  <a:txBody>
                    <a:bodyPr wrap="square"/>
                    <a:lstStyle/>
                    <a:p>
                      <a:pPr algn="r"/>
                      <a:r>
                        <a:rPr sz="850" b="0">
                          <a:solidFill>
                            <a:srgbClr val="0F172A"/>
                          </a:solidFill>
                          <a:latin typeface="Inter"/>
                        </a:rPr>
                        <a:t>6</a:t>
                      </a:r>
                    </a:p>
                  </a:txBody>
                  <a:tcPr marL="54864" marR="54864" marT="27432" marB="27432" anchor="ctr">
                    <a:solidFill>
                      <a:srgbClr val="FBFAF7"/>
                    </a:solidFill>
                  </a:tcPr>
                </a:tc>
                <a:tc>
                  <a:txBody>
                    <a:bodyPr wrap="square"/>
                    <a:lstStyle/>
                    <a:p>
                      <a:pPr algn="r"/>
                      <a:r>
                        <a:rPr sz="850" b="0">
                          <a:solidFill>
                            <a:srgbClr val="0F172A"/>
                          </a:solidFill>
                          <a:latin typeface="Inter"/>
                        </a:rPr>
                        <a:t>$1,313</a:t>
                      </a:r>
                    </a:p>
                  </a:txBody>
                  <a:tcPr marL="54864" marR="54864" marT="27432" marB="27432" anchor="ctr">
                    <a:solidFill>
                      <a:srgbClr val="FBFAF7"/>
                    </a:solidFill>
                  </a:tcPr>
                </a:tc>
                <a:tc>
                  <a:txBody>
                    <a:bodyPr wrap="square"/>
                    <a:lstStyle/>
                    <a:p>
                      <a:pPr algn="r"/>
                      <a:r>
                        <a:rPr sz="850" b="0">
                          <a:solidFill>
                            <a:srgbClr val="0F172A"/>
                          </a:solidFill>
                          <a:latin typeface="Inter"/>
                        </a:rPr>
                        <a:t>59%</a:t>
                      </a:r>
                    </a:p>
                  </a:txBody>
                  <a:tcPr marL="54864" marR="54864" marT="27432" marB="27432" anchor="ctr">
                    <a:solidFill>
                      <a:srgbClr val="FBFAF7"/>
                    </a:solidFill>
                  </a:tcPr>
                </a:tc>
              </a:tr>
              <a:tr h="246888">
                <a:tc>
                  <a:txBody>
                    <a:bodyPr wrap="square"/>
                    <a:lstStyle/>
                    <a:p>
                      <a:pPr algn="l"/>
                      <a:r>
                        <a:rPr sz="850" b="0">
                          <a:solidFill>
                            <a:srgbClr val="0F172A"/>
                          </a:solidFill>
                          <a:latin typeface="Inter"/>
                        </a:rPr>
                        <a:t>Oct 17</a:t>
                      </a:r>
                    </a:p>
                  </a:txBody>
                  <a:tcPr marL="54864" marR="54864" marT="27432" marB="27432" anchor="ctr">
                    <a:solidFill>
                      <a:srgbClr val="FFFFFF"/>
                    </a:solidFill>
                  </a:tcPr>
                </a:tc>
                <a:tc>
                  <a:txBody>
                    <a:bodyPr wrap="square"/>
                    <a:lstStyle/>
                    <a:p>
                      <a:pPr algn="r"/>
                      <a:r>
                        <a:rPr sz="850" b="0">
                          <a:solidFill>
                            <a:srgbClr val="0F172A"/>
                          </a:solidFill>
                          <a:latin typeface="Inter"/>
                        </a:rPr>
                        <a:t>Sat</a:t>
                      </a:r>
                    </a:p>
                  </a:txBody>
                  <a:tcPr marL="54864" marR="54864" marT="27432" marB="27432" anchor="ctr">
                    <a:solidFill>
                      <a:srgbClr val="FFFFFF"/>
                    </a:solidFill>
                  </a:tcPr>
                </a:tc>
                <a:tc>
                  <a:txBody>
                    <a:bodyPr wrap="square"/>
                    <a:lstStyle/>
                    <a:p>
                      <a:pPr algn="r"/>
                      <a:r>
                        <a:rPr sz="850" b="0">
                          <a:solidFill>
                            <a:srgbClr val="0F172A"/>
                          </a:solidFill>
                          <a:latin typeface="Inter"/>
                        </a:rPr>
                        <a:t>$12,682</a:t>
                      </a:r>
                    </a:p>
                  </a:txBody>
                  <a:tcPr marL="54864" marR="54864" marT="27432" marB="27432" anchor="ctr">
                    <a:solidFill>
                      <a:srgbClr val="FFFFFF"/>
                    </a:solidFill>
                  </a:tcPr>
                </a:tc>
                <a:tc>
                  <a:txBody>
                    <a:bodyPr wrap="square"/>
                    <a:lstStyle/>
                    <a:p>
                      <a:pPr algn="r"/>
                      <a:r>
                        <a:rPr sz="850" b="0">
                          <a:solidFill>
                            <a:srgbClr val="0F172A"/>
                          </a:solidFill>
                          <a:latin typeface="Inter"/>
                        </a:rPr>
                        <a:t>$716</a:t>
                      </a:r>
                    </a:p>
                  </a:txBody>
                  <a:tcPr marL="54864" marR="54864" marT="27432" marB="27432" anchor="ctr">
                    <a:solidFill>
                      <a:srgbClr val="FFFFFF"/>
                    </a:solidFill>
                  </a:tcPr>
                </a:tc>
                <a:tc>
                  <a:txBody>
                    <a:bodyPr wrap="square"/>
                    <a:lstStyle/>
                    <a:p>
                      <a:pPr algn="r"/>
                      <a:r>
                        <a:rPr sz="850" b="0">
                          <a:solidFill>
                            <a:srgbClr val="0F172A"/>
                          </a:solidFill>
                          <a:latin typeface="Inter"/>
                        </a:rPr>
                        <a:t>$7,800</a:t>
                      </a:r>
                    </a:p>
                  </a:txBody>
                  <a:tcPr marL="54864" marR="54864" marT="27432" marB="27432" anchor="ctr">
                    <a:solidFill>
                      <a:srgbClr val="FFFFFF"/>
                    </a:solidFill>
                  </a:tcPr>
                </a:tc>
                <a:tc>
                  <a:txBody>
                    <a:bodyPr wrap="square"/>
                    <a:lstStyle/>
                    <a:p>
                      <a:pPr algn="r"/>
                      <a:r>
                        <a:rPr sz="850" b="0">
                          <a:solidFill>
                            <a:srgbClr val="0F172A"/>
                          </a:solidFill>
                          <a:latin typeface="Inter"/>
                        </a:rPr>
                        <a:t>10.89x</a:t>
                      </a:r>
                    </a:p>
                  </a:txBody>
                  <a:tcPr marL="54864" marR="54864" marT="27432" marB="27432" anchor="ctr">
                    <a:solidFill>
                      <a:srgbClr val="FFFFFF"/>
                    </a:solidFill>
                  </a:tcPr>
                </a:tc>
                <a:tc>
                  <a:txBody>
                    <a:bodyPr wrap="square"/>
                    <a:lstStyle/>
                    <a:p>
                      <a:pPr algn="r"/>
                      <a:r>
                        <a:rPr sz="850" b="0">
                          <a:solidFill>
                            <a:srgbClr val="0F172A"/>
                          </a:solidFill>
                          <a:latin typeface="Inter"/>
                        </a:rPr>
                        <a:t>9.2%</a:t>
                      </a:r>
                    </a:p>
                  </a:txBody>
                  <a:tcPr marL="54864" marR="54864" marT="27432" marB="27432" anchor="ctr">
                    <a:solidFill>
                      <a:srgbClr val="FFFFFF"/>
                    </a:solidFill>
                  </a:tcPr>
                </a:tc>
                <a:tc>
                  <a:txBody>
                    <a:bodyPr wrap="square"/>
                    <a:lstStyle/>
                    <a:p>
                      <a:pPr algn="r"/>
                      <a:r>
                        <a:rPr sz="850" b="0">
                          <a:solidFill>
                            <a:srgbClr val="0F172A"/>
                          </a:solidFill>
                          <a:latin typeface="Inter"/>
                        </a:rPr>
                        <a:t>5.6%</a:t>
                      </a:r>
                    </a:p>
                  </a:txBody>
                  <a:tcPr marL="54864" marR="54864" marT="27432" marB="27432" anchor="ctr">
                    <a:solidFill>
                      <a:srgbClr val="FFFFFF"/>
                    </a:solidFill>
                  </a:tcPr>
                </a:tc>
                <a:tc>
                  <a:txBody>
                    <a:bodyPr wrap="square"/>
                    <a:lstStyle/>
                    <a:p>
                      <a:pPr algn="r"/>
                      <a:r>
                        <a:rPr sz="850" b="0">
                          <a:solidFill>
                            <a:srgbClr val="0F172A"/>
                          </a:solidFill>
                          <a:latin typeface="Inter"/>
                        </a:rPr>
                        <a:t>21</a:t>
                      </a:r>
                    </a:p>
                  </a:txBody>
                  <a:tcPr marL="54864" marR="54864" marT="27432" marB="27432" anchor="ctr">
                    <a:solidFill>
                      <a:srgbClr val="FFFFFF"/>
                    </a:solidFill>
                  </a:tcPr>
                </a:tc>
                <a:tc>
                  <a:txBody>
                    <a:bodyPr wrap="square"/>
                    <a:lstStyle/>
                    <a:p>
                      <a:pPr algn="r"/>
                      <a:r>
                        <a:rPr sz="850" b="0">
                          <a:solidFill>
                            <a:srgbClr val="0F172A"/>
                          </a:solidFill>
                          <a:latin typeface="Inter"/>
                        </a:rPr>
                        <a:t>15</a:t>
                      </a:r>
                    </a:p>
                  </a:txBody>
                  <a:tcPr marL="54864" marR="54864" marT="27432" marB="27432" anchor="ctr">
                    <a:solidFill>
                      <a:srgbClr val="FFFFFF"/>
                    </a:solidFill>
                  </a:tcPr>
                </a:tc>
                <a:tc>
                  <a:txBody>
                    <a:bodyPr wrap="square"/>
                    <a:lstStyle/>
                    <a:p>
                      <a:pPr algn="r"/>
                      <a:r>
                        <a:rPr sz="850" b="0">
                          <a:solidFill>
                            <a:srgbClr val="0F172A"/>
                          </a:solidFill>
                          <a:latin typeface="Inter"/>
                        </a:rPr>
                        <a:t>$4,882</a:t>
                      </a:r>
                    </a:p>
                  </a:txBody>
                  <a:tcPr marL="54864" marR="54864" marT="27432" marB="27432" anchor="ctr">
                    <a:solidFill>
                      <a:srgbClr val="FFFFFF"/>
                    </a:solidFill>
                  </a:tcPr>
                </a:tc>
                <a:tc>
                  <a:txBody>
                    <a:bodyPr wrap="square"/>
                    <a:lstStyle/>
                    <a:p>
                      <a:pPr algn="r"/>
                      <a:r>
                        <a:rPr sz="850" b="0">
                          <a:solidFill>
                            <a:srgbClr val="0F172A"/>
                          </a:solidFill>
                          <a:latin typeface="Inter"/>
                        </a:rPr>
                        <a:t>62%</a:t>
                      </a:r>
                    </a:p>
                  </a:txBody>
                  <a:tcPr marL="54864" marR="54864" marT="27432" marB="27432" anchor="ctr">
                    <a:solidFill>
                      <a:srgbClr val="FFFFFF"/>
                    </a:solidFill>
                  </a:tcPr>
                </a:tc>
              </a:tr>
              <a:tr h="246888">
                <a:tc>
                  <a:txBody>
                    <a:bodyPr wrap="square"/>
                    <a:lstStyle/>
                    <a:p>
                      <a:pPr algn="l"/>
                      <a:r>
                        <a:rPr sz="850" b="1">
                          <a:solidFill>
                            <a:srgbClr val="0F172A"/>
                          </a:solidFill>
                          <a:latin typeface="Inter"/>
                        </a:rPr>
                        <a:t>Week Oct 11 – 17</a:t>
                      </a:r>
                    </a:p>
                  </a:txBody>
                  <a:tcPr marL="54864" marR="54864" marT="27432" marB="27432" anchor="ctr">
                    <a:solidFill>
                      <a:srgbClr val="F6F3EC"/>
                    </a:solidFill>
                  </a:tcPr>
                </a:tc>
                <a:tc>
                  <a:txBody>
                    <a:bodyPr wrap="square"/>
                    <a:lstStyle/>
                    <a:p>
                      <a:pPr algn="r"/>
                      <a:r>
                        <a:rPr sz="850" b="1">
                          <a:solidFill>
                            <a:srgbClr val="0F172A"/>
                          </a:solidFill>
                          <a:latin typeface="Inter"/>
                        </a:rPr>
                        <a:t/>
                      </a:r>
                    </a:p>
                  </a:txBody>
                  <a:tcPr marL="54864" marR="54864" marT="27432" marB="27432" anchor="ctr">
                    <a:solidFill>
                      <a:srgbClr val="F6F3EC"/>
                    </a:solidFill>
                  </a:tcPr>
                </a:tc>
                <a:tc>
                  <a:txBody>
                    <a:bodyPr wrap="square"/>
                    <a:lstStyle/>
                    <a:p>
                      <a:pPr algn="r"/>
                      <a:r>
                        <a:rPr sz="850" b="1">
                          <a:solidFill>
                            <a:srgbClr val="0F172A"/>
                          </a:solidFill>
                          <a:latin typeface="Inter"/>
                        </a:rPr>
                        <a:t>$47,564</a:t>
                      </a:r>
                    </a:p>
                  </a:txBody>
                  <a:tcPr marL="54864" marR="54864" marT="27432" marB="27432" anchor="ctr">
                    <a:solidFill>
                      <a:srgbClr val="F6F3EC"/>
                    </a:solidFill>
                  </a:tcPr>
                </a:tc>
                <a:tc>
                  <a:txBody>
                    <a:bodyPr wrap="square"/>
                    <a:lstStyle/>
                    <a:p>
                      <a:pPr algn="r"/>
                      <a:r>
                        <a:rPr sz="850" b="1">
                          <a:solidFill>
                            <a:srgbClr val="0F172A"/>
                          </a:solidFill>
                          <a:latin typeface="Inter"/>
                        </a:rPr>
                        <a:t>$4,911</a:t>
                      </a:r>
                    </a:p>
                  </a:txBody>
                  <a:tcPr marL="54864" marR="54864" marT="27432" marB="27432" anchor="ctr">
                    <a:solidFill>
                      <a:srgbClr val="F6F3EC"/>
                    </a:solidFill>
                  </a:tcPr>
                </a:tc>
                <a:tc>
                  <a:txBody>
                    <a:bodyPr wrap="square"/>
                    <a:lstStyle/>
                    <a:p>
                      <a:pPr algn="r"/>
                      <a:r>
                        <a:rPr sz="850" b="1">
                          <a:solidFill>
                            <a:srgbClr val="0F172A"/>
                          </a:solidFill>
                          <a:latin typeface="Inter"/>
                        </a:rPr>
                        <a:t>$29,112</a:t>
                      </a:r>
                    </a:p>
                  </a:txBody>
                  <a:tcPr marL="54864" marR="54864" marT="27432" marB="27432" anchor="ctr">
                    <a:solidFill>
                      <a:srgbClr val="F6F3EC"/>
                    </a:solidFill>
                  </a:tcPr>
                </a:tc>
                <a:tc>
                  <a:txBody>
                    <a:bodyPr wrap="square"/>
                    <a:lstStyle/>
                    <a:p>
                      <a:pPr algn="r"/>
                      <a:r>
                        <a:rPr sz="850" b="1">
                          <a:solidFill>
                            <a:srgbClr val="0F172A"/>
                          </a:solidFill>
                          <a:latin typeface="Inter"/>
                        </a:rPr>
                        <a:t>5.93x</a:t>
                      </a:r>
                    </a:p>
                  </a:txBody>
                  <a:tcPr marL="54864" marR="54864" marT="27432" marB="27432" anchor="ctr">
                    <a:solidFill>
                      <a:srgbClr val="F6F3EC"/>
                    </a:solidFill>
                  </a:tcPr>
                </a:tc>
                <a:tc>
                  <a:txBody>
                    <a:bodyPr wrap="square"/>
                    <a:lstStyle/>
                    <a:p>
                      <a:pPr algn="r"/>
                      <a:r>
                        <a:rPr sz="850" b="1">
                          <a:solidFill>
                            <a:srgbClr val="0F172A"/>
                          </a:solidFill>
                          <a:latin typeface="Inter"/>
                        </a:rPr>
                        <a:t>16.9%</a:t>
                      </a:r>
                    </a:p>
                  </a:txBody>
                  <a:tcPr marL="54864" marR="54864" marT="27432" marB="27432" anchor="ctr">
                    <a:solidFill>
                      <a:srgbClr val="F6F3EC"/>
                    </a:solidFill>
                  </a:tcPr>
                </a:tc>
                <a:tc>
                  <a:txBody>
                    <a:bodyPr wrap="square"/>
                    <a:lstStyle/>
                    <a:p>
                      <a:pPr algn="r"/>
                      <a:r>
                        <a:rPr sz="850" b="1">
                          <a:solidFill>
                            <a:srgbClr val="0F172A"/>
                          </a:solidFill>
                          <a:latin typeface="Inter"/>
                        </a:rPr>
                        <a:t>10.3%</a:t>
                      </a:r>
                    </a:p>
                  </a:txBody>
                  <a:tcPr marL="54864" marR="54864" marT="27432" marB="27432" anchor="ctr">
                    <a:solidFill>
                      <a:srgbClr val="F6F3EC"/>
                    </a:solidFill>
                  </a:tcPr>
                </a:tc>
                <a:tc>
                  <a:txBody>
                    <a:bodyPr wrap="square"/>
                    <a:lstStyle/>
                    <a:p>
                      <a:pPr algn="r"/>
                      <a:r>
                        <a:rPr sz="850" b="1">
                          <a:solidFill>
                            <a:srgbClr val="0F172A"/>
                          </a:solidFill>
                          <a:latin typeface="Inter"/>
                        </a:rPr>
                        <a:t>112</a:t>
                      </a:r>
                    </a:p>
                  </a:txBody>
                  <a:tcPr marL="54864" marR="54864" marT="27432" marB="27432" anchor="ctr">
                    <a:solidFill>
                      <a:srgbClr val="F6F3EC"/>
                    </a:solidFill>
                  </a:tcPr>
                </a:tc>
                <a:tc>
                  <a:txBody>
                    <a:bodyPr wrap="square"/>
                    <a:lstStyle/>
                    <a:p>
                      <a:pPr algn="r"/>
                      <a:r>
                        <a:rPr sz="850" b="1">
                          <a:solidFill>
                            <a:srgbClr val="0F172A"/>
                          </a:solidFill>
                          <a:latin typeface="Inter"/>
                        </a:rPr>
                        <a:t>80</a:t>
                      </a:r>
                    </a:p>
                  </a:txBody>
                  <a:tcPr marL="54864" marR="54864" marT="27432" marB="27432" anchor="ctr">
                    <a:solidFill>
                      <a:srgbClr val="F6F3EC"/>
                    </a:solidFill>
                  </a:tcPr>
                </a:tc>
                <a:tc>
                  <a:txBody>
                    <a:bodyPr wrap="square"/>
                    <a:lstStyle/>
                    <a:p>
                      <a:pPr algn="r"/>
                      <a:r>
                        <a:rPr sz="850" b="1">
                          <a:solidFill>
                            <a:srgbClr val="0F172A"/>
                          </a:solidFill>
                          <a:latin typeface="Inter"/>
                        </a:rPr>
                        <a:t>$18,452</a:t>
                      </a:r>
                    </a:p>
                  </a:txBody>
                  <a:tcPr marL="54864" marR="54864" marT="27432" marB="27432" anchor="ctr">
                    <a:solidFill>
                      <a:srgbClr val="F6F3EC"/>
                    </a:solidFill>
                  </a:tcPr>
                </a:tc>
                <a:tc>
                  <a:txBody>
                    <a:bodyPr wrap="square"/>
                    <a:lstStyle/>
                    <a:p>
                      <a:pPr algn="r"/>
                      <a:r>
                        <a:rPr sz="850" b="1">
                          <a:solidFill>
                            <a:srgbClr val="0F172A"/>
                          </a:solidFill>
                          <a:latin typeface="Inter"/>
                        </a:rPr>
                        <a:t>61%</a:t>
                      </a:r>
                    </a:p>
                  </a:txBody>
                  <a:tcPr marL="54864" marR="54864" marT="27432" marB="27432" anchor="ctr">
                    <a:solidFill>
                      <a:srgbClr val="F6F3EC"/>
                    </a:solidFill>
                  </a:tcPr>
                </a:tc>
              </a:tr>
              <a:tr h="246888">
                <a:tc>
                  <a:txBody>
                    <a:bodyPr wrap="square"/>
                    <a:lstStyle/>
                    <a:p>
                      <a:pPr algn="l"/>
                      <a:r>
                        <a:rPr sz="850" b="0">
                          <a:solidFill>
                            <a:srgbClr val="0F172A"/>
                          </a:solidFill>
                          <a:latin typeface="Inter"/>
                        </a:rPr>
                        <a:t>Oct 18</a:t>
                      </a:r>
                    </a:p>
                  </a:txBody>
                  <a:tcPr marL="54864" marR="54864" marT="27432" marB="27432" anchor="ctr">
                    <a:solidFill>
                      <a:srgbClr val="FFFFFF"/>
                    </a:solidFill>
                  </a:tcPr>
                </a:tc>
                <a:tc>
                  <a:txBody>
                    <a:bodyPr wrap="square"/>
                    <a:lstStyle/>
                    <a:p>
                      <a:pPr algn="r"/>
                      <a:r>
                        <a:rPr sz="850" b="0">
                          <a:solidFill>
                            <a:srgbClr val="0F172A"/>
                          </a:solidFill>
                          <a:latin typeface="Inter"/>
                        </a:rPr>
                        <a:t>Sun</a:t>
                      </a:r>
                    </a:p>
                  </a:txBody>
                  <a:tcPr marL="54864" marR="54864" marT="27432" marB="27432" anchor="ctr">
                    <a:solidFill>
                      <a:srgbClr val="FFFFFF"/>
                    </a:solidFill>
                  </a:tcPr>
                </a:tc>
                <a:tc>
                  <a:txBody>
                    <a:bodyPr wrap="square"/>
                    <a:lstStyle/>
                    <a:p>
                      <a:pPr algn="r"/>
                      <a:r>
                        <a:rPr sz="850" b="0">
                          <a:solidFill>
                            <a:srgbClr val="0F172A"/>
                          </a:solidFill>
                          <a:latin typeface="Inter"/>
                        </a:rPr>
                        <a:t>$10,572</a:t>
                      </a:r>
                    </a:p>
                  </a:txBody>
                  <a:tcPr marL="54864" marR="54864" marT="27432" marB="27432" anchor="ctr">
                    <a:solidFill>
                      <a:srgbClr val="FFFFFF"/>
                    </a:solidFill>
                  </a:tcPr>
                </a:tc>
                <a:tc>
                  <a:txBody>
                    <a:bodyPr wrap="square"/>
                    <a:lstStyle/>
                    <a:p>
                      <a:pPr algn="r"/>
                      <a:r>
                        <a:rPr sz="850" b="0">
                          <a:solidFill>
                            <a:srgbClr val="0F172A"/>
                          </a:solidFill>
                          <a:latin typeface="Inter"/>
                        </a:rPr>
                        <a:t>$691</a:t>
                      </a:r>
                    </a:p>
                  </a:txBody>
                  <a:tcPr marL="54864" marR="54864" marT="27432" marB="27432" anchor="ctr">
                    <a:solidFill>
                      <a:srgbClr val="FFFFFF"/>
                    </a:solidFill>
                  </a:tcPr>
                </a:tc>
                <a:tc>
                  <a:txBody>
                    <a:bodyPr wrap="square"/>
                    <a:lstStyle/>
                    <a:p>
                      <a:pPr algn="r"/>
                      <a:r>
                        <a:rPr sz="850" b="0">
                          <a:solidFill>
                            <a:srgbClr val="0F172A"/>
                          </a:solidFill>
                          <a:latin typeface="Inter"/>
                        </a:rPr>
                        <a:t>$6,640</a:t>
                      </a:r>
                    </a:p>
                  </a:txBody>
                  <a:tcPr marL="54864" marR="54864" marT="27432" marB="27432" anchor="ctr">
                    <a:solidFill>
                      <a:srgbClr val="FFFFFF"/>
                    </a:solidFill>
                  </a:tcPr>
                </a:tc>
                <a:tc>
                  <a:txBody>
                    <a:bodyPr wrap="square"/>
                    <a:lstStyle/>
                    <a:p>
                      <a:pPr algn="r"/>
                      <a:r>
                        <a:rPr sz="850" b="0">
                          <a:solidFill>
                            <a:srgbClr val="0F172A"/>
                          </a:solidFill>
                          <a:latin typeface="Inter"/>
                        </a:rPr>
                        <a:t>9.61x</a:t>
                      </a:r>
                    </a:p>
                  </a:txBody>
                  <a:tcPr marL="54864" marR="54864" marT="27432" marB="27432" anchor="ctr">
                    <a:solidFill>
                      <a:srgbClr val="FFFFFF"/>
                    </a:solidFill>
                  </a:tcPr>
                </a:tc>
                <a:tc>
                  <a:txBody>
                    <a:bodyPr wrap="square"/>
                    <a:lstStyle/>
                    <a:p>
                      <a:pPr algn="r"/>
                      <a:r>
                        <a:rPr sz="850" b="0">
                          <a:solidFill>
                            <a:srgbClr val="0F172A"/>
                          </a:solidFill>
                          <a:latin typeface="Inter"/>
                        </a:rPr>
                        <a:t>10.4%</a:t>
                      </a:r>
                    </a:p>
                  </a:txBody>
                  <a:tcPr marL="54864" marR="54864" marT="27432" marB="27432" anchor="ctr">
                    <a:solidFill>
                      <a:srgbClr val="FFFFFF"/>
                    </a:solidFill>
                  </a:tcPr>
                </a:tc>
                <a:tc>
                  <a:txBody>
                    <a:bodyPr wrap="square"/>
                    <a:lstStyle/>
                    <a:p>
                      <a:pPr algn="r"/>
                      <a:r>
                        <a:rPr sz="850" b="0">
                          <a:solidFill>
                            <a:srgbClr val="0F172A"/>
                          </a:solidFill>
                          <a:latin typeface="Inter"/>
                        </a:rPr>
                        <a:t>6.5%</a:t>
                      </a:r>
                    </a:p>
                  </a:txBody>
                  <a:tcPr marL="54864" marR="54864" marT="27432" marB="27432" anchor="ctr">
                    <a:solidFill>
                      <a:srgbClr val="FFFFFF"/>
                    </a:solidFill>
                  </a:tcPr>
                </a:tc>
                <a:tc>
                  <a:txBody>
                    <a:bodyPr wrap="square"/>
                    <a:lstStyle/>
                    <a:p>
                      <a:pPr algn="r"/>
                      <a:r>
                        <a:rPr sz="850" b="0">
                          <a:solidFill>
                            <a:srgbClr val="0F172A"/>
                          </a:solidFill>
                          <a:latin typeface="Inter"/>
                        </a:rPr>
                        <a:t>24</a:t>
                      </a:r>
                    </a:p>
                  </a:txBody>
                  <a:tcPr marL="54864" marR="54864" marT="27432" marB="27432" anchor="ctr">
                    <a:solidFill>
                      <a:srgbClr val="FFFFFF"/>
                    </a:solidFill>
                  </a:tcPr>
                </a:tc>
                <a:tc>
                  <a:txBody>
                    <a:bodyPr wrap="square"/>
                    <a:lstStyle/>
                    <a:p>
                      <a:pPr algn="r"/>
                      <a:r>
                        <a:rPr sz="850" b="0">
                          <a:solidFill>
                            <a:srgbClr val="0F172A"/>
                          </a:solidFill>
                          <a:latin typeface="Inter"/>
                        </a:rPr>
                        <a:t>17</a:t>
                      </a:r>
                    </a:p>
                  </a:txBody>
                  <a:tcPr marL="54864" marR="54864" marT="27432" marB="27432" anchor="ctr">
                    <a:solidFill>
                      <a:srgbClr val="FFFFFF"/>
                    </a:solidFill>
                  </a:tcPr>
                </a:tc>
                <a:tc>
                  <a:txBody>
                    <a:bodyPr wrap="square"/>
                    <a:lstStyle/>
                    <a:p>
                      <a:pPr algn="r"/>
                      <a:r>
                        <a:rPr sz="850" b="0">
                          <a:solidFill>
                            <a:srgbClr val="0F172A"/>
                          </a:solidFill>
                          <a:latin typeface="Inter"/>
                        </a:rPr>
                        <a:t>$3,932</a:t>
                      </a:r>
                    </a:p>
                  </a:txBody>
                  <a:tcPr marL="54864" marR="54864" marT="27432" marB="27432" anchor="ctr">
                    <a:solidFill>
                      <a:srgbClr val="FFFFFF"/>
                    </a:solidFill>
                  </a:tcPr>
                </a:tc>
                <a:tc>
                  <a:txBody>
                    <a:bodyPr wrap="square"/>
                    <a:lstStyle/>
                    <a:p>
                      <a:pPr algn="r"/>
                      <a:r>
                        <a:rPr sz="850" b="0">
                          <a:solidFill>
                            <a:srgbClr val="0F172A"/>
                          </a:solidFill>
                          <a:latin typeface="Inter"/>
                        </a:rPr>
                        <a:t>63%</a:t>
                      </a:r>
                    </a:p>
                  </a:txBody>
                  <a:tcPr marL="54864" marR="54864" marT="27432" marB="27432" anchor="ctr">
                    <a:solidFill>
                      <a:srgbClr val="FFFFFF"/>
                    </a:solidFill>
                  </a:tcPr>
                </a:tc>
              </a:tr>
              <a:tr h="246888">
                <a:tc>
                  <a:txBody>
                    <a:bodyPr wrap="square"/>
                    <a:lstStyle/>
                    <a:p>
                      <a:pPr algn="l"/>
                      <a:r>
                        <a:rPr sz="850" b="0">
                          <a:solidFill>
                            <a:srgbClr val="0F172A"/>
                          </a:solidFill>
                          <a:latin typeface="Inter"/>
                        </a:rPr>
                        <a:t>Oct 19</a:t>
                      </a:r>
                    </a:p>
                  </a:txBody>
                  <a:tcPr marL="54864" marR="54864" marT="27432" marB="27432" anchor="ctr">
                    <a:solidFill>
                      <a:srgbClr val="FBFAF7"/>
                    </a:solidFill>
                  </a:tcPr>
                </a:tc>
                <a:tc>
                  <a:txBody>
                    <a:bodyPr wrap="square"/>
                    <a:lstStyle/>
                    <a:p>
                      <a:pPr algn="r"/>
                      <a:r>
                        <a:rPr sz="850" b="0">
                          <a:solidFill>
                            <a:srgbClr val="0F172A"/>
                          </a:solidFill>
                          <a:latin typeface="Inter"/>
                        </a:rPr>
                        <a:t>Mon</a:t>
                      </a:r>
                    </a:p>
                  </a:txBody>
                  <a:tcPr marL="54864" marR="54864" marT="27432" marB="27432" anchor="ctr">
                    <a:solidFill>
                      <a:srgbClr val="FBFAF7"/>
                    </a:solidFill>
                  </a:tcPr>
                </a:tc>
                <a:tc>
                  <a:txBody>
                    <a:bodyPr wrap="square"/>
                    <a:lstStyle/>
                    <a:p>
                      <a:pPr algn="r"/>
                      <a:r>
                        <a:rPr sz="850" b="0">
                          <a:solidFill>
                            <a:srgbClr val="0F172A"/>
                          </a:solidFill>
                          <a:latin typeface="Inter"/>
                        </a:rPr>
                        <a:t>$7,654</a:t>
                      </a:r>
                    </a:p>
                  </a:txBody>
                  <a:tcPr marL="54864" marR="54864" marT="27432" marB="27432" anchor="ctr">
                    <a:solidFill>
                      <a:srgbClr val="FBFAF7"/>
                    </a:solidFill>
                  </a:tcPr>
                </a:tc>
                <a:tc>
                  <a:txBody>
                    <a:bodyPr wrap="square"/>
                    <a:lstStyle/>
                    <a:p>
                      <a:pPr algn="r"/>
                      <a:r>
                        <a:rPr sz="850" b="0">
                          <a:solidFill>
                            <a:srgbClr val="0F172A"/>
                          </a:solidFill>
                          <a:latin typeface="Inter"/>
                        </a:rPr>
                        <a:t>$474</a:t>
                      </a:r>
                    </a:p>
                  </a:txBody>
                  <a:tcPr marL="54864" marR="54864" marT="27432" marB="27432" anchor="ctr">
                    <a:solidFill>
                      <a:srgbClr val="FBFAF7"/>
                    </a:solidFill>
                  </a:tcPr>
                </a:tc>
                <a:tc>
                  <a:txBody>
                    <a:bodyPr wrap="square"/>
                    <a:lstStyle/>
                    <a:p>
                      <a:pPr algn="r"/>
                      <a:r>
                        <a:rPr sz="850" b="0">
                          <a:solidFill>
                            <a:srgbClr val="0F172A"/>
                          </a:solidFill>
                          <a:latin typeface="Inter"/>
                        </a:rPr>
                        <a:t>$5,395</a:t>
                      </a:r>
                    </a:p>
                  </a:txBody>
                  <a:tcPr marL="54864" marR="54864" marT="27432" marB="27432" anchor="ctr">
                    <a:solidFill>
                      <a:srgbClr val="FBFAF7"/>
                    </a:solidFill>
                  </a:tcPr>
                </a:tc>
                <a:tc>
                  <a:txBody>
                    <a:bodyPr wrap="square"/>
                    <a:lstStyle/>
                    <a:p>
                      <a:pPr algn="r"/>
                      <a:r>
                        <a:rPr sz="850" b="0">
                          <a:solidFill>
                            <a:srgbClr val="0F172A"/>
                          </a:solidFill>
                          <a:latin typeface="Inter"/>
                        </a:rPr>
                        <a:t>11.39x</a:t>
                      </a:r>
                    </a:p>
                  </a:txBody>
                  <a:tcPr marL="54864" marR="54864" marT="27432" marB="27432" anchor="ctr">
                    <a:solidFill>
                      <a:srgbClr val="FBFAF7"/>
                    </a:solidFill>
                  </a:tcPr>
                </a:tc>
                <a:tc>
                  <a:txBody>
                    <a:bodyPr wrap="square"/>
                    <a:lstStyle/>
                    <a:p>
                      <a:pPr algn="r"/>
                      <a:r>
                        <a:rPr sz="850" b="0">
                          <a:solidFill>
                            <a:srgbClr val="0F172A"/>
                          </a:solidFill>
                          <a:latin typeface="Inter"/>
                        </a:rPr>
                        <a:t>8.8%</a:t>
                      </a:r>
                    </a:p>
                  </a:txBody>
                  <a:tcPr marL="54864" marR="54864" marT="27432" marB="27432" anchor="ctr">
                    <a:solidFill>
                      <a:srgbClr val="FBFAF7"/>
                    </a:solidFill>
                  </a:tcPr>
                </a:tc>
                <a:tc>
                  <a:txBody>
                    <a:bodyPr wrap="square"/>
                    <a:lstStyle/>
                    <a:p>
                      <a:pPr algn="r"/>
                      <a:r>
                        <a:rPr sz="850" b="0">
                          <a:solidFill>
                            <a:srgbClr val="0F172A"/>
                          </a:solidFill>
                          <a:latin typeface="Inter"/>
                        </a:rPr>
                        <a:t>6.2%</a:t>
                      </a:r>
                    </a:p>
                  </a:txBody>
                  <a:tcPr marL="54864" marR="54864" marT="27432" marB="27432" anchor="ctr">
                    <a:solidFill>
                      <a:srgbClr val="FBFAF7"/>
                    </a:solidFill>
                  </a:tcPr>
                </a:tc>
                <a:tc>
                  <a:txBody>
                    <a:bodyPr wrap="square"/>
                    <a:lstStyle/>
                    <a:p>
                      <a:pPr algn="r"/>
                      <a:r>
                        <a:rPr sz="850" b="0">
                          <a:solidFill>
                            <a:srgbClr val="0F172A"/>
                          </a:solidFill>
                          <a:latin typeface="Inter"/>
                        </a:rPr>
                        <a:t>15</a:t>
                      </a:r>
                    </a:p>
                  </a:txBody>
                  <a:tcPr marL="54864" marR="54864" marT="27432" marB="27432" anchor="ctr">
                    <a:solidFill>
                      <a:srgbClr val="FBFAF7"/>
                    </a:solidFill>
                  </a:tcPr>
                </a:tc>
                <a:tc>
                  <a:txBody>
                    <a:bodyPr wrap="square"/>
                    <a:lstStyle/>
                    <a:p>
                      <a:pPr algn="r"/>
                      <a:r>
                        <a:rPr sz="850" b="0">
                          <a:solidFill>
                            <a:srgbClr val="0F172A"/>
                          </a:solidFill>
                          <a:latin typeface="Inter"/>
                        </a:rPr>
                        <a:t>13</a:t>
                      </a:r>
                    </a:p>
                  </a:txBody>
                  <a:tcPr marL="54864" marR="54864" marT="27432" marB="27432" anchor="ctr">
                    <a:solidFill>
                      <a:srgbClr val="FBFAF7"/>
                    </a:solidFill>
                  </a:tcPr>
                </a:tc>
                <a:tc>
                  <a:txBody>
                    <a:bodyPr wrap="square"/>
                    <a:lstStyle/>
                    <a:p>
                      <a:pPr algn="r"/>
                      <a:r>
                        <a:rPr sz="850" b="0">
                          <a:solidFill>
                            <a:srgbClr val="0F172A"/>
                          </a:solidFill>
                          <a:latin typeface="Inter"/>
                        </a:rPr>
                        <a:t>$2,260</a:t>
                      </a:r>
                    </a:p>
                  </a:txBody>
                  <a:tcPr marL="54864" marR="54864" marT="27432" marB="27432" anchor="ctr">
                    <a:solidFill>
                      <a:srgbClr val="FBFAF7"/>
                    </a:solidFill>
                  </a:tcPr>
                </a:tc>
                <a:tc>
                  <a:txBody>
                    <a:bodyPr wrap="square"/>
                    <a:lstStyle/>
                    <a:p>
                      <a:pPr algn="r"/>
                      <a:r>
                        <a:rPr sz="850" b="0">
                          <a:solidFill>
                            <a:srgbClr val="0F172A"/>
                          </a:solidFill>
                          <a:latin typeface="Inter"/>
                        </a:rPr>
                        <a:t>70%</a:t>
                      </a:r>
                    </a:p>
                  </a:txBody>
                  <a:tcPr marL="54864" marR="54864" marT="27432" marB="27432" anchor="ctr">
                    <a:solidFill>
                      <a:srgbClr val="FBFAF7"/>
                    </a:solidFill>
                  </a:tcPr>
                </a:tc>
              </a:tr>
              <a:tr h="246888">
                <a:tc>
                  <a:txBody>
                    <a:bodyPr wrap="square"/>
                    <a:lstStyle/>
                    <a:p>
                      <a:pPr algn="l"/>
                      <a:r>
                        <a:rPr sz="850" b="0">
                          <a:solidFill>
                            <a:srgbClr val="0F172A"/>
                          </a:solidFill>
                          <a:latin typeface="Inter"/>
                        </a:rPr>
                        <a:t>Oct 20</a:t>
                      </a:r>
                    </a:p>
                  </a:txBody>
                  <a:tcPr marL="54864" marR="54864" marT="27432" marB="27432" anchor="ctr">
                    <a:solidFill>
                      <a:srgbClr val="FFFFFF"/>
                    </a:solidFill>
                  </a:tcPr>
                </a:tc>
                <a:tc>
                  <a:txBody>
                    <a:bodyPr wrap="square"/>
                    <a:lstStyle/>
                    <a:p>
                      <a:pPr algn="r"/>
                      <a:r>
                        <a:rPr sz="850" b="0">
                          <a:solidFill>
                            <a:srgbClr val="0F172A"/>
                          </a:solidFill>
                          <a:latin typeface="Inter"/>
                        </a:rPr>
                        <a:t>Tue</a:t>
                      </a:r>
                    </a:p>
                  </a:txBody>
                  <a:tcPr marL="54864" marR="54864" marT="27432" marB="27432" anchor="ctr">
                    <a:solidFill>
                      <a:srgbClr val="FFFFFF"/>
                    </a:solidFill>
                  </a:tcPr>
                </a:tc>
                <a:tc>
                  <a:txBody>
                    <a:bodyPr wrap="square"/>
                    <a:lstStyle/>
                    <a:p>
                      <a:pPr algn="r"/>
                      <a:r>
                        <a:rPr sz="850" b="0">
                          <a:solidFill>
                            <a:srgbClr val="0F172A"/>
                          </a:solidFill>
                          <a:latin typeface="Inter"/>
                        </a:rPr>
                        <a:t>$8,864</a:t>
                      </a:r>
                    </a:p>
                  </a:txBody>
                  <a:tcPr marL="54864" marR="54864" marT="27432" marB="27432" anchor="ctr">
                    <a:solidFill>
                      <a:srgbClr val="FFFFFF"/>
                    </a:solidFill>
                  </a:tcPr>
                </a:tc>
                <a:tc>
                  <a:txBody>
                    <a:bodyPr wrap="square"/>
                    <a:lstStyle/>
                    <a:p>
                      <a:pPr algn="r"/>
                      <a:r>
                        <a:rPr sz="850" b="0">
                          <a:solidFill>
                            <a:srgbClr val="0F172A"/>
                          </a:solidFill>
                          <a:latin typeface="Inter"/>
                        </a:rPr>
                        <a:t>$458</a:t>
                      </a:r>
                    </a:p>
                  </a:txBody>
                  <a:tcPr marL="54864" marR="54864" marT="27432" marB="27432" anchor="ctr">
                    <a:solidFill>
                      <a:srgbClr val="FFFFFF"/>
                    </a:solidFill>
                  </a:tcPr>
                </a:tc>
                <a:tc>
                  <a:txBody>
                    <a:bodyPr wrap="square"/>
                    <a:lstStyle/>
                    <a:p>
                      <a:pPr algn="r"/>
                      <a:r>
                        <a:rPr sz="850" b="0">
                          <a:solidFill>
                            <a:srgbClr val="0F172A"/>
                          </a:solidFill>
                          <a:latin typeface="Inter"/>
                        </a:rPr>
                        <a:t>$5,446</a:t>
                      </a:r>
                    </a:p>
                  </a:txBody>
                  <a:tcPr marL="54864" marR="54864" marT="27432" marB="27432" anchor="ctr">
                    <a:solidFill>
                      <a:srgbClr val="FFFFFF"/>
                    </a:solidFill>
                  </a:tcPr>
                </a:tc>
                <a:tc>
                  <a:txBody>
                    <a:bodyPr wrap="square"/>
                    <a:lstStyle/>
                    <a:p>
                      <a:pPr algn="r"/>
                      <a:r>
                        <a:rPr sz="850" b="0">
                          <a:solidFill>
                            <a:srgbClr val="0F172A"/>
                          </a:solidFill>
                          <a:latin typeface="Inter"/>
                        </a:rPr>
                        <a:t>11.88x</a:t>
                      </a:r>
                    </a:p>
                  </a:txBody>
                  <a:tcPr marL="54864" marR="54864" marT="27432" marB="27432" anchor="ctr">
                    <a:solidFill>
                      <a:srgbClr val="FFFFFF"/>
                    </a:solidFill>
                  </a:tcPr>
                </a:tc>
                <a:tc>
                  <a:txBody>
                    <a:bodyPr wrap="square"/>
                    <a:lstStyle/>
                    <a:p>
                      <a:pPr algn="r"/>
                      <a:r>
                        <a:rPr sz="850" b="0">
                          <a:solidFill>
                            <a:srgbClr val="0F172A"/>
                          </a:solidFill>
                          <a:latin typeface="Inter"/>
                        </a:rPr>
                        <a:t>8.4%</a:t>
                      </a:r>
                    </a:p>
                  </a:txBody>
                  <a:tcPr marL="54864" marR="54864" marT="27432" marB="27432" anchor="ctr">
                    <a:solidFill>
                      <a:srgbClr val="FFFFFF"/>
                    </a:solidFill>
                  </a:tcPr>
                </a:tc>
                <a:tc>
                  <a:txBody>
                    <a:bodyPr wrap="square"/>
                    <a:lstStyle/>
                    <a:p>
                      <a:pPr algn="r"/>
                      <a:r>
                        <a:rPr sz="850" b="0">
                          <a:solidFill>
                            <a:srgbClr val="0F172A"/>
                          </a:solidFill>
                          <a:latin typeface="Inter"/>
                        </a:rPr>
                        <a:t>5.2%</a:t>
                      </a:r>
                    </a:p>
                  </a:txBody>
                  <a:tcPr marL="54864" marR="54864" marT="27432" marB="27432" anchor="ctr">
                    <a:solidFill>
                      <a:srgbClr val="FFFFFF"/>
                    </a:solidFill>
                  </a:tcPr>
                </a:tc>
                <a:tc>
                  <a:txBody>
                    <a:bodyPr wrap="square"/>
                    <a:lstStyle/>
                    <a:p>
                      <a:pPr algn="r"/>
                      <a:r>
                        <a:rPr sz="850" b="0">
                          <a:solidFill>
                            <a:srgbClr val="0F172A"/>
                          </a:solidFill>
                          <a:latin typeface="Inter"/>
                        </a:rPr>
                        <a:t>17</a:t>
                      </a:r>
                    </a:p>
                  </a:txBody>
                  <a:tcPr marL="54864" marR="54864" marT="27432" marB="27432" anchor="ctr">
                    <a:solidFill>
                      <a:srgbClr val="FFFFFF"/>
                    </a:solidFill>
                  </a:tcPr>
                </a:tc>
                <a:tc>
                  <a:txBody>
                    <a:bodyPr wrap="square"/>
                    <a:lstStyle/>
                    <a:p>
                      <a:pPr algn="r"/>
                      <a:r>
                        <a:rPr sz="850" b="0">
                          <a:solidFill>
                            <a:srgbClr val="0F172A"/>
                          </a:solidFill>
                          <a:latin typeface="Inter"/>
                        </a:rPr>
                        <a:t>10</a:t>
                      </a:r>
                    </a:p>
                  </a:txBody>
                  <a:tcPr marL="54864" marR="54864" marT="27432" marB="27432" anchor="ctr">
                    <a:solidFill>
                      <a:srgbClr val="FFFFFF"/>
                    </a:solidFill>
                  </a:tcPr>
                </a:tc>
                <a:tc>
                  <a:txBody>
                    <a:bodyPr wrap="square"/>
                    <a:lstStyle/>
                    <a:p>
                      <a:pPr algn="r"/>
                      <a:r>
                        <a:rPr sz="850" b="0">
                          <a:solidFill>
                            <a:srgbClr val="0F172A"/>
                          </a:solidFill>
                          <a:latin typeface="Inter"/>
                        </a:rPr>
                        <a:t>$3,418</a:t>
                      </a:r>
                    </a:p>
                  </a:txBody>
                  <a:tcPr marL="54864" marR="54864" marT="27432" marB="27432" anchor="ctr">
                    <a:solidFill>
                      <a:srgbClr val="FFFFFF"/>
                    </a:solidFill>
                  </a:tcPr>
                </a:tc>
                <a:tc>
                  <a:txBody>
                    <a:bodyPr wrap="square"/>
                    <a:lstStyle/>
                    <a:p>
                      <a:pPr algn="r"/>
                      <a:r>
                        <a:rPr sz="850" b="0">
                          <a:solidFill>
                            <a:srgbClr val="0F172A"/>
                          </a:solidFill>
                          <a:latin typeface="Inter"/>
                        </a:rPr>
                        <a:t>61%</a:t>
                      </a:r>
                    </a:p>
                  </a:txBody>
                  <a:tcPr marL="54864" marR="54864" marT="27432" marB="27432" anchor="ctr">
                    <a:solidFill>
                      <a:srgbClr val="FFFFFF"/>
                    </a:solidFill>
                  </a:tcPr>
                </a:tc>
              </a:tr>
              <a:tr h="246888">
                <a:tc>
                  <a:txBody>
                    <a:bodyPr wrap="square"/>
                    <a:lstStyle/>
                    <a:p>
                      <a:pPr algn="l"/>
                      <a:r>
                        <a:rPr sz="850" b="0">
                          <a:solidFill>
                            <a:srgbClr val="0F172A"/>
                          </a:solidFill>
                          <a:latin typeface="Inter"/>
                        </a:rPr>
                        <a:t>Oct 21</a:t>
                      </a:r>
                    </a:p>
                  </a:txBody>
                  <a:tcPr marL="54864" marR="54864" marT="27432" marB="27432" anchor="ctr">
                    <a:solidFill>
                      <a:srgbClr val="FBFAF7"/>
                    </a:solidFill>
                  </a:tcPr>
                </a:tc>
                <a:tc>
                  <a:txBody>
                    <a:bodyPr wrap="square"/>
                    <a:lstStyle/>
                    <a:p>
                      <a:pPr algn="r"/>
                      <a:r>
                        <a:rPr sz="850" b="0">
                          <a:solidFill>
                            <a:srgbClr val="0F172A"/>
                          </a:solidFill>
                          <a:latin typeface="Inter"/>
                        </a:rPr>
                        <a:t>Wed</a:t>
                      </a:r>
                    </a:p>
                  </a:txBody>
                  <a:tcPr marL="54864" marR="54864" marT="27432" marB="27432" anchor="ctr">
                    <a:solidFill>
                      <a:srgbClr val="FBFAF7"/>
                    </a:solidFill>
                  </a:tcPr>
                </a:tc>
                <a:tc>
                  <a:txBody>
                    <a:bodyPr wrap="square"/>
                    <a:lstStyle/>
                    <a:p>
                      <a:pPr algn="r"/>
                      <a:r>
                        <a:rPr sz="850" b="0">
                          <a:solidFill>
                            <a:srgbClr val="0F172A"/>
                          </a:solidFill>
                          <a:latin typeface="Inter"/>
                        </a:rPr>
                        <a:t>$8,931</a:t>
                      </a:r>
                    </a:p>
                  </a:txBody>
                  <a:tcPr marL="54864" marR="54864" marT="27432" marB="27432" anchor="ctr">
                    <a:solidFill>
                      <a:srgbClr val="FBFAF7"/>
                    </a:solidFill>
                  </a:tcPr>
                </a:tc>
                <a:tc>
                  <a:txBody>
                    <a:bodyPr wrap="square"/>
                    <a:lstStyle/>
                    <a:p>
                      <a:pPr algn="r"/>
                      <a:r>
                        <a:rPr sz="850" b="0">
                          <a:solidFill>
                            <a:srgbClr val="0F172A"/>
                          </a:solidFill>
                          <a:latin typeface="Inter"/>
                        </a:rPr>
                        <a:t>$399</a:t>
                      </a:r>
                    </a:p>
                  </a:txBody>
                  <a:tcPr marL="54864" marR="54864" marT="27432" marB="27432" anchor="ctr">
                    <a:solidFill>
                      <a:srgbClr val="FBFAF7"/>
                    </a:solidFill>
                  </a:tcPr>
                </a:tc>
                <a:tc>
                  <a:txBody>
                    <a:bodyPr wrap="square"/>
                    <a:lstStyle/>
                    <a:p>
                      <a:pPr algn="r"/>
                      <a:r>
                        <a:rPr sz="850" b="0">
                          <a:solidFill>
                            <a:srgbClr val="0F172A"/>
                          </a:solidFill>
                          <a:latin typeface="Inter"/>
                        </a:rPr>
                        <a:t>$3,987</a:t>
                      </a:r>
                    </a:p>
                  </a:txBody>
                  <a:tcPr marL="54864" marR="54864" marT="27432" marB="27432" anchor="ctr">
                    <a:solidFill>
                      <a:srgbClr val="FBFAF7"/>
                    </a:solidFill>
                  </a:tcPr>
                </a:tc>
                <a:tc>
                  <a:txBody>
                    <a:bodyPr wrap="square"/>
                    <a:lstStyle/>
                    <a:p>
                      <a:pPr algn="r"/>
                      <a:r>
                        <a:rPr sz="850" b="0">
                          <a:solidFill>
                            <a:srgbClr val="0F172A"/>
                          </a:solidFill>
                          <a:latin typeface="Inter"/>
                        </a:rPr>
                        <a:t>9.99x</a:t>
                      </a:r>
                    </a:p>
                  </a:txBody>
                  <a:tcPr marL="54864" marR="54864" marT="27432" marB="27432" anchor="ctr">
                    <a:solidFill>
                      <a:srgbClr val="FBFAF7"/>
                    </a:solidFill>
                  </a:tcPr>
                </a:tc>
                <a:tc>
                  <a:txBody>
                    <a:bodyPr wrap="square"/>
                    <a:lstStyle/>
                    <a:p>
                      <a:pPr algn="r"/>
                      <a:r>
                        <a:rPr sz="850" b="0">
                          <a:solidFill>
                            <a:srgbClr val="0F172A"/>
                          </a:solidFill>
                          <a:latin typeface="Inter"/>
                        </a:rPr>
                        <a:t>10.0%</a:t>
                      </a:r>
                    </a:p>
                  </a:txBody>
                  <a:tcPr marL="54864" marR="54864" marT="27432" marB="27432" anchor="ctr">
                    <a:solidFill>
                      <a:srgbClr val="FBFAF7"/>
                    </a:solidFill>
                  </a:tcPr>
                </a:tc>
                <a:tc>
                  <a:txBody>
                    <a:bodyPr wrap="square"/>
                    <a:lstStyle/>
                    <a:p>
                      <a:pPr algn="r"/>
                      <a:r>
                        <a:rPr sz="850" b="0">
                          <a:solidFill>
                            <a:srgbClr val="0F172A"/>
                          </a:solidFill>
                          <a:latin typeface="Inter"/>
                        </a:rPr>
                        <a:t>4.5%</a:t>
                      </a:r>
                    </a:p>
                  </a:txBody>
                  <a:tcPr marL="54864" marR="54864" marT="27432" marB="27432" anchor="ctr">
                    <a:solidFill>
                      <a:srgbClr val="FBFAF7"/>
                    </a:solidFill>
                  </a:tcPr>
                </a:tc>
                <a:tc>
                  <a:txBody>
                    <a:bodyPr wrap="square"/>
                    <a:lstStyle/>
                    <a:p>
                      <a:pPr algn="r"/>
                      <a:r>
                        <a:rPr sz="850" b="0">
                          <a:solidFill>
                            <a:srgbClr val="0F172A"/>
                          </a:solidFill>
                          <a:latin typeface="Inter"/>
                        </a:rPr>
                        <a:t>18</a:t>
                      </a:r>
                    </a:p>
                  </a:txBody>
                  <a:tcPr marL="54864" marR="54864" marT="27432" marB="27432" anchor="ctr">
                    <a:solidFill>
                      <a:srgbClr val="FBFAF7"/>
                    </a:solidFill>
                  </a:tcPr>
                </a:tc>
                <a:tc>
                  <a:txBody>
                    <a:bodyPr wrap="square"/>
                    <a:lstStyle/>
                    <a:p>
                      <a:pPr algn="r"/>
                      <a:r>
                        <a:rPr sz="850" b="0">
                          <a:solidFill>
                            <a:srgbClr val="0F172A"/>
                          </a:solidFill>
                          <a:latin typeface="Inter"/>
                        </a:rPr>
                        <a:t>9</a:t>
                      </a:r>
                    </a:p>
                  </a:txBody>
                  <a:tcPr marL="54864" marR="54864" marT="27432" marB="27432" anchor="ctr">
                    <a:solidFill>
                      <a:srgbClr val="FBFAF7"/>
                    </a:solidFill>
                  </a:tcPr>
                </a:tc>
                <a:tc>
                  <a:txBody>
                    <a:bodyPr wrap="square"/>
                    <a:lstStyle/>
                    <a:p>
                      <a:pPr algn="r"/>
                      <a:r>
                        <a:rPr sz="850" b="0">
                          <a:solidFill>
                            <a:srgbClr val="0F172A"/>
                          </a:solidFill>
                          <a:latin typeface="Inter"/>
                        </a:rPr>
                        <a:t>$4,944</a:t>
                      </a:r>
                    </a:p>
                  </a:txBody>
                  <a:tcPr marL="54864" marR="54864" marT="27432" marB="27432" anchor="ctr">
                    <a:solidFill>
                      <a:srgbClr val="FBFAF7"/>
                    </a:solidFill>
                  </a:tcPr>
                </a:tc>
                <a:tc>
                  <a:txBody>
                    <a:bodyPr wrap="square"/>
                    <a:lstStyle/>
                    <a:p>
                      <a:pPr algn="r"/>
                      <a:r>
                        <a:rPr sz="850" b="0">
                          <a:solidFill>
                            <a:srgbClr val="0F172A"/>
                          </a:solidFill>
                          <a:latin typeface="Inter"/>
                        </a:rPr>
                        <a:t>45%</a:t>
                      </a:r>
                    </a:p>
                  </a:txBody>
                  <a:tcPr marL="54864" marR="54864" marT="27432" marB="27432" anchor="ctr">
                    <a:solidFill>
                      <a:srgbClr val="FBFAF7"/>
                    </a:solidFill>
                  </a:tcPr>
                </a:tc>
              </a:tr>
              <a:tr h="246888">
                <a:tc>
                  <a:txBody>
                    <a:bodyPr wrap="square"/>
                    <a:lstStyle/>
                    <a:p>
                      <a:pPr algn="l"/>
                      <a:r>
                        <a:rPr sz="850" b="0">
                          <a:solidFill>
                            <a:srgbClr val="0F172A"/>
                          </a:solidFill>
                          <a:latin typeface="Inter"/>
                        </a:rPr>
                        <a:t>Oct 22</a:t>
                      </a:r>
                    </a:p>
                  </a:txBody>
                  <a:tcPr marL="54864" marR="54864" marT="27432" marB="27432" anchor="ctr">
                    <a:solidFill>
                      <a:srgbClr val="FFFFFF"/>
                    </a:solidFill>
                  </a:tcPr>
                </a:tc>
                <a:tc>
                  <a:txBody>
                    <a:bodyPr wrap="square"/>
                    <a:lstStyle/>
                    <a:p>
                      <a:pPr algn="r"/>
                      <a:r>
                        <a:rPr sz="850" b="0">
                          <a:solidFill>
                            <a:srgbClr val="0F172A"/>
                          </a:solidFill>
                          <a:latin typeface="Inter"/>
                        </a:rPr>
                        <a:t>Thu</a:t>
                      </a:r>
                    </a:p>
                  </a:txBody>
                  <a:tcPr marL="54864" marR="54864" marT="27432" marB="27432" anchor="ctr">
                    <a:solidFill>
                      <a:srgbClr val="FFFFFF"/>
                    </a:solidFill>
                  </a:tcPr>
                </a:tc>
                <a:tc>
                  <a:txBody>
                    <a:bodyPr wrap="square"/>
                    <a:lstStyle/>
                    <a:p>
                      <a:pPr algn="r"/>
                      <a:r>
                        <a:rPr sz="850" b="0">
                          <a:solidFill>
                            <a:srgbClr val="0F172A"/>
                          </a:solidFill>
                          <a:latin typeface="Inter"/>
                        </a:rPr>
                        <a:t>$4,779</a:t>
                      </a:r>
                    </a:p>
                  </a:txBody>
                  <a:tcPr marL="54864" marR="54864" marT="27432" marB="27432" anchor="ctr">
                    <a:solidFill>
                      <a:srgbClr val="FFFFFF"/>
                    </a:solidFill>
                  </a:tcPr>
                </a:tc>
                <a:tc>
                  <a:txBody>
                    <a:bodyPr wrap="square"/>
                    <a:lstStyle/>
                    <a:p>
                      <a:pPr algn="r"/>
                      <a:r>
                        <a:rPr sz="850" b="0">
                          <a:solidFill>
                            <a:srgbClr val="0F172A"/>
                          </a:solidFill>
                          <a:latin typeface="Inter"/>
                        </a:rPr>
                        <a:t>$503</a:t>
                      </a:r>
                    </a:p>
                  </a:txBody>
                  <a:tcPr marL="54864" marR="54864" marT="27432" marB="27432" anchor="ctr">
                    <a:solidFill>
                      <a:srgbClr val="FFFFFF"/>
                    </a:solidFill>
                  </a:tcPr>
                </a:tc>
                <a:tc>
                  <a:txBody>
                    <a:bodyPr wrap="square"/>
                    <a:lstStyle/>
                    <a:p>
                      <a:pPr algn="r"/>
                      <a:r>
                        <a:rPr sz="850" b="0">
                          <a:solidFill>
                            <a:srgbClr val="0F172A"/>
                          </a:solidFill>
                          <a:latin typeface="Inter"/>
                        </a:rPr>
                        <a:t>$3,662</a:t>
                      </a:r>
                    </a:p>
                  </a:txBody>
                  <a:tcPr marL="54864" marR="54864" marT="27432" marB="27432" anchor="ctr">
                    <a:solidFill>
                      <a:srgbClr val="FFFFFF"/>
                    </a:solidFill>
                  </a:tcPr>
                </a:tc>
                <a:tc>
                  <a:txBody>
                    <a:bodyPr wrap="square"/>
                    <a:lstStyle/>
                    <a:p>
                      <a:pPr algn="r"/>
                      <a:r>
                        <a:rPr sz="850" b="0">
                          <a:solidFill>
                            <a:srgbClr val="0F172A"/>
                          </a:solidFill>
                          <a:latin typeface="Inter"/>
                        </a:rPr>
                        <a:t>7.28x</a:t>
                      </a:r>
                    </a:p>
                  </a:txBody>
                  <a:tcPr marL="54864" marR="54864" marT="27432" marB="27432" anchor="ctr">
                    <a:solidFill>
                      <a:srgbClr val="FFFFFF"/>
                    </a:solidFill>
                  </a:tcPr>
                </a:tc>
                <a:tc>
                  <a:txBody>
                    <a:bodyPr wrap="square"/>
                    <a:lstStyle/>
                    <a:p>
                      <a:pPr algn="r"/>
                      <a:r>
                        <a:rPr sz="850" b="0">
                          <a:solidFill>
                            <a:srgbClr val="0F172A"/>
                          </a:solidFill>
                          <a:latin typeface="Inter"/>
                        </a:rPr>
                        <a:t>13.7%</a:t>
                      </a:r>
                    </a:p>
                  </a:txBody>
                  <a:tcPr marL="54864" marR="54864" marT="27432" marB="27432" anchor="ctr">
                    <a:solidFill>
                      <a:srgbClr val="FFFFFF"/>
                    </a:solidFill>
                  </a:tcPr>
                </a:tc>
                <a:tc>
                  <a:txBody>
                    <a:bodyPr wrap="square"/>
                    <a:lstStyle/>
                    <a:p>
                      <a:pPr algn="r"/>
                      <a:r>
                        <a:rPr sz="850" b="0">
                          <a:solidFill>
                            <a:srgbClr val="0F172A"/>
                          </a:solidFill>
                          <a:latin typeface="Inter"/>
                        </a:rPr>
                        <a:t>10.5%</a:t>
                      </a:r>
                    </a:p>
                  </a:txBody>
                  <a:tcPr marL="54864" marR="54864" marT="27432" marB="27432" anchor="ctr">
                    <a:solidFill>
                      <a:srgbClr val="FFFFFF"/>
                    </a:solidFill>
                  </a:tcPr>
                </a:tc>
                <a:tc>
                  <a:txBody>
                    <a:bodyPr wrap="square"/>
                    <a:lstStyle/>
                    <a:p>
                      <a:pPr algn="r"/>
                      <a:r>
                        <a:rPr sz="850" b="0">
                          <a:solidFill>
                            <a:srgbClr val="0F172A"/>
                          </a:solidFill>
                          <a:latin typeface="Inter"/>
                        </a:rPr>
                        <a:t>10</a:t>
                      </a:r>
                    </a:p>
                  </a:txBody>
                  <a:tcPr marL="54864" marR="54864" marT="27432" marB="27432" anchor="ctr">
                    <a:solidFill>
                      <a:srgbClr val="FFFFFF"/>
                    </a:solidFill>
                  </a:tcPr>
                </a:tc>
                <a:tc>
                  <a:txBody>
                    <a:bodyPr wrap="square"/>
                    <a:lstStyle/>
                    <a:p>
                      <a:pPr algn="r"/>
                      <a:r>
                        <a:rPr sz="850" b="0">
                          <a:solidFill>
                            <a:srgbClr val="0F172A"/>
                          </a:solidFill>
                          <a:latin typeface="Inter"/>
                        </a:rPr>
                        <a:t>9</a:t>
                      </a:r>
                    </a:p>
                  </a:txBody>
                  <a:tcPr marL="54864" marR="54864" marT="27432" marB="27432" anchor="ctr">
                    <a:solidFill>
                      <a:srgbClr val="FFFFFF"/>
                    </a:solidFill>
                  </a:tcPr>
                </a:tc>
                <a:tc>
                  <a:txBody>
                    <a:bodyPr wrap="square"/>
                    <a:lstStyle/>
                    <a:p>
                      <a:pPr algn="r"/>
                      <a:r>
                        <a:rPr sz="850" b="0">
                          <a:solidFill>
                            <a:srgbClr val="0F172A"/>
                          </a:solidFill>
                          <a:latin typeface="Inter"/>
                        </a:rPr>
                        <a:t>$1,117</a:t>
                      </a:r>
                    </a:p>
                  </a:txBody>
                  <a:tcPr marL="54864" marR="54864" marT="27432" marB="27432" anchor="ctr">
                    <a:solidFill>
                      <a:srgbClr val="FFFFFF"/>
                    </a:solidFill>
                  </a:tcPr>
                </a:tc>
                <a:tc>
                  <a:txBody>
                    <a:bodyPr wrap="square"/>
                    <a:lstStyle/>
                    <a:p>
                      <a:pPr algn="r"/>
                      <a:r>
                        <a:rPr sz="850" b="0">
                          <a:solidFill>
                            <a:srgbClr val="0F172A"/>
                          </a:solidFill>
                          <a:latin typeface="Inter"/>
                        </a:rPr>
                        <a:t>77%</a:t>
                      </a:r>
                    </a:p>
                  </a:txBody>
                  <a:tcPr marL="54864" marR="54864" marT="27432" marB="27432" anchor="ctr">
                    <a:solidFill>
                      <a:srgbClr val="FFFFFF"/>
                    </a:solidFill>
                  </a:tcPr>
                </a:tc>
              </a:tr>
              <a:tr h="246888">
                <a:tc>
                  <a:txBody>
                    <a:bodyPr wrap="square"/>
                    <a:lstStyle/>
                    <a:p>
                      <a:pPr algn="l"/>
                      <a:r>
                        <a:rPr sz="850" b="0">
                          <a:solidFill>
                            <a:srgbClr val="0F172A"/>
                          </a:solidFill>
                          <a:latin typeface="Inter"/>
                        </a:rPr>
                        <a:t>Oct 23</a:t>
                      </a:r>
                    </a:p>
                  </a:txBody>
                  <a:tcPr marL="54864" marR="54864" marT="27432" marB="27432" anchor="ctr">
                    <a:solidFill>
                      <a:srgbClr val="FBFAF7"/>
                    </a:solidFill>
                  </a:tcPr>
                </a:tc>
                <a:tc>
                  <a:txBody>
                    <a:bodyPr wrap="square"/>
                    <a:lstStyle/>
                    <a:p>
                      <a:pPr algn="r"/>
                      <a:r>
                        <a:rPr sz="850" b="0">
                          <a:solidFill>
                            <a:srgbClr val="0F172A"/>
                          </a:solidFill>
                          <a:latin typeface="Inter"/>
                        </a:rPr>
                        <a:t>Fri</a:t>
                      </a:r>
                    </a:p>
                  </a:txBody>
                  <a:tcPr marL="54864" marR="54864" marT="27432" marB="27432" anchor="ctr">
                    <a:solidFill>
                      <a:srgbClr val="FBFAF7"/>
                    </a:solidFill>
                  </a:tcPr>
                </a:tc>
                <a:tc>
                  <a:txBody>
                    <a:bodyPr wrap="square"/>
                    <a:lstStyle/>
                    <a:p>
                      <a:pPr algn="r"/>
                      <a:r>
                        <a:rPr sz="850" b="0">
                          <a:solidFill>
                            <a:srgbClr val="0F172A"/>
                          </a:solidFill>
                          <a:latin typeface="Inter"/>
                        </a:rPr>
                        <a:t>$6,997</a:t>
                      </a:r>
                    </a:p>
                  </a:txBody>
                  <a:tcPr marL="54864" marR="54864" marT="27432" marB="27432" anchor="ctr">
                    <a:solidFill>
                      <a:srgbClr val="FBFAF7"/>
                    </a:solidFill>
                  </a:tcPr>
                </a:tc>
                <a:tc>
                  <a:txBody>
                    <a:bodyPr wrap="square"/>
                    <a:lstStyle/>
                    <a:p>
                      <a:pPr algn="r"/>
                      <a:r>
                        <a:rPr sz="850" b="0">
                          <a:solidFill>
                            <a:srgbClr val="0F172A"/>
                          </a:solidFill>
                          <a:latin typeface="Inter"/>
                        </a:rPr>
                        <a:t>$443</a:t>
                      </a:r>
                    </a:p>
                  </a:txBody>
                  <a:tcPr marL="54864" marR="54864" marT="27432" marB="27432" anchor="ctr">
                    <a:solidFill>
                      <a:srgbClr val="FBFAF7"/>
                    </a:solidFill>
                  </a:tcPr>
                </a:tc>
                <a:tc>
                  <a:txBody>
                    <a:bodyPr wrap="square"/>
                    <a:lstStyle/>
                    <a:p>
                      <a:pPr algn="r"/>
                      <a:r>
                        <a:rPr sz="850" b="0">
                          <a:solidFill>
                            <a:srgbClr val="0F172A"/>
                          </a:solidFill>
                          <a:latin typeface="Inter"/>
                        </a:rPr>
                        <a:t>$4,588</a:t>
                      </a:r>
                    </a:p>
                  </a:txBody>
                  <a:tcPr marL="54864" marR="54864" marT="27432" marB="27432" anchor="ctr">
                    <a:solidFill>
                      <a:srgbClr val="FBFAF7"/>
                    </a:solidFill>
                  </a:tcPr>
                </a:tc>
                <a:tc>
                  <a:txBody>
                    <a:bodyPr wrap="square"/>
                    <a:lstStyle/>
                    <a:p>
                      <a:pPr algn="r"/>
                      <a:r>
                        <a:rPr sz="850" b="0">
                          <a:solidFill>
                            <a:srgbClr val="0F172A"/>
                          </a:solidFill>
                          <a:latin typeface="Inter"/>
                        </a:rPr>
                        <a:t>10.36x</a:t>
                      </a:r>
                    </a:p>
                  </a:txBody>
                  <a:tcPr marL="54864" marR="54864" marT="27432" marB="27432" anchor="ctr">
                    <a:solidFill>
                      <a:srgbClr val="FBFAF7"/>
                    </a:solidFill>
                  </a:tcPr>
                </a:tc>
                <a:tc>
                  <a:txBody>
                    <a:bodyPr wrap="square"/>
                    <a:lstStyle/>
                    <a:p>
                      <a:pPr algn="r"/>
                      <a:r>
                        <a:rPr sz="850" b="0">
                          <a:solidFill>
                            <a:srgbClr val="0F172A"/>
                          </a:solidFill>
                          <a:latin typeface="Inter"/>
                        </a:rPr>
                        <a:t>9.6%</a:t>
                      </a:r>
                    </a:p>
                  </a:txBody>
                  <a:tcPr marL="54864" marR="54864" marT="27432" marB="27432" anchor="ctr">
                    <a:solidFill>
                      <a:srgbClr val="FBFAF7"/>
                    </a:solidFill>
                  </a:tcPr>
                </a:tc>
                <a:tc>
                  <a:txBody>
                    <a:bodyPr wrap="square"/>
                    <a:lstStyle/>
                    <a:p>
                      <a:pPr algn="r"/>
                      <a:r>
                        <a:rPr sz="850" b="0">
                          <a:solidFill>
                            <a:srgbClr val="0F172A"/>
                          </a:solidFill>
                          <a:latin typeface="Inter"/>
                        </a:rPr>
                        <a:t>6.3%</a:t>
                      </a:r>
                    </a:p>
                  </a:txBody>
                  <a:tcPr marL="54864" marR="54864" marT="27432" marB="27432" anchor="ctr">
                    <a:solidFill>
                      <a:srgbClr val="FBFAF7"/>
                    </a:solidFill>
                  </a:tcPr>
                </a:tc>
                <a:tc>
                  <a:txBody>
                    <a:bodyPr wrap="square"/>
                    <a:lstStyle/>
                    <a:p>
                      <a:pPr algn="r"/>
                      <a:r>
                        <a:rPr sz="850" b="0">
                          <a:solidFill>
                            <a:srgbClr val="0F172A"/>
                          </a:solidFill>
                          <a:latin typeface="Inter"/>
                        </a:rPr>
                        <a:t>13</a:t>
                      </a:r>
                    </a:p>
                  </a:txBody>
                  <a:tcPr marL="54864" marR="54864" marT="27432" marB="27432" anchor="ctr">
                    <a:solidFill>
                      <a:srgbClr val="FBFAF7"/>
                    </a:solidFill>
                  </a:tcPr>
                </a:tc>
                <a:tc>
                  <a:txBody>
                    <a:bodyPr wrap="square"/>
                    <a:lstStyle/>
                    <a:p>
                      <a:pPr algn="r"/>
                      <a:r>
                        <a:rPr sz="850" b="0">
                          <a:solidFill>
                            <a:srgbClr val="0F172A"/>
                          </a:solidFill>
                          <a:latin typeface="Inter"/>
                        </a:rPr>
                        <a:t>9</a:t>
                      </a:r>
                    </a:p>
                  </a:txBody>
                  <a:tcPr marL="54864" marR="54864" marT="27432" marB="27432" anchor="ctr">
                    <a:solidFill>
                      <a:srgbClr val="FBFAF7"/>
                    </a:solidFill>
                  </a:tcPr>
                </a:tc>
                <a:tc>
                  <a:txBody>
                    <a:bodyPr wrap="square"/>
                    <a:lstStyle/>
                    <a:p>
                      <a:pPr algn="r"/>
                      <a:r>
                        <a:rPr sz="850" b="0">
                          <a:solidFill>
                            <a:srgbClr val="0F172A"/>
                          </a:solidFill>
                          <a:latin typeface="Inter"/>
                        </a:rPr>
                        <a:t>$2,410</a:t>
                      </a:r>
                    </a:p>
                  </a:txBody>
                  <a:tcPr marL="54864" marR="54864" marT="27432" marB="27432" anchor="ctr">
                    <a:solidFill>
                      <a:srgbClr val="FBFAF7"/>
                    </a:solidFill>
                  </a:tcPr>
                </a:tc>
                <a:tc>
                  <a:txBody>
                    <a:bodyPr wrap="square"/>
                    <a:lstStyle/>
                    <a:p>
                      <a:pPr algn="r"/>
                      <a:r>
                        <a:rPr sz="850" b="0">
                          <a:solidFill>
                            <a:srgbClr val="0F172A"/>
                          </a:solidFill>
                          <a:latin typeface="Inter"/>
                        </a:rPr>
                        <a:t>66%</a:t>
                      </a:r>
                    </a:p>
                  </a:txBody>
                  <a:tcPr marL="54864" marR="54864" marT="27432" marB="27432" anchor="ctr">
                    <a:solidFill>
                      <a:srgbClr val="FBFAF7"/>
                    </a:solidFill>
                  </a:tcPr>
                </a:tc>
              </a:tr>
              <a:tr h="246888">
                <a:tc>
                  <a:txBody>
                    <a:bodyPr wrap="square"/>
                    <a:lstStyle/>
                    <a:p>
                      <a:pPr algn="l"/>
                      <a:r>
                        <a:rPr sz="850" b="0">
                          <a:solidFill>
                            <a:srgbClr val="0F172A"/>
                          </a:solidFill>
                          <a:latin typeface="Inter"/>
                        </a:rPr>
                        <a:t>Oct 24</a:t>
                      </a:r>
                    </a:p>
                  </a:txBody>
                  <a:tcPr marL="54864" marR="54864" marT="27432" marB="27432" anchor="ctr">
                    <a:solidFill>
                      <a:srgbClr val="FFFFFF"/>
                    </a:solidFill>
                  </a:tcPr>
                </a:tc>
                <a:tc>
                  <a:txBody>
                    <a:bodyPr wrap="square"/>
                    <a:lstStyle/>
                    <a:p>
                      <a:pPr algn="r"/>
                      <a:r>
                        <a:rPr sz="850" b="0">
                          <a:solidFill>
                            <a:srgbClr val="0F172A"/>
                          </a:solidFill>
                          <a:latin typeface="Inter"/>
                        </a:rPr>
                        <a:t>Sat</a:t>
                      </a:r>
                    </a:p>
                  </a:txBody>
                  <a:tcPr marL="54864" marR="54864" marT="27432" marB="27432" anchor="ctr">
                    <a:solidFill>
                      <a:srgbClr val="FFFFFF"/>
                    </a:solidFill>
                  </a:tcPr>
                </a:tc>
                <a:tc>
                  <a:txBody>
                    <a:bodyPr wrap="square"/>
                    <a:lstStyle/>
                    <a:p>
                      <a:pPr algn="r"/>
                      <a:r>
                        <a:rPr sz="850" b="0">
                          <a:solidFill>
                            <a:srgbClr val="0F172A"/>
                          </a:solidFill>
                          <a:latin typeface="Inter"/>
                        </a:rPr>
                        <a:t>$9,865</a:t>
                      </a:r>
                    </a:p>
                  </a:txBody>
                  <a:tcPr marL="54864" marR="54864" marT="27432" marB="27432" anchor="ctr">
                    <a:solidFill>
                      <a:srgbClr val="FFFFFF"/>
                    </a:solidFill>
                  </a:tcPr>
                </a:tc>
                <a:tc>
                  <a:txBody>
                    <a:bodyPr wrap="square"/>
                    <a:lstStyle/>
                    <a:p>
                      <a:pPr algn="r"/>
                      <a:r>
                        <a:rPr sz="850" b="0">
                          <a:solidFill>
                            <a:srgbClr val="0F172A"/>
                          </a:solidFill>
                          <a:latin typeface="Inter"/>
                        </a:rPr>
                        <a:t>$644</a:t>
                      </a:r>
                    </a:p>
                  </a:txBody>
                  <a:tcPr marL="54864" marR="54864" marT="27432" marB="27432" anchor="ctr">
                    <a:solidFill>
                      <a:srgbClr val="FFFFFF"/>
                    </a:solidFill>
                  </a:tcPr>
                </a:tc>
                <a:tc>
                  <a:txBody>
                    <a:bodyPr wrap="square"/>
                    <a:lstStyle/>
                    <a:p>
                      <a:pPr algn="r"/>
                      <a:r>
                        <a:rPr sz="850" b="0">
                          <a:solidFill>
                            <a:srgbClr val="0F172A"/>
                          </a:solidFill>
                          <a:latin typeface="Inter"/>
                        </a:rPr>
                        <a:t>$4,978</a:t>
                      </a:r>
                    </a:p>
                  </a:txBody>
                  <a:tcPr marL="54864" marR="54864" marT="27432" marB="27432" anchor="ctr">
                    <a:solidFill>
                      <a:srgbClr val="FFFFFF"/>
                    </a:solidFill>
                  </a:tcPr>
                </a:tc>
                <a:tc>
                  <a:txBody>
                    <a:bodyPr wrap="square"/>
                    <a:lstStyle/>
                    <a:p>
                      <a:pPr algn="r"/>
                      <a:r>
                        <a:rPr sz="850" b="0">
                          <a:solidFill>
                            <a:srgbClr val="0F172A"/>
                          </a:solidFill>
                          <a:latin typeface="Inter"/>
                        </a:rPr>
                        <a:t>7.73x</a:t>
                      </a:r>
                    </a:p>
                  </a:txBody>
                  <a:tcPr marL="54864" marR="54864" marT="27432" marB="27432" anchor="ctr">
                    <a:solidFill>
                      <a:srgbClr val="FFFFFF"/>
                    </a:solidFill>
                  </a:tcPr>
                </a:tc>
                <a:tc>
                  <a:txBody>
                    <a:bodyPr wrap="square"/>
                    <a:lstStyle/>
                    <a:p>
                      <a:pPr algn="r"/>
                      <a:r>
                        <a:rPr sz="850" b="0">
                          <a:solidFill>
                            <a:srgbClr val="0F172A"/>
                          </a:solidFill>
                          <a:latin typeface="Inter"/>
                        </a:rPr>
                        <a:t>12.9%</a:t>
                      </a:r>
                    </a:p>
                  </a:txBody>
                  <a:tcPr marL="54864" marR="54864" marT="27432" marB="27432" anchor="ctr">
                    <a:solidFill>
                      <a:srgbClr val="FFFFFF"/>
                    </a:solidFill>
                  </a:tcPr>
                </a:tc>
                <a:tc>
                  <a:txBody>
                    <a:bodyPr wrap="square"/>
                    <a:lstStyle/>
                    <a:p>
                      <a:pPr algn="r"/>
                      <a:r>
                        <a:rPr sz="850" b="0">
                          <a:solidFill>
                            <a:srgbClr val="0F172A"/>
                          </a:solidFill>
                          <a:latin typeface="Inter"/>
                        </a:rPr>
                        <a:t>6.5%</a:t>
                      </a:r>
                    </a:p>
                  </a:txBody>
                  <a:tcPr marL="54864" marR="54864" marT="27432" marB="27432" anchor="ctr">
                    <a:solidFill>
                      <a:srgbClr val="FFFFFF"/>
                    </a:solidFill>
                  </a:tcPr>
                </a:tc>
                <a:tc>
                  <a:txBody>
                    <a:bodyPr wrap="square"/>
                    <a:lstStyle/>
                    <a:p>
                      <a:pPr algn="r"/>
                      <a:r>
                        <a:rPr sz="850" b="0">
                          <a:solidFill>
                            <a:srgbClr val="0F172A"/>
                          </a:solidFill>
                          <a:latin typeface="Inter"/>
                        </a:rPr>
                        <a:t>18</a:t>
                      </a:r>
                    </a:p>
                  </a:txBody>
                  <a:tcPr marL="54864" marR="54864" marT="27432" marB="27432" anchor="ctr">
                    <a:solidFill>
                      <a:srgbClr val="FFFFFF"/>
                    </a:solidFill>
                  </a:tcPr>
                </a:tc>
                <a:tc>
                  <a:txBody>
                    <a:bodyPr wrap="square"/>
                    <a:lstStyle/>
                    <a:p>
                      <a:pPr algn="r"/>
                      <a:r>
                        <a:rPr sz="850" b="0">
                          <a:solidFill>
                            <a:srgbClr val="0F172A"/>
                          </a:solidFill>
                          <a:latin typeface="Inter"/>
                        </a:rPr>
                        <a:t>11</a:t>
                      </a:r>
                    </a:p>
                  </a:txBody>
                  <a:tcPr marL="54864" marR="54864" marT="27432" marB="27432" anchor="ctr">
                    <a:solidFill>
                      <a:srgbClr val="FFFFFF"/>
                    </a:solidFill>
                  </a:tcPr>
                </a:tc>
                <a:tc>
                  <a:txBody>
                    <a:bodyPr wrap="square"/>
                    <a:lstStyle/>
                    <a:p>
                      <a:pPr algn="r"/>
                      <a:r>
                        <a:rPr sz="850" b="0">
                          <a:solidFill>
                            <a:srgbClr val="0F172A"/>
                          </a:solidFill>
                          <a:latin typeface="Inter"/>
                        </a:rPr>
                        <a:t>$4,887</a:t>
                      </a:r>
                    </a:p>
                  </a:txBody>
                  <a:tcPr marL="54864" marR="54864" marT="27432" marB="27432" anchor="ctr">
                    <a:solidFill>
                      <a:srgbClr val="FFFFFF"/>
                    </a:solidFill>
                  </a:tcPr>
                </a:tc>
                <a:tc>
                  <a:txBody>
                    <a:bodyPr wrap="square"/>
                    <a:lstStyle/>
                    <a:p>
                      <a:pPr algn="r"/>
                      <a:r>
                        <a:rPr sz="850" b="0">
                          <a:solidFill>
                            <a:srgbClr val="0F172A"/>
                          </a:solidFill>
                          <a:latin typeface="Inter"/>
                        </a:rPr>
                        <a:t>50%</a:t>
                      </a:r>
                    </a:p>
                  </a:txBody>
                  <a:tcPr marL="54864" marR="54864" marT="27432" marB="27432" anchor="ctr">
                    <a:solidFill>
                      <a:srgbClr val="FFFFFF"/>
                    </a:solidFill>
                  </a:tcPr>
                </a:tc>
              </a:tr>
              <a:tr h="246888">
                <a:tc>
                  <a:txBody>
                    <a:bodyPr wrap="square"/>
                    <a:lstStyle/>
                    <a:p>
                      <a:pPr algn="l"/>
                      <a:r>
                        <a:rPr sz="850" b="1">
                          <a:solidFill>
                            <a:srgbClr val="0F172A"/>
                          </a:solidFill>
                          <a:latin typeface="Inter"/>
                        </a:rPr>
                        <a:t>Week Oct 18 – 24</a:t>
                      </a:r>
                    </a:p>
                  </a:txBody>
                  <a:tcPr marL="54864" marR="54864" marT="27432" marB="27432" anchor="ctr">
                    <a:solidFill>
                      <a:srgbClr val="F6F3EC"/>
                    </a:solidFill>
                  </a:tcPr>
                </a:tc>
                <a:tc>
                  <a:txBody>
                    <a:bodyPr wrap="square"/>
                    <a:lstStyle/>
                    <a:p>
                      <a:pPr algn="r"/>
                      <a:r>
                        <a:rPr sz="850" b="1">
                          <a:solidFill>
                            <a:srgbClr val="0F172A"/>
                          </a:solidFill>
                          <a:latin typeface="Inter"/>
                        </a:rPr>
                        <a:t/>
                      </a:r>
                    </a:p>
                  </a:txBody>
                  <a:tcPr marL="54864" marR="54864" marT="27432" marB="27432" anchor="ctr">
                    <a:solidFill>
                      <a:srgbClr val="F6F3EC"/>
                    </a:solidFill>
                  </a:tcPr>
                </a:tc>
                <a:tc>
                  <a:txBody>
                    <a:bodyPr wrap="square"/>
                    <a:lstStyle/>
                    <a:p>
                      <a:pPr algn="r"/>
                      <a:r>
                        <a:rPr sz="850" b="1">
                          <a:solidFill>
                            <a:srgbClr val="0F172A"/>
                          </a:solidFill>
                          <a:latin typeface="Inter"/>
                        </a:rPr>
                        <a:t>$57,663</a:t>
                      </a:r>
                    </a:p>
                  </a:txBody>
                  <a:tcPr marL="54864" marR="54864" marT="27432" marB="27432" anchor="ctr">
                    <a:solidFill>
                      <a:srgbClr val="F6F3EC"/>
                    </a:solidFill>
                  </a:tcPr>
                </a:tc>
                <a:tc>
                  <a:txBody>
                    <a:bodyPr wrap="square"/>
                    <a:lstStyle/>
                    <a:p>
                      <a:pPr algn="r"/>
                      <a:r>
                        <a:rPr sz="850" b="1">
                          <a:solidFill>
                            <a:srgbClr val="0F172A"/>
                          </a:solidFill>
                          <a:latin typeface="Inter"/>
                        </a:rPr>
                        <a:t>$3,612</a:t>
                      </a:r>
                    </a:p>
                  </a:txBody>
                  <a:tcPr marL="54864" marR="54864" marT="27432" marB="27432" anchor="ctr">
                    <a:solidFill>
                      <a:srgbClr val="F6F3EC"/>
                    </a:solidFill>
                  </a:tcPr>
                </a:tc>
                <a:tc>
                  <a:txBody>
                    <a:bodyPr wrap="square"/>
                    <a:lstStyle/>
                    <a:p>
                      <a:pPr algn="r"/>
                      <a:r>
                        <a:rPr sz="850" b="1">
                          <a:solidFill>
                            <a:srgbClr val="0F172A"/>
                          </a:solidFill>
                          <a:latin typeface="Inter"/>
                        </a:rPr>
                        <a:t>$34,696</a:t>
                      </a:r>
                    </a:p>
                  </a:txBody>
                  <a:tcPr marL="54864" marR="54864" marT="27432" marB="27432" anchor="ctr">
                    <a:solidFill>
                      <a:srgbClr val="F6F3EC"/>
                    </a:solidFill>
                  </a:tcPr>
                </a:tc>
                <a:tc>
                  <a:txBody>
                    <a:bodyPr wrap="square"/>
                    <a:lstStyle/>
                    <a:p>
                      <a:pPr algn="r"/>
                      <a:r>
                        <a:rPr sz="850" b="1">
                          <a:solidFill>
                            <a:srgbClr val="0F172A"/>
                          </a:solidFill>
                          <a:latin typeface="Inter"/>
                        </a:rPr>
                        <a:t>9.61x</a:t>
                      </a:r>
                    </a:p>
                  </a:txBody>
                  <a:tcPr marL="54864" marR="54864" marT="27432" marB="27432" anchor="ctr">
                    <a:solidFill>
                      <a:srgbClr val="F6F3EC"/>
                    </a:solidFill>
                  </a:tcPr>
                </a:tc>
                <a:tc>
                  <a:txBody>
                    <a:bodyPr wrap="square"/>
                    <a:lstStyle/>
                    <a:p>
                      <a:pPr algn="r"/>
                      <a:r>
                        <a:rPr sz="850" b="1">
                          <a:solidFill>
                            <a:srgbClr val="0F172A"/>
                          </a:solidFill>
                          <a:latin typeface="Inter"/>
                        </a:rPr>
                        <a:t>10.4%</a:t>
                      </a:r>
                    </a:p>
                  </a:txBody>
                  <a:tcPr marL="54864" marR="54864" marT="27432" marB="27432" anchor="ctr">
                    <a:solidFill>
                      <a:srgbClr val="F6F3EC"/>
                    </a:solidFill>
                  </a:tcPr>
                </a:tc>
                <a:tc>
                  <a:txBody>
                    <a:bodyPr wrap="square"/>
                    <a:lstStyle/>
                    <a:p>
                      <a:pPr algn="r"/>
                      <a:r>
                        <a:rPr sz="850" b="1">
                          <a:solidFill>
                            <a:srgbClr val="0F172A"/>
                          </a:solidFill>
                          <a:latin typeface="Inter"/>
                        </a:rPr>
                        <a:t>6.3%</a:t>
                      </a:r>
                    </a:p>
                  </a:txBody>
                  <a:tcPr marL="54864" marR="54864" marT="27432" marB="27432" anchor="ctr">
                    <a:solidFill>
                      <a:srgbClr val="F6F3EC"/>
                    </a:solidFill>
                  </a:tcPr>
                </a:tc>
                <a:tc>
                  <a:txBody>
                    <a:bodyPr wrap="square"/>
                    <a:lstStyle/>
                    <a:p>
                      <a:pPr algn="r"/>
                      <a:r>
                        <a:rPr sz="850" b="1">
                          <a:solidFill>
                            <a:srgbClr val="0F172A"/>
                          </a:solidFill>
                          <a:latin typeface="Inter"/>
                        </a:rPr>
                        <a:t>115</a:t>
                      </a:r>
                    </a:p>
                  </a:txBody>
                  <a:tcPr marL="54864" marR="54864" marT="27432" marB="27432" anchor="ctr">
                    <a:solidFill>
                      <a:srgbClr val="F6F3EC"/>
                    </a:solidFill>
                  </a:tcPr>
                </a:tc>
                <a:tc>
                  <a:txBody>
                    <a:bodyPr wrap="square"/>
                    <a:lstStyle/>
                    <a:p>
                      <a:pPr algn="r"/>
                      <a:r>
                        <a:rPr sz="850" b="1">
                          <a:solidFill>
                            <a:srgbClr val="0F172A"/>
                          </a:solidFill>
                          <a:latin typeface="Inter"/>
                        </a:rPr>
                        <a:t>78</a:t>
                      </a:r>
                    </a:p>
                  </a:txBody>
                  <a:tcPr marL="54864" marR="54864" marT="27432" marB="27432" anchor="ctr">
                    <a:solidFill>
                      <a:srgbClr val="F6F3EC"/>
                    </a:solidFill>
                  </a:tcPr>
                </a:tc>
                <a:tc>
                  <a:txBody>
                    <a:bodyPr wrap="square"/>
                    <a:lstStyle/>
                    <a:p>
                      <a:pPr algn="r"/>
                      <a:r>
                        <a:rPr sz="850" b="1">
                          <a:solidFill>
                            <a:srgbClr val="0F172A"/>
                          </a:solidFill>
                          <a:latin typeface="Inter"/>
                        </a:rPr>
                        <a:t>$22,968</a:t>
                      </a:r>
                    </a:p>
                  </a:txBody>
                  <a:tcPr marL="54864" marR="54864" marT="27432" marB="27432" anchor="ctr">
                    <a:solidFill>
                      <a:srgbClr val="F6F3EC"/>
                    </a:solidFill>
                  </a:tcPr>
                </a:tc>
                <a:tc>
                  <a:txBody>
                    <a:bodyPr wrap="square"/>
                    <a:lstStyle/>
                    <a:p>
                      <a:pPr algn="r"/>
                      <a:r>
                        <a:rPr sz="850" b="1">
                          <a:solidFill>
                            <a:srgbClr val="0F172A"/>
                          </a:solidFill>
                          <a:latin typeface="Inter"/>
                        </a:rPr>
                        <a:t>60%</a:t>
                      </a:r>
                    </a:p>
                  </a:txBody>
                  <a:tcPr marL="54864" marR="54864" marT="27432" marB="27432" anchor="ctr">
                    <a:solidFill>
                      <a:srgbClr val="F6F3EC"/>
                    </a:solidFill>
                  </a:tcPr>
                </a:tc>
              </a:tr>
            </a:tbl>
          </a:graphicData>
        </a:graphic>
      </p:graphicFrame>
      <p:sp>
        <p:nvSpPr>
          <p:cNvPr id="11" name=""/>
          <p:cNvSpPr txBox="1"/>
          <p:nvPr/>
        </p:nvSpPr>
        <p:spPr>
          <a:xfrm>
            <a:off x="548640" y="5943600"/>
            <a:ext cx="11091672" cy="411480"/>
          </a:xfrm>
          <a:prstGeom prst="rect">
            <a:avLst/>
          </a:prstGeom>
          <a:noFill/>
        </p:spPr>
        <p:txBody>
          <a:bodyPr wrap="square" lIns="36576" rIns="36576" tIns="18288" bIns="18288" anchor="t">
            <a:spAutoFit/>
          </a:bodyPr>
          <a:lstStyle/>
          <a:p>
            <a:pPr algn="l"/>
            <a:r>
              <a:rPr sz="900" b="0">
                <a:solidFill>
                  <a:srgbClr val="6B6558"/>
                </a:solidFill>
                <a:latin typeface="Inter"/>
              </a:rPr>
              <a:t>Organic sales = total sales minus ad-attributed sales (floored at $0). Daily clicks and impressions aren't in the Sellerise daily feed; weekly totals: 2,521 clicks / 559,135 impressions this week vs 3,202 / 682,497.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
          <p:cNvSpPr/>
          <p:nvPr/>
        </p:nvSpPr>
        <p:spPr>
          <a:xfrm>
            <a:off x="0" y="0"/>
            <a:ext cx="12191695" cy="6858000"/>
          </a:xfrm>
          <a:prstGeom prst="rect">
            <a:avLst/>
          </a:prstGeom>
          <a:solidFill>
            <a:srgbClr val="FFFFFF"/>
          </a:solidFill>
          <a:ln>
            <a:noFill/>
          </a:ln>
        </p:spPr>
      </p:sp>
      <p:sp>
        <p:nvSpPr>
          <p:cNvPr id="3" name=""/>
          <p:cNvSpPr/>
          <p:nvPr/>
        </p:nvSpPr>
        <p:spPr>
          <a:xfrm>
            <a:off x="548640" y="502920"/>
            <a:ext cx="73152" cy="566928"/>
          </a:xfrm>
          <a:prstGeom prst="rect">
            <a:avLst/>
          </a:prstGeom>
          <a:solidFill>
            <a:srgbClr val="2447FF"/>
          </a:solidFill>
          <a:ln>
            <a:noFill/>
          </a:ln>
        </p:spPr>
      </p:sp>
      <p:sp>
        <p:nvSpPr>
          <p:cNvPr id="4" name=""/>
          <p:cNvSpPr txBox="1"/>
          <p:nvPr/>
        </p:nvSpPr>
        <p:spPr>
          <a:xfrm>
            <a:off x="731520" y="384048"/>
            <a:ext cx="8686800" cy="274320"/>
          </a:xfrm>
          <a:prstGeom prst="rect">
            <a:avLst/>
          </a:prstGeom>
          <a:noFill/>
        </p:spPr>
        <p:txBody>
          <a:bodyPr wrap="square" lIns="36576" rIns="36576" tIns="18288" bIns="18288" anchor="t">
            <a:spAutoFit/>
          </a:bodyPr>
          <a:lstStyle/>
          <a:p>
            <a:pPr algn="l"/>
            <a:r>
              <a:rPr sz="1000" b="1">
                <a:solidFill>
                  <a:srgbClr val="2447FF"/>
                </a:solidFill>
                <a:latin typeface="Space Grotesk"/>
              </a:rPr>
              <a:t>MARKETING</a:t>
            </a:r>
          </a:p>
        </p:txBody>
      </p:sp>
      <p:sp>
        <p:nvSpPr>
          <p:cNvPr id="5" name=""/>
          <p:cNvSpPr txBox="1"/>
          <p:nvPr/>
        </p:nvSpPr>
        <p:spPr>
          <a:xfrm>
            <a:off x="731520" y="603504"/>
            <a:ext cx="9601200" cy="548640"/>
          </a:xfrm>
          <a:prstGeom prst="rect">
            <a:avLst/>
          </a:prstGeom>
          <a:noFill/>
        </p:spPr>
        <p:txBody>
          <a:bodyPr wrap="square" lIns="36576" rIns="36576" tIns="18288" bIns="18288" anchor="t">
            <a:spAutoFit/>
          </a:bodyPr>
          <a:lstStyle/>
          <a:p>
            <a:pPr algn="l"/>
            <a:r>
              <a:rPr sz="2600" b="1">
                <a:solidFill>
                  <a:srgbClr val="0F172A"/>
                </a:solidFill>
                <a:latin typeface="Space Grotesk"/>
              </a:rPr>
              <a:t>Coupons, promotions &amp; upcoming events</a:t>
            </a:r>
          </a:p>
        </p:txBody>
      </p:sp>
      <p:pic>
        <p:nvPicPr>
          <p:cNvPr id="6" name="" descr="logo_s.png"/>
          <p:cNvPicPr>
            <a:picLocks noChangeAspect="1"/>
          </p:cNvPicPr>
          <p:nvPr/>
        </p:nvPicPr>
        <p:blipFill>
          <a:blip r:embed="rId2"/>
          <a:stretch>
            <a:fillRect/>
          </a:stretch>
        </p:blipFill>
        <p:spPr>
          <a:xfrm>
            <a:off x="10195560" y="457200"/>
            <a:ext cx="1463040" cy="256032"/>
          </a:xfrm>
          <a:prstGeom prst="rect">
            <a:avLst/>
          </a:prstGeom>
        </p:spPr>
      </p:pic>
      <p:sp>
        <p:nvSpPr>
          <p:cNvPr id="7" name=""/>
          <p:cNvSpPr/>
          <p:nvPr/>
        </p:nvSpPr>
        <p:spPr>
          <a:xfrm>
            <a:off x="548640" y="6400800"/>
            <a:ext cx="11091672" cy="10972"/>
          </a:xfrm>
          <a:prstGeom prst="rect">
            <a:avLst/>
          </a:prstGeom>
          <a:solidFill>
            <a:srgbClr val="E5E0D6"/>
          </a:solidFill>
          <a:ln>
            <a:noFill/>
          </a:ln>
        </p:spPr>
      </p:sp>
      <p:sp>
        <p:nvSpPr>
          <p:cNvPr id="8" name=""/>
          <p:cNvSpPr txBox="1"/>
          <p:nvPr/>
        </p:nvSpPr>
        <p:spPr>
          <a:xfrm>
            <a:off x="548640" y="6455664"/>
            <a:ext cx="8229600" cy="274320"/>
          </a:xfrm>
          <a:prstGeom prst="rect">
            <a:avLst/>
          </a:prstGeom>
          <a:noFill/>
        </p:spPr>
        <p:txBody>
          <a:bodyPr wrap="square" lIns="36576" rIns="36576" tIns="18288" bIns="18288" anchor="t">
            <a:spAutoFit/>
          </a:bodyPr>
          <a:lstStyle/>
          <a:p>
            <a:pPr algn="l"/>
            <a:r>
              <a:rPr sz="900" b="0">
                <a:solidFill>
                  <a:srgbClr val="6B6558"/>
                </a:solidFill>
                <a:latin typeface="Inter"/>
              </a:rPr>
              <a:t>Dormeo Canada · Weekly Business Review · Week 43 (Oct 18–24, 2026)</a:t>
            </a:r>
          </a:p>
        </p:txBody>
      </p:sp>
      <p:sp>
        <p:nvSpPr>
          <p:cNvPr id="9" name=""/>
          <p:cNvSpPr txBox="1"/>
          <p:nvPr/>
        </p:nvSpPr>
        <p:spPr>
          <a:xfrm>
            <a:off x="10241280" y="6455664"/>
            <a:ext cx="1399032" cy="274320"/>
          </a:xfrm>
          <a:prstGeom prst="rect">
            <a:avLst/>
          </a:prstGeom>
          <a:noFill/>
        </p:spPr>
        <p:txBody>
          <a:bodyPr wrap="square" lIns="36576" rIns="36576" tIns="18288" bIns="18288" anchor="t">
            <a:spAutoFit/>
          </a:bodyPr>
          <a:lstStyle/>
          <a:p>
            <a:pPr algn="r"/>
            <a:r>
              <a:rPr sz="900" b="0">
                <a:solidFill>
                  <a:srgbClr val="6B6558"/>
                </a:solidFill>
                <a:latin typeface="Inter"/>
              </a:rPr>
              <a:t>11 / 17</a:t>
            </a:r>
          </a:p>
        </p:txBody>
      </p:sp>
      <p:sp>
        <p:nvSpPr>
          <p:cNvPr id="10" name=""/>
          <p:cNvSpPr/>
          <p:nvPr/>
        </p:nvSpPr>
        <p:spPr>
          <a:xfrm>
            <a:off x="548640" y="1371600"/>
            <a:ext cx="11091672" cy="502920"/>
          </a:xfrm>
          <a:prstGeom prst="roundRect">
            <a:avLst>
              <a:gd name="" fmla="val 6000"/>
            </a:avLst>
          </a:prstGeom>
          <a:solidFill>
            <a:srgbClr val="EEF2FF"/>
          </a:solidFill>
          <a:ln>
            <a:noFill/>
          </a:ln>
        </p:spPr>
      </p:sp>
      <p:sp>
        <p:nvSpPr>
          <p:cNvPr id="11" name=""/>
          <p:cNvSpPr txBox="1"/>
          <p:nvPr/>
        </p:nvSpPr>
        <p:spPr>
          <a:xfrm>
            <a:off x="731520" y="1371600"/>
            <a:ext cx="10789920" cy="502920"/>
          </a:xfrm>
          <a:prstGeom prst="rect">
            <a:avLst/>
          </a:prstGeom>
          <a:noFill/>
        </p:spPr>
        <p:txBody>
          <a:bodyPr wrap="square" lIns="36576" rIns="36576" tIns="18288" bIns="18288" anchor="ctr">
            <a:spAutoFit/>
          </a:bodyPr>
          <a:lstStyle/>
          <a:p>
            <a:pPr algn="l"/>
            <a:r>
              <a:rPr sz="1050" b="0">
                <a:solidFill>
                  <a:srgbClr val="2447FF"/>
                </a:solidFill>
                <a:latin typeface="Inter"/>
              </a:rPr>
              <a:t>Data source: Sellerise promotion totals. Coupon and deal names aren't in the feed, so set-up details come from the account team.</a:t>
            </a:r>
          </a:p>
        </p:txBody>
      </p:sp>
      <p:sp>
        <p:nvSpPr>
          <p:cNvPr id="12" name=""/>
          <p:cNvSpPr/>
          <p:nvPr/>
        </p:nvSpPr>
        <p:spPr>
          <a:xfrm>
            <a:off x="548640" y="2057400"/>
            <a:ext cx="3611880" cy="4160520"/>
          </a:xfrm>
          <a:prstGeom prst="roundRect">
            <a:avLst>
              <a:gd name="" fmla="val 6000"/>
            </a:avLst>
          </a:prstGeom>
          <a:solidFill>
            <a:srgbClr val="FFFFFF"/>
          </a:solidFill>
          <a:ln w="9525">
            <a:solidFill>
              <a:srgbClr val="E5E0D6"/>
            </a:solidFill>
          </a:ln>
        </p:spPr>
      </p:sp>
      <p:sp>
        <p:nvSpPr>
          <p:cNvPr id="13" name=""/>
          <p:cNvSpPr txBox="1"/>
          <p:nvPr/>
        </p:nvSpPr>
        <p:spPr>
          <a:xfrm>
            <a:off x="731520" y="2194560"/>
            <a:ext cx="3246120" cy="274320"/>
          </a:xfrm>
          <a:prstGeom prst="rect">
            <a:avLst/>
          </a:prstGeom>
          <a:noFill/>
        </p:spPr>
        <p:txBody>
          <a:bodyPr wrap="square" lIns="36576" rIns="36576" tIns="18288" bIns="18288" anchor="t">
            <a:spAutoFit/>
          </a:bodyPr>
          <a:lstStyle/>
          <a:p>
            <a:pPr algn="l"/>
            <a:r>
              <a:rPr sz="1200" b="1">
                <a:solidFill>
                  <a:srgbClr val="0F172A"/>
                </a:solidFill>
                <a:latin typeface="Space Grotesk"/>
              </a:rPr>
              <a:t>Coupons</a:t>
            </a:r>
          </a:p>
        </p:txBody>
      </p:sp>
      <p:sp>
        <p:nvSpPr>
          <p:cNvPr id="14" name=""/>
          <p:cNvSpPr txBox="1"/>
          <p:nvPr/>
        </p:nvSpPr>
        <p:spPr>
          <a:xfrm>
            <a:off x="731520" y="2514600"/>
            <a:ext cx="3246120" cy="3611879"/>
          </a:xfrm>
          <a:prstGeom prst="rect">
            <a:avLst/>
          </a:prstGeom>
          <a:noFill/>
        </p:spPr>
        <p:txBody>
          <a:bodyPr wrap="square" lIns="36576" rIns="36576" tIns="18288" bIns="18288" anchor="t">
            <a:spAutoFit/>
          </a:bodyPr>
          <a:lstStyle/>
          <a:p>
            <a:pPr algn="l">
              <a:spcAft>
                <a:spcPts val="500"/>
              </a:spcAft>
            </a:pPr>
            <a:r>
              <a:rPr sz="1050" b="0">
                <a:solidFill>
                  <a:srgbClr val="334155"/>
                </a:solidFill>
                <a:latin typeface="Inter"/>
              </a:rPr>
              <a:t>This week: no coupon redemptions.</a:t>
            </a:r>
          </a:p>
          <a:p>
            <a:pPr algn="l">
              <a:spcAft>
                <a:spcPts val="500"/>
              </a:spcAft>
            </a:pPr>
            <a:r>
              <a:rPr sz="1050" b="0">
                <a:solidFill>
                  <a:srgbClr val="334155"/>
                </a:solidFill>
                <a:latin typeface="Inter"/>
              </a:rPr>
              <a:t>Last week: 9 coupon redemptions.</a:t>
            </a:r>
          </a:p>
          <a:p>
            <a:pPr algn="l">
              <a:spcAft>
                <a:spcPts val="500"/>
              </a:spcAft>
            </a:pPr>
            <a:r>
              <a:rPr sz="1050" b="0">
                <a:solidFill>
                  <a:srgbClr val="334155"/>
                </a:solidFill>
                <a:latin typeface="Inter"/>
              </a:rPr>
              <a:t>October to date: 83 coupon redemptions, mostly during Prime Big Deal Days.</a:t>
            </a:r>
          </a:p>
        </p:txBody>
      </p:sp>
      <p:sp>
        <p:nvSpPr>
          <p:cNvPr id="15" name=""/>
          <p:cNvSpPr/>
          <p:nvPr/>
        </p:nvSpPr>
        <p:spPr>
          <a:xfrm>
            <a:off x="4288536" y="2057400"/>
            <a:ext cx="3611880" cy="4160520"/>
          </a:xfrm>
          <a:prstGeom prst="roundRect">
            <a:avLst>
              <a:gd name="" fmla="val 6000"/>
            </a:avLst>
          </a:prstGeom>
          <a:solidFill>
            <a:srgbClr val="FFFFFF"/>
          </a:solidFill>
          <a:ln w="9525">
            <a:solidFill>
              <a:srgbClr val="E5E0D6"/>
            </a:solidFill>
          </a:ln>
        </p:spPr>
      </p:sp>
      <p:sp>
        <p:nvSpPr>
          <p:cNvPr id="16" name=""/>
          <p:cNvSpPr txBox="1"/>
          <p:nvPr/>
        </p:nvSpPr>
        <p:spPr>
          <a:xfrm>
            <a:off x="4471416" y="2194560"/>
            <a:ext cx="3246120" cy="274320"/>
          </a:xfrm>
          <a:prstGeom prst="rect">
            <a:avLst/>
          </a:prstGeom>
          <a:noFill/>
        </p:spPr>
        <p:txBody>
          <a:bodyPr wrap="square" lIns="36576" rIns="36576" tIns="18288" bIns="18288" anchor="t">
            <a:spAutoFit/>
          </a:bodyPr>
          <a:lstStyle/>
          <a:p>
            <a:pPr algn="l"/>
            <a:r>
              <a:rPr sz="1200" b="1">
                <a:solidFill>
                  <a:srgbClr val="0F172A"/>
                </a:solidFill>
                <a:latin typeface="Space Grotesk"/>
              </a:rPr>
              <a:t>Promotions</a:t>
            </a:r>
          </a:p>
        </p:txBody>
      </p:sp>
      <p:sp>
        <p:nvSpPr>
          <p:cNvPr id="17" name=""/>
          <p:cNvSpPr txBox="1"/>
          <p:nvPr/>
        </p:nvSpPr>
        <p:spPr>
          <a:xfrm>
            <a:off x="4471416" y="2514600"/>
            <a:ext cx="3246120" cy="3611879"/>
          </a:xfrm>
          <a:prstGeom prst="rect">
            <a:avLst/>
          </a:prstGeom>
          <a:noFill/>
        </p:spPr>
        <p:txBody>
          <a:bodyPr wrap="square" lIns="36576" rIns="36576" tIns="18288" bIns="18288" anchor="t">
            <a:spAutoFit/>
          </a:bodyPr>
          <a:lstStyle/>
          <a:p>
            <a:pPr algn="l">
              <a:spcAft>
                <a:spcPts val="500"/>
              </a:spcAft>
            </a:pPr>
            <a:r>
              <a:rPr sz="1050" b="0">
                <a:solidFill>
                  <a:srgbClr val="334155"/>
                </a:solidFill>
                <a:latin typeface="Inter"/>
              </a:rPr>
              <a:t>This week: 16 promotion orders, $82 in promotional discounts (vs $541 last week).</a:t>
            </a:r>
          </a:p>
          <a:p>
            <a:pPr algn="l">
              <a:spcAft>
                <a:spcPts val="500"/>
              </a:spcAft>
            </a:pPr>
            <a:r>
              <a:rPr sz="1050" b="0">
                <a:solidFill>
                  <a:srgbClr val="334155"/>
                </a:solidFill>
                <a:latin typeface="Inter"/>
              </a:rPr>
              <a:t>October to date: 59 promotion orders, $4,243 in discounts.</a:t>
            </a:r>
          </a:p>
        </p:txBody>
      </p:sp>
      <p:sp>
        <p:nvSpPr>
          <p:cNvPr id="18" name=""/>
          <p:cNvSpPr/>
          <p:nvPr/>
        </p:nvSpPr>
        <p:spPr>
          <a:xfrm>
            <a:off x="8028431" y="2057400"/>
            <a:ext cx="3611880" cy="4160520"/>
          </a:xfrm>
          <a:prstGeom prst="roundRect">
            <a:avLst>
              <a:gd name="" fmla="val 6000"/>
            </a:avLst>
          </a:prstGeom>
          <a:solidFill>
            <a:srgbClr val="FFFFFF"/>
          </a:solidFill>
          <a:ln w="9525">
            <a:solidFill>
              <a:srgbClr val="E5E0D6"/>
            </a:solidFill>
          </a:ln>
        </p:spPr>
      </p:sp>
      <p:sp>
        <p:nvSpPr>
          <p:cNvPr id="19" name=""/>
          <p:cNvSpPr txBox="1"/>
          <p:nvPr/>
        </p:nvSpPr>
        <p:spPr>
          <a:xfrm>
            <a:off x="8211311" y="2194560"/>
            <a:ext cx="3246120" cy="274320"/>
          </a:xfrm>
          <a:prstGeom prst="rect">
            <a:avLst/>
          </a:prstGeom>
          <a:noFill/>
        </p:spPr>
        <p:txBody>
          <a:bodyPr wrap="square" lIns="36576" rIns="36576" tIns="18288" bIns="18288" anchor="t">
            <a:spAutoFit/>
          </a:bodyPr>
          <a:lstStyle/>
          <a:p>
            <a:pPr algn="l"/>
            <a:r>
              <a:rPr sz="1200" b="1">
                <a:solidFill>
                  <a:srgbClr val="0F172A"/>
                </a:solidFill>
                <a:latin typeface="Space Grotesk"/>
              </a:rPr>
              <a:t>Upcoming events</a:t>
            </a:r>
          </a:p>
        </p:txBody>
      </p:sp>
      <p:sp>
        <p:nvSpPr>
          <p:cNvPr id="20" name=""/>
          <p:cNvSpPr txBox="1"/>
          <p:nvPr/>
        </p:nvSpPr>
        <p:spPr>
          <a:xfrm>
            <a:off x="8211311" y="2514600"/>
            <a:ext cx="3246120" cy="3611879"/>
          </a:xfrm>
          <a:prstGeom prst="rect">
            <a:avLst/>
          </a:prstGeom>
          <a:noFill/>
        </p:spPr>
        <p:txBody>
          <a:bodyPr wrap="square" lIns="36576" rIns="36576" tIns="18288" bIns="18288" anchor="t">
            <a:spAutoFit/>
          </a:bodyPr>
          <a:lstStyle/>
          <a:p>
            <a:pPr algn="l">
              <a:spcAft>
                <a:spcPts val="500"/>
              </a:spcAft>
            </a:pPr>
            <a:r>
              <a:rPr sz="1050" b="0">
                <a:solidFill>
                  <a:srgbClr val="334155"/>
                </a:solidFill>
                <a:latin typeface="Inter"/>
              </a:rPr>
              <a:t>Black Friday / Cyber Monday: Nov 27 – Nov 30.</a:t>
            </a:r>
          </a:p>
          <a:p>
            <a:pPr algn="l">
              <a:spcAft>
                <a:spcPts val="500"/>
              </a:spcAft>
            </a:pPr>
            <a:r>
              <a:rPr sz="1050" b="0">
                <a:solidFill>
                  <a:srgbClr val="334155"/>
                </a:solidFill>
                <a:latin typeface="Inter"/>
              </a:rPr>
              <a:t>Boxing Day / Boxing Week: Dec 26.</a:t>
            </a:r>
          </a:p>
          <a:p>
            <a:pPr algn="l">
              <a:spcAft>
                <a:spcPts val="500"/>
              </a:spcAft>
            </a:pPr>
            <a:r>
              <a:rPr sz="1050" b="0">
                <a:solidFill>
                  <a:srgbClr val="334155"/>
                </a:solidFill>
                <a:latin typeface="Inter"/>
              </a:rPr>
              <a:t>Deal and coupon set-up deadlines: to confirm with the account team.</a:t>
            </a:r>
          </a:p>
          <a:p>
            <a:pPr algn="l">
              <a:spcAft>
                <a:spcPts val="500"/>
              </a:spcAft>
            </a:pPr>
            <a:r>
              <a:rPr sz="1050" b="0">
                <a:solidFill>
                  <a:srgbClr val="334155"/>
                </a:solidFill>
                <a:latin typeface="Inter"/>
              </a:rPr>
              <a:t>Priority: Queen topper and the SnowTek line in stock at FBA before Nov 20.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
          <p:cNvSpPr/>
          <p:nvPr/>
        </p:nvSpPr>
        <p:spPr>
          <a:xfrm>
            <a:off x="0" y="0"/>
            <a:ext cx="12191695" cy="6858000"/>
          </a:xfrm>
          <a:prstGeom prst="rect">
            <a:avLst/>
          </a:prstGeom>
          <a:solidFill>
            <a:srgbClr val="FFFFFF"/>
          </a:solidFill>
          <a:ln>
            <a:noFill/>
          </a:ln>
        </p:spPr>
      </p:sp>
      <p:sp>
        <p:nvSpPr>
          <p:cNvPr id="3" name=""/>
          <p:cNvSpPr/>
          <p:nvPr/>
        </p:nvSpPr>
        <p:spPr>
          <a:xfrm>
            <a:off x="548640" y="502920"/>
            <a:ext cx="73152" cy="566928"/>
          </a:xfrm>
          <a:prstGeom prst="rect">
            <a:avLst/>
          </a:prstGeom>
          <a:solidFill>
            <a:srgbClr val="2447FF"/>
          </a:solidFill>
          <a:ln>
            <a:noFill/>
          </a:ln>
        </p:spPr>
      </p:sp>
      <p:sp>
        <p:nvSpPr>
          <p:cNvPr id="4" name=""/>
          <p:cNvSpPr txBox="1"/>
          <p:nvPr/>
        </p:nvSpPr>
        <p:spPr>
          <a:xfrm>
            <a:off x="731520" y="384048"/>
            <a:ext cx="8686800" cy="274320"/>
          </a:xfrm>
          <a:prstGeom prst="rect">
            <a:avLst/>
          </a:prstGeom>
          <a:noFill/>
        </p:spPr>
        <p:txBody>
          <a:bodyPr wrap="square" lIns="36576" rIns="36576" tIns="18288" bIns="18288" anchor="t">
            <a:spAutoFit/>
          </a:bodyPr>
          <a:lstStyle/>
          <a:p>
            <a:pPr algn="l"/>
            <a:r>
              <a:rPr sz="1000" b="1">
                <a:solidFill>
                  <a:srgbClr val="2447FF"/>
                </a:solidFill>
                <a:latin typeface="Space Grotesk"/>
              </a:rPr>
              <a:t>INVENTORY</a:t>
            </a:r>
          </a:p>
        </p:txBody>
      </p:sp>
      <p:sp>
        <p:nvSpPr>
          <p:cNvPr id="5" name=""/>
          <p:cNvSpPr txBox="1"/>
          <p:nvPr/>
        </p:nvSpPr>
        <p:spPr>
          <a:xfrm>
            <a:off x="731520" y="603504"/>
            <a:ext cx="9601200" cy="548640"/>
          </a:xfrm>
          <a:prstGeom prst="rect">
            <a:avLst/>
          </a:prstGeom>
          <a:noFill/>
        </p:spPr>
        <p:txBody>
          <a:bodyPr wrap="square" lIns="36576" rIns="36576" tIns="18288" bIns="18288" anchor="t">
            <a:spAutoFit/>
          </a:bodyPr>
          <a:lstStyle/>
          <a:p>
            <a:pPr algn="l"/>
            <a:r>
              <a:rPr sz="2600" b="1">
                <a:solidFill>
                  <a:srgbClr val="0F172A"/>
                </a:solidFill>
                <a:latin typeface="Space Grotesk"/>
              </a:rPr>
              <a:t>Stock position — week 44 inventory update (10/26/2026)</a:t>
            </a:r>
          </a:p>
        </p:txBody>
      </p:sp>
      <p:pic>
        <p:nvPicPr>
          <p:cNvPr id="6" name="" descr="logo_s.png"/>
          <p:cNvPicPr>
            <a:picLocks noChangeAspect="1"/>
          </p:cNvPicPr>
          <p:nvPr/>
        </p:nvPicPr>
        <p:blipFill>
          <a:blip r:embed="rId2"/>
          <a:stretch>
            <a:fillRect/>
          </a:stretch>
        </p:blipFill>
        <p:spPr>
          <a:xfrm>
            <a:off x="10195560" y="457200"/>
            <a:ext cx="1463040" cy="256032"/>
          </a:xfrm>
          <a:prstGeom prst="rect">
            <a:avLst/>
          </a:prstGeom>
        </p:spPr>
      </p:pic>
      <p:sp>
        <p:nvSpPr>
          <p:cNvPr id="7" name=""/>
          <p:cNvSpPr/>
          <p:nvPr/>
        </p:nvSpPr>
        <p:spPr>
          <a:xfrm>
            <a:off x="548640" y="6400800"/>
            <a:ext cx="11091672" cy="10972"/>
          </a:xfrm>
          <a:prstGeom prst="rect">
            <a:avLst/>
          </a:prstGeom>
          <a:solidFill>
            <a:srgbClr val="E5E0D6"/>
          </a:solidFill>
          <a:ln>
            <a:noFill/>
          </a:ln>
        </p:spPr>
      </p:sp>
      <p:sp>
        <p:nvSpPr>
          <p:cNvPr id="8" name=""/>
          <p:cNvSpPr txBox="1"/>
          <p:nvPr/>
        </p:nvSpPr>
        <p:spPr>
          <a:xfrm>
            <a:off x="548640" y="6455664"/>
            <a:ext cx="8229600" cy="274320"/>
          </a:xfrm>
          <a:prstGeom prst="rect">
            <a:avLst/>
          </a:prstGeom>
          <a:noFill/>
        </p:spPr>
        <p:txBody>
          <a:bodyPr wrap="square" lIns="36576" rIns="36576" tIns="18288" bIns="18288" anchor="t">
            <a:spAutoFit/>
          </a:bodyPr>
          <a:lstStyle/>
          <a:p>
            <a:pPr algn="l"/>
            <a:r>
              <a:rPr sz="900" b="0">
                <a:solidFill>
                  <a:srgbClr val="6B6558"/>
                </a:solidFill>
                <a:latin typeface="Inter"/>
              </a:rPr>
              <a:t>Dormeo Canada · Weekly Business Review · Week 43 (Oct 18–24, 2026)</a:t>
            </a:r>
          </a:p>
        </p:txBody>
      </p:sp>
      <p:sp>
        <p:nvSpPr>
          <p:cNvPr id="9" name=""/>
          <p:cNvSpPr txBox="1"/>
          <p:nvPr/>
        </p:nvSpPr>
        <p:spPr>
          <a:xfrm>
            <a:off x="10241280" y="6455664"/>
            <a:ext cx="1399032" cy="274320"/>
          </a:xfrm>
          <a:prstGeom prst="rect">
            <a:avLst/>
          </a:prstGeom>
          <a:noFill/>
        </p:spPr>
        <p:txBody>
          <a:bodyPr wrap="square" lIns="36576" rIns="36576" tIns="18288" bIns="18288" anchor="t">
            <a:spAutoFit/>
          </a:bodyPr>
          <a:lstStyle/>
          <a:p>
            <a:pPr algn="r"/>
            <a:r>
              <a:rPr sz="900" b="0">
                <a:solidFill>
                  <a:srgbClr val="6B6558"/>
                </a:solidFill>
                <a:latin typeface="Inter"/>
              </a:rPr>
              <a:t>12 / 17</a:t>
            </a:r>
          </a:p>
        </p:txBody>
      </p:sp>
      <p:sp>
        <p:nvSpPr>
          <p:cNvPr id="10" name=""/>
          <p:cNvSpPr/>
          <p:nvPr/>
        </p:nvSpPr>
        <p:spPr>
          <a:xfrm>
            <a:off x="548640" y="1371600"/>
            <a:ext cx="2651760" cy="1417320"/>
          </a:xfrm>
          <a:prstGeom prst="roundRect">
            <a:avLst>
              <a:gd name="" fmla="val 6000"/>
            </a:avLst>
          </a:prstGeom>
          <a:solidFill>
            <a:srgbClr val="F6F3EC"/>
          </a:solidFill>
          <a:ln>
            <a:noFill/>
          </a:ln>
        </p:spPr>
      </p:sp>
      <p:sp>
        <p:nvSpPr>
          <p:cNvPr id="11" name=""/>
          <p:cNvSpPr txBox="1"/>
          <p:nvPr/>
        </p:nvSpPr>
        <p:spPr>
          <a:xfrm>
            <a:off x="713232" y="149961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OUT OF STOCK</a:t>
            </a:r>
          </a:p>
        </p:txBody>
      </p:sp>
      <p:sp>
        <p:nvSpPr>
          <p:cNvPr id="12" name=""/>
          <p:cNvSpPr txBox="1"/>
          <p:nvPr/>
        </p:nvSpPr>
        <p:spPr>
          <a:xfrm>
            <a:off x="713232" y="1755648"/>
            <a:ext cx="2377440" cy="548640"/>
          </a:xfrm>
          <a:prstGeom prst="rect">
            <a:avLst/>
          </a:prstGeom>
          <a:noFill/>
        </p:spPr>
        <p:txBody>
          <a:bodyPr wrap="square" lIns="36576" rIns="36576" tIns="18288" bIns="18288" anchor="t">
            <a:spAutoFit/>
          </a:bodyPr>
          <a:lstStyle/>
          <a:p>
            <a:pPr algn="l"/>
            <a:r>
              <a:rPr sz="2600" b="1">
                <a:solidFill>
                  <a:srgbClr val="DC2626"/>
                </a:solidFill>
                <a:latin typeface="Space Grotesk"/>
              </a:rPr>
              <a:t>4</a:t>
            </a:r>
          </a:p>
        </p:txBody>
      </p:sp>
      <p:sp>
        <p:nvSpPr>
          <p:cNvPr id="13" name=""/>
          <p:cNvSpPr txBox="1"/>
          <p:nvPr/>
        </p:nvSpPr>
        <p:spPr>
          <a:xfrm>
            <a:off x="713232" y="2377439"/>
            <a:ext cx="2377440" cy="320040"/>
          </a:xfrm>
          <a:prstGeom prst="rect">
            <a:avLst/>
          </a:prstGeom>
          <a:noFill/>
        </p:spPr>
        <p:txBody>
          <a:bodyPr wrap="square" lIns="36576" rIns="36576" tIns="18288" bIns="18288" anchor="t">
            <a:spAutoFit/>
          </a:bodyPr>
          <a:lstStyle/>
          <a:p>
            <a:pPr algn="l"/>
            <a:r>
              <a:rPr sz="1000" b="0">
                <a:solidFill>
                  <a:srgbClr val="6B6558"/>
                </a:solidFill>
                <a:latin typeface="Inter"/>
              </a:rPr>
              <a:t>of 15 selling SKUs, 0 at FBA</a:t>
            </a:r>
          </a:p>
        </p:txBody>
      </p:sp>
      <p:sp>
        <p:nvSpPr>
          <p:cNvPr id="14" name=""/>
          <p:cNvSpPr/>
          <p:nvPr/>
        </p:nvSpPr>
        <p:spPr>
          <a:xfrm>
            <a:off x="548640" y="2926080"/>
            <a:ext cx="2651760" cy="1417320"/>
          </a:xfrm>
          <a:prstGeom prst="roundRect">
            <a:avLst>
              <a:gd name="" fmla="val 6000"/>
            </a:avLst>
          </a:prstGeom>
          <a:solidFill>
            <a:srgbClr val="F6F3EC"/>
          </a:solidFill>
          <a:ln>
            <a:noFill/>
          </a:ln>
        </p:spPr>
      </p:sp>
      <p:sp>
        <p:nvSpPr>
          <p:cNvPr id="15" name=""/>
          <p:cNvSpPr txBox="1"/>
          <p:nvPr/>
        </p:nvSpPr>
        <p:spPr>
          <a:xfrm>
            <a:off x="713232" y="305409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LOW STOCK</a:t>
            </a:r>
          </a:p>
        </p:txBody>
      </p:sp>
      <p:sp>
        <p:nvSpPr>
          <p:cNvPr id="16" name=""/>
          <p:cNvSpPr txBox="1"/>
          <p:nvPr/>
        </p:nvSpPr>
        <p:spPr>
          <a:xfrm>
            <a:off x="713232" y="3310128"/>
            <a:ext cx="2377440" cy="548640"/>
          </a:xfrm>
          <a:prstGeom prst="rect">
            <a:avLst/>
          </a:prstGeom>
          <a:noFill/>
        </p:spPr>
        <p:txBody>
          <a:bodyPr wrap="square" lIns="36576" rIns="36576" tIns="18288" bIns="18288" anchor="t">
            <a:spAutoFit/>
          </a:bodyPr>
          <a:lstStyle/>
          <a:p>
            <a:pPr algn="l"/>
            <a:r>
              <a:rPr sz="2600" b="1">
                <a:solidFill>
                  <a:srgbClr val="D97706"/>
                </a:solidFill>
                <a:latin typeface="Space Grotesk"/>
              </a:rPr>
              <a:t>1</a:t>
            </a:r>
          </a:p>
        </p:txBody>
      </p:sp>
      <p:sp>
        <p:nvSpPr>
          <p:cNvPr id="17" name=""/>
          <p:cNvSpPr txBox="1"/>
          <p:nvPr/>
        </p:nvSpPr>
        <p:spPr>
          <a:xfrm>
            <a:off x="713232" y="3931920"/>
            <a:ext cx="2377440" cy="320040"/>
          </a:xfrm>
          <a:prstGeom prst="rect">
            <a:avLst/>
          </a:prstGeom>
          <a:noFill/>
        </p:spPr>
        <p:txBody>
          <a:bodyPr wrap="square" lIns="36576" rIns="36576" tIns="18288" bIns="18288" anchor="t">
            <a:spAutoFit/>
          </a:bodyPr>
          <a:lstStyle/>
          <a:p>
            <a:pPr algn="l"/>
            <a:r>
              <a:rPr sz="1000" b="0">
                <a:solidFill>
                  <a:srgbClr val="6B6558"/>
                </a:solidFill>
                <a:latin typeface="Inter"/>
              </a:rPr>
              <a:t>4 weeks of stock or less</a:t>
            </a:r>
          </a:p>
        </p:txBody>
      </p:sp>
      <p:sp>
        <p:nvSpPr>
          <p:cNvPr id="18" name=""/>
          <p:cNvSpPr/>
          <p:nvPr/>
        </p:nvSpPr>
        <p:spPr>
          <a:xfrm>
            <a:off x="548640" y="4480560"/>
            <a:ext cx="2651760" cy="1737360"/>
          </a:xfrm>
          <a:prstGeom prst="roundRect">
            <a:avLst>
              <a:gd name="" fmla="val 6000"/>
            </a:avLst>
          </a:prstGeom>
          <a:solidFill>
            <a:srgbClr val="F6F3EC"/>
          </a:solidFill>
          <a:ln>
            <a:noFill/>
          </a:ln>
        </p:spPr>
      </p:sp>
      <p:sp>
        <p:nvSpPr>
          <p:cNvPr id="19" name=""/>
          <p:cNvSpPr txBox="1"/>
          <p:nvPr/>
        </p:nvSpPr>
        <p:spPr>
          <a:xfrm>
            <a:off x="713232" y="460857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UNITS INBOUND</a:t>
            </a:r>
          </a:p>
        </p:txBody>
      </p:sp>
      <p:sp>
        <p:nvSpPr>
          <p:cNvPr id="20" name=""/>
          <p:cNvSpPr txBox="1"/>
          <p:nvPr/>
        </p:nvSpPr>
        <p:spPr>
          <a:xfrm>
            <a:off x="713232" y="4864608"/>
            <a:ext cx="2377440" cy="548640"/>
          </a:xfrm>
          <a:prstGeom prst="rect">
            <a:avLst/>
          </a:prstGeom>
          <a:noFill/>
        </p:spPr>
        <p:txBody>
          <a:bodyPr wrap="square" lIns="36576" rIns="36576" tIns="18288" bIns="18288" anchor="t">
            <a:spAutoFit/>
          </a:bodyPr>
          <a:lstStyle/>
          <a:p>
            <a:pPr algn="l"/>
            <a:r>
              <a:rPr sz="2600" b="1">
                <a:solidFill>
                  <a:srgbClr val="2447FF"/>
                </a:solidFill>
                <a:latin typeface="Space Grotesk"/>
              </a:rPr>
              <a:t>440</a:t>
            </a:r>
          </a:p>
        </p:txBody>
      </p:sp>
      <p:sp>
        <p:nvSpPr>
          <p:cNvPr id="21" name=""/>
          <p:cNvSpPr txBox="1"/>
          <p:nvPr/>
        </p:nvSpPr>
        <p:spPr>
          <a:xfrm>
            <a:off x="713232" y="5806440"/>
            <a:ext cx="2377440" cy="320040"/>
          </a:xfrm>
          <a:prstGeom prst="rect">
            <a:avLst/>
          </a:prstGeom>
          <a:noFill/>
        </p:spPr>
        <p:txBody>
          <a:bodyPr wrap="square" lIns="36576" rIns="36576" tIns="18288" bIns="18288" anchor="t">
            <a:spAutoFit/>
          </a:bodyPr>
          <a:lstStyle/>
          <a:p>
            <a:pPr algn="l"/>
            <a:r>
              <a:rPr sz="1000" b="0">
                <a:solidFill>
                  <a:srgbClr val="6B6558"/>
                </a:solidFill>
                <a:latin typeface="Inter"/>
              </a:rPr>
              <a:t>on the way to FBA</a:t>
            </a:r>
          </a:p>
        </p:txBody>
      </p:sp>
      <p:sp>
        <p:nvSpPr>
          <p:cNvPr id="22" name=""/>
          <p:cNvSpPr txBox="1"/>
          <p:nvPr/>
        </p:nvSpPr>
        <p:spPr>
          <a:xfrm>
            <a:off x="3429000" y="1371600"/>
            <a:ext cx="8211312" cy="274320"/>
          </a:xfrm>
          <a:prstGeom prst="rect">
            <a:avLst/>
          </a:prstGeom>
          <a:noFill/>
        </p:spPr>
        <p:txBody>
          <a:bodyPr wrap="square" lIns="36576" rIns="36576" tIns="18288" bIns="18288" anchor="t">
            <a:spAutoFit/>
          </a:bodyPr>
          <a:lstStyle/>
          <a:p>
            <a:pPr algn="l"/>
            <a:r>
              <a:rPr sz="1100" b="1">
                <a:solidFill>
                  <a:srgbClr val="0F172A"/>
                </a:solidFill>
                <a:latin typeface="Inter"/>
              </a:rPr>
              <a:t>Weeks of supply at FBA (available ÷ weekly sales)</a:t>
            </a:r>
          </a:p>
        </p:txBody>
      </p:sp>
      <p:sp>
        <p:nvSpPr>
          <p:cNvPr id="23" name=""/>
          <p:cNvSpPr txBox="1"/>
          <p:nvPr/>
        </p:nvSpPr>
        <p:spPr>
          <a:xfrm>
            <a:off x="3429000" y="1691640"/>
            <a:ext cx="1828800" cy="560070"/>
          </a:xfrm>
          <a:prstGeom prst="rect">
            <a:avLst/>
          </a:prstGeom>
          <a:noFill/>
        </p:spPr>
        <p:txBody>
          <a:bodyPr wrap="square" lIns="36576" rIns="36576" tIns="18288" bIns="18288" anchor="ctr">
            <a:spAutoFit/>
          </a:bodyPr>
          <a:lstStyle/>
          <a:p>
            <a:pPr algn="l"/>
            <a:r>
              <a:rPr sz="1000" b="0">
                <a:solidFill>
                  <a:srgbClr val="0F172A"/>
                </a:solidFill>
                <a:latin typeface="Inter"/>
              </a:rPr>
              <a:t>Octaspring Queen</a:t>
            </a:r>
          </a:p>
        </p:txBody>
      </p:sp>
      <p:sp>
        <p:nvSpPr>
          <p:cNvPr id="24" name=""/>
          <p:cNvSpPr/>
          <p:nvPr/>
        </p:nvSpPr>
        <p:spPr>
          <a:xfrm>
            <a:off x="5257800" y="1814855"/>
            <a:ext cx="349351" cy="313639"/>
          </a:xfrm>
          <a:prstGeom prst="rect">
            <a:avLst/>
          </a:prstGeom>
          <a:solidFill>
            <a:srgbClr val="DC2626"/>
          </a:solidFill>
          <a:ln>
            <a:noFill/>
          </a:ln>
        </p:spPr>
      </p:sp>
      <p:sp>
        <p:nvSpPr>
          <p:cNvPr id="25" name=""/>
          <p:cNvSpPr txBox="1"/>
          <p:nvPr/>
        </p:nvSpPr>
        <p:spPr>
          <a:xfrm>
            <a:off x="5662015" y="1691640"/>
            <a:ext cx="914400" cy="560070"/>
          </a:xfrm>
          <a:prstGeom prst="rect">
            <a:avLst/>
          </a:prstGeom>
          <a:noFill/>
        </p:spPr>
        <p:txBody>
          <a:bodyPr wrap="square" lIns="36576" rIns="36576" tIns="18288" bIns="18288" anchor="ctr">
            <a:spAutoFit/>
          </a:bodyPr>
          <a:lstStyle/>
          <a:p>
            <a:pPr algn="l"/>
            <a:r>
              <a:rPr sz="1000" b="1">
                <a:solidFill>
                  <a:srgbClr val="0F172A"/>
                </a:solidFill>
                <a:latin typeface="Inter"/>
              </a:rPr>
              <a:t>0.8 wk</a:t>
            </a:r>
          </a:p>
        </p:txBody>
      </p:sp>
      <p:sp>
        <p:nvSpPr>
          <p:cNvPr id="26" name=""/>
          <p:cNvSpPr txBox="1"/>
          <p:nvPr/>
        </p:nvSpPr>
        <p:spPr>
          <a:xfrm>
            <a:off x="3429000" y="2251710"/>
            <a:ext cx="1828800" cy="560070"/>
          </a:xfrm>
          <a:prstGeom prst="rect">
            <a:avLst/>
          </a:prstGeom>
          <a:noFill/>
        </p:spPr>
        <p:txBody>
          <a:bodyPr wrap="square" lIns="36576" rIns="36576" tIns="18288" bIns="18288" anchor="ctr">
            <a:spAutoFit/>
          </a:bodyPr>
          <a:lstStyle/>
          <a:p>
            <a:pPr algn="l"/>
            <a:r>
              <a:rPr sz="1000" b="0">
                <a:solidFill>
                  <a:srgbClr val="0F172A"/>
                </a:solidFill>
                <a:latin typeface="Inter"/>
              </a:rPr>
              <a:t>Octaspring King</a:t>
            </a:r>
          </a:p>
        </p:txBody>
      </p:sp>
      <p:sp>
        <p:nvSpPr>
          <p:cNvPr id="27" name=""/>
          <p:cNvSpPr/>
          <p:nvPr/>
        </p:nvSpPr>
        <p:spPr>
          <a:xfrm>
            <a:off x="5257800" y="2374925"/>
            <a:ext cx="4511192" cy="313639"/>
          </a:xfrm>
          <a:prstGeom prst="rect">
            <a:avLst/>
          </a:prstGeom>
          <a:solidFill>
            <a:srgbClr val="2447FF"/>
          </a:solidFill>
          <a:ln>
            <a:noFill/>
          </a:ln>
        </p:spPr>
      </p:sp>
      <p:sp>
        <p:nvSpPr>
          <p:cNvPr id="28" name=""/>
          <p:cNvSpPr txBox="1"/>
          <p:nvPr/>
        </p:nvSpPr>
        <p:spPr>
          <a:xfrm>
            <a:off x="9823856" y="2251710"/>
            <a:ext cx="914400" cy="560070"/>
          </a:xfrm>
          <a:prstGeom prst="rect">
            <a:avLst/>
          </a:prstGeom>
          <a:noFill/>
        </p:spPr>
        <p:txBody>
          <a:bodyPr wrap="square" lIns="36576" rIns="36576" tIns="18288" bIns="18288" anchor="ctr">
            <a:spAutoFit/>
          </a:bodyPr>
          <a:lstStyle/>
          <a:p>
            <a:pPr algn="l"/>
            <a:r>
              <a:rPr sz="1000" b="1">
                <a:solidFill>
                  <a:srgbClr val="0F172A"/>
                </a:solidFill>
                <a:latin typeface="Inter"/>
              </a:rPr>
              <a:t>9.9 wk</a:t>
            </a:r>
          </a:p>
        </p:txBody>
      </p:sp>
      <p:sp>
        <p:nvSpPr>
          <p:cNvPr id="29" name=""/>
          <p:cNvSpPr txBox="1"/>
          <p:nvPr/>
        </p:nvSpPr>
        <p:spPr>
          <a:xfrm>
            <a:off x="3429000" y="2811780"/>
            <a:ext cx="1828800" cy="560070"/>
          </a:xfrm>
          <a:prstGeom prst="rect">
            <a:avLst/>
          </a:prstGeom>
          <a:noFill/>
        </p:spPr>
        <p:txBody>
          <a:bodyPr wrap="square" lIns="36576" rIns="36576" tIns="18288" bIns="18288" anchor="ctr">
            <a:spAutoFit/>
          </a:bodyPr>
          <a:lstStyle/>
          <a:p>
            <a:pPr algn="l"/>
            <a:r>
              <a:rPr sz="1000" b="0">
                <a:solidFill>
                  <a:srgbClr val="0F172A"/>
                </a:solidFill>
                <a:latin typeface="Inter"/>
              </a:rPr>
              <a:t>Octaspring Full</a:t>
            </a:r>
          </a:p>
        </p:txBody>
      </p:sp>
      <p:sp>
        <p:nvSpPr>
          <p:cNvPr id="30" name=""/>
          <p:cNvSpPr/>
          <p:nvPr/>
        </p:nvSpPr>
        <p:spPr>
          <a:xfrm>
            <a:off x="5257800" y="2934995"/>
            <a:ext cx="5468112" cy="313639"/>
          </a:xfrm>
          <a:prstGeom prst="rect">
            <a:avLst/>
          </a:prstGeom>
          <a:solidFill>
            <a:srgbClr val="2447FF"/>
          </a:solidFill>
          <a:ln>
            <a:noFill/>
          </a:ln>
        </p:spPr>
      </p:sp>
      <p:sp>
        <p:nvSpPr>
          <p:cNvPr id="31" name=""/>
          <p:cNvSpPr txBox="1"/>
          <p:nvPr/>
        </p:nvSpPr>
        <p:spPr>
          <a:xfrm>
            <a:off x="10780776" y="2811780"/>
            <a:ext cx="914400" cy="560070"/>
          </a:xfrm>
          <a:prstGeom prst="rect">
            <a:avLst/>
          </a:prstGeom>
          <a:noFill/>
        </p:spPr>
        <p:txBody>
          <a:bodyPr wrap="square" lIns="36576" rIns="36576" tIns="18288" bIns="18288" anchor="ctr">
            <a:spAutoFit/>
          </a:bodyPr>
          <a:lstStyle/>
          <a:p>
            <a:pPr algn="l"/>
            <a:r>
              <a:rPr sz="1000" b="1">
                <a:solidFill>
                  <a:srgbClr val="0F172A"/>
                </a:solidFill>
                <a:latin typeface="Inter"/>
              </a:rPr>
              <a:t>12+ wk</a:t>
            </a:r>
          </a:p>
        </p:txBody>
      </p:sp>
      <p:sp>
        <p:nvSpPr>
          <p:cNvPr id="32" name=""/>
          <p:cNvSpPr txBox="1"/>
          <p:nvPr/>
        </p:nvSpPr>
        <p:spPr>
          <a:xfrm>
            <a:off x="3429000" y="3371850"/>
            <a:ext cx="1828800" cy="560070"/>
          </a:xfrm>
          <a:prstGeom prst="rect">
            <a:avLst/>
          </a:prstGeom>
          <a:noFill/>
        </p:spPr>
        <p:txBody>
          <a:bodyPr wrap="square" lIns="36576" rIns="36576" tIns="18288" bIns="18288" anchor="ctr">
            <a:spAutoFit/>
          </a:bodyPr>
          <a:lstStyle/>
          <a:p>
            <a:pPr algn="l"/>
            <a:r>
              <a:rPr sz="1000" b="0">
                <a:solidFill>
                  <a:srgbClr val="0F172A"/>
                </a:solidFill>
                <a:latin typeface="Inter"/>
              </a:rPr>
              <a:t>Octaspring Twin &amp; XL</a:t>
            </a:r>
          </a:p>
        </p:txBody>
      </p:sp>
      <p:sp>
        <p:nvSpPr>
          <p:cNvPr id="33" name=""/>
          <p:cNvSpPr/>
          <p:nvPr/>
        </p:nvSpPr>
        <p:spPr>
          <a:xfrm>
            <a:off x="5257800" y="3495065"/>
            <a:ext cx="3018853" cy="313639"/>
          </a:xfrm>
          <a:prstGeom prst="rect">
            <a:avLst/>
          </a:prstGeom>
          <a:solidFill>
            <a:srgbClr val="2447FF"/>
          </a:solidFill>
          <a:ln>
            <a:noFill/>
          </a:ln>
        </p:spPr>
      </p:sp>
      <p:sp>
        <p:nvSpPr>
          <p:cNvPr id="34" name=""/>
          <p:cNvSpPr txBox="1"/>
          <p:nvPr/>
        </p:nvSpPr>
        <p:spPr>
          <a:xfrm>
            <a:off x="8331517" y="3371850"/>
            <a:ext cx="914400" cy="560070"/>
          </a:xfrm>
          <a:prstGeom prst="rect">
            <a:avLst/>
          </a:prstGeom>
          <a:noFill/>
        </p:spPr>
        <p:txBody>
          <a:bodyPr wrap="square" lIns="36576" rIns="36576" tIns="18288" bIns="18288" anchor="ctr">
            <a:spAutoFit/>
          </a:bodyPr>
          <a:lstStyle/>
          <a:p>
            <a:pPr algn="l"/>
            <a:r>
              <a:rPr sz="1000" b="1">
                <a:solidFill>
                  <a:srgbClr val="0F172A"/>
                </a:solidFill>
                <a:latin typeface="Inter"/>
              </a:rPr>
              <a:t>6.6 wk</a:t>
            </a:r>
          </a:p>
        </p:txBody>
      </p:sp>
      <p:sp>
        <p:nvSpPr>
          <p:cNvPr id="35" name=""/>
          <p:cNvSpPr txBox="1"/>
          <p:nvPr/>
        </p:nvSpPr>
        <p:spPr>
          <a:xfrm>
            <a:off x="3429000" y="3931920"/>
            <a:ext cx="1828800" cy="560070"/>
          </a:xfrm>
          <a:prstGeom prst="rect">
            <a:avLst/>
          </a:prstGeom>
          <a:noFill/>
        </p:spPr>
        <p:txBody>
          <a:bodyPr wrap="square" lIns="36576" rIns="36576" tIns="18288" bIns="18288" anchor="ctr">
            <a:spAutoFit/>
          </a:bodyPr>
          <a:lstStyle/>
          <a:p>
            <a:pPr algn="l"/>
            <a:r>
              <a:rPr sz="1000" b="0">
                <a:solidFill>
                  <a:srgbClr val="0F172A"/>
                </a:solidFill>
                <a:latin typeface="Inter"/>
              </a:rPr>
              <a:t>Octaspring Cal/Split/RV</a:t>
            </a:r>
          </a:p>
        </p:txBody>
      </p:sp>
      <p:sp>
        <p:nvSpPr>
          <p:cNvPr id="36" name=""/>
          <p:cNvSpPr/>
          <p:nvPr/>
        </p:nvSpPr>
        <p:spPr>
          <a:xfrm>
            <a:off x="5257800" y="4055135"/>
            <a:ext cx="4404868" cy="313639"/>
          </a:xfrm>
          <a:prstGeom prst="rect">
            <a:avLst/>
          </a:prstGeom>
          <a:solidFill>
            <a:srgbClr val="2447FF"/>
          </a:solidFill>
          <a:ln>
            <a:noFill/>
          </a:ln>
        </p:spPr>
      </p:sp>
      <p:sp>
        <p:nvSpPr>
          <p:cNvPr id="37" name=""/>
          <p:cNvSpPr txBox="1"/>
          <p:nvPr/>
        </p:nvSpPr>
        <p:spPr>
          <a:xfrm>
            <a:off x="9717532" y="3931920"/>
            <a:ext cx="914400" cy="560070"/>
          </a:xfrm>
          <a:prstGeom prst="rect">
            <a:avLst/>
          </a:prstGeom>
          <a:noFill/>
        </p:spPr>
        <p:txBody>
          <a:bodyPr wrap="square" lIns="36576" rIns="36576" tIns="18288" bIns="18288" anchor="ctr">
            <a:spAutoFit/>
          </a:bodyPr>
          <a:lstStyle/>
          <a:p>
            <a:pPr algn="l"/>
            <a:r>
              <a:rPr sz="1000" b="1">
                <a:solidFill>
                  <a:srgbClr val="0F172A"/>
                </a:solidFill>
                <a:latin typeface="Inter"/>
              </a:rPr>
              <a:t>9.7 wk</a:t>
            </a:r>
          </a:p>
        </p:txBody>
      </p:sp>
      <p:sp>
        <p:nvSpPr>
          <p:cNvPr id="38" name=""/>
          <p:cNvSpPr txBox="1"/>
          <p:nvPr/>
        </p:nvSpPr>
        <p:spPr>
          <a:xfrm>
            <a:off x="3429000" y="4491990"/>
            <a:ext cx="1828800" cy="560070"/>
          </a:xfrm>
          <a:prstGeom prst="rect">
            <a:avLst/>
          </a:prstGeom>
          <a:noFill/>
        </p:spPr>
        <p:txBody>
          <a:bodyPr wrap="square" lIns="36576" rIns="36576" tIns="18288" bIns="18288" anchor="ctr">
            <a:spAutoFit/>
          </a:bodyPr>
          <a:lstStyle/>
          <a:p>
            <a:pPr algn="l"/>
            <a:r>
              <a:rPr sz="1000" b="0">
                <a:solidFill>
                  <a:srgbClr val="0F172A"/>
                </a:solidFill>
                <a:latin typeface="Inter"/>
              </a:rPr>
              <a:t>SnowTek &amp; Essentials</a:t>
            </a:r>
          </a:p>
        </p:txBody>
      </p:sp>
      <p:sp>
        <p:nvSpPr>
          <p:cNvPr id="39" name=""/>
          <p:cNvSpPr/>
          <p:nvPr/>
        </p:nvSpPr>
        <p:spPr>
          <a:xfrm>
            <a:off x="5257800" y="4615205"/>
            <a:ext cx="1686001" cy="313639"/>
          </a:xfrm>
          <a:prstGeom prst="rect">
            <a:avLst/>
          </a:prstGeom>
          <a:solidFill>
            <a:srgbClr val="2447FF"/>
          </a:solidFill>
          <a:ln>
            <a:noFill/>
          </a:ln>
        </p:spPr>
      </p:sp>
      <p:sp>
        <p:nvSpPr>
          <p:cNvPr id="40" name=""/>
          <p:cNvSpPr txBox="1"/>
          <p:nvPr/>
        </p:nvSpPr>
        <p:spPr>
          <a:xfrm>
            <a:off x="6998665" y="4491990"/>
            <a:ext cx="914400" cy="560070"/>
          </a:xfrm>
          <a:prstGeom prst="rect">
            <a:avLst/>
          </a:prstGeom>
          <a:noFill/>
        </p:spPr>
        <p:txBody>
          <a:bodyPr wrap="square" lIns="36576" rIns="36576" tIns="18288" bIns="18288" anchor="ctr">
            <a:spAutoFit/>
          </a:bodyPr>
          <a:lstStyle/>
          <a:p>
            <a:pPr algn="l"/>
            <a:r>
              <a:rPr sz="1000" b="1">
                <a:solidFill>
                  <a:srgbClr val="0F172A"/>
                </a:solidFill>
                <a:latin typeface="Inter"/>
              </a:rPr>
              <a:t>3.7 wk</a:t>
            </a:r>
          </a:p>
        </p:txBody>
      </p:sp>
      <p:sp>
        <p:nvSpPr>
          <p:cNvPr id="41" name=""/>
          <p:cNvSpPr txBox="1"/>
          <p:nvPr/>
        </p:nvSpPr>
        <p:spPr>
          <a:xfrm>
            <a:off x="3429000" y="5052060"/>
            <a:ext cx="1828800" cy="560070"/>
          </a:xfrm>
          <a:prstGeom prst="rect">
            <a:avLst/>
          </a:prstGeom>
          <a:noFill/>
        </p:spPr>
        <p:txBody>
          <a:bodyPr wrap="square" lIns="36576" rIns="36576" tIns="18288" bIns="18288" anchor="ctr">
            <a:spAutoFit/>
          </a:bodyPr>
          <a:lstStyle/>
          <a:p>
            <a:pPr algn="l"/>
            <a:r>
              <a:rPr sz="1000" b="0">
                <a:solidFill>
                  <a:srgbClr val="0F172A"/>
                </a:solidFill>
                <a:latin typeface="Inter"/>
              </a:rPr>
              <a:t>Pillows</a:t>
            </a:r>
          </a:p>
        </p:txBody>
      </p:sp>
      <p:sp>
        <p:nvSpPr>
          <p:cNvPr id="42" name=""/>
          <p:cNvSpPr/>
          <p:nvPr/>
        </p:nvSpPr>
        <p:spPr>
          <a:xfrm>
            <a:off x="5257800" y="5175275"/>
            <a:ext cx="5126355" cy="313639"/>
          </a:xfrm>
          <a:prstGeom prst="rect">
            <a:avLst/>
          </a:prstGeom>
          <a:solidFill>
            <a:srgbClr val="2447FF"/>
          </a:solidFill>
          <a:ln>
            <a:noFill/>
          </a:ln>
        </p:spPr>
      </p:sp>
      <p:sp>
        <p:nvSpPr>
          <p:cNvPr id="43" name=""/>
          <p:cNvSpPr txBox="1"/>
          <p:nvPr/>
        </p:nvSpPr>
        <p:spPr>
          <a:xfrm>
            <a:off x="10439019" y="5052060"/>
            <a:ext cx="914400" cy="560070"/>
          </a:xfrm>
          <a:prstGeom prst="rect">
            <a:avLst/>
          </a:prstGeom>
          <a:noFill/>
        </p:spPr>
        <p:txBody>
          <a:bodyPr wrap="square" lIns="36576" rIns="36576" tIns="18288" bIns="18288" anchor="ctr">
            <a:spAutoFit/>
          </a:bodyPr>
          <a:lstStyle/>
          <a:p>
            <a:pPr algn="l"/>
            <a:r>
              <a:rPr sz="1000" b="1">
                <a:solidFill>
                  <a:srgbClr val="0F172A"/>
                </a:solidFill>
                <a:latin typeface="Inter"/>
              </a:rPr>
              <a:t>11.2 wk</a:t>
            </a:r>
          </a:p>
        </p:txBody>
      </p:sp>
      <p:sp>
        <p:nvSpPr>
          <p:cNvPr id="44" name=""/>
          <p:cNvSpPr txBox="1"/>
          <p:nvPr/>
        </p:nvSpPr>
        <p:spPr>
          <a:xfrm>
            <a:off x="3429000" y="5612130"/>
            <a:ext cx="1828800" cy="560070"/>
          </a:xfrm>
          <a:prstGeom prst="rect">
            <a:avLst/>
          </a:prstGeom>
          <a:noFill/>
        </p:spPr>
        <p:txBody>
          <a:bodyPr wrap="square" lIns="36576" rIns="36576" tIns="18288" bIns="18288" anchor="ctr">
            <a:spAutoFit/>
          </a:bodyPr>
          <a:lstStyle/>
          <a:p>
            <a:pPr algn="l"/>
            <a:r>
              <a:rPr sz="1000" b="0">
                <a:solidFill>
                  <a:srgbClr val="0F172A"/>
                </a:solidFill>
                <a:latin typeface="Inter"/>
              </a:rPr>
              <a:t>Protectors &amp; Sheets</a:t>
            </a:r>
          </a:p>
        </p:txBody>
      </p:sp>
      <p:sp>
        <p:nvSpPr>
          <p:cNvPr id="45" name=""/>
          <p:cNvSpPr/>
          <p:nvPr/>
        </p:nvSpPr>
        <p:spPr>
          <a:xfrm>
            <a:off x="5257800" y="5735345"/>
            <a:ext cx="5468112" cy="313639"/>
          </a:xfrm>
          <a:prstGeom prst="rect">
            <a:avLst/>
          </a:prstGeom>
          <a:solidFill>
            <a:srgbClr val="2447FF"/>
          </a:solidFill>
          <a:ln>
            <a:noFill/>
          </a:ln>
        </p:spPr>
      </p:sp>
      <p:sp>
        <p:nvSpPr>
          <p:cNvPr id="46" name=""/>
          <p:cNvSpPr txBox="1"/>
          <p:nvPr/>
        </p:nvSpPr>
        <p:spPr>
          <a:xfrm>
            <a:off x="10780776" y="5612130"/>
            <a:ext cx="914400" cy="560070"/>
          </a:xfrm>
          <a:prstGeom prst="rect">
            <a:avLst/>
          </a:prstGeom>
          <a:noFill/>
        </p:spPr>
        <p:txBody>
          <a:bodyPr wrap="square" lIns="36576" rIns="36576" tIns="18288" bIns="18288" anchor="ctr">
            <a:spAutoFit/>
          </a:bodyPr>
          <a:lstStyle/>
          <a:p>
            <a:pPr algn="l"/>
            <a:r>
              <a:rPr sz="1000" b="1">
                <a:solidFill>
                  <a:srgbClr val="0F172A"/>
                </a:solidFill>
                <a:latin typeface="Inter"/>
              </a:rPr>
              <a:t>12+ wk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
          <p:cNvSpPr/>
          <p:nvPr/>
        </p:nvSpPr>
        <p:spPr>
          <a:xfrm>
            <a:off x="0" y="0"/>
            <a:ext cx="12191695" cy="6858000"/>
          </a:xfrm>
          <a:prstGeom prst="rect">
            <a:avLst/>
          </a:prstGeom>
          <a:solidFill>
            <a:srgbClr val="FFFFFF"/>
          </a:solidFill>
          <a:ln>
            <a:noFill/>
          </a:ln>
        </p:spPr>
      </p:sp>
      <p:sp>
        <p:nvSpPr>
          <p:cNvPr id="3" name=""/>
          <p:cNvSpPr/>
          <p:nvPr/>
        </p:nvSpPr>
        <p:spPr>
          <a:xfrm>
            <a:off x="548640" y="502920"/>
            <a:ext cx="73152" cy="566928"/>
          </a:xfrm>
          <a:prstGeom prst="rect">
            <a:avLst/>
          </a:prstGeom>
          <a:solidFill>
            <a:srgbClr val="2447FF"/>
          </a:solidFill>
          <a:ln>
            <a:noFill/>
          </a:ln>
        </p:spPr>
      </p:sp>
      <p:sp>
        <p:nvSpPr>
          <p:cNvPr id="4" name=""/>
          <p:cNvSpPr txBox="1"/>
          <p:nvPr/>
        </p:nvSpPr>
        <p:spPr>
          <a:xfrm>
            <a:off x="731520" y="384048"/>
            <a:ext cx="8686800" cy="274320"/>
          </a:xfrm>
          <a:prstGeom prst="rect">
            <a:avLst/>
          </a:prstGeom>
          <a:noFill/>
        </p:spPr>
        <p:txBody>
          <a:bodyPr wrap="square" lIns="36576" rIns="36576" tIns="18288" bIns="18288" anchor="t">
            <a:spAutoFit/>
          </a:bodyPr>
          <a:lstStyle/>
          <a:p>
            <a:pPr algn="l"/>
            <a:r>
              <a:rPr sz="1000" b="1">
                <a:solidFill>
                  <a:srgbClr val="2447FF"/>
                </a:solidFill>
                <a:latin typeface="Space Grotesk"/>
              </a:rPr>
              <a:t>REVIEWS &amp; ACCOUNT HEALTH</a:t>
            </a:r>
          </a:p>
        </p:txBody>
      </p:sp>
      <p:sp>
        <p:nvSpPr>
          <p:cNvPr id="5" name=""/>
          <p:cNvSpPr txBox="1"/>
          <p:nvPr/>
        </p:nvSpPr>
        <p:spPr>
          <a:xfrm>
            <a:off x="731520" y="603504"/>
            <a:ext cx="9601200" cy="548640"/>
          </a:xfrm>
          <a:prstGeom prst="rect">
            <a:avLst/>
          </a:prstGeom>
          <a:noFill/>
        </p:spPr>
        <p:txBody>
          <a:bodyPr wrap="square" lIns="36576" rIns="36576" tIns="18288" bIns="18288" anchor="t">
            <a:spAutoFit/>
          </a:bodyPr>
          <a:lstStyle/>
          <a:p>
            <a:pPr algn="l"/>
            <a:r>
              <a:rPr sz="2600" b="1">
                <a:solidFill>
                  <a:srgbClr val="0F172A"/>
                </a:solidFill>
                <a:latin typeface="Space Grotesk"/>
              </a:rPr>
              <a:t>Rating &amp; review trend</a:t>
            </a:r>
          </a:p>
        </p:txBody>
      </p:sp>
      <p:pic>
        <p:nvPicPr>
          <p:cNvPr id="6" name="" descr="logo_s.png"/>
          <p:cNvPicPr>
            <a:picLocks noChangeAspect="1"/>
          </p:cNvPicPr>
          <p:nvPr/>
        </p:nvPicPr>
        <p:blipFill>
          <a:blip r:embed="rId2"/>
          <a:stretch>
            <a:fillRect/>
          </a:stretch>
        </p:blipFill>
        <p:spPr>
          <a:xfrm>
            <a:off x="10195560" y="457200"/>
            <a:ext cx="1463040" cy="256032"/>
          </a:xfrm>
          <a:prstGeom prst="rect">
            <a:avLst/>
          </a:prstGeom>
        </p:spPr>
      </p:pic>
      <p:sp>
        <p:nvSpPr>
          <p:cNvPr id="7" name=""/>
          <p:cNvSpPr/>
          <p:nvPr/>
        </p:nvSpPr>
        <p:spPr>
          <a:xfrm>
            <a:off x="548640" y="6400800"/>
            <a:ext cx="11091672" cy="10972"/>
          </a:xfrm>
          <a:prstGeom prst="rect">
            <a:avLst/>
          </a:prstGeom>
          <a:solidFill>
            <a:srgbClr val="E5E0D6"/>
          </a:solidFill>
          <a:ln>
            <a:noFill/>
          </a:ln>
        </p:spPr>
      </p:sp>
      <p:sp>
        <p:nvSpPr>
          <p:cNvPr id="8" name=""/>
          <p:cNvSpPr txBox="1"/>
          <p:nvPr/>
        </p:nvSpPr>
        <p:spPr>
          <a:xfrm>
            <a:off x="548640" y="6455664"/>
            <a:ext cx="8229600" cy="274320"/>
          </a:xfrm>
          <a:prstGeom prst="rect">
            <a:avLst/>
          </a:prstGeom>
          <a:noFill/>
        </p:spPr>
        <p:txBody>
          <a:bodyPr wrap="square" lIns="36576" rIns="36576" tIns="18288" bIns="18288" anchor="t">
            <a:spAutoFit/>
          </a:bodyPr>
          <a:lstStyle/>
          <a:p>
            <a:pPr algn="l"/>
            <a:r>
              <a:rPr sz="900" b="0">
                <a:solidFill>
                  <a:srgbClr val="6B6558"/>
                </a:solidFill>
                <a:latin typeface="Inter"/>
              </a:rPr>
              <a:t>Dormeo Canada · Weekly Business Review · Week 43 (Oct 18–24, 2026)</a:t>
            </a:r>
          </a:p>
        </p:txBody>
      </p:sp>
      <p:sp>
        <p:nvSpPr>
          <p:cNvPr id="9" name=""/>
          <p:cNvSpPr txBox="1"/>
          <p:nvPr/>
        </p:nvSpPr>
        <p:spPr>
          <a:xfrm>
            <a:off x="10241280" y="6455664"/>
            <a:ext cx="1399032" cy="274320"/>
          </a:xfrm>
          <a:prstGeom prst="rect">
            <a:avLst/>
          </a:prstGeom>
          <a:noFill/>
        </p:spPr>
        <p:txBody>
          <a:bodyPr wrap="square" lIns="36576" rIns="36576" tIns="18288" bIns="18288" anchor="t">
            <a:spAutoFit/>
          </a:bodyPr>
          <a:lstStyle/>
          <a:p>
            <a:pPr algn="r"/>
            <a:r>
              <a:rPr sz="900" b="0">
                <a:solidFill>
                  <a:srgbClr val="6B6558"/>
                </a:solidFill>
                <a:latin typeface="Inter"/>
              </a:rPr>
              <a:t>13 / 17</a:t>
            </a:r>
          </a:p>
        </p:txBody>
      </p:sp>
      <p:sp>
        <p:nvSpPr>
          <p:cNvPr id="10" name=""/>
          <p:cNvSpPr/>
          <p:nvPr/>
        </p:nvSpPr>
        <p:spPr>
          <a:xfrm>
            <a:off x="548640" y="1417320"/>
            <a:ext cx="5486400" cy="4800600"/>
          </a:xfrm>
          <a:prstGeom prst="roundRect">
            <a:avLst>
              <a:gd name="" fmla="val 6000"/>
            </a:avLst>
          </a:prstGeom>
          <a:solidFill>
            <a:srgbClr val="F6F3EC"/>
          </a:solidFill>
          <a:ln>
            <a:noFill/>
          </a:ln>
        </p:spPr>
      </p:sp>
      <p:sp>
        <p:nvSpPr>
          <p:cNvPr id="11" name=""/>
          <p:cNvSpPr txBox="1"/>
          <p:nvPr/>
        </p:nvSpPr>
        <p:spPr>
          <a:xfrm>
            <a:off x="777240" y="1645920"/>
            <a:ext cx="5029200" cy="365760"/>
          </a:xfrm>
          <a:prstGeom prst="rect">
            <a:avLst/>
          </a:prstGeom>
          <a:noFill/>
        </p:spPr>
        <p:txBody>
          <a:bodyPr wrap="square" lIns="36576" rIns="36576" tIns="18288" bIns="18288" anchor="t">
            <a:spAutoFit/>
          </a:bodyPr>
          <a:lstStyle/>
          <a:p>
            <a:pPr algn="l"/>
            <a:r>
              <a:rPr sz="1100" b="1">
                <a:solidFill>
                  <a:srgbClr val="D97706"/>
                </a:solidFill>
                <a:latin typeface="Inter"/>
              </a:rPr>
              <a:t>LAST 90 DAYS</a:t>
            </a:r>
          </a:p>
        </p:txBody>
      </p:sp>
      <p:sp>
        <p:nvSpPr>
          <p:cNvPr id="12" name=""/>
          <p:cNvSpPr txBox="1"/>
          <p:nvPr/>
        </p:nvSpPr>
        <p:spPr>
          <a:xfrm>
            <a:off x="777240" y="2011680"/>
            <a:ext cx="5029200" cy="731520"/>
          </a:xfrm>
          <a:prstGeom prst="rect">
            <a:avLst/>
          </a:prstGeom>
          <a:noFill/>
        </p:spPr>
        <p:txBody>
          <a:bodyPr wrap="square" lIns="36576" rIns="36576" tIns="18288" bIns="18288" anchor="t">
            <a:spAutoFit/>
          </a:bodyPr>
          <a:lstStyle/>
          <a:p>
            <a:pPr algn="l"/>
            <a:r>
              <a:rPr sz="2400" b="1">
                <a:solidFill>
                  <a:srgbClr val="0F172A"/>
                </a:solidFill>
                <a:latin typeface="Space Grotesk"/>
              </a:rPr>
              <a:t>No review data in Sellerise</a:t>
            </a:r>
          </a:p>
        </p:txBody>
      </p:sp>
      <p:sp>
        <p:nvSpPr>
          <p:cNvPr id="13" name=""/>
          <p:cNvSpPr txBox="1"/>
          <p:nvPr/>
        </p:nvSpPr>
        <p:spPr>
          <a:xfrm>
            <a:off x="777240" y="2926080"/>
            <a:ext cx="5029200" cy="3108960"/>
          </a:xfrm>
          <a:prstGeom prst="rect">
            <a:avLst/>
          </a:prstGeom>
          <a:noFill/>
        </p:spPr>
        <p:txBody>
          <a:bodyPr wrap="square" lIns="36576" rIns="36576" tIns="18288" bIns="18288" anchor="t">
            <a:spAutoFit/>
          </a:bodyPr>
          <a:lstStyle/>
          <a:p>
            <a:pPr algn="l">
              <a:spcAft>
                <a:spcPts val="800"/>
              </a:spcAft>
            </a:pPr>
            <a:r>
              <a:rPr sz="1150" b="0">
                <a:solidFill>
                  <a:srgbClr val="334155"/>
                </a:solidFill>
                <a:latin typeface="Inter"/>
              </a:rPr>
              <a:t>Sellerise returned no review records, rating trend or negative reviews for the 30 Dormeo Canada products over the last 90 days.</a:t>
            </a:r>
          </a:p>
          <a:p>
            <a:pPr algn="l">
              <a:spcAft>
                <a:spcPts val="800"/>
              </a:spcAft>
            </a:pPr>
            <a:r>
              <a:rPr sz="1150" b="0">
                <a:solidFill>
                  <a:srgbClr val="334155"/>
                </a:solidFill>
                <a:latin typeface="Inter"/>
              </a:rPr>
              <a:t>That means the review tracker isn't pulling for this marketplace, not that there were no reviews.</a:t>
            </a:r>
          </a:p>
        </p:txBody>
      </p:sp>
      <p:sp>
        <p:nvSpPr>
          <p:cNvPr id="14" name=""/>
          <p:cNvSpPr/>
          <p:nvPr/>
        </p:nvSpPr>
        <p:spPr>
          <a:xfrm>
            <a:off x="6263640" y="1417320"/>
            <a:ext cx="5376672" cy="4800600"/>
          </a:xfrm>
          <a:prstGeom prst="roundRect">
            <a:avLst>
              <a:gd name="" fmla="val 6000"/>
            </a:avLst>
          </a:prstGeom>
          <a:solidFill>
            <a:srgbClr val="FFFFFF"/>
          </a:solidFill>
          <a:ln w="9525">
            <a:solidFill>
              <a:srgbClr val="E5E0D6"/>
            </a:solidFill>
          </a:ln>
        </p:spPr>
      </p:sp>
      <p:sp>
        <p:nvSpPr>
          <p:cNvPr id="15" name=""/>
          <p:cNvSpPr txBox="1"/>
          <p:nvPr/>
        </p:nvSpPr>
        <p:spPr>
          <a:xfrm>
            <a:off x="6446520" y="1554480"/>
            <a:ext cx="5010912" cy="274320"/>
          </a:xfrm>
          <a:prstGeom prst="rect">
            <a:avLst/>
          </a:prstGeom>
          <a:noFill/>
        </p:spPr>
        <p:txBody>
          <a:bodyPr wrap="square" lIns="36576" rIns="36576" tIns="18288" bIns="18288" anchor="t">
            <a:spAutoFit/>
          </a:bodyPr>
          <a:lstStyle/>
          <a:p>
            <a:pPr algn="l"/>
            <a:r>
              <a:rPr sz="1200" b="1">
                <a:solidFill>
                  <a:srgbClr val="0F172A"/>
                </a:solidFill>
                <a:latin typeface="Space Grotesk"/>
              </a:rPr>
              <a:t>Recommendation</a:t>
            </a:r>
          </a:p>
        </p:txBody>
      </p:sp>
      <p:sp>
        <p:nvSpPr>
          <p:cNvPr id="16" name=""/>
          <p:cNvSpPr txBox="1"/>
          <p:nvPr/>
        </p:nvSpPr>
        <p:spPr>
          <a:xfrm>
            <a:off x="6446520" y="1874519"/>
            <a:ext cx="5010912" cy="4251960"/>
          </a:xfrm>
          <a:prstGeom prst="rect">
            <a:avLst/>
          </a:prstGeom>
          <a:noFill/>
        </p:spPr>
        <p:txBody>
          <a:bodyPr wrap="square" lIns="36576" rIns="36576" tIns="18288" bIns="18288" anchor="t">
            <a:spAutoFit/>
          </a:bodyPr>
          <a:lstStyle/>
          <a:p>
            <a:pPr algn="l">
              <a:spcAft>
                <a:spcPts val="500"/>
              </a:spcAft>
            </a:pPr>
            <a:r>
              <a:rPr sz="1100" b="0">
                <a:solidFill>
                  <a:srgbClr val="334155"/>
                </a:solidFill>
                <a:latin typeface="Inter"/>
              </a:rPr>
              <a:t>Turn on review tracking for Dormeo Canada in Sellerise (or pull Amazon's Customer Reviews report) so next week's deck shows star rating and review count per line.</a:t>
            </a:r>
          </a:p>
          <a:p>
            <a:pPr algn="l">
              <a:spcAft>
                <a:spcPts val="500"/>
              </a:spcAft>
            </a:pPr>
            <a:r>
              <a:rPr sz="1100" b="0">
                <a:solidFill>
                  <a:srgbClr val="334155"/>
                </a:solidFill>
                <a:latin typeface="Inter"/>
              </a:rPr>
              <a:t>Read the newest 1–3 star reviews for the Queen and Twin XL toppers to see whether the returns share a cause.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
          <p:cNvSpPr/>
          <p:nvPr/>
        </p:nvSpPr>
        <p:spPr>
          <a:xfrm>
            <a:off x="0" y="0"/>
            <a:ext cx="12191695" cy="6858000"/>
          </a:xfrm>
          <a:prstGeom prst="rect">
            <a:avLst/>
          </a:prstGeom>
          <a:solidFill>
            <a:srgbClr val="FFFFFF"/>
          </a:solidFill>
          <a:ln>
            <a:noFill/>
          </a:ln>
        </p:spPr>
      </p:sp>
      <p:sp>
        <p:nvSpPr>
          <p:cNvPr id="3" name=""/>
          <p:cNvSpPr/>
          <p:nvPr/>
        </p:nvSpPr>
        <p:spPr>
          <a:xfrm>
            <a:off x="548640" y="502920"/>
            <a:ext cx="73152" cy="566928"/>
          </a:xfrm>
          <a:prstGeom prst="rect">
            <a:avLst/>
          </a:prstGeom>
          <a:solidFill>
            <a:srgbClr val="2447FF"/>
          </a:solidFill>
          <a:ln>
            <a:noFill/>
          </a:ln>
        </p:spPr>
      </p:sp>
      <p:sp>
        <p:nvSpPr>
          <p:cNvPr id="4" name=""/>
          <p:cNvSpPr txBox="1"/>
          <p:nvPr/>
        </p:nvSpPr>
        <p:spPr>
          <a:xfrm>
            <a:off x="731520" y="384048"/>
            <a:ext cx="8686800" cy="274320"/>
          </a:xfrm>
          <a:prstGeom prst="rect">
            <a:avLst/>
          </a:prstGeom>
          <a:noFill/>
        </p:spPr>
        <p:txBody>
          <a:bodyPr wrap="square" lIns="36576" rIns="36576" tIns="18288" bIns="18288" anchor="t">
            <a:spAutoFit/>
          </a:bodyPr>
          <a:lstStyle/>
          <a:p>
            <a:pPr algn="l"/>
            <a:r>
              <a:rPr sz="1000" b="1">
                <a:solidFill>
                  <a:srgbClr val="2447FF"/>
                </a:solidFill>
                <a:latin typeface="Space Grotesk"/>
              </a:rPr>
              <a:t>REVIEWS &amp; ACCOUNT HEALTH</a:t>
            </a:r>
          </a:p>
        </p:txBody>
      </p:sp>
      <p:sp>
        <p:nvSpPr>
          <p:cNvPr id="5" name=""/>
          <p:cNvSpPr txBox="1"/>
          <p:nvPr/>
        </p:nvSpPr>
        <p:spPr>
          <a:xfrm>
            <a:off x="731520" y="603504"/>
            <a:ext cx="9601200" cy="548640"/>
          </a:xfrm>
          <a:prstGeom prst="rect">
            <a:avLst/>
          </a:prstGeom>
          <a:noFill/>
        </p:spPr>
        <p:txBody>
          <a:bodyPr wrap="square" lIns="36576" rIns="36576" tIns="18288" bIns="18288" anchor="t">
            <a:spAutoFit/>
          </a:bodyPr>
          <a:lstStyle/>
          <a:p>
            <a:pPr algn="l"/>
            <a:r>
              <a:rPr sz="2600" b="1">
                <a:solidFill>
                  <a:srgbClr val="0F172A"/>
                </a:solidFill>
                <a:latin typeface="Space Grotesk"/>
              </a:rPr>
              <a:t>Alerts &amp; Buy Box — last 30 days</a:t>
            </a:r>
          </a:p>
        </p:txBody>
      </p:sp>
      <p:pic>
        <p:nvPicPr>
          <p:cNvPr id="6" name="" descr="logo_s.png"/>
          <p:cNvPicPr>
            <a:picLocks noChangeAspect="1"/>
          </p:cNvPicPr>
          <p:nvPr/>
        </p:nvPicPr>
        <p:blipFill>
          <a:blip r:embed="rId2"/>
          <a:stretch>
            <a:fillRect/>
          </a:stretch>
        </p:blipFill>
        <p:spPr>
          <a:xfrm>
            <a:off x="10195560" y="457200"/>
            <a:ext cx="1463040" cy="256032"/>
          </a:xfrm>
          <a:prstGeom prst="rect">
            <a:avLst/>
          </a:prstGeom>
        </p:spPr>
      </p:pic>
      <p:sp>
        <p:nvSpPr>
          <p:cNvPr id="7" name=""/>
          <p:cNvSpPr/>
          <p:nvPr/>
        </p:nvSpPr>
        <p:spPr>
          <a:xfrm>
            <a:off x="548640" y="6400800"/>
            <a:ext cx="11091672" cy="10972"/>
          </a:xfrm>
          <a:prstGeom prst="rect">
            <a:avLst/>
          </a:prstGeom>
          <a:solidFill>
            <a:srgbClr val="E5E0D6"/>
          </a:solidFill>
          <a:ln>
            <a:noFill/>
          </a:ln>
        </p:spPr>
      </p:sp>
      <p:sp>
        <p:nvSpPr>
          <p:cNvPr id="8" name=""/>
          <p:cNvSpPr txBox="1"/>
          <p:nvPr/>
        </p:nvSpPr>
        <p:spPr>
          <a:xfrm>
            <a:off x="548640" y="6455664"/>
            <a:ext cx="8229600" cy="274320"/>
          </a:xfrm>
          <a:prstGeom prst="rect">
            <a:avLst/>
          </a:prstGeom>
          <a:noFill/>
        </p:spPr>
        <p:txBody>
          <a:bodyPr wrap="square" lIns="36576" rIns="36576" tIns="18288" bIns="18288" anchor="t">
            <a:spAutoFit/>
          </a:bodyPr>
          <a:lstStyle/>
          <a:p>
            <a:pPr algn="l"/>
            <a:r>
              <a:rPr sz="900" b="0">
                <a:solidFill>
                  <a:srgbClr val="6B6558"/>
                </a:solidFill>
                <a:latin typeface="Inter"/>
              </a:rPr>
              <a:t>Dormeo Canada · Weekly Business Review · Week 43 (Oct 18–24, 2026)</a:t>
            </a:r>
          </a:p>
        </p:txBody>
      </p:sp>
      <p:sp>
        <p:nvSpPr>
          <p:cNvPr id="9" name=""/>
          <p:cNvSpPr txBox="1"/>
          <p:nvPr/>
        </p:nvSpPr>
        <p:spPr>
          <a:xfrm>
            <a:off x="10241280" y="6455664"/>
            <a:ext cx="1399032" cy="274320"/>
          </a:xfrm>
          <a:prstGeom prst="rect">
            <a:avLst/>
          </a:prstGeom>
          <a:noFill/>
        </p:spPr>
        <p:txBody>
          <a:bodyPr wrap="square" lIns="36576" rIns="36576" tIns="18288" bIns="18288" anchor="t">
            <a:spAutoFit/>
          </a:bodyPr>
          <a:lstStyle/>
          <a:p>
            <a:pPr algn="r"/>
            <a:r>
              <a:rPr sz="900" b="0">
                <a:solidFill>
                  <a:srgbClr val="6B6558"/>
                </a:solidFill>
                <a:latin typeface="Inter"/>
              </a:rPr>
              <a:t>14 / 17</a:t>
            </a:r>
          </a:p>
        </p:txBody>
      </p:sp>
      <p:sp>
        <p:nvSpPr>
          <p:cNvPr id="10" name=""/>
          <p:cNvSpPr/>
          <p:nvPr/>
        </p:nvSpPr>
        <p:spPr>
          <a:xfrm>
            <a:off x="548640" y="1371600"/>
            <a:ext cx="2651760" cy="1417320"/>
          </a:xfrm>
          <a:prstGeom prst="roundRect">
            <a:avLst>
              <a:gd name="" fmla="val 6000"/>
            </a:avLst>
          </a:prstGeom>
          <a:solidFill>
            <a:srgbClr val="F6F3EC"/>
          </a:solidFill>
          <a:ln>
            <a:noFill/>
          </a:ln>
        </p:spPr>
      </p:sp>
      <p:sp>
        <p:nvSpPr>
          <p:cNvPr id="11" name=""/>
          <p:cNvSpPr txBox="1"/>
          <p:nvPr/>
        </p:nvSpPr>
        <p:spPr>
          <a:xfrm>
            <a:off x="713232" y="149961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TOTAL ALERTS</a:t>
            </a:r>
          </a:p>
        </p:txBody>
      </p:sp>
      <p:sp>
        <p:nvSpPr>
          <p:cNvPr id="12" name=""/>
          <p:cNvSpPr txBox="1"/>
          <p:nvPr/>
        </p:nvSpPr>
        <p:spPr>
          <a:xfrm>
            <a:off x="713232" y="1755648"/>
            <a:ext cx="2377440" cy="548640"/>
          </a:xfrm>
          <a:prstGeom prst="rect">
            <a:avLst/>
          </a:prstGeom>
          <a:noFill/>
        </p:spPr>
        <p:txBody>
          <a:bodyPr wrap="square" lIns="36576" rIns="36576" tIns="18288" bIns="18288" anchor="t">
            <a:spAutoFit/>
          </a:bodyPr>
          <a:lstStyle/>
          <a:p>
            <a:pPr algn="l"/>
            <a:r>
              <a:rPr sz="2600" b="1">
                <a:solidFill>
                  <a:srgbClr val="2447FF"/>
                </a:solidFill>
                <a:latin typeface="Space Grotesk"/>
              </a:rPr>
              <a:t>107</a:t>
            </a:r>
          </a:p>
        </p:txBody>
      </p:sp>
      <p:sp>
        <p:nvSpPr>
          <p:cNvPr id="13" name=""/>
          <p:cNvSpPr txBox="1"/>
          <p:nvPr/>
        </p:nvSpPr>
        <p:spPr>
          <a:xfrm>
            <a:off x="713232" y="2377439"/>
            <a:ext cx="2377440" cy="320040"/>
          </a:xfrm>
          <a:prstGeom prst="rect">
            <a:avLst/>
          </a:prstGeom>
          <a:noFill/>
        </p:spPr>
        <p:txBody>
          <a:bodyPr wrap="square" lIns="36576" rIns="36576" tIns="18288" bIns="18288" anchor="t">
            <a:spAutoFit/>
          </a:bodyPr>
          <a:lstStyle/>
          <a:p>
            <a:pPr algn="l"/>
            <a:r>
              <a:rPr sz="1000" b="0">
                <a:solidFill>
                  <a:srgbClr val="6B6558"/>
                </a:solidFill>
                <a:latin typeface="Inter"/>
              </a:rPr>
              <a:t>open, incl. log events</a:t>
            </a:r>
          </a:p>
        </p:txBody>
      </p:sp>
      <p:sp>
        <p:nvSpPr>
          <p:cNvPr id="14" name=""/>
          <p:cNvSpPr/>
          <p:nvPr/>
        </p:nvSpPr>
        <p:spPr>
          <a:xfrm>
            <a:off x="548640" y="2926080"/>
            <a:ext cx="2651760" cy="1417320"/>
          </a:xfrm>
          <a:prstGeom prst="roundRect">
            <a:avLst>
              <a:gd name="" fmla="val 6000"/>
            </a:avLst>
          </a:prstGeom>
          <a:solidFill>
            <a:srgbClr val="F6F3EC"/>
          </a:solidFill>
          <a:ln>
            <a:noFill/>
          </a:ln>
        </p:spPr>
      </p:sp>
      <p:sp>
        <p:nvSpPr>
          <p:cNvPr id="15" name=""/>
          <p:cNvSpPr txBox="1"/>
          <p:nvPr/>
        </p:nvSpPr>
        <p:spPr>
          <a:xfrm>
            <a:off x="713232" y="305409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ACTIONABLE</a:t>
            </a:r>
          </a:p>
        </p:txBody>
      </p:sp>
      <p:sp>
        <p:nvSpPr>
          <p:cNvPr id="16" name=""/>
          <p:cNvSpPr txBox="1"/>
          <p:nvPr/>
        </p:nvSpPr>
        <p:spPr>
          <a:xfrm>
            <a:off x="713232" y="3310128"/>
            <a:ext cx="2377440" cy="548640"/>
          </a:xfrm>
          <a:prstGeom prst="rect">
            <a:avLst/>
          </a:prstGeom>
          <a:noFill/>
        </p:spPr>
        <p:txBody>
          <a:bodyPr wrap="square" lIns="36576" rIns="36576" tIns="18288" bIns="18288" anchor="t">
            <a:spAutoFit/>
          </a:bodyPr>
          <a:lstStyle/>
          <a:p>
            <a:pPr algn="l"/>
            <a:r>
              <a:rPr sz="2600" b="1">
                <a:solidFill>
                  <a:srgbClr val="D97706"/>
                </a:solidFill>
                <a:latin typeface="Space Grotesk"/>
              </a:rPr>
              <a:t>23</a:t>
            </a:r>
          </a:p>
        </p:txBody>
      </p:sp>
      <p:sp>
        <p:nvSpPr>
          <p:cNvPr id="17" name=""/>
          <p:cNvSpPr txBox="1"/>
          <p:nvPr/>
        </p:nvSpPr>
        <p:spPr>
          <a:xfrm>
            <a:off x="713232" y="3931920"/>
            <a:ext cx="2377440" cy="320040"/>
          </a:xfrm>
          <a:prstGeom prst="rect">
            <a:avLst/>
          </a:prstGeom>
          <a:noFill/>
        </p:spPr>
        <p:txBody>
          <a:bodyPr wrap="square" lIns="36576" rIns="36576" tIns="18288" bIns="18288" anchor="t">
            <a:spAutoFit/>
          </a:bodyPr>
          <a:lstStyle/>
          <a:p>
            <a:pPr algn="l"/>
            <a:r>
              <a:rPr sz="1000" b="0">
                <a:solidFill>
                  <a:srgbClr val="6B6558"/>
                </a:solidFill>
                <a:latin typeface="Inter"/>
              </a:rPr>
              <a:t>warnings + critical</a:t>
            </a:r>
          </a:p>
        </p:txBody>
      </p:sp>
      <p:sp>
        <p:nvSpPr>
          <p:cNvPr id="18" name=""/>
          <p:cNvSpPr/>
          <p:nvPr/>
        </p:nvSpPr>
        <p:spPr>
          <a:xfrm>
            <a:off x="548640" y="4480560"/>
            <a:ext cx="2651760" cy="1737360"/>
          </a:xfrm>
          <a:prstGeom prst="roundRect">
            <a:avLst>
              <a:gd name="" fmla="val 6000"/>
            </a:avLst>
          </a:prstGeom>
          <a:solidFill>
            <a:srgbClr val="F6F3EC"/>
          </a:solidFill>
          <a:ln>
            <a:noFill/>
          </a:ln>
        </p:spPr>
      </p:sp>
      <p:sp>
        <p:nvSpPr>
          <p:cNvPr id="19" name=""/>
          <p:cNvSpPr txBox="1"/>
          <p:nvPr/>
        </p:nvSpPr>
        <p:spPr>
          <a:xfrm>
            <a:off x="713232" y="460857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CRITICAL</a:t>
            </a:r>
          </a:p>
        </p:txBody>
      </p:sp>
      <p:sp>
        <p:nvSpPr>
          <p:cNvPr id="20" name=""/>
          <p:cNvSpPr txBox="1"/>
          <p:nvPr/>
        </p:nvSpPr>
        <p:spPr>
          <a:xfrm>
            <a:off x="713232" y="4864608"/>
            <a:ext cx="2377440" cy="548640"/>
          </a:xfrm>
          <a:prstGeom prst="rect">
            <a:avLst/>
          </a:prstGeom>
          <a:noFill/>
        </p:spPr>
        <p:txBody>
          <a:bodyPr wrap="square" lIns="36576" rIns="36576" tIns="18288" bIns="18288" anchor="t">
            <a:spAutoFit/>
          </a:bodyPr>
          <a:lstStyle/>
          <a:p>
            <a:pPr algn="l"/>
            <a:r>
              <a:rPr sz="2600" b="1">
                <a:solidFill>
                  <a:srgbClr val="DC2626"/>
                </a:solidFill>
                <a:latin typeface="Space Grotesk"/>
              </a:rPr>
              <a:t>15</a:t>
            </a:r>
          </a:p>
        </p:txBody>
      </p:sp>
      <p:sp>
        <p:nvSpPr>
          <p:cNvPr id="21" name=""/>
          <p:cNvSpPr txBox="1"/>
          <p:nvPr/>
        </p:nvSpPr>
        <p:spPr>
          <a:xfrm>
            <a:off x="713232" y="5806440"/>
            <a:ext cx="2377440" cy="320040"/>
          </a:xfrm>
          <a:prstGeom prst="rect">
            <a:avLst/>
          </a:prstGeom>
          <a:noFill/>
        </p:spPr>
        <p:txBody>
          <a:bodyPr wrap="square" lIns="36576" rIns="36576" tIns="18288" bIns="18288" anchor="t">
            <a:spAutoFit/>
          </a:bodyPr>
          <a:lstStyle/>
          <a:p>
            <a:pPr algn="l"/>
            <a:r>
              <a:rPr sz="1000" b="0">
                <a:solidFill>
                  <a:srgbClr val="6B6558"/>
                </a:solidFill>
                <a:latin typeface="Inter"/>
              </a:rPr>
              <a:t>Buy Box, stock, inactive</a:t>
            </a:r>
          </a:p>
        </p:txBody>
      </p:sp>
      <p:sp>
        <p:nvSpPr>
          <p:cNvPr id="22" name=""/>
          <p:cNvSpPr txBox="1"/>
          <p:nvPr/>
        </p:nvSpPr>
        <p:spPr>
          <a:xfrm>
            <a:off x="3429000" y="1371600"/>
            <a:ext cx="8211312" cy="274320"/>
          </a:xfrm>
          <a:prstGeom prst="rect">
            <a:avLst/>
          </a:prstGeom>
          <a:noFill/>
        </p:spPr>
        <p:txBody>
          <a:bodyPr wrap="square" lIns="36576" rIns="36576" tIns="18288" bIns="18288" anchor="t">
            <a:spAutoFit/>
          </a:bodyPr>
          <a:lstStyle/>
          <a:p>
            <a:pPr algn="l"/>
            <a:r>
              <a:rPr sz="1100" b="1">
                <a:solidFill>
                  <a:srgbClr val="0F172A"/>
                </a:solidFill>
                <a:latin typeface="Inter"/>
              </a:rPr>
              <a:t>Alerts by type</a:t>
            </a:r>
          </a:p>
        </p:txBody>
      </p:sp>
      <p:sp>
        <p:nvSpPr>
          <p:cNvPr id="23" name=""/>
          <p:cNvSpPr txBox="1"/>
          <p:nvPr/>
        </p:nvSpPr>
        <p:spPr>
          <a:xfrm>
            <a:off x="3429000" y="1691640"/>
            <a:ext cx="1828800" cy="448056"/>
          </a:xfrm>
          <a:prstGeom prst="rect">
            <a:avLst/>
          </a:prstGeom>
          <a:noFill/>
        </p:spPr>
        <p:txBody>
          <a:bodyPr wrap="square" lIns="36576" rIns="36576" tIns="18288" bIns="18288" anchor="ctr">
            <a:spAutoFit/>
          </a:bodyPr>
          <a:lstStyle/>
          <a:p>
            <a:pPr algn="l"/>
            <a:r>
              <a:rPr sz="1000" b="0">
                <a:solidFill>
                  <a:srgbClr val="0F172A"/>
                </a:solidFill>
                <a:latin typeface="Inter"/>
              </a:rPr>
              <a:t>Title</a:t>
            </a:r>
          </a:p>
        </p:txBody>
      </p:sp>
      <p:sp>
        <p:nvSpPr>
          <p:cNvPr id="24" name=""/>
          <p:cNvSpPr/>
          <p:nvPr/>
        </p:nvSpPr>
        <p:spPr>
          <a:xfrm>
            <a:off x="5257800" y="1790212"/>
            <a:ext cx="5468112" cy="250911"/>
          </a:xfrm>
          <a:prstGeom prst="rect">
            <a:avLst/>
          </a:prstGeom>
          <a:solidFill>
            <a:srgbClr val="2447FF"/>
          </a:solidFill>
          <a:ln>
            <a:noFill/>
          </a:ln>
        </p:spPr>
      </p:sp>
      <p:sp>
        <p:nvSpPr>
          <p:cNvPr id="25" name=""/>
          <p:cNvSpPr txBox="1"/>
          <p:nvPr/>
        </p:nvSpPr>
        <p:spPr>
          <a:xfrm>
            <a:off x="10780776" y="1691640"/>
            <a:ext cx="914400" cy="448056"/>
          </a:xfrm>
          <a:prstGeom prst="rect">
            <a:avLst/>
          </a:prstGeom>
          <a:noFill/>
        </p:spPr>
        <p:txBody>
          <a:bodyPr wrap="square" lIns="36576" rIns="36576" tIns="18288" bIns="18288" anchor="ctr">
            <a:spAutoFit/>
          </a:bodyPr>
          <a:lstStyle/>
          <a:p>
            <a:pPr algn="l"/>
            <a:r>
              <a:rPr sz="1000" b="1">
                <a:solidFill>
                  <a:srgbClr val="0F172A"/>
                </a:solidFill>
                <a:latin typeface="Inter"/>
              </a:rPr>
              <a:t>26</a:t>
            </a:r>
          </a:p>
        </p:txBody>
      </p:sp>
      <p:sp>
        <p:nvSpPr>
          <p:cNvPr id="26" name=""/>
          <p:cNvSpPr txBox="1"/>
          <p:nvPr/>
        </p:nvSpPr>
        <p:spPr>
          <a:xfrm>
            <a:off x="3429000" y="2139696"/>
            <a:ext cx="1828800" cy="448056"/>
          </a:xfrm>
          <a:prstGeom prst="rect">
            <a:avLst/>
          </a:prstGeom>
          <a:noFill/>
        </p:spPr>
        <p:txBody>
          <a:bodyPr wrap="square" lIns="36576" rIns="36576" tIns="18288" bIns="18288" anchor="ctr">
            <a:spAutoFit/>
          </a:bodyPr>
          <a:lstStyle/>
          <a:p>
            <a:pPr algn="l"/>
            <a:r>
              <a:rPr sz="1000" b="0">
                <a:solidFill>
                  <a:srgbClr val="0F172A"/>
                </a:solidFill>
                <a:latin typeface="Inter"/>
              </a:rPr>
              <a:t>Listing price</a:t>
            </a:r>
          </a:p>
        </p:txBody>
      </p:sp>
      <p:sp>
        <p:nvSpPr>
          <p:cNvPr id="27" name=""/>
          <p:cNvSpPr/>
          <p:nvPr/>
        </p:nvSpPr>
        <p:spPr>
          <a:xfrm>
            <a:off x="5257800" y="2238268"/>
            <a:ext cx="4626864" cy="250911"/>
          </a:xfrm>
          <a:prstGeom prst="rect">
            <a:avLst/>
          </a:prstGeom>
          <a:solidFill>
            <a:srgbClr val="2447FF"/>
          </a:solidFill>
          <a:ln>
            <a:noFill/>
          </a:ln>
        </p:spPr>
      </p:sp>
      <p:sp>
        <p:nvSpPr>
          <p:cNvPr id="28" name=""/>
          <p:cNvSpPr txBox="1"/>
          <p:nvPr/>
        </p:nvSpPr>
        <p:spPr>
          <a:xfrm>
            <a:off x="9939528" y="2139696"/>
            <a:ext cx="914400" cy="448056"/>
          </a:xfrm>
          <a:prstGeom prst="rect">
            <a:avLst/>
          </a:prstGeom>
          <a:noFill/>
        </p:spPr>
        <p:txBody>
          <a:bodyPr wrap="square" lIns="36576" rIns="36576" tIns="18288" bIns="18288" anchor="ctr">
            <a:spAutoFit/>
          </a:bodyPr>
          <a:lstStyle/>
          <a:p>
            <a:pPr algn="l"/>
            <a:r>
              <a:rPr sz="1000" b="1">
                <a:solidFill>
                  <a:srgbClr val="0F172A"/>
                </a:solidFill>
                <a:latin typeface="Inter"/>
              </a:rPr>
              <a:t>22</a:t>
            </a:r>
          </a:p>
        </p:txBody>
      </p:sp>
      <p:sp>
        <p:nvSpPr>
          <p:cNvPr id="29" name=""/>
          <p:cNvSpPr txBox="1"/>
          <p:nvPr/>
        </p:nvSpPr>
        <p:spPr>
          <a:xfrm>
            <a:off x="3429000" y="2587752"/>
            <a:ext cx="1828800" cy="448056"/>
          </a:xfrm>
          <a:prstGeom prst="rect">
            <a:avLst/>
          </a:prstGeom>
          <a:noFill/>
        </p:spPr>
        <p:txBody>
          <a:bodyPr wrap="square" lIns="36576" rIns="36576" tIns="18288" bIns="18288" anchor="ctr">
            <a:spAutoFit/>
          </a:bodyPr>
          <a:lstStyle/>
          <a:p>
            <a:pPr algn="l"/>
            <a:r>
              <a:rPr sz="1000" b="0">
                <a:solidFill>
                  <a:srgbClr val="0F172A"/>
                </a:solidFill>
                <a:latin typeface="Inter"/>
              </a:rPr>
              <a:t>Inactive</a:t>
            </a:r>
          </a:p>
        </p:txBody>
      </p:sp>
      <p:sp>
        <p:nvSpPr>
          <p:cNvPr id="30" name=""/>
          <p:cNvSpPr/>
          <p:nvPr/>
        </p:nvSpPr>
        <p:spPr>
          <a:xfrm>
            <a:off x="5257800" y="2686324"/>
            <a:ext cx="2734056" cy="250911"/>
          </a:xfrm>
          <a:prstGeom prst="rect">
            <a:avLst/>
          </a:prstGeom>
          <a:solidFill>
            <a:srgbClr val="DC2626"/>
          </a:solidFill>
          <a:ln>
            <a:noFill/>
          </a:ln>
        </p:spPr>
      </p:sp>
      <p:sp>
        <p:nvSpPr>
          <p:cNvPr id="31" name=""/>
          <p:cNvSpPr txBox="1"/>
          <p:nvPr/>
        </p:nvSpPr>
        <p:spPr>
          <a:xfrm>
            <a:off x="8046720" y="2587752"/>
            <a:ext cx="914400" cy="448056"/>
          </a:xfrm>
          <a:prstGeom prst="rect">
            <a:avLst/>
          </a:prstGeom>
          <a:noFill/>
        </p:spPr>
        <p:txBody>
          <a:bodyPr wrap="square" lIns="36576" rIns="36576" tIns="18288" bIns="18288" anchor="ctr">
            <a:spAutoFit/>
          </a:bodyPr>
          <a:lstStyle/>
          <a:p>
            <a:pPr algn="l"/>
            <a:r>
              <a:rPr sz="1000" b="1">
                <a:solidFill>
                  <a:srgbClr val="0F172A"/>
                </a:solidFill>
                <a:latin typeface="Inter"/>
              </a:rPr>
              <a:t>13</a:t>
            </a:r>
          </a:p>
        </p:txBody>
      </p:sp>
      <p:sp>
        <p:nvSpPr>
          <p:cNvPr id="32" name=""/>
          <p:cNvSpPr txBox="1"/>
          <p:nvPr/>
        </p:nvSpPr>
        <p:spPr>
          <a:xfrm>
            <a:off x="3429000" y="3035808"/>
            <a:ext cx="1828800" cy="448056"/>
          </a:xfrm>
          <a:prstGeom prst="rect">
            <a:avLst/>
          </a:prstGeom>
          <a:noFill/>
        </p:spPr>
        <p:txBody>
          <a:bodyPr wrap="square" lIns="36576" rIns="36576" tIns="18288" bIns="18288" anchor="ctr">
            <a:spAutoFit/>
          </a:bodyPr>
          <a:lstStyle/>
          <a:p>
            <a:pPr algn="l"/>
            <a:r>
              <a:rPr sz="1000" b="0">
                <a:solidFill>
                  <a:srgbClr val="0F172A"/>
                </a:solidFill>
                <a:latin typeface="Inter"/>
              </a:rPr>
              <a:t>Listing images</a:t>
            </a:r>
          </a:p>
        </p:txBody>
      </p:sp>
      <p:sp>
        <p:nvSpPr>
          <p:cNvPr id="33" name=""/>
          <p:cNvSpPr/>
          <p:nvPr/>
        </p:nvSpPr>
        <p:spPr>
          <a:xfrm>
            <a:off x="5257800" y="3134380"/>
            <a:ext cx="2103120" cy="250911"/>
          </a:xfrm>
          <a:prstGeom prst="rect">
            <a:avLst/>
          </a:prstGeom>
          <a:solidFill>
            <a:srgbClr val="2447FF"/>
          </a:solidFill>
          <a:ln>
            <a:noFill/>
          </a:ln>
        </p:spPr>
      </p:sp>
      <p:sp>
        <p:nvSpPr>
          <p:cNvPr id="34" name=""/>
          <p:cNvSpPr txBox="1"/>
          <p:nvPr/>
        </p:nvSpPr>
        <p:spPr>
          <a:xfrm>
            <a:off x="7415784" y="3035808"/>
            <a:ext cx="914400" cy="448056"/>
          </a:xfrm>
          <a:prstGeom prst="rect">
            <a:avLst/>
          </a:prstGeom>
          <a:noFill/>
        </p:spPr>
        <p:txBody>
          <a:bodyPr wrap="square" lIns="36576" rIns="36576" tIns="18288" bIns="18288" anchor="ctr">
            <a:spAutoFit/>
          </a:bodyPr>
          <a:lstStyle/>
          <a:p>
            <a:pPr algn="l"/>
            <a:r>
              <a:rPr sz="1000" b="1">
                <a:solidFill>
                  <a:srgbClr val="0F172A"/>
                </a:solidFill>
                <a:latin typeface="Inter"/>
              </a:rPr>
              <a:t>10</a:t>
            </a:r>
          </a:p>
        </p:txBody>
      </p:sp>
      <p:sp>
        <p:nvSpPr>
          <p:cNvPr id="35" name=""/>
          <p:cNvSpPr txBox="1"/>
          <p:nvPr/>
        </p:nvSpPr>
        <p:spPr>
          <a:xfrm>
            <a:off x="3429000" y="3483864"/>
            <a:ext cx="1828800" cy="448056"/>
          </a:xfrm>
          <a:prstGeom prst="rect">
            <a:avLst/>
          </a:prstGeom>
          <a:noFill/>
        </p:spPr>
        <p:txBody>
          <a:bodyPr wrap="square" lIns="36576" rIns="36576" tIns="18288" bIns="18288" anchor="ctr">
            <a:spAutoFit/>
          </a:bodyPr>
          <a:lstStyle/>
          <a:p>
            <a:pPr algn="l"/>
            <a:r>
              <a:rPr sz="1000" b="0">
                <a:solidFill>
                  <a:srgbClr val="0F172A"/>
                </a:solidFill>
                <a:latin typeface="Inter"/>
              </a:rPr>
              <a:t>Buy Box gained</a:t>
            </a:r>
          </a:p>
        </p:txBody>
      </p:sp>
      <p:sp>
        <p:nvSpPr>
          <p:cNvPr id="36" name=""/>
          <p:cNvSpPr/>
          <p:nvPr/>
        </p:nvSpPr>
        <p:spPr>
          <a:xfrm>
            <a:off x="5257800" y="3582436"/>
            <a:ext cx="1892808" cy="250911"/>
          </a:xfrm>
          <a:prstGeom prst="rect">
            <a:avLst/>
          </a:prstGeom>
          <a:solidFill>
            <a:srgbClr val="2447FF"/>
          </a:solidFill>
          <a:ln>
            <a:noFill/>
          </a:ln>
        </p:spPr>
      </p:sp>
      <p:sp>
        <p:nvSpPr>
          <p:cNvPr id="37" name=""/>
          <p:cNvSpPr txBox="1"/>
          <p:nvPr/>
        </p:nvSpPr>
        <p:spPr>
          <a:xfrm>
            <a:off x="7205472" y="3483864"/>
            <a:ext cx="914400" cy="448056"/>
          </a:xfrm>
          <a:prstGeom prst="rect">
            <a:avLst/>
          </a:prstGeom>
          <a:noFill/>
        </p:spPr>
        <p:txBody>
          <a:bodyPr wrap="square" lIns="36576" rIns="36576" tIns="18288" bIns="18288" anchor="ctr">
            <a:spAutoFit/>
          </a:bodyPr>
          <a:lstStyle/>
          <a:p>
            <a:pPr algn="l"/>
            <a:r>
              <a:rPr sz="1000" b="1">
                <a:solidFill>
                  <a:srgbClr val="0F172A"/>
                </a:solidFill>
                <a:latin typeface="Inter"/>
              </a:rPr>
              <a:t>9</a:t>
            </a:r>
          </a:p>
        </p:txBody>
      </p:sp>
      <p:sp>
        <p:nvSpPr>
          <p:cNvPr id="38" name=""/>
          <p:cNvSpPr txBox="1"/>
          <p:nvPr/>
        </p:nvSpPr>
        <p:spPr>
          <a:xfrm>
            <a:off x="3429000" y="3931920"/>
            <a:ext cx="1828800" cy="448056"/>
          </a:xfrm>
          <a:prstGeom prst="rect">
            <a:avLst/>
          </a:prstGeom>
          <a:noFill/>
        </p:spPr>
        <p:txBody>
          <a:bodyPr wrap="square" lIns="36576" rIns="36576" tIns="18288" bIns="18288" anchor="ctr">
            <a:spAutoFit/>
          </a:bodyPr>
          <a:lstStyle/>
          <a:p>
            <a:pPr algn="l"/>
            <a:r>
              <a:rPr sz="1000" b="0">
                <a:solidFill>
                  <a:srgbClr val="0F172A"/>
                </a:solidFill>
                <a:latin typeface="Inter"/>
              </a:rPr>
              <a:t>Buy Box lost</a:t>
            </a:r>
          </a:p>
        </p:txBody>
      </p:sp>
      <p:sp>
        <p:nvSpPr>
          <p:cNvPr id="39" name=""/>
          <p:cNvSpPr/>
          <p:nvPr/>
        </p:nvSpPr>
        <p:spPr>
          <a:xfrm>
            <a:off x="5257800" y="4030492"/>
            <a:ext cx="1892808" cy="250911"/>
          </a:xfrm>
          <a:prstGeom prst="rect">
            <a:avLst/>
          </a:prstGeom>
          <a:solidFill>
            <a:srgbClr val="DC2626"/>
          </a:solidFill>
          <a:ln>
            <a:noFill/>
          </a:ln>
        </p:spPr>
      </p:sp>
      <p:sp>
        <p:nvSpPr>
          <p:cNvPr id="40" name=""/>
          <p:cNvSpPr txBox="1"/>
          <p:nvPr/>
        </p:nvSpPr>
        <p:spPr>
          <a:xfrm>
            <a:off x="7205472" y="3931920"/>
            <a:ext cx="914400" cy="448056"/>
          </a:xfrm>
          <a:prstGeom prst="rect">
            <a:avLst/>
          </a:prstGeom>
          <a:noFill/>
        </p:spPr>
        <p:txBody>
          <a:bodyPr wrap="square" lIns="36576" rIns="36576" tIns="18288" bIns="18288" anchor="ctr">
            <a:spAutoFit/>
          </a:bodyPr>
          <a:lstStyle/>
          <a:p>
            <a:pPr algn="l"/>
            <a:r>
              <a:rPr sz="1000" b="1">
                <a:solidFill>
                  <a:srgbClr val="0F172A"/>
                </a:solidFill>
                <a:latin typeface="Inter"/>
              </a:rPr>
              <a:t>9</a:t>
            </a:r>
          </a:p>
        </p:txBody>
      </p:sp>
      <p:sp>
        <p:nvSpPr>
          <p:cNvPr id="41" name=""/>
          <p:cNvSpPr txBox="1"/>
          <p:nvPr/>
        </p:nvSpPr>
        <p:spPr>
          <a:xfrm>
            <a:off x="3429000" y="4379976"/>
            <a:ext cx="1828800" cy="448056"/>
          </a:xfrm>
          <a:prstGeom prst="rect">
            <a:avLst/>
          </a:prstGeom>
          <a:noFill/>
        </p:spPr>
        <p:txBody>
          <a:bodyPr wrap="square" lIns="36576" rIns="36576" tIns="18288" bIns="18288" anchor="ctr">
            <a:spAutoFit/>
          </a:bodyPr>
          <a:lstStyle/>
          <a:p>
            <a:pPr algn="l"/>
            <a:r>
              <a:rPr sz="1000" b="0">
                <a:solidFill>
                  <a:srgbClr val="0F172A"/>
                </a:solidFill>
                <a:latin typeface="Inter"/>
              </a:rPr>
              <a:t>Out of stock</a:t>
            </a:r>
          </a:p>
        </p:txBody>
      </p:sp>
      <p:sp>
        <p:nvSpPr>
          <p:cNvPr id="42" name=""/>
          <p:cNvSpPr/>
          <p:nvPr/>
        </p:nvSpPr>
        <p:spPr>
          <a:xfrm>
            <a:off x="5257800" y="4478548"/>
            <a:ext cx="1261872" cy="250911"/>
          </a:xfrm>
          <a:prstGeom prst="rect">
            <a:avLst/>
          </a:prstGeom>
          <a:solidFill>
            <a:srgbClr val="DC2626"/>
          </a:solidFill>
          <a:ln>
            <a:noFill/>
          </a:ln>
        </p:spPr>
      </p:sp>
      <p:sp>
        <p:nvSpPr>
          <p:cNvPr id="43" name=""/>
          <p:cNvSpPr txBox="1"/>
          <p:nvPr/>
        </p:nvSpPr>
        <p:spPr>
          <a:xfrm>
            <a:off x="6574536" y="4379976"/>
            <a:ext cx="914400" cy="448056"/>
          </a:xfrm>
          <a:prstGeom prst="rect">
            <a:avLst/>
          </a:prstGeom>
          <a:noFill/>
        </p:spPr>
        <p:txBody>
          <a:bodyPr wrap="square" lIns="36576" rIns="36576" tIns="18288" bIns="18288" anchor="ctr">
            <a:spAutoFit/>
          </a:bodyPr>
          <a:lstStyle/>
          <a:p>
            <a:pPr algn="l"/>
            <a:r>
              <a:rPr sz="1000" b="1">
                <a:solidFill>
                  <a:srgbClr val="0F172A"/>
                </a:solidFill>
                <a:latin typeface="Inter"/>
              </a:rPr>
              <a:t>6</a:t>
            </a:r>
          </a:p>
        </p:txBody>
      </p:sp>
      <p:sp>
        <p:nvSpPr>
          <p:cNvPr id="44" name=""/>
          <p:cNvSpPr txBox="1"/>
          <p:nvPr/>
        </p:nvSpPr>
        <p:spPr>
          <a:xfrm>
            <a:off x="3429000" y="4828032"/>
            <a:ext cx="1828800" cy="448056"/>
          </a:xfrm>
          <a:prstGeom prst="rect">
            <a:avLst/>
          </a:prstGeom>
          <a:noFill/>
        </p:spPr>
        <p:txBody>
          <a:bodyPr wrap="square" lIns="36576" rIns="36576" tIns="18288" bIns="18288" anchor="ctr">
            <a:spAutoFit/>
          </a:bodyPr>
          <a:lstStyle/>
          <a:p>
            <a:pPr algn="l"/>
            <a:r>
              <a:rPr sz="1000" b="0">
                <a:solidFill>
                  <a:srgbClr val="0F172A"/>
                </a:solidFill>
                <a:latin typeface="Inter"/>
              </a:rPr>
              <a:t>Hijacker</a:t>
            </a:r>
          </a:p>
        </p:txBody>
      </p:sp>
      <p:sp>
        <p:nvSpPr>
          <p:cNvPr id="45" name=""/>
          <p:cNvSpPr/>
          <p:nvPr/>
        </p:nvSpPr>
        <p:spPr>
          <a:xfrm>
            <a:off x="5257800" y="4926604"/>
            <a:ext cx="630936" cy="250911"/>
          </a:xfrm>
          <a:prstGeom prst="rect">
            <a:avLst/>
          </a:prstGeom>
          <a:solidFill>
            <a:srgbClr val="2447FF"/>
          </a:solidFill>
          <a:ln>
            <a:noFill/>
          </a:ln>
        </p:spPr>
      </p:sp>
      <p:sp>
        <p:nvSpPr>
          <p:cNvPr id="46" name=""/>
          <p:cNvSpPr txBox="1"/>
          <p:nvPr/>
        </p:nvSpPr>
        <p:spPr>
          <a:xfrm>
            <a:off x="5943600" y="4828032"/>
            <a:ext cx="914400" cy="448056"/>
          </a:xfrm>
          <a:prstGeom prst="rect">
            <a:avLst/>
          </a:prstGeom>
          <a:noFill/>
        </p:spPr>
        <p:txBody>
          <a:bodyPr wrap="square" lIns="36576" rIns="36576" tIns="18288" bIns="18288" anchor="ctr">
            <a:spAutoFit/>
          </a:bodyPr>
          <a:lstStyle/>
          <a:p>
            <a:pPr algn="l"/>
            <a:r>
              <a:rPr sz="1000" b="1">
                <a:solidFill>
                  <a:srgbClr val="0F172A"/>
                </a:solidFill>
                <a:latin typeface="Inter"/>
              </a:rPr>
              <a:t>3</a:t>
            </a:r>
          </a:p>
        </p:txBody>
      </p:sp>
      <p:sp>
        <p:nvSpPr>
          <p:cNvPr id="47" name=""/>
          <p:cNvSpPr txBox="1"/>
          <p:nvPr/>
        </p:nvSpPr>
        <p:spPr>
          <a:xfrm>
            <a:off x="3429000" y="5276088"/>
            <a:ext cx="1828800" cy="448056"/>
          </a:xfrm>
          <a:prstGeom prst="rect">
            <a:avLst/>
          </a:prstGeom>
          <a:noFill/>
        </p:spPr>
        <p:txBody>
          <a:bodyPr wrap="square" lIns="36576" rIns="36576" tIns="18288" bIns="18288" anchor="ctr">
            <a:spAutoFit/>
          </a:bodyPr>
          <a:lstStyle/>
          <a:p>
            <a:pPr algn="l"/>
            <a:r>
              <a:rPr sz="1000" b="0">
                <a:solidFill>
                  <a:srgbClr val="0F172A"/>
                </a:solidFill>
                <a:latin typeface="Inter"/>
              </a:rPr>
              <a:t>Hijacker liquidation</a:t>
            </a:r>
          </a:p>
        </p:txBody>
      </p:sp>
      <p:sp>
        <p:nvSpPr>
          <p:cNvPr id="48" name=""/>
          <p:cNvSpPr/>
          <p:nvPr/>
        </p:nvSpPr>
        <p:spPr>
          <a:xfrm>
            <a:off x="5257800" y="5374660"/>
            <a:ext cx="420624" cy="250911"/>
          </a:xfrm>
          <a:prstGeom prst="rect">
            <a:avLst/>
          </a:prstGeom>
          <a:solidFill>
            <a:srgbClr val="2447FF"/>
          </a:solidFill>
          <a:ln>
            <a:noFill/>
          </a:ln>
        </p:spPr>
      </p:sp>
      <p:sp>
        <p:nvSpPr>
          <p:cNvPr id="49" name=""/>
          <p:cNvSpPr txBox="1"/>
          <p:nvPr/>
        </p:nvSpPr>
        <p:spPr>
          <a:xfrm>
            <a:off x="5733288" y="5276088"/>
            <a:ext cx="914400" cy="448056"/>
          </a:xfrm>
          <a:prstGeom prst="rect">
            <a:avLst/>
          </a:prstGeom>
          <a:noFill/>
        </p:spPr>
        <p:txBody>
          <a:bodyPr wrap="square" lIns="36576" rIns="36576" tIns="18288" bIns="18288" anchor="ctr">
            <a:spAutoFit/>
          </a:bodyPr>
          <a:lstStyle/>
          <a:p>
            <a:pPr algn="l"/>
            <a:r>
              <a:rPr sz="1000" b="1">
                <a:solidFill>
                  <a:srgbClr val="0F172A"/>
                </a:solidFill>
                <a:latin typeface="Inter"/>
              </a:rPr>
              <a:t>2</a:t>
            </a:r>
          </a:p>
        </p:txBody>
      </p:sp>
      <p:sp>
        <p:nvSpPr>
          <p:cNvPr id="50" name=""/>
          <p:cNvSpPr txBox="1"/>
          <p:nvPr/>
        </p:nvSpPr>
        <p:spPr>
          <a:xfrm>
            <a:off x="3429000" y="5724144"/>
            <a:ext cx="1828800" cy="448056"/>
          </a:xfrm>
          <a:prstGeom prst="rect">
            <a:avLst/>
          </a:prstGeom>
          <a:noFill/>
        </p:spPr>
        <p:txBody>
          <a:bodyPr wrap="square" lIns="36576" rIns="36576" tIns="18288" bIns="18288" anchor="ctr">
            <a:spAutoFit/>
          </a:bodyPr>
          <a:lstStyle/>
          <a:p>
            <a:pPr algn="l"/>
            <a:r>
              <a:rPr sz="1000" b="0">
                <a:solidFill>
                  <a:srgbClr val="0F172A"/>
                </a:solidFill>
                <a:latin typeface="Inter"/>
              </a:rPr>
              <a:t>Low stock</a:t>
            </a:r>
          </a:p>
        </p:txBody>
      </p:sp>
      <p:sp>
        <p:nvSpPr>
          <p:cNvPr id="51" name=""/>
          <p:cNvSpPr/>
          <p:nvPr/>
        </p:nvSpPr>
        <p:spPr>
          <a:xfrm>
            <a:off x="5257800" y="5822716"/>
            <a:ext cx="420624" cy="250911"/>
          </a:xfrm>
          <a:prstGeom prst="rect">
            <a:avLst/>
          </a:prstGeom>
          <a:solidFill>
            <a:srgbClr val="2447FF"/>
          </a:solidFill>
          <a:ln>
            <a:noFill/>
          </a:ln>
        </p:spPr>
      </p:sp>
      <p:sp>
        <p:nvSpPr>
          <p:cNvPr id="52" name=""/>
          <p:cNvSpPr txBox="1"/>
          <p:nvPr/>
        </p:nvSpPr>
        <p:spPr>
          <a:xfrm>
            <a:off x="5733288" y="5724144"/>
            <a:ext cx="914400" cy="448056"/>
          </a:xfrm>
          <a:prstGeom prst="rect">
            <a:avLst/>
          </a:prstGeom>
          <a:noFill/>
        </p:spPr>
        <p:txBody>
          <a:bodyPr wrap="square" lIns="36576" rIns="36576" tIns="18288" bIns="18288" anchor="ctr">
            <a:spAutoFit/>
          </a:bodyPr>
          <a:lstStyle/>
          <a:p>
            <a:pPr algn="l"/>
            <a:r>
              <a:rPr sz="1000" b="1">
                <a:solidFill>
                  <a:srgbClr val="0F172A"/>
                </a:solidFill>
                <a:latin typeface="Inter"/>
              </a:rPr>
              <a:t>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
          <p:cNvSpPr/>
          <p:nvPr/>
        </p:nvSpPr>
        <p:spPr>
          <a:xfrm>
            <a:off x="0" y="0"/>
            <a:ext cx="12191695" cy="6858000"/>
          </a:xfrm>
          <a:prstGeom prst="rect">
            <a:avLst/>
          </a:prstGeom>
          <a:solidFill>
            <a:srgbClr val="FFFFFF"/>
          </a:solidFill>
          <a:ln>
            <a:noFill/>
          </a:ln>
        </p:spPr>
      </p:sp>
      <p:sp>
        <p:nvSpPr>
          <p:cNvPr id="3" name=""/>
          <p:cNvSpPr/>
          <p:nvPr/>
        </p:nvSpPr>
        <p:spPr>
          <a:xfrm>
            <a:off x="548640" y="502920"/>
            <a:ext cx="73152" cy="566928"/>
          </a:xfrm>
          <a:prstGeom prst="rect">
            <a:avLst/>
          </a:prstGeom>
          <a:solidFill>
            <a:srgbClr val="2447FF"/>
          </a:solidFill>
          <a:ln>
            <a:noFill/>
          </a:ln>
        </p:spPr>
      </p:sp>
      <p:sp>
        <p:nvSpPr>
          <p:cNvPr id="4" name=""/>
          <p:cNvSpPr txBox="1"/>
          <p:nvPr/>
        </p:nvSpPr>
        <p:spPr>
          <a:xfrm>
            <a:off x="731520" y="384048"/>
            <a:ext cx="8686800" cy="274320"/>
          </a:xfrm>
          <a:prstGeom prst="rect">
            <a:avLst/>
          </a:prstGeom>
          <a:noFill/>
        </p:spPr>
        <p:txBody>
          <a:bodyPr wrap="square" lIns="36576" rIns="36576" tIns="18288" bIns="18288" anchor="t">
            <a:spAutoFit/>
          </a:bodyPr>
          <a:lstStyle/>
          <a:p>
            <a:pPr algn="l"/>
            <a:r>
              <a:rPr sz="1000" b="1">
                <a:solidFill>
                  <a:srgbClr val="2447FF"/>
                </a:solidFill>
                <a:latin typeface="Space Grotesk"/>
              </a:rPr>
              <a:t>NEXT STEPS</a:t>
            </a:r>
          </a:p>
        </p:txBody>
      </p:sp>
      <p:sp>
        <p:nvSpPr>
          <p:cNvPr id="5" name=""/>
          <p:cNvSpPr txBox="1"/>
          <p:nvPr/>
        </p:nvSpPr>
        <p:spPr>
          <a:xfrm>
            <a:off x="731520" y="603504"/>
            <a:ext cx="9601200" cy="548640"/>
          </a:xfrm>
          <a:prstGeom prst="rect">
            <a:avLst/>
          </a:prstGeom>
          <a:noFill/>
        </p:spPr>
        <p:txBody>
          <a:bodyPr wrap="square" lIns="36576" rIns="36576" tIns="18288" bIns="18288" anchor="t">
            <a:spAutoFit/>
          </a:bodyPr>
          <a:lstStyle/>
          <a:p>
            <a:pPr algn="l"/>
            <a:r>
              <a:rPr sz="2600" b="1">
                <a:solidFill>
                  <a:srgbClr val="0F172A"/>
                </a:solidFill>
                <a:latin typeface="Space Grotesk"/>
              </a:rPr>
              <a:t>This week's recommendations</a:t>
            </a:r>
          </a:p>
        </p:txBody>
      </p:sp>
      <p:pic>
        <p:nvPicPr>
          <p:cNvPr id="6" name="" descr="logo_s.png"/>
          <p:cNvPicPr>
            <a:picLocks noChangeAspect="1"/>
          </p:cNvPicPr>
          <p:nvPr/>
        </p:nvPicPr>
        <p:blipFill>
          <a:blip r:embed="rId2"/>
          <a:stretch>
            <a:fillRect/>
          </a:stretch>
        </p:blipFill>
        <p:spPr>
          <a:xfrm>
            <a:off x="10195560" y="457200"/>
            <a:ext cx="1463040" cy="256032"/>
          </a:xfrm>
          <a:prstGeom prst="rect">
            <a:avLst/>
          </a:prstGeom>
        </p:spPr>
      </p:pic>
      <p:sp>
        <p:nvSpPr>
          <p:cNvPr id="7" name=""/>
          <p:cNvSpPr/>
          <p:nvPr/>
        </p:nvSpPr>
        <p:spPr>
          <a:xfrm>
            <a:off x="548640" y="6400800"/>
            <a:ext cx="11091672" cy="10972"/>
          </a:xfrm>
          <a:prstGeom prst="rect">
            <a:avLst/>
          </a:prstGeom>
          <a:solidFill>
            <a:srgbClr val="E5E0D6"/>
          </a:solidFill>
          <a:ln>
            <a:noFill/>
          </a:ln>
        </p:spPr>
      </p:sp>
      <p:sp>
        <p:nvSpPr>
          <p:cNvPr id="8" name=""/>
          <p:cNvSpPr txBox="1"/>
          <p:nvPr/>
        </p:nvSpPr>
        <p:spPr>
          <a:xfrm>
            <a:off x="548640" y="6455664"/>
            <a:ext cx="8229600" cy="274320"/>
          </a:xfrm>
          <a:prstGeom prst="rect">
            <a:avLst/>
          </a:prstGeom>
          <a:noFill/>
        </p:spPr>
        <p:txBody>
          <a:bodyPr wrap="square" lIns="36576" rIns="36576" tIns="18288" bIns="18288" anchor="t">
            <a:spAutoFit/>
          </a:bodyPr>
          <a:lstStyle/>
          <a:p>
            <a:pPr algn="l"/>
            <a:r>
              <a:rPr sz="900" b="0">
                <a:solidFill>
                  <a:srgbClr val="6B6558"/>
                </a:solidFill>
                <a:latin typeface="Inter"/>
              </a:rPr>
              <a:t>Dormeo Canada · Weekly Business Review · Week 43 (Oct 18–24, 2026)</a:t>
            </a:r>
          </a:p>
        </p:txBody>
      </p:sp>
      <p:sp>
        <p:nvSpPr>
          <p:cNvPr id="9" name=""/>
          <p:cNvSpPr txBox="1"/>
          <p:nvPr/>
        </p:nvSpPr>
        <p:spPr>
          <a:xfrm>
            <a:off x="10241280" y="6455664"/>
            <a:ext cx="1399032" cy="274320"/>
          </a:xfrm>
          <a:prstGeom prst="rect">
            <a:avLst/>
          </a:prstGeom>
          <a:noFill/>
        </p:spPr>
        <p:txBody>
          <a:bodyPr wrap="square" lIns="36576" rIns="36576" tIns="18288" bIns="18288" anchor="t">
            <a:spAutoFit/>
          </a:bodyPr>
          <a:lstStyle/>
          <a:p>
            <a:pPr algn="r"/>
            <a:r>
              <a:rPr sz="900" b="0">
                <a:solidFill>
                  <a:srgbClr val="6B6558"/>
                </a:solidFill>
                <a:latin typeface="Inter"/>
              </a:rPr>
              <a:t>15 / 17</a:t>
            </a:r>
          </a:p>
        </p:txBody>
      </p:sp>
      <p:graphicFrame>
        <p:nvGraphicFramePr>
          <p:cNvPr id="10" name=""/>
          <p:cNvGraphicFramePr>
            <a:graphicFrameLocks noGrp="1"/>
          </p:cNvGraphicFramePr>
          <p:nvPr/>
        </p:nvGraphicFramePr>
        <p:xfrm>
          <a:off x="548640" y="1371600"/>
          <a:ext cx="11091672" cy="4535424"/>
        </p:xfrm>
        <a:graphic>
          <a:graphicData uri="http://schemas.openxmlformats.org/drawingml/2006/table">
            <a:tbl>
              <a:tblPr firstRow="1" bandRow="1">
                <a:tableStyleId>{5C22544A-7EE6-4342-B048-85BDC9FD1C3A}</a:tableStyleId>
              </a:tblPr>
              <a:tblGrid>
                <a:gridCol w="1463040"/>
                <a:gridCol w="7068312"/>
                <a:gridCol w="1371600"/>
                <a:gridCol w="1188720"/>
              </a:tblGrid>
              <a:tr h="566928">
                <a:tc>
                  <a:txBody>
                    <a:bodyPr wrap="square"/>
                    <a:lstStyle/>
                    <a:p>
                      <a:pPr algn="l"/>
                      <a:r>
                        <a:rPr sz="1000" b="1">
                          <a:solidFill>
                            <a:srgbClr val="FFFFFF"/>
                          </a:solidFill>
                          <a:latin typeface="Inter"/>
                        </a:rPr>
                        <a:t>Area</a:t>
                      </a:r>
                    </a:p>
                  </a:txBody>
                  <a:tcPr marL="54864" marR="54864" marT="27432" marB="27432" anchor="ctr">
                    <a:solidFill>
                      <a:srgbClr val="0F172A"/>
                    </a:solidFill>
                  </a:tcPr>
                </a:tc>
                <a:tc>
                  <a:txBody>
                    <a:bodyPr wrap="square"/>
                    <a:lstStyle/>
                    <a:p>
                      <a:pPr algn="l"/>
                      <a:r>
                        <a:rPr sz="1000" b="1">
                          <a:solidFill>
                            <a:srgbClr val="FFFFFF"/>
                          </a:solidFill>
                          <a:latin typeface="Inter"/>
                        </a:rPr>
                        <a:t>Recommendation</a:t>
                      </a:r>
                    </a:p>
                  </a:txBody>
                  <a:tcPr marL="54864" marR="54864" marT="27432" marB="27432" anchor="ctr">
                    <a:solidFill>
                      <a:srgbClr val="0F172A"/>
                    </a:solidFill>
                  </a:tcPr>
                </a:tc>
                <a:tc>
                  <a:txBody>
                    <a:bodyPr wrap="square"/>
                    <a:lstStyle/>
                    <a:p>
                      <a:pPr algn="l"/>
                      <a:r>
                        <a:rPr sz="1000" b="1">
                          <a:solidFill>
                            <a:srgbClr val="FFFFFF"/>
                          </a:solidFill>
                          <a:latin typeface="Inter"/>
                        </a:rPr>
                        <a:t>Owner</a:t>
                      </a:r>
                    </a:p>
                  </a:txBody>
                  <a:tcPr marL="54864" marR="54864" marT="27432" marB="27432" anchor="ctr">
                    <a:solidFill>
                      <a:srgbClr val="0F172A"/>
                    </a:solidFill>
                  </a:tcPr>
                </a:tc>
                <a:tc>
                  <a:txBody>
                    <a:bodyPr wrap="square"/>
                    <a:lstStyle/>
                    <a:p>
                      <a:pPr algn="l"/>
                      <a:r>
                        <a:rPr sz="1000" b="1">
                          <a:solidFill>
                            <a:srgbClr val="FFFFFF"/>
                          </a:solidFill>
                          <a:latin typeface="Inter"/>
                        </a:rPr>
                        <a:t>Timing</a:t>
                      </a:r>
                    </a:p>
                  </a:txBody>
                  <a:tcPr marL="54864" marR="54864" marT="27432" marB="27432" anchor="ctr">
                    <a:solidFill>
                      <a:srgbClr val="0F172A"/>
                    </a:solidFill>
                  </a:tcPr>
                </a:tc>
              </a:tr>
              <a:tr h="566928">
                <a:tc>
                  <a:txBody>
                    <a:bodyPr wrap="square"/>
                    <a:lstStyle/>
                    <a:p>
                      <a:pPr algn="l"/>
                      <a:r>
                        <a:rPr sz="1100" b="0">
                          <a:solidFill>
                            <a:srgbClr val="0F172A"/>
                          </a:solidFill>
                          <a:latin typeface="Inter"/>
                        </a:rPr>
                        <a:t>Inventory</a:t>
                      </a:r>
                    </a:p>
                  </a:txBody>
                  <a:tcPr marL="54864" marR="54864" marT="27432" marB="27432" anchor="ctr">
                    <a:solidFill>
                      <a:srgbClr val="FFFFFF"/>
                    </a:solidFill>
                  </a:tcPr>
                </a:tc>
                <a:tc>
                  <a:txBody>
                    <a:bodyPr wrap="square"/>
                    <a:lstStyle/>
                    <a:p>
                      <a:pPr algn="l"/>
                      <a:r>
                        <a:rPr sz="1100" b="0">
                          <a:solidFill>
                            <a:srgbClr val="0F172A"/>
                          </a:solidFill>
                          <a:latin typeface="Inter"/>
                        </a:rPr>
                        <a:t>Get the 170 inbound Queen toppers checked in at FBA; only 23 are available (under a week of sales).</a:t>
                      </a:r>
                    </a:p>
                  </a:txBody>
                  <a:tcPr marL="54864" marR="54864" marT="27432" marB="27432" anchor="ctr">
                    <a:solidFill>
                      <a:srgbClr val="FFFFFF"/>
                    </a:solidFill>
                  </a:tcPr>
                </a:tc>
                <a:tc>
                  <a:txBody>
                    <a:bodyPr wrap="square"/>
                    <a:lstStyle/>
                    <a:p>
                      <a:pPr algn="l"/>
                      <a:r>
                        <a:rPr sz="1100" b="0">
                          <a:solidFill>
                            <a:srgbClr val="0F172A"/>
                          </a:solidFill>
                          <a:latin typeface="Inter"/>
                        </a:rPr>
                        <a:t>Account team</a:t>
                      </a:r>
                    </a:p>
                  </a:txBody>
                  <a:tcPr marL="54864" marR="54864" marT="27432" marB="27432" anchor="ctr">
                    <a:solidFill>
                      <a:srgbClr val="FFFFFF"/>
                    </a:solidFill>
                  </a:tcPr>
                </a:tc>
                <a:tc>
                  <a:txBody>
                    <a:bodyPr wrap="square"/>
                    <a:lstStyle/>
                    <a:p>
                      <a:pPr algn="l"/>
                      <a:r>
                        <a:rPr sz="1100" b="0">
                          <a:solidFill>
                            <a:srgbClr val="0F172A"/>
                          </a:solidFill>
                          <a:latin typeface="Inter"/>
                        </a:rPr>
                        <a:t>This week</a:t>
                      </a:r>
                    </a:p>
                  </a:txBody>
                  <a:tcPr marL="54864" marR="54864" marT="27432" marB="27432" anchor="ctr">
                    <a:solidFill>
                      <a:srgbClr val="FFFFFF"/>
                    </a:solidFill>
                  </a:tcPr>
                </a:tc>
              </a:tr>
              <a:tr h="566928">
                <a:tc>
                  <a:txBody>
                    <a:bodyPr wrap="square"/>
                    <a:lstStyle/>
                    <a:p>
                      <a:pPr algn="l"/>
                      <a:r>
                        <a:rPr sz="1100" b="0">
                          <a:solidFill>
                            <a:srgbClr val="0F172A"/>
                          </a:solidFill>
                          <a:latin typeface="Inter"/>
                        </a:rPr>
                        <a:t>Inventory</a:t>
                      </a:r>
                    </a:p>
                  </a:txBody>
                  <a:tcPr marL="54864" marR="54864" marT="27432" marB="27432" anchor="ctr">
                    <a:solidFill>
                      <a:srgbClr val="FBFAF7"/>
                    </a:solidFill>
                  </a:tcPr>
                </a:tc>
                <a:tc>
                  <a:txBody>
                    <a:bodyPr wrap="square"/>
                    <a:lstStyle/>
                    <a:p>
                      <a:pPr algn="l"/>
                      <a:r>
                        <a:rPr sz="1100" b="0">
                          <a:solidFill>
                            <a:srgbClr val="0F172A"/>
                          </a:solidFill>
                          <a:latin typeface="Inter"/>
                        </a:rPr>
                        <a:t>Restock SnowTek (Full and Twin out, King at 9 units) and Essentials Queen (out); none has stock inbound.</a:t>
                      </a:r>
                    </a:p>
                  </a:txBody>
                  <a:tcPr marL="54864" marR="54864" marT="27432" marB="27432" anchor="ctr">
                    <a:solidFill>
                      <a:srgbClr val="FBFAF7"/>
                    </a:solidFill>
                  </a:tcPr>
                </a:tc>
                <a:tc>
                  <a:txBody>
                    <a:bodyPr wrap="square"/>
                    <a:lstStyle/>
                    <a:p>
                      <a:pPr algn="l"/>
                      <a:r>
                        <a:rPr sz="1100" b="0">
                          <a:solidFill>
                            <a:srgbClr val="0F172A"/>
                          </a:solidFill>
                          <a:latin typeface="Inter"/>
                        </a:rPr>
                        <a:t>Account team</a:t>
                      </a:r>
                    </a:p>
                  </a:txBody>
                  <a:tcPr marL="54864" marR="54864" marT="27432" marB="27432" anchor="ctr">
                    <a:solidFill>
                      <a:srgbClr val="FBFAF7"/>
                    </a:solidFill>
                  </a:tcPr>
                </a:tc>
                <a:tc>
                  <a:txBody>
                    <a:bodyPr wrap="square"/>
                    <a:lstStyle/>
                    <a:p>
                      <a:pPr algn="l"/>
                      <a:r>
                        <a:rPr sz="1100" b="0">
                          <a:solidFill>
                            <a:srgbClr val="0F172A"/>
                          </a:solidFill>
                          <a:latin typeface="Inter"/>
                        </a:rPr>
                        <a:t>By Nov 6</a:t>
                      </a:r>
                    </a:p>
                  </a:txBody>
                  <a:tcPr marL="54864" marR="54864" marT="27432" marB="27432" anchor="ctr">
                    <a:solidFill>
                      <a:srgbClr val="FBFAF7"/>
                    </a:solidFill>
                  </a:tcPr>
                </a:tc>
              </a:tr>
              <a:tr h="566928">
                <a:tc>
                  <a:txBody>
                    <a:bodyPr wrap="square"/>
                    <a:lstStyle/>
                    <a:p>
                      <a:pPr algn="l"/>
                      <a:r>
                        <a:rPr sz="1100" b="0">
                          <a:solidFill>
                            <a:srgbClr val="0F172A"/>
                          </a:solidFill>
                          <a:latin typeface="Inter"/>
                        </a:rPr>
                        <a:t>Ads</a:t>
                      </a:r>
                    </a:p>
                  </a:txBody>
                  <a:tcPr marL="54864" marR="54864" marT="27432" marB="27432" anchor="ctr">
                    <a:solidFill>
                      <a:srgbClr val="FFFFFF"/>
                    </a:solidFill>
                  </a:tcPr>
                </a:tc>
                <a:tc>
                  <a:txBody>
                    <a:bodyPr wrap="square"/>
                    <a:lstStyle/>
                    <a:p>
                      <a:pPr algn="l"/>
                      <a:r>
                        <a:rPr sz="1100" b="0">
                          <a:solidFill>
                            <a:srgbClr val="0F172A"/>
                          </a:solidFill>
                          <a:latin typeface="Inter"/>
                        </a:rPr>
                        <a:t>Review the Streaming TV audience campaign: $1,789 over two weeks with no attributed sales.</a:t>
                      </a:r>
                    </a:p>
                  </a:txBody>
                  <a:tcPr marL="54864" marR="54864" marT="27432" marB="27432" anchor="ctr">
                    <a:solidFill>
                      <a:srgbClr val="FFFFFF"/>
                    </a:solidFill>
                  </a:tcPr>
                </a:tc>
                <a:tc>
                  <a:txBody>
                    <a:bodyPr wrap="square"/>
                    <a:lstStyle/>
                    <a:p>
                      <a:pPr algn="l"/>
                      <a:r>
                        <a:rPr sz="1100" b="0">
                          <a:solidFill>
                            <a:srgbClr val="0F172A"/>
                          </a:solidFill>
                          <a:latin typeface="Inter"/>
                        </a:rPr>
                        <a:t>Ads team</a:t>
                      </a:r>
                    </a:p>
                  </a:txBody>
                  <a:tcPr marL="54864" marR="54864" marT="27432" marB="27432" anchor="ctr">
                    <a:solidFill>
                      <a:srgbClr val="FFFFFF"/>
                    </a:solidFill>
                  </a:tcPr>
                </a:tc>
                <a:tc>
                  <a:txBody>
                    <a:bodyPr wrap="square"/>
                    <a:lstStyle/>
                    <a:p>
                      <a:pPr algn="l"/>
                      <a:r>
                        <a:rPr sz="1100" b="0">
                          <a:solidFill>
                            <a:srgbClr val="0F172A"/>
                          </a:solidFill>
                          <a:latin typeface="Inter"/>
                        </a:rPr>
                        <a:t>This week</a:t>
                      </a:r>
                    </a:p>
                  </a:txBody>
                  <a:tcPr marL="54864" marR="54864" marT="27432" marB="27432" anchor="ctr">
                    <a:solidFill>
                      <a:srgbClr val="FFFFFF"/>
                    </a:solidFill>
                  </a:tcPr>
                </a:tc>
              </a:tr>
              <a:tr h="566928">
                <a:tc>
                  <a:txBody>
                    <a:bodyPr wrap="square"/>
                    <a:lstStyle/>
                    <a:p>
                      <a:pPr algn="l"/>
                      <a:r>
                        <a:rPr sz="1100" b="0">
                          <a:solidFill>
                            <a:srgbClr val="0F172A"/>
                          </a:solidFill>
                          <a:latin typeface="Inter"/>
                        </a:rPr>
                        <a:t>Ads</a:t>
                      </a:r>
                    </a:p>
                  </a:txBody>
                  <a:tcPr marL="54864" marR="54864" marT="27432" marB="27432" anchor="ctr">
                    <a:solidFill>
                      <a:srgbClr val="FBFAF7"/>
                    </a:solidFill>
                  </a:tcPr>
                </a:tc>
                <a:tc>
                  <a:txBody>
                    <a:bodyPr wrap="square"/>
                    <a:lstStyle/>
                    <a:p>
                      <a:pPr algn="l"/>
                      <a:r>
                        <a:rPr sz="1100" b="0">
                          <a:solidFill>
                            <a:srgbClr val="0F172A"/>
                          </a:solidFill>
                          <a:latin typeface="Inter"/>
                        </a:rPr>
                        <a:t>Negate or pause no-sale targets (“mattress +topper” exact, “sur matelas dormeo” exact) and lower the “mattress +topper” phrase bid.</a:t>
                      </a:r>
                    </a:p>
                  </a:txBody>
                  <a:tcPr marL="54864" marR="54864" marT="27432" marB="27432" anchor="ctr">
                    <a:solidFill>
                      <a:srgbClr val="FBFAF7"/>
                    </a:solidFill>
                  </a:tcPr>
                </a:tc>
                <a:tc>
                  <a:txBody>
                    <a:bodyPr wrap="square"/>
                    <a:lstStyle/>
                    <a:p>
                      <a:pPr algn="l"/>
                      <a:r>
                        <a:rPr sz="1100" b="0">
                          <a:solidFill>
                            <a:srgbClr val="0F172A"/>
                          </a:solidFill>
                          <a:latin typeface="Inter"/>
                        </a:rPr>
                        <a:t>Ads team</a:t>
                      </a:r>
                    </a:p>
                  </a:txBody>
                  <a:tcPr marL="54864" marR="54864" marT="27432" marB="27432" anchor="ctr">
                    <a:solidFill>
                      <a:srgbClr val="FBFAF7"/>
                    </a:solidFill>
                  </a:tcPr>
                </a:tc>
                <a:tc>
                  <a:txBody>
                    <a:bodyPr wrap="square"/>
                    <a:lstStyle/>
                    <a:p>
                      <a:pPr algn="l"/>
                      <a:r>
                        <a:rPr sz="1100" b="0">
                          <a:solidFill>
                            <a:srgbClr val="0F172A"/>
                          </a:solidFill>
                          <a:latin typeface="Inter"/>
                        </a:rPr>
                        <a:t>This week</a:t>
                      </a:r>
                    </a:p>
                  </a:txBody>
                  <a:tcPr marL="54864" marR="54864" marT="27432" marB="27432" anchor="ctr">
                    <a:solidFill>
                      <a:srgbClr val="FBFAF7"/>
                    </a:solidFill>
                  </a:tcPr>
                </a:tc>
              </a:tr>
              <a:tr h="566928">
                <a:tc>
                  <a:txBody>
                    <a:bodyPr wrap="square"/>
                    <a:lstStyle/>
                    <a:p>
                      <a:pPr algn="l"/>
                      <a:r>
                        <a:rPr sz="1100" b="0">
                          <a:solidFill>
                            <a:srgbClr val="0F172A"/>
                          </a:solidFill>
                          <a:latin typeface="Inter"/>
                        </a:rPr>
                        <a:t>Ads</a:t>
                      </a:r>
                    </a:p>
                  </a:txBody>
                  <a:tcPr marL="54864" marR="54864" marT="27432" marB="27432" anchor="ctr">
                    <a:solidFill>
                      <a:srgbClr val="FFFFFF"/>
                    </a:solidFill>
                  </a:tcPr>
                </a:tc>
                <a:tc>
                  <a:txBody>
                    <a:bodyPr wrap="square"/>
                    <a:lstStyle/>
                    <a:p>
                      <a:pPr algn="l"/>
                      <a:r>
                        <a:rPr sz="1100" b="0">
                          <a:solidFill>
                            <a:srgbClr val="0F172A"/>
                          </a:solidFill>
                          <a:latin typeface="Inter"/>
                        </a:rPr>
                        <a:t>Add “dormeo mattress topper queen” (SB) and “octaspring mattress topper” as exact keywords; review the 11 no-sale search terms.</a:t>
                      </a:r>
                    </a:p>
                  </a:txBody>
                  <a:tcPr marL="54864" marR="54864" marT="27432" marB="27432" anchor="ctr">
                    <a:solidFill>
                      <a:srgbClr val="FFFFFF"/>
                    </a:solidFill>
                  </a:tcPr>
                </a:tc>
                <a:tc>
                  <a:txBody>
                    <a:bodyPr wrap="square"/>
                    <a:lstStyle/>
                    <a:p>
                      <a:pPr algn="l"/>
                      <a:r>
                        <a:rPr sz="1100" b="0">
                          <a:solidFill>
                            <a:srgbClr val="0F172A"/>
                          </a:solidFill>
                          <a:latin typeface="Inter"/>
                        </a:rPr>
                        <a:t>Ads team</a:t>
                      </a:r>
                    </a:p>
                  </a:txBody>
                  <a:tcPr marL="54864" marR="54864" marT="27432" marB="27432" anchor="ctr">
                    <a:solidFill>
                      <a:srgbClr val="FFFFFF"/>
                    </a:solidFill>
                  </a:tcPr>
                </a:tc>
                <a:tc>
                  <a:txBody>
                    <a:bodyPr wrap="square"/>
                    <a:lstStyle/>
                    <a:p>
                      <a:pPr algn="l"/>
                      <a:r>
                        <a:rPr sz="1100" b="0">
                          <a:solidFill>
                            <a:srgbClr val="0F172A"/>
                          </a:solidFill>
                          <a:latin typeface="Inter"/>
                        </a:rPr>
                        <a:t>This week</a:t>
                      </a:r>
                    </a:p>
                  </a:txBody>
                  <a:tcPr marL="54864" marR="54864" marT="27432" marB="27432" anchor="ctr">
                    <a:solidFill>
                      <a:srgbClr val="FFFFFF"/>
                    </a:solidFill>
                  </a:tcPr>
                </a:tc>
              </a:tr>
              <a:tr h="566928">
                <a:tc>
                  <a:txBody>
                    <a:bodyPr wrap="square"/>
                    <a:lstStyle/>
                    <a:p>
                      <a:pPr algn="l"/>
                      <a:r>
                        <a:rPr sz="1100" b="0">
                          <a:solidFill>
                            <a:srgbClr val="0F172A"/>
                          </a:solidFill>
                          <a:latin typeface="Inter"/>
                        </a:rPr>
                        <a:t>Marketing</a:t>
                      </a:r>
                    </a:p>
                  </a:txBody>
                  <a:tcPr marL="54864" marR="54864" marT="27432" marB="27432" anchor="ctr">
                    <a:solidFill>
                      <a:srgbClr val="FBFAF7"/>
                    </a:solidFill>
                  </a:tcPr>
                </a:tc>
                <a:tc>
                  <a:txBody>
                    <a:bodyPr wrap="square"/>
                    <a:lstStyle/>
                    <a:p>
                      <a:pPr algn="l"/>
                      <a:r>
                        <a:rPr sz="1100" b="0">
                          <a:solidFill>
                            <a:srgbClr val="0F172A"/>
                          </a:solidFill>
                          <a:latin typeface="Inter"/>
                        </a:rPr>
                        <a:t>Plan BF/CM and Boxing Day coupons and deals for the toppers and confirm submission deadlines.</a:t>
                      </a:r>
                    </a:p>
                  </a:txBody>
                  <a:tcPr marL="54864" marR="54864" marT="27432" marB="27432" anchor="ctr">
                    <a:solidFill>
                      <a:srgbClr val="FBFAF7"/>
                    </a:solidFill>
                  </a:tcPr>
                </a:tc>
                <a:tc>
                  <a:txBody>
                    <a:bodyPr wrap="square"/>
                    <a:lstStyle/>
                    <a:p>
                      <a:pPr algn="l"/>
                      <a:r>
                        <a:rPr sz="1100" b="0">
                          <a:solidFill>
                            <a:srgbClr val="0F172A"/>
                          </a:solidFill>
                          <a:latin typeface="Inter"/>
                        </a:rPr>
                        <a:t>Account team</a:t>
                      </a:r>
                    </a:p>
                  </a:txBody>
                  <a:tcPr marL="54864" marR="54864" marT="27432" marB="27432" anchor="ctr">
                    <a:solidFill>
                      <a:srgbClr val="FBFAF7"/>
                    </a:solidFill>
                  </a:tcPr>
                </a:tc>
                <a:tc>
                  <a:txBody>
                    <a:bodyPr wrap="square"/>
                    <a:lstStyle/>
                    <a:p>
                      <a:pPr algn="l"/>
                      <a:r>
                        <a:rPr sz="1100" b="0">
                          <a:solidFill>
                            <a:srgbClr val="0F172A"/>
                          </a:solidFill>
                          <a:latin typeface="Inter"/>
                        </a:rPr>
                        <a:t>By Nov 6</a:t>
                      </a:r>
                    </a:p>
                  </a:txBody>
                  <a:tcPr marL="54864" marR="54864" marT="27432" marB="27432" anchor="ctr">
                    <a:solidFill>
                      <a:srgbClr val="FBFAF7"/>
                    </a:solidFill>
                  </a:tcPr>
                </a:tc>
              </a:tr>
              <a:tr h="566928">
                <a:tc>
                  <a:txBody>
                    <a:bodyPr wrap="square"/>
                    <a:lstStyle/>
                    <a:p>
                      <a:pPr algn="l"/>
                      <a:r>
                        <a:rPr sz="1100" b="0">
                          <a:solidFill>
                            <a:srgbClr val="0F172A"/>
                          </a:solidFill>
                          <a:latin typeface="Inter"/>
                        </a:rPr>
                        <a:t>Account health</a:t>
                      </a:r>
                    </a:p>
                  </a:txBody>
                  <a:tcPr marL="54864" marR="54864" marT="27432" marB="27432" anchor="ctr">
                    <a:solidFill>
                      <a:srgbClr val="FFFFFF"/>
                    </a:solidFill>
                  </a:tcPr>
                </a:tc>
                <a:tc>
                  <a:txBody>
                    <a:bodyPr wrap="square"/>
                    <a:lstStyle/>
                    <a:p>
                      <a:pPr algn="l"/>
                      <a:r>
                        <a:rPr sz="1100" b="0">
                          <a:solidFill>
                            <a:srgbClr val="0F172A"/>
                          </a:solidFill>
                          <a:latin typeface="Inter"/>
                        </a:rPr>
                        <a:t>Check the 9 Buy Box losses and 3 hijacker alerts from the last 30 days; turn on review tracking.</a:t>
                      </a:r>
                    </a:p>
                  </a:txBody>
                  <a:tcPr marL="54864" marR="54864" marT="27432" marB="27432" anchor="ctr">
                    <a:solidFill>
                      <a:srgbClr val="FFFFFF"/>
                    </a:solidFill>
                  </a:tcPr>
                </a:tc>
                <a:tc>
                  <a:txBody>
                    <a:bodyPr wrap="square"/>
                    <a:lstStyle/>
                    <a:p>
                      <a:pPr algn="l"/>
                      <a:r>
                        <a:rPr sz="1100" b="0">
                          <a:solidFill>
                            <a:srgbClr val="0F172A"/>
                          </a:solidFill>
                          <a:latin typeface="Inter"/>
                        </a:rPr>
                        <a:t>Account team</a:t>
                      </a:r>
                    </a:p>
                  </a:txBody>
                  <a:tcPr marL="54864" marR="54864" marT="27432" marB="27432" anchor="ctr">
                    <a:solidFill>
                      <a:srgbClr val="FFFFFF"/>
                    </a:solidFill>
                  </a:tcPr>
                </a:tc>
                <a:tc>
                  <a:txBody>
                    <a:bodyPr wrap="square"/>
                    <a:lstStyle/>
                    <a:p>
                      <a:pPr algn="l"/>
                      <a:r>
                        <a:rPr sz="1100" b="0">
                          <a:solidFill>
                            <a:srgbClr val="0F172A"/>
                          </a:solidFill>
                          <a:latin typeface="Inter"/>
                        </a:rPr>
                        <a:t>Next week</a:t>
                      </a:r>
                    </a:p>
                  </a:txBody>
                  <a:tcPr marL="54864" marR="54864" marT="27432" marB="27432" anchor="ctr">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
          <p:cNvSpPr/>
          <p:nvPr/>
        </p:nvSpPr>
        <p:spPr>
          <a:xfrm>
            <a:off x="0" y="0"/>
            <a:ext cx="12191695" cy="6858000"/>
          </a:xfrm>
          <a:prstGeom prst="rect">
            <a:avLst/>
          </a:prstGeom>
          <a:solidFill>
            <a:srgbClr val="F6F3EC"/>
          </a:solidFill>
          <a:ln>
            <a:noFill/>
          </a:ln>
        </p:spPr>
      </p:sp>
      <p:sp>
        <p:nvSpPr>
          <p:cNvPr id="3" name=""/>
          <p:cNvSpPr/>
          <p:nvPr/>
        </p:nvSpPr>
        <p:spPr>
          <a:xfrm>
            <a:off x="548640" y="502920"/>
            <a:ext cx="73152" cy="566928"/>
          </a:xfrm>
          <a:prstGeom prst="rect">
            <a:avLst/>
          </a:prstGeom>
          <a:solidFill>
            <a:srgbClr val="2447FF"/>
          </a:solidFill>
          <a:ln>
            <a:noFill/>
          </a:ln>
        </p:spPr>
      </p:sp>
      <p:sp>
        <p:nvSpPr>
          <p:cNvPr id="4" name=""/>
          <p:cNvSpPr txBox="1"/>
          <p:nvPr/>
        </p:nvSpPr>
        <p:spPr>
          <a:xfrm>
            <a:off x="731520" y="384048"/>
            <a:ext cx="8229600" cy="274320"/>
          </a:xfrm>
          <a:prstGeom prst="rect">
            <a:avLst/>
          </a:prstGeom>
          <a:noFill/>
        </p:spPr>
        <p:txBody>
          <a:bodyPr wrap="square" lIns="36576" rIns="36576" tIns="18288" bIns="18288" anchor="t">
            <a:spAutoFit/>
          </a:bodyPr>
          <a:lstStyle/>
          <a:p>
            <a:pPr algn="l"/>
            <a:r>
              <a:rPr sz="1000" b="1">
                <a:solidFill>
                  <a:srgbClr val="2447FF"/>
                </a:solidFill>
                <a:latin typeface="Space Grotesk"/>
              </a:rPr>
              <a:t>AMAZON ADS</a:t>
            </a:r>
          </a:p>
        </p:txBody>
      </p:sp>
      <p:sp>
        <p:nvSpPr>
          <p:cNvPr id="5" name=""/>
          <p:cNvSpPr txBox="1"/>
          <p:nvPr/>
        </p:nvSpPr>
        <p:spPr>
          <a:xfrm>
            <a:off x="731520" y="603504"/>
            <a:ext cx="9601200" cy="548640"/>
          </a:xfrm>
          <a:prstGeom prst="rect">
            <a:avLst/>
          </a:prstGeom>
          <a:noFill/>
        </p:spPr>
        <p:txBody>
          <a:bodyPr wrap="square" lIns="36576" rIns="36576" tIns="18288" bIns="18288" anchor="t">
            <a:spAutoFit/>
          </a:bodyPr>
          <a:lstStyle/>
          <a:p>
            <a:pPr algn="l"/>
            <a:r>
              <a:rPr sz="2600" b="1">
                <a:solidFill>
                  <a:srgbClr val="0F172A"/>
                </a:solidFill>
                <a:latin typeface="Space Grotesk"/>
              </a:rPr>
              <a:t>Ad spend performance — this week vs last</a:t>
            </a:r>
          </a:p>
        </p:txBody>
      </p:sp>
      <p:pic>
        <p:nvPicPr>
          <p:cNvPr id="6" name="" descr="logo_s.png"/>
          <p:cNvPicPr>
            <a:picLocks noChangeAspect="1"/>
          </p:cNvPicPr>
          <p:nvPr/>
        </p:nvPicPr>
        <p:blipFill>
          <a:blip r:embed="rId2"/>
          <a:stretch>
            <a:fillRect/>
          </a:stretch>
        </p:blipFill>
        <p:spPr>
          <a:xfrm>
            <a:off x="10195560" y="457200"/>
            <a:ext cx="1463040" cy="256032"/>
          </a:xfrm>
          <a:prstGeom prst="rect">
            <a:avLst/>
          </a:prstGeom>
        </p:spPr>
      </p:pic>
      <p:sp>
        <p:nvSpPr>
          <p:cNvPr id="7" name=""/>
          <p:cNvSpPr/>
          <p:nvPr/>
        </p:nvSpPr>
        <p:spPr>
          <a:xfrm>
            <a:off x="548640" y="1417320"/>
            <a:ext cx="2651760" cy="1554480"/>
          </a:xfrm>
          <a:prstGeom prst="roundRect">
            <a:avLst>
              <a:gd name="" fmla="val 6000"/>
            </a:avLst>
          </a:prstGeom>
          <a:solidFill>
            <a:srgbClr val="FFFFFF"/>
          </a:solidFill>
          <a:ln>
            <a:noFill/>
          </a:ln>
        </p:spPr>
      </p:sp>
      <p:sp>
        <p:nvSpPr>
          <p:cNvPr id="8" name=""/>
          <p:cNvSpPr txBox="1"/>
          <p:nvPr/>
        </p:nvSpPr>
        <p:spPr>
          <a:xfrm>
            <a:off x="713232" y="154533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AD SPEND</a:t>
            </a:r>
          </a:p>
        </p:txBody>
      </p:sp>
      <p:sp>
        <p:nvSpPr>
          <p:cNvPr id="9" name=""/>
          <p:cNvSpPr txBox="1"/>
          <p:nvPr/>
        </p:nvSpPr>
        <p:spPr>
          <a:xfrm>
            <a:off x="713232" y="1801368"/>
            <a:ext cx="2377440" cy="548640"/>
          </a:xfrm>
          <a:prstGeom prst="rect">
            <a:avLst/>
          </a:prstGeom>
          <a:noFill/>
        </p:spPr>
        <p:txBody>
          <a:bodyPr wrap="square" lIns="36576" rIns="36576" tIns="18288" bIns="18288" anchor="t">
            <a:spAutoFit/>
          </a:bodyPr>
          <a:lstStyle/>
          <a:p>
            <a:pPr algn="l"/>
            <a:r>
              <a:rPr sz="2600" b="1">
                <a:solidFill>
                  <a:srgbClr val="2447FF"/>
                </a:solidFill>
                <a:latin typeface="Space Grotesk"/>
              </a:rPr>
              <a:t>$3,612</a:t>
            </a:r>
          </a:p>
        </p:txBody>
      </p:sp>
      <p:sp>
        <p:nvSpPr>
          <p:cNvPr id="10" name=""/>
          <p:cNvSpPr txBox="1"/>
          <p:nvPr/>
        </p:nvSpPr>
        <p:spPr>
          <a:xfrm>
            <a:off x="713232" y="2560320"/>
            <a:ext cx="2377440" cy="320040"/>
          </a:xfrm>
          <a:prstGeom prst="rect">
            <a:avLst/>
          </a:prstGeom>
          <a:noFill/>
        </p:spPr>
        <p:txBody>
          <a:bodyPr wrap="square" lIns="36576" rIns="36576" tIns="18288" bIns="18288" anchor="t">
            <a:spAutoFit/>
          </a:bodyPr>
          <a:lstStyle/>
          <a:p>
            <a:pPr algn="l"/>
            <a:r>
              <a:rPr sz="1000" b="0">
                <a:solidFill>
                  <a:srgbClr val="16A34A"/>
                </a:solidFill>
                <a:latin typeface="Inter"/>
              </a:rPr>
              <a:t>-26% vs $4,911</a:t>
            </a:r>
          </a:p>
        </p:txBody>
      </p:sp>
      <p:sp>
        <p:nvSpPr>
          <p:cNvPr id="11" name=""/>
          <p:cNvSpPr/>
          <p:nvPr/>
        </p:nvSpPr>
        <p:spPr>
          <a:xfrm>
            <a:off x="3364992" y="1417320"/>
            <a:ext cx="2651760" cy="1554480"/>
          </a:xfrm>
          <a:prstGeom prst="roundRect">
            <a:avLst>
              <a:gd name="" fmla="val 6000"/>
            </a:avLst>
          </a:prstGeom>
          <a:solidFill>
            <a:srgbClr val="FFFFFF"/>
          </a:solidFill>
          <a:ln>
            <a:noFill/>
          </a:ln>
        </p:spPr>
      </p:sp>
      <p:sp>
        <p:nvSpPr>
          <p:cNvPr id="12" name=""/>
          <p:cNvSpPr txBox="1"/>
          <p:nvPr/>
        </p:nvSpPr>
        <p:spPr>
          <a:xfrm>
            <a:off x="3529584" y="154533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AD SALES</a:t>
            </a:r>
          </a:p>
        </p:txBody>
      </p:sp>
      <p:sp>
        <p:nvSpPr>
          <p:cNvPr id="13" name=""/>
          <p:cNvSpPr txBox="1"/>
          <p:nvPr/>
        </p:nvSpPr>
        <p:spPr>
          <a:xfrm>
            <a:off x="3529584" y="1801368"/>
            <a:ext cx="2377440" cy="548640"/>
          </a:xfrm>
          <a:prstGeom prst="rect">
            <a:avLst/>
          </a:prstGeom>
          <a:noFill/>
        </p:spPr>
        <p:txBody>
          <a:bodyPr wrap="square" lIns="36576" rIns="36576" tIns="18288" bIns="18288" anchor="t">
            <a:spAutoFit/>
          </a:bodyPr>
          <a:lstStyle/>
          <a:p>
            <a:pPr algn="l"/>
            <a:r>
              <a:rPr sz="2600" b="1">
                <a:solidFill>
                  <a:srgbClr val="2447FF"/>
                </a:solidFill>
                <a:latin typeface="Space Grotesk"/>
              </a:rPr>
              <a:t>$34,696</a:t>
            </a:r>
          </a:p>
        </p:txBody>
      </p:sp>
      <p:sp>
        <p:nvSpPr>
          <p:cNvPr id="14" name=""/>
          <p:cNvSpPr txBox="1"/>
          <p:nvPr/>
        </p:nvSpPr>
        <p:spPr>
          <a:xfrm>
            <a:off x="3529584" y="2560320"/>
            <a:ext cx="2377440" cy="320040"/>
          </a:xfrm>
          <a:prstGeom prst="rect">
            <a:avLst/>
          </a:prstGeom>
          <a:noFill/>
        </p:spPr>
        <p:txBody>
          <a:bodyPr wrap="square" lIns="36576" rIns="36576" tIns="18288" bIns="18288" anchor="t">
            <a:spAutoFit/>
          </a:bodyPr>
          <a:lstStyle/>
          <a:p>
            <a:pPr algn="l"/>
            <a:r>
              <a:rPr sz="1000" b="0">
                <a:solidFill>
                  <a:srgbClr val="16A34A"/>
                </a:solidFill>
                <a:latin typeface="Inter"/>
              </a:rPr>
              <a:t>+19% vs $29,112</a:t>
            </a:r>
          </a:p>
        </p:txBody>
      </p:sp>
      <p:sp>
        <p:nvSpPr>
          <p:cNvPr id="15" name=""/>
          <p:cNvSpPr/>
          <p:nvPr/>
        </p:nvSpPr>
        <p:spPr>
          <a:xfrm>
            <a:off x="6181344" y="1417320"/>
            <a:ext cx="2651760" cy="1554480"/>
          </a:xfrm>
          <a:prstGeom prst="roundRect">
            <a:avLst>
              <a:gd name="" fmla="val 6000"/>
            </a:avLst>
          </a:prstGeom>
          <a:solidFill>
            <a:srgbClr val="FFFFFF"/>
          </a:solidFill>
          <a:ln>
            <a:noFill/>
          </a:ln>
        </p:spPr>
      </p:sp>
      <p:sp>
        <p:nvSpPr>
          <p:cNvPr id="16" name=""/>
          <p:cNvSpPr txBox="1"/>
          <p:nvPr/>
        </p:nvSpPr>
        <p:spPr>
          <a:xfrm>
            <a:off x="6345936" y="154533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ACOS</a:t>
            </a:r>
          </a:p>
        </p:txBody>
      </p:sp>
      <p:sp>
        <p:nvSpPr>
          <p:cNvPr id="17" name=""/>
          <p:cNvSpPr txBox="1"/>
          <p:nvPr/>
        </p:nvSpPr>
        <p:spPr>
          <a:xfrm>
            <a:off x="6345936" y="1801368"/>
            <a:ext cx="2377440" cy="548640"/>
          </a:xfrm>
          <a:prstGeom prst="rect">
            <a:avLst/>
          </a:prstGeom>
          <a:noFill/>
        </p:spPr>
        <p:txBody>
          <a:bodyPr wrap="square" lIns="36576" rIns="36576" tIns="18288" bIns="18288" anchor="t">
            <a:spAutoFit/>
          </a:bodyPr>
          <a:lstStyle/>
          <a:p>
            <a:pPr algn="l"/>
            <a:r>
              <a:rPr sz="2600" b="1">
                <a:solidFill>
                  <a:srgbClr val="2447FF"/>
                </a:solidFill>
                <a:latin typeface="Space Grotesk"/>
              </a:rPr>
              <a:t>10.4%</a:t>
            </a:r>
          </a:p>
        </p:txBody>
      </p:sp>
      <p:sp>
        <p:nvSpPr>
          <p:cNvPr id="18" name=""/>
          <p:cNvSpPr txBox="1"/>
          <p:nvPr/>
        </p:nvSpPr>
        <p:spPr>
          <a:xfrm>
            <a:off x="6345936" y="2560320"/>
            <a:ext cx="2377440" cy="320040"/>
          </a:xfrm>
          <a:prstGeom prst="rect">
            <a:avLst/>
          </a:prstGeom>
          <a:noFill/>
        </p:spPr>
        <p:txBody>
          <a:bodyPr wrap="square" lIns="36576" rIns="36576" tIns="18288" bIns="18288" anchor="t">
            <a:spAutoFit/>
          </a:bodyPr>
          <a:lstStyle/>
          <a:p>
            <a:pPr algn="l"/>
            <a:r>
              <a:rPr sz="1000" b="0">
                <a:solidFill>
                  <a:srgbClr val="16A34A"/>
                </a:solidFill>
                <a:latin typeface="Inter"/>
              </a:rPr>
              <a:t>-6.5 pts vs 16.9%</a:t>
            </a:r>
          </a:p>
        </p:txBody>
      </p:sp>
      <p:sp>
        <p:nvSpPr>
          <p:cNvPr id="19" name=""/>
          <p:cNvSpPr/>
          <p:nvPr/>
        </p:nvSpPr>
        <p:spPr>
          <a:xfrm>
            <a:off x="8997696" y="1417320"/>
            <a:ext cx="2651760" cy="1554480"/>
          </a:xfrm>
          <a:prstGeom prst="roundRect">
            <a:avLst>
              <a:gd name="" fmla="val 6000"/>
            </a:avLst>
          </a:prstGeom>
          <a:solidFill>
            <a:srgbClr val="FFFFFF"/>
          </a:solidFill>
          <a:ln>
            <a:noFill/>
          </a:ln>
        </p:spPr>
      </p:sp>
      <p:sp>
        <p:nvSpPr>
          <p:cNvPr id="20" name=""/>
          <p:cNvSpPr txBox="1"/>
          <p:nvPr/>
        </p:nvSpPr>
        <p:spPr>
          <a:xfrm>
            <a:off x="9162288" y="154533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TACOS</a:t>
            </a:r>
          </a:p>
        </p:txBody>
      </p:sp>
      <p:sp>
        <p:nvSpPr>
          <p:cNvPr id="21" name=""/>
          <p:cNvSpPr txBox="1"/>
          <p:nvPr/>
        </p:nvSpPr>
        <p:spPr>
          <a:xfrm>
            <a:off x="9162288" y="1801368"/>
            <a:ext cx="2377440" cy="548640"/>
          </a:xfrm>
          <a:prstGeom prst="rect">
            <a:avLst/>
          </a:prstGeom>
          <a:noFill/>
        </p:spPr>
        <p:txBody>
          <a:bodyPr wrap="square" lIns="36576" rIns="36576" tIns="18288" bIns="18288" anchor="t">
            <a:spAutoFit/>
          </a:bodyPr>
          <a:lstStyle/>
          <a:p>
            <a:pPr algn="l"/>
            <a:r>
              <a:rPr sz="2600" b="1">
                <a:solidFill>
                  <a:srgbClr val="2447FF"/>
                </a:solidFill>
                <a:latin typeface="Space Grotesk"/>
              </a:rPr>
              <a:t>6.3%</a:t>
            </a:r>
          </a:p>
        </p:txBody>
      </p:sp>
      <p:sp>
        <p:nvSpPr>
          <p:cNvPr id="22" name=""/>
          <p:cNvSpPr txBox="1"/>
          <p:nvPr/>
        </p:nvSpPr>
        <p:spPr>
          <a:xfrm>
            <a:off x="9162288" y="2560320"/>
            <a:ext cx="2377440" cy="320040"/>
          </a:xfrm>
          <a:prstGeom prst="rect">
            <a:avLst/>
          </a:prstGeom>
          <a:noFill/>
        </p:spPr>
        <p:txBody>
          <a:bodyPr wrap="square" lIns="36576" rIns="36576" tIns="18288" bIns="18288" anchor="t">
            <a:spAutoFit/>
          </a:bodyPr>
          <a:lstStyle/>
          <a:p>
            <a:pPr algn="l"/>
            <a:r>
              <a:rPr sz="1000" b="0">
                <a:solidFill>
                  <a:srgbClr val="16A34A"/>
                </a:solidFill>
                <a:latin typeface="Inter"/>
              </a:rPr>
              <a:t>-4.1 pts vs 10.3%</a:t>
            </a:r>
          </a:p>
        </p:txBody>
      </p:sp>
      <p:sp>
        <p:nvSpPr>
          <p:cNvPr id="23" name=""/>
          <p:cNvSpPr txBox="1"/>
          <p:nvPr/>
        </p:nvSpPr>
        <p:spPr>
          <a:xfrm>
            <a:off x="548640" y="3154680"/>
            <a:ext cx="3474720" cy="274320"/>
          </a:xfrm>
          <a:prstGeom prst="rect">
            <a:avLst/>
          </a:prstGeom>
          <a:noFill/>
        </p:spPr>
        <p:txBody>
          <a:bodyPr wrap="square" lIns="36576" rIns="36576" tIns="18288" bIns="18288" anchor="t">
            <a:spAutoFit/>
          </a:bodyPr>
          <a:lstStyle/>
          <a:p>
            <a:pPr algn="l"/>
            <a:r>
              <a:rPr sz="1200" b="1">
                <a:solidFill>
                  <a:srgbClr val="0F172A"/>
                </a:solidFill>
                <a:latin typeface="Space Grotesk"/>
              </a:rPr>
              <a:t>Ad spend</a:t>
            </a:r>
          </a:p>
        </p:txBody>
      </p:sp>
      <p:sp>
        <p:nvSpPr>
          <p:cNvPr id="24" name=""/>
          <p:cNvSpPr/>
          <p:nvPr/>
        </p:nvSpPr>
        <p:spPr>
          <a:xfrm>
            <a:off x="914400" y="3840479"/>
            <a:ext cx="1005840" cy="2148840"/>
          </a:xfrm>
          <a:prstGeom prst="rect">
            <a:avLst/>
          </a:prstGeom>
          <a:solidFill>
            <a:srgbClr val="C7D2FE"/>
          </a:solidFill>
          <a:ln>
            <a:noFill/>
          </a:ln>
        </p:spPr>
      </p:sp>
      <p:sp>
        <p:nvSpPr>
          <p:cNvPr id="25" name=""/>
          <p:cNvSpPr txBox="1"/>
          <p:nvPr/>
        </p:nvSpPr>
        <p:spPr>
          <a:xfrm>
            <a:off x="731520" y="3566159"/>
            <a:ext cx="1371600" cy="256032"/>
          </a:xfrm>
          <a:prstGeom prst="rect">
            <a:avLst/>
          </a:prstGeom>
          <a:noFill/>
        </p:spPr>
        <p:txBody>
          <a:bodyPr wrap="square" lIns="36576" rIns="36576" tIns="18288" bIns="18288" anchor="t">
            <a:spAutoFit/>
          </a:bodyPr>
          <a:lstStyle/>
          <a:p>
            <a:pPr algn="ctr"/>
            <a:r>
              <a:rPr sz="1000" b="1">
                <a:solidFill>
                  <a:srgbClr val="0F172A"/>
                </a:solidFill>
                <a:latin typeface="Inter"/>
              </a:rPr>
              <a:t>$4.9K</a:t>
            </a:r>
          </a:p>
        </p:txBody>
      </p:sp>
      <p:sp>
        <p:nvSpPr>
          <p:cNvPr id="26" name=""/>
          <p:cNvSpPr txBox="1"/>
          <p:nvPr/>
        </p:nvSpPr>
        <p:spPr>
          <a:xfrm>
            <a:off x="731520" y="6035040"/>
            <a:ext cx="1371600" cy="256032"/>
          </a:xfrm>
          <a:prstGeom prst="rect">
            <a:avLst/>
          </a:prstGeom>
          <a:noFill/>
        </p:spPr>
        <p:txBody>
          <a:bodyPr wrap="square" lIns="36576" rIns="36576" tIns="18288" bIns="18288" anchor="t">
            <a:spAutoFit/>
          </a:bodyPr>
          <a:lstStyle/>
          <a:p>
            <a:pPr algn="ctr"/>
            <a:r>
              <a:rPr sz="900" b="0">
                <a:solidFill>
                  <a:srgbClr val="6B6558"/>
                </a:solidFill>
                <a:latin typeface="Inter"/>
              </a:rPr>
              <a:t>Oct 11 – 17</a:t>
            </a:r>
          </a:p>
        </p:txBody>
      </p:sp>
      <p:sp>
        <p:nvSpPr>
          <p:cNvPr id="27" name=""/>
          <p:cNvSpPr/>
          <p:nvPr/>
        </p:nvSpPr>
        <p:spPr>
          <a:xfrm>
            <a:off x="2286000" y="4408947"/>
            <a:ext cx="1005840" cy="1580372"/>
          </a:xfrm>
          <a:prstGeom prst="rect">
            <a:avLst/>
          </a:prstGeom>
          <a:solidFill>
            <a:srgbClr val="2447FF"/>
          </a:solidFill>
          <a:ln>
            <a:noFill/>
          </a:ln>
        </p:spPr>
      </p:sp>
      <p:sp>
        <p:nvSpPr>
          <p:cNvPr id="28" name=""/>
          <p:cNvSpPr txBox="1"/>
          <p:nvPr/>
        </p:nvSpPr>
        <p:spPr>
          <a:xfrm>
            <a:off x="2103120" y="4134627"/>
            <a:ext cx="1371600" cy="256032"/>
          </a:xfrm>
          <a:prstGeom prst="rect">
            <a:avLst/>
          </a:prstGeom>
          <a:noFill/>
        </p:spPr>
        <p:txBody>
          <a:bodyPr wrap="square" lIns="36576" rIns="36576" tIns="18288" bIns="18288" anchor="t">
            <a:spAutoFit/>
          </a:bodyPr>
          <a:lstStyle/>
          <a:p>
            <a:pPr algn="ctr"/>
            <a:r>
              <a:rPr sz="1000" b="1">
                <a:solidFill>
                  <a:srgbClr val="0F172A"/>
                </a:solidFill>
                <a:latin typeface="Inter"/>
              </a:rPr>
              <a:t>$3.6K</a:t>
            </a:r>
          </a:p>
        </p:txBody>
      </p:sp>
      <p:sp>
        <p:nvSpPr>
          <p:cNvPr id="29" name=""/>
          <p:cNvSpPr txBox="1"/>
          <p:nvPr/>
        </p:nvSpPr>
        <p:spPr>
          <a:xfrm>
            <a:off x="2103120" y="6035040"/>
            <a:ext cx="1371600" cy="256032"/>
          </a:xfrm>
          <a:prstGeom prst="rect">
            <a:avLst/>
          </a:prstGeom>
          <a:noFill/>
        </p:spPr>
        <p:txBody>
          <a:bodyPr wrap="square" lIns="36576" rIns="36576" tIns="18288" bIns="18288" anchor="t">
            <a:spAutoFit/>
          </a:bodyPr>
          <a:lstStyle/>
          <a:p>
            <a:pPr algn="ctr"/>
            <a:r>
              <a:rPr sz="900" b="0">
                <a:solidFill>
                  <a:srgbClr val="6B6558"/>
                </a:solidFill>
                <a:latin typeface="Inter"/>
              </a:rPr>
              <a:t>Oct 18 – 24</a:t>
            </a:r>
          </a:p>
        </p:txBody>
      </p:sp>
      <p:sp>
        <p:nvSpPr>
          <p:cNvPr id="30" name=""/>
          <p:cNvSpPr txBox="1"/>
          <p:nvPr/>
        </p:nvSpPr>
        <p:spPr>
          <a:xfrm>
            <a:off x="4297679" y="3154680"/>
            <a:ext cx="3474720" cy="274320"/>
          </a:xfrm>
          <a:prstGeom prst="rect">
            <a:avLst/>
          </a:prstGeom>
          <a:noFill/>
        </p:spPr>
        <p:txBody>
          <a:bodyPr wrap="square" lIns="36576" rIns="36576" tIns="18288" bIns="18288" anchor="t">
            <a:spAutoFit/>
          </a:bodyPr>
          <a:lstStyle/>
          <a:p>
            <a:pPr algn="l"/>
            <a:r>
              <a:rPr sz="1200" b="1">
                <a:solidFill>
                  <a:srgbClr val="0F172A"/>
                </a:solidFill>
                <a:latin typeface="Space Grotesk"/>
              </a:rPr>
              <a:t>Ad sales</a:t>
            </a:r>
          </a:p>
        </p:txBody>
      </p:sp>
      <p:sp>
        <p:nvSpPr>
          <p:cNvPr id="31" name=""/>
          <p:cNvSpPr/>
          <p:nvPr/>
        </p:nvSpPr>
        <p:spPr>
          <a:xfrm>
            <a:off x="4663440" y="4186315"/>
            <a:ext cx="1005840" cy="1803004"/>
          </a:xfrm>
          <a:prstGeom prst="rect">
            <a:avLst/>
          </a:prstGeom>
          <a:solidFill>
            <a:srgbClr val="C7D2FE"/>
          </a:solidFill>
          <a:ln>
            <a:noFill/>
          </a:ln>
        </p:spPr>
      </p:sp>
      <p:sp>
        <p:nvSpPr>
          <p:cNvPr id="32" name=""/>
          <p:cNvSpPr txBox="1"/>
          <p:nvPr/>
        </p:nvSpPr>
        <p:spPr>
          <a:xfrm>
            <a:off x="4480559" y="3911995"/>
            <a:ext cx="1371600" cy="256032"/>
          </a:xfrm>
          <a:prstGeom prst="rect">
            <a:avLst/>
          </a:prstGeom>
          <a:noFill/>
        </p:spPr>
        <p:txBody>
          <a:bodyPr wrap="square" lIns="36576" rIns="36576" tIns="18288" bIns="18288" anchor="t">
            <a:spAutoFit/>
          </a:bodyPr>
          <a:lstStyle/>
          <a:p>
            <a:pPr algn="ctr"/>
            <a:r>
              <a:rPr sz="1000" b="1">
                <a:solidFill>
                  <a:srgbClr val="0F172A"/>
                </a:solidFill>
                <a:latin typeface="Inter"/>
              </a:rPr>
              <a:t>$29.1K</a:t>
            </a:r>
          </a:p>
        </p:txBody>
      </p:sp>
      <p:sp>
        <p:nvSpPr>
          <p:cNvPr id="33" name=""/>
          <p:cNvSpPr txBox="1"/>
          <p:nvPr/>
        </p:nvSpPr>
        <p:spPr>
          <a:xfrm>
            <a:off x="4480559" y="6035040"/>
            <a:ext cx="1371600" cy="256032"/>
          </a:xfrm>
          <a:prstGeom prst="rect">
            <a:avLst/>
          </a:prstGeom>
          <a:noFill/>
        </p:spPr>
        <p:txBody>
          <a:bodyPr wrap="square" lIns="36576" rIns="36576" tIns="18288" bIns="18288" anchor="t">
            <a:spAutoFit/>
          </a:bodyPr>
          <a:lstStyle/>
          <a:p>
            <a:pPr algn="ctr"/>
            <a:r>
              <a:rPr sz="900" b="0">
                <a:solidFill>
                  <a:srgbClr val="6B6558"/>
                </a:solidFill>
                <a:latin typeface="Inter"/>
              </a:rPr>
              <a:t>Oct 11 – 17</a:t>
            </a:r>
          </a:p>
        </p:txBody>
      </p:sp>
      <p:sp>
        <p:nvSpPr>
          <p:cNvPr id="34" name=""/>
          <p:cNvSpPr/>
          <p:nvPr/>
        </p:nvSpPr>
        <p:spPr>
          <a:xfrm>
            <a:off x="6035040" y="3840479"/>
            <a:ext cx="1005840" cy="2148840"/>
          </a:xfrm>
          <a:prstGeom prst="rect">
            <a:avLst/>
          </a:prstGeom>
          <a:solidFill>
            <a:srgbClr val="2447FF"/>
          </a:solidFill>
          <a:ln>
            <a:noFill/>
          </a:ln>
        </p:spPr>
      </p:sp>
      <p:sp>
        <p:nvSpPr>
          <p:cNvPr id="35" name=""/>
          <p:cNvSpPr txBox="1"/>
          <p:nvPr/>
        </p:nvSpPr>
        <p:spPr>
          <a:xfrm>
            <a:off x="5852159" y="3566159"/>
            <a:ext cx="1371600" cy="256032"/>
          </a:xfrm>
          <a:prstGeom prst="rect">
            <a:avLst/>
          </a:prstGeom>
          <a:noFill/>
        </p:spPr>
        <p:txBody>
          <a:bodyPr wrap="square" lIns="36576" rIns="36576" tIns="18288" bIns="18288" anchor="t">
            <a:spAutoFit/>
          </a:bodyPr>
          <a:lstStyle/>
          <a:p>
            <a:pPr algn="ctr"/>
            <a:r>
              <a:rPr sz="1000" b="1">
                <a:solidFill>
                  <a:srgbClr val="0F172A"/>
                </a:solidFill>
                <a:latin typeface="Inter"/>
              </a:rPr>
              <a:t>$34.7K</a:t>
            </a:r>
          </a:p>
        </p:txBody>
      </p:sp>
      <p:sp>
        <p:nvSpPr>
          <p:cNvPr id="36" name=""/>
          <p:cNvSpPr txBox="1"/>
          <p:nvPr/>
        </p:nvSpPr>
        <p:spPr>
          <a:xfrm>
            <a:off x="5852159" y="6035040"/>
            <a:ext cx="1371600" cy="256032"/>
          </a:xfrm>
          <a:prstGeom prst="rect">
            <a:avLst/>
          </a:prstGeom>
          <a:noFill/>
        </p:spPr>
        <p:txBody>
          <a:bodyPr wrap="square" lIns="36576" rIns="36576" tIns="18288" bIns="18288" anchor="t">
            <a:spAutoFit/>
          </a:bodyPr>
          <a:lstStyle/>
          <a:p>
            <a:pPr algn="ctr"/>
            <a:r>
              <a:rPr sz="900" b="0">
                <a:solidFill>
                  <a:srgbClr val="6B6558"/>
                </a:solidFill>
                <a:latin typeface="Inter"/>
              </a:rPr>
              <a:t>Oct 18 – 24</a:t>
            </a:r>
          </a:p>
        </p:txBody>
      </p:sp>
      <p:sp>
        <p:nvSpPr>
          <p:cNvPr id="37" name=""/>
          <p:cNvSpPr txBox="1"/>
          <p:nvPr/>
        </p:nvSpPr>
        <p:spPr>
          <a:xfrm>
            <a:off x="8046719" y="3154680"/>
            <a:ext cx="3474720" cy="274320"/>
          </a:xfrm>
          <a:prstGeom prst="rect">
            <a:avLst/>
          </a:prstGeom>
          <a:noFill/>
        </p:spPr>
        <p:txBody>
          <a:bodyPr wrap="square" lIns="36576" rIns="36576" tIns="18288" bIns="18288" anchor="t">
            <a:spAutoFit/>
          </a:bodyPr>
          <a:lstStyle/>
          <a:p>
            <a:pPr algn="l"/>
            <a:r>
              <a:rPr sz="1200" b="1">
                <a:solidFill>
                  <a:srgbClr val="0F172A"/>
                </a:solidFill>
                <a:latin typeface="Space Grotesk"/>
              </a:rPr>
              <a:t>Total sales</a:t>
            </a:r>
          </a:p>
        </p:txBody>
      </p:sp>
      <p:sp>
        <p:nvSpPr>
          <p:cNvPr id="38" name=""/>
          <p:cNvSpPr/>
          <p:nvPr/>
        </p:nvSpPr>
        <p:spPr>
          <a:xfrm>
            <a:off x="8412480" y="4216843"/>
            <a:ext cx="1005840" cy="1772476"/>
          </a:xfrm>
          <a:prstGeom prst="rect">
            <a:avLst/>
          </a:prstGeom>
          <a:solidFill>
            <a:srgbClr val="C7D2FE"/>
          </a:solidFill>
          <a:ln>
            <a:noFill/>
          </a:ln>
        </p:spPr>
      </p:sp>
      <p:sp>
        <p:nvSpPr>
          <p:cNvPr id="39" name=""/>
          <p:cNvSpPr txBox="1"/>
          <p:nvPr/>
        </p:nvSpPr>
        <p:spPr>
          <a:xfrm>
            <a:off x="8229600" y="3942523"/>
            <a:ext cx="1371600" cy="256032"/>
          </a:xfrm>
          <a:prstGeom prst="rect">
            <a:avLst/>
          </a:prstGeom>
          <a:noFill/>
        </p:spPr>
        <p:txBody>
          <a:bodyPr wrap="square" lIns="36576" rIns="36576" tIns="18288" bIns="18288" anchor="t">
            <a:spAutoFit/>
          </a:bodyPr>
          <a:lstStyle/>
          <a:p>
            <a:pPr algn="ctr"/>
            <a:r>
              <a:rPr sz="1000" b="1">
                <a:solidFill>
                  <a:srgbClr val="0F172A"/>
                </a:solidFill>
                <a:latin typeface="Inter"/>
              </a:rPr>
              <a:t>$47.6K</a:t>
            </a:r>
          </a:p>
        </p:txBody>
      </p:sp>
      <p:sp>
        <p:nvSpPr>
          <p:cNvPr id="40" name=""/>
          <p:cNvSpPr txBox="1"/>
          <p:nvPr/>
        </p:nvSpPr>
        <p:spPr>
          <a:xfrm>
            <a:off x="8229600" y="6035040"/>
            <a:ext cx="1371600" cy="256032"/>
          </a:xfrm>
          <a:prstGeom prst="rect">
            <a:avLst/>
          </a:prstGeom>
          <a:noFill/>
        </p:spPr>
        <p:txBody>
          <a:bodyPr wrap="square" lIns="36576" rIns="36576" tIns="18288" bIns="18288" anchor="t">
            <a:spAutoFit/>
          </a:bodyPr>
          <a:lstStyle/>
          <a:p>
            <a:pPr algn="ctr"/>
            <a:r>
              <a:rPr sz="900" b="0">
                <a:solidFill>
                  <a:srgbClr val="6B6558"/>
                </a:solidFill>
                <a:latin typeface="Inter"/>
              </a:rPr>
              <a:t>Oct 11 – 17</a:t>
            </a:r>
          </a:p>
        </p:txBody>
      </p:sp>
      <p:sp>
        <p:nvSpPr>
          <p:cNvPr id="41" name=""/>
          <p:cNvSpPr/>
          <p:nvPr/>
        </p:nvSpPr>
        <p:spPr>
          <a:xfrm>
            <a:off x="9784080" y="3840479"/>
            <a:ext cx="1005840" cy="2148840"/>
          </a:xfrm>
          <a:prstGeom prst="rect">
            <a:avLst/>
          </a:prstGeom>
          <a:solidFill>
            <a:srgbClr val="2447FF"/>
          </a:solidFill>
          <a:ln>
            <a:noFill/>
          </a:ln>
        </p:spPr>
      </p:sp>
      <p:sp>
        <p:nvSpPr>
          <p:cNvPr id="42" name=""/>
          <p:cNvSpPr txBox="1"/>
          <p:nvPr/>
        </p:nvSpPr>
        <p:spPr>
          <a:xfrm>
            <a:off x="9601200" y="3566159"/>
            <a:ext cx="1371600" cy="256032"/>
          </a:xfrm>
          <a:prstGeom prst="rect">
            <a:avLst/>
          </a:prstGeom>
          <a:noFill/>
        </p:spPr>
        <p:txBody>
          <a:bodyPr wrap="square" lIns="36576" rIns="36576" tIns="18288" bIns="18288" anchor="t">
            <a:spAutoFit/>
          </a:bodyPr>
          <a:lstStyle/>
          <a:p>
            <a:pPr algn="ctr"/>
            <a:r>
              <a:rPr sz="1000" b="1">
                <a:solidFill>
                  <a:srgbClr val="0F172A"/>
                </a:solidFill>
                <a:latin typeface="Inter"/>
              </a:rPr>
              <a:t>$57.7K</a:t>
            </a:r>
          </a:p>
        </p:txBody>
      </p:sp>
      <p:sp>
        <p:nvSpPr>
          <p:cNvPr id="43" name=""/>
          <p:cNvSpPr txBox="1"/>
          <p:nvPr/>
        </p:nvSpPr>
        <p:spPr>
          <a:xfrm>
            <a:off x="9601200" y="6035040"/>
            <a:ext cx="1371600" cy="256032"/>
          </a:xfrm>
          <a:prstGeom prst="rect">
            <a:avLst/>
          </a:prstGeom>
          <a:noFill/>
        </p:spPr>
        <p:txBody>
          <a:bodyPr wrap="square" lIns="36576" rIns="36576" tIns="18288" bIns="18288" anchor="t">
            <a:spAutoFit/>
          </a:bodyPr>
          <a:lstStyle/>
          <a:p>
            <a:pPr algn="ctr"/>
            <a:r>
              <a:rPr sz="900" b="0">
                <a:solidFill>
                  <a:srgbClr val="6B6558"/>
                </a:solidFill>
                <a:latin typeface="Inter"/>
              </a:rPr>
              <a:t>Oct 18 – 24</a:t>
            </a:r>
          </a:p>
        </p:txBody>
      </p:sp>
      <p:sp>
        <p:nvSpPr>
          <p:cNvPr id="44" name=""/>
          <p:cNvSpPr txBox="1"/>
          <p:nvPr/>
        </p:nvSpPr>
        <p:spPr>
          <a:xfrm>
            <a:off x="548640" y="6455664"/>
            <a:ext cx="8229600" cy="274320"/>
          </a:xfrm>
          <a:prstGeom prst="rect">
            <a:avLst/>
          </a:prstGeom>
          <a:noFill/>
        </p:spPr>
        <p:txBody>
          <a:bodyPr wrap="square" lIns="36576" rIns="36576" tIns="18288" bIns="18288" anchor="t">
            <a:spAutoFit/>
          </a:bodyPr>
          <a:lstStyle/>
          <a:p>
            <a:pPr algn="l"/>
            <a:r>
              <a:rPr sz="900" b="0">
                <a:solidFill>
                  <a:srgbClr val="6B6558"/>
                </a:solidFill>
                <a:latin typeface="Inter"/>
              </a:rPr>
              <a:t>Dormeo Canada · Weekly Business Review · Week 43 (Oct 18–24, 2026)</a:t>
            </a:r>
          </a:p>
        </p:txBody>
      </p:sp>
      <p:sp>
        <p:nvSpPr>
          <p:cNvPr id="45" name=""/>
          <p:cNvSpPr txBox="1"/>
          <p:nvPr/>
        </p:nvSpPr>
        <p:spPr>
          <a:xfrm>
            <a:off x="10241280" y="6455664"/>
            <a:ext cx="1399032" cy="274320"/>
          </a:xfrm>
          <a:prstGeom prst="rect">
            <a:avLst/>
          </a:prstGeom>
          <a:noFill/>
        </p:spPr>
        <p:txBody>
          <a:bodyPr wrap="square" lIns="36576" rIns="36576" tIns="18288" bIns="18288" anchor="t">
            <a:spAutoFit/>
          </a:bodyPr>
          <a:lstStyle/>
          <a:p>
            <a:pPr algn="r"/>
            <a:r>
              <a:rPr sz="900" b="0">
                <a:solidFill>
                  <a:srgbClr val="6B6558"/>
                </a:solidFill>
                <a:latin typeface="Inter"/>
              </a:rPr>
              <a:t>16 / 17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
          <p:cNvSpPr/>
          <p:nvPr/>
        </p:nvSpPr>
        <p:spPr>
          <a:xfrm>
            <a:off x="0" y="0"/>
            <a:ext cx="12191695" cy="6858000"/>
          </a:xfrm>
          <a:prstGeom prst="rect">
            <a:avLst/>
          </a:prstGeom>
          <a:solidFill>
            <a:srgbClr val="FFFFFF"/>
          </a:solidFill>
          <a:ln>
            <a:noFill/>
          </a:ln>
        </p:spPr>
      </p:sp>
      <p:sp>
        <p:nvSpPr>
          <p:cNvPr id="3" name=""/>
          <p:cNvSpPr/>
          <p:nvPr/>
        </p:nvSpPr>
        <p:spPr>
          <a:xfrm>
            <a:off x="548640" y="502920"/>
            <a:ext cx="73152" cy="566928"/>
          </a:xfrm>
          <a:prstGeom prst="rect">
            <a:avLst/>
          </a:prstGeom>
          <a:solidFill>
            <a:srgbClr val="2447FF"/>
          </a:solidFill>
          <a:ln>
            <a:noFill/>
          </a:ln>
        </p:spPr>
      </p:sp>
      <p:sp>
        <p:nvSpPr>
          <p:cNvPr id="4" name=""/>
          <p:cNvSpPr txBox="1"/>
          <p:nvPr/>
        </p:nvSpPr>
        <p:spPr>
          <a:xfrm>
            <a:off x="731520" y="384048"/>
            <a:ext cx="8686800" cy="274320"/>
          </a:xfrm>
          <a:prstGeom prst="rect">
            <a:avLst/>
          </a:prstGeom>
          <a:noFill/>
        </p:spPr>
        <p:txBody>
          <a:bodyPr wrap="square" lIns="36576" rIns="36576" tIns="18288" bIns="18288" anchor="t">
            <a:spAutoFit/>
          </a:bodyPr>
          <a:lstStyle/>
          <a:p>
            <a:pPr algn="l"/>
            <a:r>
              <a:rPr sz="1000" b="1">
                <a:solidFill>
                  <a:srgbClr val="2447FF"/>
                </a:solidFill>
                <a:latin typeface="Space Grotesk"/>
              </a:rPr>
              <a:t>PATH FORWARD</a:t>
            </a:r>
          </a:p>
        </p:txBody>
      </p:sp>
      <p:sp>
        <p:nvSpPr>
          <p:cNvPr id="5" name=""/>
          <p:cNvSpPr txBox="1"/>
          <p:nvPr/>
        </p:nvSpPr>
        <p:spPr>
          <a:xfrm>
            <a:off x="731520" y="603504"/>
            <a:ext cx="9601200" cy="548640"/>
          </a:xfrm>
          <a:prstGeom prst="rect">
            <a:avLst/>
          </a:prstGeom>
          <a:noFill/>
        </p:spPr>
        <p:txBody>
          <a:bodyPr wrap="square" lIns="36576" rIns="36576" tIns="18288" bIns="18288" anchor="t">
            <a:spAutoFit/>
          </a:bodyPr>
          <a:lstStyle/>
          <a:p>
            <a:pPr algn="l"/>
            <a:r>
              <a:rPr sz="2600" b="1">
                <a:solidFill>
                  <a:srgbClr val="0F172A"/>
                </a:solidFill>
                <a:latin typeface="Space Grotesk"/>
              </a:rPr>
              <a:t>Where we stand and what's next</a:t>
            </a:r>
          </a:p>
        </p:txBody>
      </p:sp>
      <p:pic>
        <p:nvPicPr>
          <p:cNvPr id="6" name="" descr="logo_s.png"/>
          <p:cNvPicPr>
            <a:picLocks noChangeAspect="1"/>
          </p:cNvPicPr>
          <p:nvPr/>
        </p:nvPicPr>
        <p:blipFill>
          <a:blip r:embed="rId2"/>
          <a:stretch>
            <a:fillRect/>
          </a:stretch>
        </p:blipFill>
        <p:spPr>
          <a:xfrm>
            <a:off x="10195560" y="457200"/>
            <a:ext cx="1463040" cy="256032"/>
          </a:xfrm>
          <a:prstGeom prst="rect">
            <a:avLst/>
          </a:prstGeom>
        </p:spPr>
      </p:pic>
      <p:sp>
        <p:nvSpPr>
          <p:cNvPr id="7" name=""/>
          <p:cNvSpPr/>
          <p:nvPr/>
        </p:nvSpPr>
        <p:spPr>
          <a:xfrm>
            <a:off x="548640" y="6400800"/>
            <a:ext cx="11091672" cy="10972"/>
          </a:xfrm>
          <a:prstGeom prst="rect">
            <a:avLst/>
          </a:prstGeom>
          <a:solidFill>
            <a:srgbClr val="E5E0D6"/>
          </a:solidFill>
          <a:ln>
            <a:noFill/>
          </a:ln>
        </p:spPr>
      </p:sp>
      <p:sp>
        <p:nvSpPr>
          <p:cNvPr id="8" name=""/>
          <p:cNvSpPr txBox="1"/>
          <p:nvPr/>
        </p:nvSpPr>
        <p:spPr>
          <a:xfrm>
            <a:off x="548640" y="6455664"/>
            <a:ext cx="8229600" cy="274320"/>
          </a:xfrm>
          <a:prstGeom prst="rect">
            <a:avLst/>
          </a:prstGeom>
          <a:noFill/>
        </p:spPr>
        <p:txBody>
          <a:bodyPr wrap="square" lIns="36576" rIns="36576" tIns="18288" bIns="18288" anchor="t">
            <a:spAutoFit/>
          </a:bodyPr>
          <a:lstStyle/>
          <a:p>
            <a:pPr algn="l"/>
            <a:r>
              <a:rPr sz="900" b="0">
                <a:solidFill>
                  <a:srgbClr val="6B6558"/>
                </a:solidFill>
                <a:latin typeface="Inter"/>
              </a:rPr>
              <a:t>Dormeo Canada · Weekly Business Review · Week 43 (Oct 18–24, 2026)</a:t>
            </a:r>
          </a:p>
        </p:txBody>
      </p:sp>
      <p:sp>
        <p:nvSpPr>
          <p:cNvPr id="9" name=""/>
          <p:cNvSpPr txBox="1"/>
          <p:nvPr/>
        </p:nvSpPr>
        <p:spPr>
          <a:xfrm>
            <a:off x="10241280" y="6455664"/>
            <a:ext cx="1399032" cy="274320"/>
          </a:xfrm>
          <a:prstGeom prst="rect">
            <a:avLst/>
          </a:prstGeom>
          <a:noFill/>
        </p:spPr>
        <p:txBody>
          <a:bodyPr wrap="square" lIns="36576" rIns="36576" tIns="18288" bIns="18288" anchor="t">
            <a:spAutoFit/>
          </a:bodyPr>
          <a:lstStyle/>
          <a:p>
            <a:pPr algn="r"/>
            <a:r>
              <a:rPr sz="900" b="0">
                <a:solidFill>
                  <a:srgbClr val="6B6558"/>
                </a:solidFill>
                <a:latin typeface="Inter"/>
              </a:rPr>
              <a:t>17 / 17</a:t>
            </a:r>
          </a:p>
        </p:txBody>
      </p:sp>
      <p:sp>
        <p:nvSpPr>
          <p:cNvPr id="10" name=""/>
          <p:cNvSpPr/>
          <p:nvPr/>
        </p:nvSpPr>
        <p:spPr>
          <a:xfrm>
            <a:off x="548640" y="1371600"/>
            <a:ext cx="2651760" cy="1417320"/>
          </a:xfrm>
          <a:prstGeom prst="roundRect">
            <a:avLst>
              <a:gd name="" fmla="val 6000"/>
            </a:avLst>
          </a:prstGeom>
          <a:solidFill>
            <a:srgbClr val="F6F3EC"/>
          </a:solidFill>
          <a:ln>
            <a:noFill/>
          </a:ln>
        </p:spPr>
      </p:sp>
      <p:sp>
        <p:nvSpPr>
          <p:cNvPr id="11" name=""/>
          <p:cNvSpPr txBox="1"/>
          <p:nvPr/>
        </p:nvSpPr>
        <p:spPr>
          <a:xfrm>
            <a:off x="713232" y="149961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MTD AD SPEND</a:t>
            </a:r>
          </a:p>
        </p:txBody>
      </p:sp>
      <p:sp>
        <p:nvSpPr>
          <p:cNvPr id="12" name=""/>
          <p:cNvSpPr txBox="1"/>
          <p:nvPr/>
        </p:nvSpPr>
        <p:spPr>
          <a:xfrm>
            <a:off x="713232" y="1755648"/>
            <a:ext cx="2377440" cy="548640"/>
          </a:xfrm>
          <a:prstGeom prst="rect">
            <a:avLst/>
          </a:prstGeom>
          <a:noFill/>
        </p:spPr>
        <p:txBody>
          <a:bodyPr wrap="square" lIns="36576" rIns="36576" tIns="18288" bIns="18288" anchor="t">
            <a:spAutoFit/>
          </a:bodyPr>
          <a:lstStyle/>
          <a:p>
            <a:pPr algn="l"/>
            <a:r>
              <a:rPr sz="2600" b="1">
                <a:solidFill>
                  <a:srgbClr val="2447FF"/>
                </a:solidFill>
                <a:latin typeface="Space Grotesk"/>
              </a:rPr>
              <a:t>$18.4K</a:t>
            </a:r>
          </a:p>
        </p:txBody>
      </p:sp>
      <p:sp>
        <p:nvSpPr>
          <p:cNvPr id="13" name=""/>
          <p:cNvSpPr/>
          <p:nvPr/>
        </p:nvSpPr>
        <p:spPr>
          <a:xfrm>
            <a:off x="3364992" y="1371600"/>
            <a:ext cx="2651760" cy="1417320"/>
          </a:xfrm>
          <a:prstGeom prst="roundRect">
            <a:avLst>
              <a:gd name="" fmla="val 6000"/>
            </a:avLst>
          </a:prstGeom>
          <a:solidFill>
            <a:srgbClr val="F6F3EC"/>
          </a:solidFill>
          <a:ln>
            <a:noFill/>
          </a:ln>
        </p:spPr>
      </p:sp>
      <p:sp>
        <p:nvSpPr>
          <p:cNvPr id="14" name=""/>
          <p:cNvSpPr txBox="1"/>
          <p:nvPr/>
        </p:nvSpPr>
        <p:spPr>
          <a:xfrm>
            <a:off x="3529584" y="149961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PROJECTED SPEND</a:t>
            </a:r>
          </a:p>
        </p:txBody>
      </p:sp>
      <p:sp>
        <p:nvSpPr>
          <p:cNvPr id="15" name=""/>
          <p:cNvSpPr txBox="1"/>
          <p:nvPr/>
        </p:nvSpPr>
        <p:spPr>
          <a:xfrm>
            <a:off x="3529584" y="1755648"/>
            <a:ext cx="2377440" cy="548640"/>
          </a:xfrm>
          <a:prstGeom prst="rect">
            <a:avLst/>
          </a:prstGeom>
          <a:noFill/>
        </p:spPr>
        <p:txBody>
          <a:bodyPr wrap="square" lIns="36576" rIns="36576" tIns="18288" bIns="18288" anchor="t">
            <a:spAutoFit/>
          </a:bodyPr>
          <a:lstStyle/>
          <a:p>
            <a:pPr algn="l"/>
            <a:r>
              <a:rPr sz="2600" b="1">
                <a:solidFill>
                  <a:srgbClr val="2447FF"/>
                </a:solidFill>
                <a:latin typeface="Space Grotesk"/>
              </a:rPr>
              <a:t>$22.8K</a:t>
            </a:r>
          </a:p>
        </p:txBody>
      </p:sp>
      <p:sp>
        <p:nvSpPr>
          <p:cNvPr id="16" name=""/>
          <p:cNvSpPr/>
          <p:nvPr/>
        </p:nvSpPr>
        <p:spPr>
          <a:xfrm>
            <a:off x="6181344" y="1371600"/>
            <a:ext cx="2651760" cy="1417320"/>
          </a:xfrm>
          <a:prstGeom prst="roundRect">
            <a:avLst>
              <a:gd name="" fmla="val 6000"/>
            </a:avLst>
          </a:prstGeom>
          <a:solidFill>
            <a:srgbClr val="F6F3EC"/>
          </a:solidFill>
          <a:ln>
            <a:noFill/>
          </a:ln>
        </p:spPr>
      </p:sp>
      <p:sp>
        <p:nvSpPr>
          <p:cNvPr id="17" name=""/>
          <p:cNvSpPr txBox="1"/>
          <p:nvPr/>
        </p:nvSpPr>
        <p:spPr>
          <a:xfrm>
            <a:off x="6345936" y="149961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MTD ACOS</a:t>
            </a:r>
          </a:p>
        </p:txBody>
      </p:sp>
      <p:sp>
        <p:nvSpPr>
          <p:cNvPr id="18" name=""/>
          <p:cNvSpPr txBox="1"/>
          <p:nvPr/>
        </p:nvSpPr>
        <p:spPr>
          <a:xfrm>
            <a:off x="6345936" y="1755648"/>
            <a:ext cx="2377440" cy="548640"/>
          </a:xfrm>
          <a:prstGeom prst="rect">
            <a:avLst/>
          </a:prstGeom>
          <a:noFill/>
        </p:spPr>
        <p:txBody>
          <a:bodyPr wrap="square" lIns="36576" rIns="36576" tIns="18288" bIns="18288" anchor="t">
            <a:spAutoFit/>
          </a:bodyPr>
          <a:lstStyle/>
          <a:p>
            <a:pPr algn="l"/>
            <a:r>
              <a:rPr sz="2600" b="1">
                <a:solidFill>
                  <a:srgbClr val="2447FF"/>
                </a:solidFill>
                <a:latin typeface="Space Grotesk"/>
              </a:rPr>
              <a:t>10.9%</a:t>
            </a:r>
          </a:p>
        </p:txBody>
      </p:sp>
      <p:sp>
        <p:nvSpPr>
          <p:cNvPr id="19" name=""/>
          <p:cNvSpPr/>
          <p:nvPr/>
        </p:nvSpPr>
        <p:spPr>
          <a:xfrm>
            <a:off x="8997696" y="1371600"/>
            <a:ext cx="2642616" cy="1417320"/>
          </a:xfrm>
          <a:prstGeom prst="roundRect">
            <a:avLst>
              <a:gd name="" fmla="val 6000"/>
            </a:avLst>
          </a:prstGeom>
          <a:solidFill>
            <a:srgbClr val="F6F3EC"/>
          </a:solidFill>
          <a:ln>
            <a:noFill/>
          </a:ln>
        </p:spPr>
      </p:sp>
      <p:sp>
        <p:nvSpPr>
          <p:cNvPr id="20" name=""/>
          <p:cNvSpPr txBox="1"/>
          <p:nvPr/>
        </p:nvSpPr>
        <p:spPr>
          <a:xfrm>
            <a:off x="9162288" y="1499616"/>
            <a:ext cx="2368296" cy="274320"/>
          </a:xfrm>
          <a:prstGeom prst="rect">
            <a:avLst/>
          </a:prstGeom>
          <a:noFill/>
        </p:spPr>
        <p:txBody>
          <a:bodyPr wrap="square" lIns="36576" rIns="36576" tIns="18288" bIns="18288" anchor="t">
            <a:spAutoFit/>
          </a:bodyPr>
          <a:lstStyle/>
          <a:p>
            <a:pPr algn="l"/>
            <a:r>
              <a:rPr sz="900" b="1">
                <a:solidFill>
                  <a:srgbClr val="6B6558"/>
                </a:solidFill>
                <a:latin typeface="Inter"/>
              </a:rPr>
              <a:t>DAYS LEFT IN OCT</a:t>
            </a:r>
          </a:p>
        </p:txBody>
      </p:sp>
      <p:sp>
        <p:nvSpPr>
          <p:cNvPr id="21" name=""/>
          <p:cNvSpPr txBox="1"/>
          <p:nvPr/>
        </p:nvSpPr>
        <p:spPr>
          <a:xfrm>
            <a:off x="9162288" y="1755648"/>
            <a:ext cx="2368296" cy="548640"/>
          </a:xfrm>
          <a:prstGeom prst="rect">
            <a:avLst/>
          </a:prstGeom>
          <a:noFill/>
        </p:spPr>
        <p:txBody>
          <a:bodyPr wrap="square" lIns="36576" rIns="36576" tIns="18288" bIns="18288" anchor="t">
            <a:spAutoFit/>
          </a:bodyPr>
          <a:lstStyle/>
          <a:p>
            <a:pPr algn="l"/>
            <a:r>
              <a:rPr sz="2600" b="1">
                <a:solidFill>
                  <a:srgbClr val="2447FF"/>
                </a:solidFill>
                <a:latin typeface="Space Grotesk"/>
              </a:rPr>
              <a:t>6</a:t>
            </a:r>
          </a:p>
        </p:txBody>
      </p:sp>
      <p:sp>
        <p:nvSpPr>
          <p:cNvPr id="22" name=""/>
          <p:cNvSpPr/>
          <p:nvPr/>
        </p:nvSpPr>
        <p:spPr>
          <a:xfrm>
            <a:off x="548640" y="2971800"/>
            <a:ext cx="3611880" cy="3246120"/>
          </a:xfrm>
          <a:prstGeom prst="roundRect">
            <a:avLst>
              <a:gd name="" fmla="val 6000"/>
            </a:avLst>
          </a:prstGeom>
          <a:solidFill>
            <a:srgbClr val="FFFFFF"/>
          </a:solidFill>
          <a:ln w="9525">
            <a:solidFill>
              <a:srgbClr val="E5E0D6"/>
            </a:solidFill>
          </a:ln>
        </p:spPr>
      </p:sp>
      <p:sp>
        <p:nvSpPr>
          <p:cNvPr id="23" name=""/>
          <p:cNvSpPr txBox="1"/>
          <p:nvPr/>
        </p:nvSpPr>
        <p:spPr>
          <a:xfrm>
            <a:off x="731520" y="3108960"/>
            <a:ext cx="3246120" cy="274320"/>
          </a:xfrm>
          <a:prstGeom prst="rect">
            <a:avLst/>
          </a:prstGeom>
          <a:noFill/>
        </p:spPr>
        <p:txBody>
          <a:bodyPr wrap="square" lIns="36576" rIns="36576" tIns="18288" bIns="18288" anchor="t">
            <a:spAutoFit/>
          </a:bodyPr>
          <a:lstStyle/>
          <a:p>
            <a:pPr algn="l"/>
            <a:r>
              <a:rPr sz="1200" b="1">
                <a:solidFill>
                  <a:srgbClr val="0F172A"/>
                </a:solidFill>
                <a:latin typeface="Space Grotesk"/>
              </a:rPr>
              <a:t>Position</a:t>
            </a:r>
          </a:p>
        </p:txBody>
      </p:sp>
      <p:sp>
        <p:nvSpPr>
          <p:cNvPr id="24" name=""/>
          <p:cNvSpPr txBox="1"/>
          <p:nvPr/>
        </p:nvSpPr>
        <p:spPr>
          <a:xfrm>
            <a:off x="731520" y="3429000"/>
            <a:ext cx="3246120" cy="2697479"/>
          </a:xfrm>
          <a:prstGeom prst="rect">
            <a:avLst/>
          </a:prstGeom>
          <a:noFill/>
        </p:spPr>
        <p:txBody>
          <a:bodyPr wrap="square" lIns="36576" rIns="36576" tIns="18288" bIns="18288" anchor="t">
            <a:spAutoFit/>
          </a:bodyPr>
          <a:lstStyle/>
          <a:p>
            <a:pPr algn="l">
              <a:spcAft>
                <a:spcPts val="500"/>
              </a:spcAft>
            </a:pPr>
            <a:r>
              <a:rPr sz="1050" b="0">
                <a:solidFill>
                  <a:srgbClr val="334155"/>
                </a:solidFill>
                <a:latin typeface="Inter"/>
              </a:rPr>
              <a:t>October is 16% behind last year to date and pacing to about $309.6K (last October: $350.6K).</a:t>
            </a:r>
          </a:p>
          <a:p>
            <a:pPr algn="l">
              <a:spcAft>
                <a:spcPts val="500"/>
              </a:spcAft>
            </a:pPr>
            <a:r>
              <a:rPr sz="1050" b="0">
                <a:solidFill>
                  <a:srgbClr val="334155"/>
                </a:solidFill>
                <a:latin typeface="Inter"/>
              </a:rPr>
              <a:t>This week grew 21% to $57.7K, led by the Queen topper.</a:t>
            </a:r>
          </a:p>
        </p:txBody>
      </p:sp>
      <p:sp>
        <p:nvSpPr>
          <p:cNvPr id="25" name=""/>
          <p:cNvSpPr/>
          <p:nvPr/>
        </p:nvSpPr>
        <p:spPr>
          <a:xfrm>
            <a:off x="4288536" y="2971800"/>
            <a:ext cx="3611880" cy="3246120"/>
          </a:xfrm>
          <a:prstGeom prst="roundRect">
            <a:avLst>
              <a:gd name="" fmla="val 6000"/>
            </a:avLst>
          </a:prstGeom>
          <a:solidFill>
            <a:srgbClr val="FFFFFF"/>
          </a:solidFill>
          <a:ln w="9525">
            <a:solidFill>
              <a:srgbClr val="E5E0D6"/>
            </a:solidFill>
          </a:ln>
        </p:spPr>
      </p:sp>
      <p:sp>
        <p:nvSpPr>
          <p:cNvPr id="26" name=""/>
          <p:cNvSpPr txBox="1"/>
          <p:nvPr/>
        </p:nvSpPr>
        <p:spPr>
          <a:xfrm>
            <a:off x="4471416" y="3108960"/>
            <a:ext cx="3246120" cy="274320"/>
          </a:xfrm>
          <a:prstGeom prst="rect">
            <a:avLst/>
          </a:prstGeom>
          <a:noFill/>
        </p:spPr>
        <p:txBody>
          <a:bodyPr wrap="square" lIns="36576" rIns="36576" tIns="18288" bIns="18288" anchor="t">
            <a:spAutoFit/>
          </a:bodyPr>
          <a:lstStyle/>
          <a:p>
            <a:pPr algn="l"/>
            <a:r>
              <a:rPr sz="1200" b="1">
                <a:solidFill>
                  <a:srgbClr val="0F172A"/>
                </a:solidFill>
                <a:latin typeface="Space Grotesk"/>
              </a:rPr>
              <a:t>Next steps</a:t>
            </a:r>
          </a:p>
        </p:txBody>
      </p:sp>
      <p:sp>
        <p:nvSpPr>
          <p:cNvPr id="27" name=""/>
          <p:cNvSpPr txBox="1"/>
          <p:nvPr/>
        </p:nvSpPr>
        <p:spPr>
          <a:xfrm>
            <a:off x="4471416" y="3429000"/>
            <a:ext cx="3246120" cy="2697479"/>
          </a:xfrm>
          <a:prstGeom prst="rect">
            <a:avLst/>
          </a:prstGeom>
          <a:noFill/>
        </p:spPr>
        <p:txBody>
          <a:bodyPr wrap="square" lIns="36576" rIns="36576" tIns="18288" bIns="18288" anchor="t">
            <a:spAutoFit/>
          </a:bodyPr>
          <a:lstStyle/>
          <a:p>
            <a:pPr algn="l">
              <a:spcAft>
                <a:spcPts val="500"/>
              </a:spcAft>
            </a:pPr>
            <a:r>
              <a:rPr sz="1050" b="0">
                <a:solidFill>
                  <a:srgbClr val="334155"/>
                </a:solidFill>
                <a:latin typeface="Inter"/>
              </a:rPr>
              <a:t>1. Restock Queen at FBA; restock SnowTek and Essentials.</a:t>
            </a:r>
          </a:p>
          <a:p>
            <a:pPr algn="l">
              <a:spcAft>
                <a:spcPts val="500"/>
              </a:spcAft>
            </a:pPr>
            <a:r>
              <a:rPr sz="1050" b="0">
                <a:solidFill>
                  <a:srgbClr val="334155"/>
                </a:solidFill>
                <a:latin typeface="Inter"/>
              </a:rPr>
              <a:t>2. Review Streaming TV and no-sale targets.</a:t>
            </a:r>
          </a:p>
          <a:p>
            <a:pPr algn="l">
              <a:spcAft>
                <a:spcPts val="500"/>
              </a:spcAft>
            </a:pPr>
            <a:r>
              <a:rPr sz="1050" b="0">
                <a:solidFill>
                  <a:srgbClr val="334155"/>
                </a:solidFill>
                <a:latin typeface="Inter"/>
              </a:rPr>
              <a:t>3. Lock BF/CM and Boxing Day deals.</a:t>
            </a:r>
          </a:p>
          <a:p>
            <a:pPr algn="l">
              <a:spcAft>
                <a:spcPts val="500"/>
              </a:spcAft>
            </a:pPr>
            <a:r>
              <a:rPr sz="1050" b="0">
                <a:solidFill>
                  <a:srgbClr val="334155"/>
                </a:solidFill>
                <a:latin typeface="Inter"/>
              </a:rPr>
              <a:t>4. Fix Buy Box and hijacker alerts.</a:t>
            </a:r>
          </a:p>
        </p:txBody>
      </p:sp>
      <p:sp>
        <p:nvSpPr>
          <p:cNvPr id="28" name=""/>
          <p:cNvSpPr/>
          <p:nvPr/>
        </p:nvSpPr>
        <p:spPr>
          <a:xfrm>
            <a:off x="8028431" y="2971800"/>
            <a:ext cx="3611880" cy="3246120"/>
          </a:xfrm>
          <a:prstGeom prst="roundRect">
            <a:avLst>
              <a:gd name="" fmla="val 6000"/>
            </a:avLst>
          </a:prstGeom>
          <a:solidFill>
            <a:srgbClr val="FFFFFF"/>
          </a:solidFill>
          <a:ln w="9525">
            <a:solidFill>
              <a:srgbClr val="E5E0D6"/>
            </a:solidFill>
          </a:ln>
        </p:spPr>
      </p:sp>
      <p:sp>
        <p:nvSpPr>
          <p:cNvPr id="29" name=""/>
          <p:cNvSpPr txBox="1"/>
          <p:nvPr/>
        </p:nvSpPr>
        <p:spPr>
          <a:xfrm>
            <a:off x="8211311" y="3108960"/>
            <a:ext cx="3246120" cy="274320"/>
          </a:xfrm>
          <a:prstGeom prst="rect">
            <a:avLst/>
          </a:prstGeom>
          <a:noFill/>
        </p:spPr>
        <p:txBody>
          <a:bodyPr wrap="square" lIns="36576" rIns="36576" tIns="18288" bIns="18288" anchor="t">
            <a:spAutoFit/>
          </a:bodyPr>
          <a:lstStyle/>
          <a:p>
            <a:pPr algn="l"/>
            <a:r>
              <a:rPr sz="1200" b="1">
                <a:solidFill>
                  <a:srgbClr val="0F172A"/>
                </a:solidFill>
                <a:latin typeface="Space Grotesk"/>
              </a:rPr>
              <a:t>Data ask</a:t>
            </a:r>
          </a:p>
        </p:txBody>
      </p:sp>
      <p:sp>
        <p:nvSpPr>
          <p:cNvPr id="30" name=""/>
          <p:cNvSpPr txBox="1"/>
          <p:nvPr/>
        </p:nvSpPr>
        <p:spPr>
          <a:xfrm>
            <a:off x="8211311" y="3429000"/>
            <a:ext cx="3246120" cy="2697479"/>
          </a:xfrm>
          <a:prstGeom prst="rect">
            <a:avLst/>
          </a:prstGeom>
          <a:noFill/>
        </p:spPr>
        <p:txBody>
          <a:bodyPr wrap="square" lIns="36576" rIns="36576" tIns="18288" bIns="18288" anchor="t">
            <a:spAutoFit/>
          </a:bodyPr>
          <a:lstStyle/>
          <a:p>
            <a:pPr algn="l">
              <a:spcAft>
                <a:spcPts val="500"/>
              </a:spcAft>
            </a:pPr>
            <a:r>
              <a:rPr sz="1050" b="0">
                <a:solidFill>
                  <a:srgbClr val="334155"/>
                </a:solidFill>
                <a:latin typeface="Inter"/>
              </a:rPr>
              <a:t>Queen inbound ETA and PO dates.</a:t>
            </a:r>
          </a:p>
          <a:p>
            <a:pPr algn="l">
              <a:spcAft>
                <a:spcPts val="500"/>
              </a:spcAft>
            </a:pPr>
            <a:r>
              <a:rPr sz="1050" b="0">
                <a:solidFill>
                  <a:srgbClr val="334155"/>
                </a:solidFill>
                <a:latin typeface="Inter"/>
              </a:rPr>
              <a:t>SnowTek and Essentials replenishment plan.</a:t>
            </a:r>
          </a:p>
          <a:p>
            <a:pPr algn="l">
              <a:spcAft>
                <a:spcPts val="500"/>
              </a:spcAft>
            </a:pPr>
            <a:r>
              <a:rPr sz="1050" b="0">
                <a:solidFill>
                  <a:srgbClr val="334155"/>
                </a:solidFill>
                <a:latin typeface="Inter"/>
              </a:rPr>
              <a:t>BF/CM and Boxing Day deal and coupon plan.</a:t>
            </a:r>
          </a:p>
          <a:p>
            <a:pPr algn="l">
              <a:spcAft>
                <a:spcPts val="500"/>
              </a:spcAft>
            </a:pPr>
            <a:r>
              <a:rPr sz="1050" b="0">
                <a:solidFill>
                  <a:srgbClr val="334155"/>
                </a:solidFill>
                <a:latin typeface="Inter"/>
              </a:rPr>
              <a:t>Review tracking turned on in Sellerise.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