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0F172A"/>
          </a:solidFill>
          <a:ln>
            <a:noFill/>
          </a:ln>
        </p:spPr>
      </p:sp>
      <p:sp>
        <p:nvSpPr>
          <p:cNvPr id="3" name=""/>
          <p:cNvSpPr/>
          <p:nvPr/>
        </p:nvSpPr>
        <p:spPr>
          <a:xfrm>
            <a:off x="0" y="0"/>
            <a:ext cx="164592" cy="6858000"/>
          </a:xfrm>
          <a:prstGeom prst="rect">
            <a:avLst/>
          </a:prstGeom>
          <a:solidFill>
            <a:srgbClr val="2447FF"/>
          </a:solidFill>
          <a:ln>
            <a:noFill/>
          </a:ln>
        </p:spPr>
      </p:sp>
      <p:pic>
        <p:nvPicPr>
          <p:cNvPr id="4" name="" descr="logo_dark_s.png"/>
          <p:cNvPicPr>
            <a:picLocks noChangeAspect="1"/>
          </p:cNvPicPr>
          <p:nvPr/>
        </p:nvPicPr>
        <p:blipFill>
          <a:blip r:embed="rId2"/>
          <a:stretch>
            <a:fillRect/>
          </a:stretch>
        </p:blipFill>
        <p:spPr>
          <a:xfrm>
            <a:off x="822960" y="777240"/>
            <a:ext cx="2560320" cy="312928"/>
          </a:xfrm>
          <a:prstGeom prst="rect">
            <a:avLst/>
          </a:prstGeom>
        </p:spPr>
      </p:pic>
      <p:sp>
        <p:nvSpPr>
          <p:cNvPr id="5" name=""/>
          <p:cNvSpPr txBox="1"/>
          <p:nvPr/>
        </p:nvSpPr>
        <p:spPr>
          <a:xfrm>
            <a:off x="822960" y="2148840"/>
            <a:ext cx="10058400" cy="365760"/>
          </a:xfrm>
          <a:prstGeom prst="rect">
            <a:avLst/>
          </a:prstGeom>
          <a:noFill/>
        </p:spPr>
        <p:txBody>
          <a:bodyPr wrap="square" lIns="36576" rIns="36576" tIns="18288" bIns="18288" anchor="t">
            <a:spAutoFit/>
          </a:bodyPr>
          <a:lstStyle/>
          <a:p>
            <a:pPr algn="l"/>
            <a:r>
              <a:rPr sz="1400" b="1">
                <a:solidFill>
                  <a:srgbClr val="7EB8F7"/>
                </a:solidFill>
                <a:latin typeface="Space Grotesk"/>
              </a:rPr>
              <a:t>WEEKLY PERFORMANCE &amp; GROWTH REVIEW</a:t>
            </a:r>
          </a:p>
        </p:txBody>
      </p:sp>
      <p:sp>
        <p:nvSpPr>
          <p:cNvPr id="6" name=""/>
          <p:cNvSpPr txBox="1"/>
          <p:nvPr/>
        </p:nvSpPr>
        <p:spPr>
          <a:xfrm>
            <a:off x="822960" y="2560320"/>
            <a:ext cx="10058400" cy="1097280"/>
          </a:xfrm>
          <a:prstGeom prst="rect">
            <a:avLst/>
          </a:prstGeom>
          <a:noFill/>
        </p:spPr>
        <p:txBody>
          <a:bodyPr wrap="square" lIns="36576" rIns="36576" tIns="18288" bIns="18288" anchor="t">
            <a:spAutoFit/>
          </a:bodyPr>
          <a:lstStyle/>
          <a:p>
            <a:pPr algn="l"/>
            <a:r>
              <a:rPr sz="6000" b="1">
                <a:solidFill>
                  <a:srgbClr val="FFFFFF"/>
                </a:solidFill>
                <a:latin typeface="Space Grotesk"/>
              </a:rPr>
              <a:t>Dormeo Canada</a:t>
            </a:r>
          </a:p>
        </p:txBody>
      </p:sp>
      <p:sp>
        <p:nvSpPr>
          <p:cNvPr id="7" name=""/>
          <p:cNvSpPr txBox="1"/>
          <p:nvPr/>
        </p:nvSpPr>
        <p:spPr>
          <a:xfrm>
            <a:off x="822960" y="3703320"/>
            <a:ext cx="10058400" cy="457200"/>
          </a:xfrm>
          <a:prstGeom prst="rect">
            <a:avLst/>
          </a:prstGeom>
          <a:noFill/>
        </p:spPr>
        <p:txBody>
          <a:bodyPr wrap="square" lIns="36576" rIns="36576" tIns="18288" bIns="18288" anchor="t">
            <a:spAutoFit/>
          </a:bodyPr>
          <a:lstStyle/>
          <a:p>
            <a:pPr algn="l"/>
            <a:r>
              <a:rPr sz="2200" b="0">
                <a:solidFill>
                  <a:srgbClr val="FFFFFF"/>
                </a:solidFill>
                <a:latin typeface="Space Grotesk"/>
              </a:rPr>
              <a:t>Amazon Business Review · Week 43</a:t>
            </a:r>
          </a:p>
        </p:txBody>
      </p:sp>
      <p:sp>
        <p:nvSpPr>
          <p:cNvPr id="8" name=""/>
          <p:cNvSpPr txBox="1"/>
          <p:nvPr/>
        </p:nvSpPr>
        <p:spPr>
          <a:xfrm>
            <a:off x="822960" y="4297680"/>
            <a:ext cx="10058400" cy="365760"/>
          </a:xfrm>
          <a:prstGeom prst="rect">
            <a:avLst/>
          </a:prstGeom>
          <a:noFill/>
        </p:spPr>
        <p:txBody>
          <a:bodyPr wrap="square" lIns="36576" rIns="36576" tIns="18288" bIns="18288" anchor="t">
            <a:spAutoFit/>
          </a:bodyPr>
          <a:lstStyle/>
          <a:p>
            <a:pPr algn="l"/>
            <a:r>
              <a:rPr sz="1400" b="0">
                <a:solidFill>
                  <a:srgbClr val="7EB8F7"/>
                </a:solidFill>
                <a:latin typeface="Inter"/>
              </a:rPr>
              <a:t>Week ending Saturday, October 24, 2026  ·  Oct 18–24, 2026</a:t>
            </a:r>
          </a:p>
        </p:txBody>
      </p:sp>
      <p:sp>
        <p:nvSpPr>
          <p:cNvPr id="9" name=""/>
          <p:cNvSpPr txBox="1"/>
          <p:nvPr/>
        </p:nvSpPr>
        <p:spPr>
          <a:xfrm>
            <a:off x="822960" y="4754880"/>
            <a:ext cx="10058400" cy="365760"/>
          </a:xfrm>
          <a:prstGeom prst="rect">
            <a:avLst/>
          </a:prstGeom>
          <a:noFill/>
        </p:spPr>
        <p:txBody>
          <a:bodyPr wrap="square" lIns="36576" rIns="36576" tIns="18288" bIns="18288" anchor="t">
            <a:spAutoFit/>
          </a:bodyPr>
          <a:lstStyle/>
          <a:p>
            <a:pPr algn="l"/>
            <a:r>
              <a:rPr sz="1200" b="0">
                <a:solidFill>
                  <a:srgbClr val="7EB8F7"/>
                </a:solidFill>
                <a:latin typeface="Inter"/>
              </a:rPr>
              <a:t>All amounts in CAD (C$)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TODAY'S AGENDA</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What we'll cover</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2 / 17</a:t>
            </a:r>
          </a:p>
        </p:txBody>
      </p:sp>
      <p:sp>
        <p:nvSpPr>
          <p:cNvPr id="10" name=""/>
          <p:cNvSpPr/>
          <p:nvPr/>
        </p:nvSpPr>
        <p:spPr>
          <a:xfrm>
            <a:off x="548640" y="1600200"/>
            <a:ext cx="3566160" cy="2011680"/>
          </a:xfrm>
          <a:prstGeom prst="roundRect">
            <a:avLst>
              <a:gd name="" fmla="val 6000"/>
            </a:avLst>
          </a:prstGeom>
          <a:solidFill>
            <a:srgbClr val="F6F3EC"/>
          </a:solidFill>
          <a:ln>
            <a:noFill/>
          </a:ln>
        </p:spPr>
      </p:sp>
      <p:sp>
        <p:nvSpPr>
          <p:cNvPr id="11" name=""/>
          <p:cNvSpPr txBox="1"/>
          <p:nvPr/>
        </p:nvSpPr>
        <p:spPr>
          <a:xfrm>
            <a:off x="777240" y="178308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01</a:t>
            </a:r>
          </a:p>
        </p:txBody>
      </p:sp>
      <p:sp>
        <p:nvSpPr>
          <p:cNvPr id="12" name=""/>
          <p:cNvSpPr txBox="1"/>
          <p:nvPr/>
        </p:nvSpPr>
        <p:spPr>
          <a:xfrm>
            <a:off x="777240" y="246888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Sales overview</a:t>
            </a:r>
          </a:p>
        </p:txBody>
      </p:sp>
      <p:sp>
        <p:nvSpPr>
          <p:cNvPr id="13" name=""/>
          <p:cNvSpPr txBox="1"/>
          <p:nvPr/>
        </p:nvSpPr>
        <p:spPr>
          <a:xfrm>
            <a:off x="777240" y="288036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Four-week channel performance, price and refunds</a:t>
            </a:r>
          </a:p>
        </p:txBody>
      </p:sp>
      <p:sp>
        <p:nvSpPr>
          <p:cNvPr id="14" name=""/>
          <p:cNvSpPr/>
          <p:nvPr/>
        </p:nvSpPr>
        <p:spPr>
          <a:xfrm>
            <a:off x="4279392" y="1600200"/>
            <a:ext cx="3566160" cy="2011680"/>
          </a:xfrm>
          <a:prstGeom prst="roundRect">
            <a:avLst>
              <a:gd name="" fmla="val 6000"/>
            </a:avLst>
          </a:prstGeom>
          <a:solidFill>
            <a:srgbClr val="F6F3EC"/>
          </a:solidFill>
          <a:ln>
            <a:noFill/>
          </a:ln>
        </p:spPr>
      </p:sp>
      <p:sp>
        <p:nvSpPr>
          <p:cNvPr id="15" name=""/>
          <p:cNvSpPr txBox="1"/>
          <p:nvPr/>
        </p:nvSpPr>
        <p:spPr>
          <a:xfrm>
            <a:off x="4507992" y="178308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02</a:t>
            </a:r>
          </a:p>
        </p:txBody>
      </p:sp>
      <p:sp>
        <p:nvSpPr>
          <p:cNvPr id="16" name=""/>
          <p:cNvSpPr txBox="1"/>
          <p:nvPr/>
        </p:nvSpPr>
        <p:spPr>
          <a:xfrm>
            <a:off x="4507992" y="246888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Sales pacing</a:t>
            </a:r>
          </a:p>
        </p:txBody>
      </p:sp>
      <p:sp>
        <p:nvSpPr>
          <p:cNvPr id="17" name=""/>
          <p:cNvSpPr txBox="1"/>
          <p:nvPr/>
        </p:nvSpPr>
        <p:spPr>
          <a:xfrm>
            <a:off x="4507992" y="288036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October month to date vs last month and last year</a:t>
            </a:r>
          </a:p>
        </p:txBody>
      </p:sp>
      <p:sp>
        <p:nvSpPr>
          <p:cNvPr id="18" name=""/>
          <p:cNvSpPr/>
          <p:nvPr/>
        </p:nvSpPr>
        <p:spPr>
          <a:xfrm>
            <a:off x="8010144" y="1600200"/>
            <a:ext cx="3566160" cy="2011680"/>
          </a:xfrm>
          <a:prstGeom prst="roundRect">
            <a:avLst>
              <a:gd name="" fmla="val 6000"/>
            </a:avLst>
          </a:prstGeom>
          <a:solidFill>
            <a:srgbClr val="F6F3EC"/>
          </a:solidFill>
          <a:ln>
            <a:noFill/>
          </a:ln>
        </p:spPr>
      </p:sp>
      <p:sp>
        <p:nvSpPr>
          <p:cNvPr id="19" name=""/>
          <p:cNvSpPr txBox="1"/>
          <p:nvPr/>
        </p:nvSpPr>
        <p:spPr>
          <a:xfrm>
            <a:off x="8238744" y="178308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03</a:t>
            </a:r>
          </a:p>
        </p:txBody>
      </p:sp>
      <p:sp>
        <p:nvSpPr>
          <p:cNvPr id="20" name=""/>
          <p:cNvSpPr txBox="1"/>
          <p:nvPr/>
        </p:nvSpPr>
        <p:spPr>
          <a:xfrm>
            <a:off x="8238744" y="246888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Amazon Ads results</a:t>
            </a:r>
          </a:p>
        </p:txBody>
      </p:sp>
      <p:sp>
        <p:nvSpPr>
          <p:cNvPr id="21" name=""/>
          <p:cNvSpPr txBox="1"/>
          <p:nvPr/>
        </p:nvSpPr>
        <p:spPr>
          <a:xfrm>
            <a:off x="8238744" y="288036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Spend, efficiency, brand vs category, keywords</a:t>
            </a:r>
          </a:p>
        </p:txBody>
      </p:sp>
      <p:sp>
        <p:nvSpPr>
          <p:cNvPr id="22" name=""/>
          <p:cNvSpPr/>
          <p:nvPr/>
        </p:nvSpPr>
        <p:spPr>
          <a:xfrm>
            <a:off x="548640" y="3840480"/>
            <a:ext cx="3566160" cy="2011680"/>
          </a:xfrm>
          <a:prstGeom prst="roundRect">
            <a:avLst>
              <a:gd name="" fmla="val 6000"/>
            </a:avLst>
          </a:prstGeom>
          <a:solidFill>
            <a:srgbClr val="F6F3EC"/>
          </a:solidFill>
          <a:ln>
            <a:noFill/>
          </a:ln>
        </p:spPr>
      </p:sp>
      <p:sp>
        <p:nvSpPr>
          <p:cNvPr id="23" name=""/>
          <p:cNvSpPr txBox="1"/>
          <p:nvPr/>
        </p:nvSpPr>
        <p:spPr>
          <a:xfrm>
            <a:off x="777240" y="402336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04</a:t>
            </a:r>
          </a:p>
        </p:txBody>
      </p:sp>
      <p:sp>
        <p:nvSpPr>
          <p:cNvPr id="24" name=""/>
          <p:cNvSpPr txBox="1"/>
          <p:nvPr/>
        </p:nvSpPr>
        <p:spPr>
          <a:xfrm>
            <a:off x="777240" y="470916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Marketing</a:t>
            </a:r>
          </a:p>
        </p:txBody>
      </p:sp>
      <p:sp>
        <p:nvSpPr>
          <p:cNvPr id="25" name=""/>
          <p:cNvSpPr txBox="1"/>
          <p:nvPr/>
        </p:nvSpPr>
        <p:spPr>
          <a:xfrm>
            <a:off x="777240" y="512064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Coupons, promotions and upcoming events</a:t>
            </a:r>
          </a:p>
        </p:txBody>
      </p:sp>
      <p:sp>
        <p:nvSpPr>
          <p:cNvPr id="26" name=""/>
          <p:cNvSpPr/>
          <p:nvPr/>
        </p:nvSpPr>
        <p:spPr>
          <a:xfrm>
            <a:off x="4279392" y="3840480"/>
            <a:ext cx="3566160" cy="2011680"/>
          </a:xfrm>
          <a:prstGeom prst="roundRect">
            <a:avLst>
              <a:gd name="" fmla="val 6000"/>
            </a:avLst>
          </a:prstGeom>
          <a:solidFill>
            <a:srgbClr val="F6F3EC"/>
          </a:solidFill>
          <a:ln>
            <a:noFill/>
          </a:ln>
        </p:spPr>
      </p:sp>
      <p:sp>
        <p:nvSpPr>
          <p:cNvPr id="27" name=""/>
          <p:cNvSpPr txBox="1"/>
          <p:nvPr/>
        </p:nvSpPr>
        <p:spPr>
          <a:xfrm>
            <a:off x="4507992" y="402336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05</a:t>
            </a:r>
          </a:p>
        </p:txBody>
      </p:sp>
      <p:sp>
        <p:nvSpPr>
          <p:cNvPr id="28" name=""/>
          <p:cNvSpPr txBox="1"/>
          <p:nvPr/>
        </p:nvSpPr>
        <p:spPr>
          <a:xfrm>
            <a:off x="4507992" y="470916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Inventory</a:t>
            </a:r>
          </a:p>
        </p:txBody>
      </p:sp>
      <p:sp>
        <p:nvSpPr>
          <p:cNvPr id="29" name=""/>
          <p:cNvSpPr txBox="1"/>
          <p:nvPr/>
        </p:nvSpPr>
        <p:spPr>
          <a:xfrm>
            <a:off x="4507992" y="512064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Stock position, weeks of supply, restock risk</a:t>
            </a:r>
          </a:p>
        </p:txBody>
      </p:sp>
      <p:sp>
        <p:nvSpPr>
          <p:cNvPr id="30" name=""/>
          <p:cNvSpPr/>
          <p:nvPr/>
        </p:nvSpPr>
        <p:spPr>
          <a:xfrm>
            <a:off x="8010144" y="3840480"/>
            <a:ext cx="3566160" cy="2011680"/>
          </a:xfrm>
          <a:prstGeom prst="roundRect">
            <a:avLst>
              <a:gd name="" fmla="val 6000"/>
            </a:avLst>
          </a:prstGeom>
          <a:solidFill>
            <a:srgbClr val="F6F3EC"/>
          </a:solidFill>
          <a:ln>
            <a:noFill/>
          </a:ln>
        </p:spPr>
      </p:sp>
      <p:sp>
        <p:nvSpPr>
          <p:cNvPr id="31" name=""/>
          <p:cNvSpPr txBox="1"/>
          <p:nvPr/>
        </p:nvSpPr>
        <p:spPr>
          <a:xfrm>
            <a:off x="8238744" y="402336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06</a:t>
            </a:r>
          </a:p>
        </p:txBody>
      </p:sp>
      <p:sp>
        <p:nvSpPr>
          <p:cNvPr id="32" name=""/>
          <p:cNvSpPr txBox="1"/>
          <p:nvPr/>
        </p:nvSpPr>
        <p:spPr>
          <a:xfrm>
            <a:off x="8238744" y="470916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Reviews &amp; account health</a:t>
            </a:r>
          </a:p>
        </p:txBody>
      </p:sp>
      <p:sp>
        <p:nvSpPr>
          <p:cNvPr id="33" name=""/>
          <p:cNvSpPr txBox="1"/>
          <p:nvPr/>
        </p:nvSpPr>
        <p:spPr>
          <a:xfrm>
            <a:off x="8238744" y="512064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Ratings, alerts and Buy Box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SALES OVERVIEW</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Amazon channel performance — last 4 weeks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3 / 17</a:t>
            </a:r>
          </a:p>
        </p:txBody>
      </p:sp>
      <p:graphicFrame>
        <p:nvGraphicFramePr>
          <p:cNvPr id="10" name=""/>
          <p:cNvGraphicFramePr>
            <a:graphicFrameLocks noGrp="1"/>
          </p:cNvGraphicFramePr>
          <p:nvPr/>
        </p:nvGraphicFramePr>
        <p:xfrm>
          <a:off x="548640" y="1417320"/>
          <a:ext cx="11091672" cy="2194560"/>
        </p:xfrm>
        <a:graphic>
          <a:graphicData uri="http://schemas.openxmlformats.org/drawingml/2006/table">
            <a:tbl>
              <a:tblPr firstRow="1" bandRow="1">
                <a:tableStyleId>{5C22544A-7EE6-4342-B048-85BDC9FD1C3A}</a:tableStyleId>
              </a:tblPr>
              <a:tblGrid>
                <a:gridCol w="1920240"/>
                <a:gridCol w="2011680"/>
                <a:gridCol w="1371600"/>
                <a:gridCol w="1280160"/>
                <a:gridCol w="1737360"/>
                <a:gridCol w="1371600"/>
                <a:gridCol w="1399032"/>
              </a:tblGrid>
              <a:tr h="365760">
                <a:tc>
                  <a:txBody>
                    <a:bodyPr wrap="square"/>
                    <a:lstStyle/>
                    <a:p>
                      <a:pPr algn="l"/>
                      <a:r>
                        <a:rPr sz="1000" b="1">
                          <a:solidFill>
                            <a:srgbClr val="FFFFFF"/>
                          </a:solidFill>
                          <a:latin typeface="Inter"/>
                        </a:rPr>
                        <a:t>Week</a:t>
                      </a:r>
                    </a:p>
                  </a:txBody>
                  <a:tcPr marL="54864" marR="54864" marT="27432" marB="27432" anchor="ctr">
                    <a:solidFill>
                      <a:srgbClr val="0F172A"/>
                    </a:solidFill>
                  </a:tcPr>
                </a:tc>
                <a:tc>
                  <a:txBody>
                    <a:bodyPr wrap="square"/>
                    <a:lstStyle/>
                    <a:p>
                      <a:pPr algn="r"/>
                      <a:r>
                        <a:rPr sz="1000" b="1">
                          <a:solidFill>
                            <a:srgbClr val="FFFFFF"/>
                          </a:solidFill>
                          <a:latin typeface="Inter"/>
                        </a:rPr>
                        <a:t>Ordered product sales</a:t>
                      </a:r>
                    </a:p>
                  </a:txBody>
                  <a:tcPr marL="54864" marR="54864" marT="27432" marB="27432" anchor="ctr">
                    <a:solidFill>
                      <a:srgbClr val="0F172A"/>
                    </a:solidFill>
                  </a:tcPr>
                </a:tc>
                <a:tc>
                  <a:txBody>
                    <a:bodyPr wrap="square"/>
                    <a:lstStyle/>
                    <a:p>
                      <a:pPr algn="r"/>
                      <a:r>
                        <a:rPr sz="1000" b="1">
                          <a:solidFill>
                            <a:srgbClr val="FFFFFF"/>
                          </a:solidFill>
                          <a:latin typeface="Inter"/>
                        </a:rPr>
                        <a:t>Units ordered</a:t>
                      </a:r>
                    </a:p>
                  </a:txBody>
                  <a:tcPr marL="54864" marR="54864" marT="27432" marB="27432" anchor="ctr">
                    <a:solidFill>
                      <a:srgbClr val="0F172A"/>
                    </a:solidFill>
                  </a:tcPr>
                </a:tc>
                <a:tc>
                  <a:txBody>
                    <a:bodyPr wrap="square"/>
                    <a:lstStyle/>
                    <a:p>
                      <a:pPr algn="r"/>
                      <a:r>
                        <a:rPr sz="1000" b="1">
                          <a:solidFill>
                            <a:srgbClr val="FFFFFF"/>
                          </a:solidFill>
                          <a:latin typeface="Inter"/>
                        </a:rPr>
                        <a:t>ASP</a:t>
                      </a:r>
                    </a:p>
                  </a:txBody>
                  <a:tcPr marL="54864" marR="54864" marT="27432" marB="27432" anchor="ctr">
                    <a:solidFill>
                      <a:srgbClr val="0F172A"/>
                    </a:solidFill>
                  </a:tcPr>
                </a:tc>
                <a:tc>
                  <a:txBody>
                    <a:bodyPr wrap="square"/>
                    <a:lstStyle/>
                    <a:p>
                      <a:pPr algn="r"/>
                      <a:r>
                        <a:rPr sz="1000" b="1">
                          <a:solidFill>
                            <a:srgbClr val="FFFFFF"/>
                          </a:solidFill>
                          <a:latin typeface="Inter"/>
                        </a:rPr>
                        <a:t>Ad impressions</a:t>
                      </a:r>
                    </a:p>
                  </a:txBody>
                  <a:tcPr marL="54864" marR="54864" marT="27432" marB="27432" anchor="ctr">
                    <a:solidFill>
                      <a:srgbClr val="0F172A"/>
                    </a:solidFill>
                  </a:tcPr>
                </a:tc>
                <a:tc>
                  <a:txBody>
                    <a:bodyPr wrap="square"/>
                    <a:lstStyle/>
                    <a:p>
                      <a:pPr algn="r"/>
                      <a:r>
                        <a:rPr sz="1000" b="1">
                          <a:solidFill>
                            <a:srgbClr val="FFFFFF"/>
                          </a:solidFill>
                          <a:latin typeface="Inter"/>
                        </a:rPr>
                        <a:t>Units refunded</a:t>
                      </a:r>
                    </a:p>
                  </a:txBody>
                  <a:tcPr marL="54864" marR="54864" marT="27432" marB="27432" anchor="ctr">
                    <a:solidFill>
                      <a:srgbClr val="0F172A"/>
                    </a:solidFill>
                  </a:tcPr>
                </a:tc>
                <a:tc>
                  <a:txBody>
                    <a:bodyPr wrap="square"/>
                    <a:lstStyle/>
                    <a:p>
                      <a:pPr algn="r"/>
                      <a:r>
                        <a:rPr sz="1000" b="1">
                          <a:solidFill>
                            <a:srgbClr val="FFFFFF"/>
                          </a:solidFill>
                          <a:latin typeface="Inter"/>
                        </a:rPr>
                        <a:t>Refund rate</a:t>
                      </a:r>
                    </a:p>
                  </a:txBody>
                  <a:tcPr marL="54864" marR="54864" marT="27432" marB="27432" anchor="ctr">
                    <a:solidFill>
                      <a:srgbClr val="0F172A"/>
                    </a:solidFill>
                  </a:tcPr>
                </a:tc>
              </a:tr>
              <a:tr h="365760">
                <a:tc>
                  <a:txBody>
                    <a:bodyPr wrap="square"/>
                    <a:lstStyle/>
                    <a:p>
                      <a:pPr algn="l"/>
                      <a:r>
                        <a:rPr sz="1100" b="0">
                          <a:solidFill>
                            <a:srgbClr val="0F172A"/>
                          </a:solidFill>
                          <a:latin typeface="Inter"/>
                        </a:rPr>
                        <a:t>Sep 27 – Oct 3</a:t>
                      </a:r>
                    </a:p>
                  </a:txBody>
                  <a:tcPr marL="54864" marR="54864" marT="27432" marB="27432" anchor="ctr">
                    <a:solidFill>
                      <a:srgbClr val="FFFFFF"/>
                    </a:solidFill>
                  </a:tcPr>
                </a:tc>
                <a:tc>
                  <a:txBody>
                    <a:bodyPr wrap="square"/>
                    <a:lstStyle/>
                    <a:p>
                      <a:pPr algn="r"/>
                      <a:r>
                        <a:rPr sz="1100" b="0">
                          <a:solidFill>
                            <a:srgbClr val="0F172A"/>
                          </a:solidFill>
                          <a:latin typeface="Inter"/>
                        </a:rPr>
                        <a:t>C$59,700</a:t>
                      </a:r>
                    </a:p>
                  </a:txBody>
                  <a:tcPr marL="54864" marR="54864" marT="27432" marB="27432" anchor="ctr">
                    <a:solidFill>
                      <a:srgbClr val="FFFFFF"/>
                    </a:solidFill>
                  </a:tcPr>
                </a:tc>
                <a:tc>
                  <a:txBody>
                    <a:bodyPr wrap="square"/>
                    <a:lstStyle/>
                    <a:p>
                      <a:pPr algn="r"/>
                      <a:r>
                        <a:rPr sz="1100" b="0">
                          <a:solidFill>
                            <a:srgbClr val="0F172A"/>
                          </a:solidFill>
                          <a:latin typeface="Inter"/>
                        </a:rPr>
                        <a:t>117</a:t>
                      </a:r>
                    </a:p>
                  </a:txBody>
                  <a:tcPr marL="54864" marR="54864" marT="27432" marB="27432" anchor="ctr">
                    <a:solidFill>
                      <a:srgbClr val="FFFFFF"/>
                    </a:solidFill>
                  </a:tcPr>
                </a:tc>
                <a:tc>
                  <a:txBody>
                    <a:bodyPr wrap="square"/>
                    <a:lstStyle/>
                    <a:p>
                      <a:pPr algn="r"/>
                      <a:r>
                        <a:rPr sz="1100" b="0">
                          <a:solidFill>
                            <a:srgbClr val="0F172A"/>
                          </a:solidFill>
                          <a:latin typeface="Inter"/>
                        </a:rPr>
                        <a:t>C$510</a:t>
                      </a:r>
                    </a:p>
                  </a:txBody>
                  <a:tcPr marL="54864" marR="54864" marT="27432" marB="27432" anchor="ctr">
                    <a:solidFill>
                      <a:srgbClr val="FFFFFF"/>
                    </a:solidFill>
                  </a:tcPr>
                </a:tc>
                <a:tc>
                  <a:txBody>
                    <a:bodyPr wrap="square"/>
                    <a:lstStyle/>
                    <a:p>
                      <a:pPr algn="r"/>
                      <a:r>
                        <a:rPr sz="1100" b="0">
                          <a:solidFill>
                            <a:srgbClr val="0F172A"/>
                          </a:solidFill>
                          <a:latin typeface="Inter"/>
                        </a:rPr>
                        <a:t>693,747</a:t>
                      </a:r>
                    </a:p>
                  </a:txBody>
                  <a:tcPr marL="54864" marR="54864" marT="27432" marB="27432" anchor="ctr">
                    <a:solidFill>
                      <a:srgbClr val="FFFFFF"/>
                    </a:solidFill>
                  </a:tcPr>
                </a:tc>
                <a:tc>
                  <a:txBody>
                    <a:bodyPr wrap="square"/>
                    <a:lstStyle/>
                    <a:p>
                      <a:pPr algn="r"/>
                      <a:r>
                        <a:rPr sz="1100" b="0">
                          <a:solidFill>
                            <a:srgbClr val="0F172A"/>
                          </a:solidFill>
                          <a:latin typeface="Inter"/>
                        </a:rPr>
                        <a:t>8</a:t>
                      </a:r>
                    </a:p>
                  </a:txBody>
                  <a:tcPr marL="54864" marR="54864" marT="27432" marB="27432" anchor="ctr">
                    <a:solidFill>
                      <a:srgbClr val="FFFFFF"/>
                    </a:solidFill>
                  </a:tcPr>
                </a:tc>
                <a:tc>
                  <a:txBody>
                    <a:bodyPr wrap="square"/>
                    <a:lstStyle/>
                    <a:p>
                      <a:pPr algn="r"/>
                      <a:r>
                        <a:rPr sz="1100" b="0">
                          <a:solidFill>
                            <a:srgbClr val="0F172A"/>
                          </a:solidFill>
                          <a:latin typeface="Inter"/>
                        </a:rPr>
                        <a:t>6.96%</a:t>
                      </a:r>
                    </a:p>
                  </a:txBody>
                  <a:tcPr marL="54864" marR="54864" marT="27432" marB="27432" anchor="ctr">
                    <a:solidFill>
                      <a:srgbClr val="FFFFFF"/>
                    </a:solidFill>
                  </a:tcPr>
                </a:tc>
              </a:tr>
              <a:tr h="365760">
                <a:tc>
                  <a:txBody>
                    <a:bodyPr wrap="square"/>
                    <a:lstStyle/>
                    <a:p>
                      <a:pPr algn="l"/>
                      <a:r>
                        <a:rPr sz="1100" b="0">
                          <a:solidFill>
                            <a:srgbClr val="0F172A"/>
                          </a:solidFill>
                          <a:latin typeface="Inter"/>
                        </a:rPr>
                        <a:t>Oct 4 – 10</a:t>
                      </a:r>
                    </a:p>
                  </a:txBody>
                  <a:tcPr marL="54864" marR="54864" marT="27432" marB="27432" anchor="ctr">
                    <a:solidFill>
                      <a:srgbClr val="FBFAF7"/>
                    </a:solidFill>
                  </a:tcPr>
                </a:tc>
                <a:tc>
                  <a:txBody>
                    <a:bodyPr wrap="square"/>
                    <a:lstStyle/>
                    <a:p>
                      <a:pPr algn="r"/>
                      <a:r>
                        <a:rPr sz="1100" b="0">
                          <a:solidFill>
                            <a:srgbClr val="0F172A"/>
                          </a:solidFill>
                          <a:latin typeface="Inter"/>
                        </a:rPr>
                        <a:t>C$118,943</a:t>
                      </a:r>
                    </a:p>
                  </a:txBody>
                  <a:tcPr marL="54864" marR="54864" marT="27432" marB="27432" anchor="ctr">
                    <a:solidFill>
                      <a:srgbClr val="FBFAF7"/>
                    </a:solidFill>
                  </a:tcPr>
                </a:tc>
                <a:tc>
                  <a:txBody>
                    <a:bodyPr wrap="square"/>
                    <a:lstStyle/>
                    <a:p>
                      <a:pPr algn="r"/>
                      <a:r>
                        <a:rPr sz="1100" b="0">
                          <a:solidFill>
                            <a:srgbClr val="0F172A"/>
                          </a:solidFill>
                          <a:latin typeface="Inter"/>
                        </a:rPr>
                        <a:t>277</a:t>
                      </a:r>
                    </a:p>
                  </a:txBody>
                  <a:tcPr marL="54864" marR="54864" marT="27432" marB="27432" anchor="ctr">
                    <a:solidFill>
                      <a:srgbClr val="FBFAF7"/>
                    </a:solidFill>
                  </a:tcPr>
                </a:tc>
                <a:tc>
                  <a:txBody>
                    <a:bodyPr wrap="square"/>
                    <a:lstStyle/>
                    <a:p>
                      <a:pPr algn="r"/>
                      <a:r>
                        <a:rPr sz="1100" b="0">
                          <a:solidFill>
                            <a:srgbClr val="0F172A"/>
                          </a:solidFill>
                          <a:latin typeface="Inter"/>
                        </a:rPr>
                        <a:t>C$429</a:t>
                      </a:r>
                    </a:p>
                  </a:txBody>
                  <a:tcPr marL="54864" marR="54864" marT="27432" marB="27432" anchor="ctr">
                    <a:solidFill>
                      <a:srgbClr val="FBFAF7"/>
                    </a:solidFill>
                  </a:tcPr>
                </a:tc>
                <a:tc>
                  <a:txBody>
                    <a:bodyPr wrap="square"/>
                    <a:lstStyle/>
                    <a:p>
                      <a:pPr algn="r"/>
                      <a:r>
                        <a:rPr sz="1100" b="0">
                          <a:solidFill>
                            <a:srgbClr val="0F172A"/>
                          </a:solidFill>
                          <a:latin typeface="Inter"/>
                        </a:rPr>
                        <a:t>1,296,298</a:t>
                      </a:r>
                    </a:p>
                  </a:txBody>
                  <a:tcPr marL="54864" marR="54864" marT="27432" marB="27432" anchor="ctr">
                    <a:solidFill>
                      <a:srgbClr val="FBFAF7"/>
                    </a:solidFill>
                  </a:tcPr>
                </a:tc>
                <a:tc>
                  <a:txBody>
                    <a:bodyPr wrap="square"/>
                    <a:lstStyle/>
                    <a:p>
                      <a:pPr algn="r"/>
                      <a:r>
                        <a:rPr sz="1100" b="0">
                          <a:solidFill>
                            <a:srgbClr val="0F172A"/>
                          </a:solidFill>
                          <a:latin typeface="Inter"/>
                        </a:rPr>
                        <a:t>8</a:t>
                      </a:r>
                    </a:p>
                  </a:txBody>
                  <a:tcPr marL="54864" marR="54864" marT="27432" marB="27432" anchor="ctr">
                    <a:solidFill>
                      <a:srgbClr val="FBFAF7"/>
                    </a:solidFill>
                  </a:tcPr>
                </a:tc>
                <a:tc>
                  <a:txBody>
                    <a:bodyPr wrap="square"/>
                    <a:lstStyle/>
                    <a:p>
                      <a:pPr algn="r"/>
                      <a:r>
                        <a:rPr sz="1100" b="0">
                          <a:solidFill>
                            <a:srgbClr val="0F172A"/>
                          </a:solidFill>
                          <a:latin typeface="Inter"/>
                        </a:rPr>
                        <a:t>2.93%</a:t>
                      </a:r>
                    </a:p>
                  </a:txBody>
                  <a:tcPr marL="54864" marR="54864" marT="27432" marB="27432" anchor="ctr">
                    <a:solidFill>
                      <a:srgbClr val="FBFAF7"/>
                    </a:solidFill>
                  </a:tcPr>
                </a:tc>
              </a:tr>
              <a:tr h="365760">
                <a:tc>
                  <a:txBody>
                    <a:bodyPr wrap="square"/>
                    <a:lstStyle/>
                    <a:p>
                      <a:pPr algn="l"/>
                      <a:r>
                        <a:rPr sz="1100" b="0">
                          <a:solidFill>
                            <a:srgbClr val="0F172A"/>
                          </a:solidFill>
                          <a:latin typeface="Inter"/>
                        </a:rPr>
                        <a:t>Oct 11 – 17</a:t>
                      </a:r>
                    </a:p>
                  </a:txBody>
                  <a:tcPr marL="54864" marR="54864" marT="27432" marB="27432" anchor="ctr">
                    <a:solidFill>
                      <a:srgbClr val="FFFFFF"/>
                    </a:solidFill>
                  </a:tcPr>
                </a:tc>
                <a:tc>
                  <a:txBody>
                    <a:bodyPr wrap="square"/>
                    <a:lstStyle/>
                    <a:p>
                      <a:pPr algn="r"/>
                      <a:r>
                        <a:rPr sz="1100" b="0">
                          <a:solidFill>
                            <a:srgbClr val="0F172A"/>
                          </a:solidFill>
                          <a:latin typeface="Inter"/>
                        </a:rPr>
                        <a:t>C$47,564</a:t>
                      </a:r>
                    </a:p>
                  </a:txBody>
                  <a:tcPr marL="54864" marR="54864" marT="27432" marB="27432" anchor="ctr">
                    <a:solidFill>
                      <a:srgbClr val="FFFFFF"/>
                    </a:solidFill>
                  </a:tcPr>
                </a:tc>
                <a:tc>
                  <a:txBody>
                    <a:bodyPr wrap="square"/>
                    <a:lstStyle/>
                    <a:p>
                      <a:pPr algn="r"/>
                      <a:r>
                        <a:rPr sz="1100" b="0">
                          <a:solidFill>
                            <a:srgbClr val="0F172A"/>
                          </a:solidFill>
                          <a:latin typeface="Inter"/>
                        </a:rPr>
                        <a:t>116</a:t>
                      </a:r>
                    </a:p>
                  </a:txBody>
                  <a:tcPr marL="54864" marR="54864" marT="27432" marB="27432" anchor="ctr">
                    <a:solidFill>
                      <a:srgbClr val="FFFFFF"/>
                    </a:solidFill>
                  </a:tcPr>
                </a:tc>
                <a:tc>
                  <a:txBody>
                    <a:bodyPr wrap="square"/>
                    <a:lstStyle/>
                    <a:p>
                      <a:pPr algn="r"/>
                      <a:r>
                        <a:rPr sz="1100" b="0">
                          <a:solidFill>
                            <a:srgbClr val="0F172A"/>
                          </a:solidFill>
                          <a:latin typeface="Inter"/>
                        </a:rPr>
                        <a:t>C$410</a:t>
                      </a:r>
                    </a:p>
                  </a:txBody>
                  <a:tcPr marL="54864" marR="54864" marT="27432" marB="27432" anchor="ctr">
                    <a:solidFill>
                      <a:srgbClr val="FFFFFF"/>
                    </a:solidFill>
                  </a:tcPr>
                </a:tc>
                <a:tc>
                  <a:txBody>
                    <a:bodyPr wrap="square"/>
                    <a:lstStyle/>
                    <a:p>
                      <a:pPr algn="r"/>
                      <a:r>
                        <a:rPr sz="1100" b="0">
                          <a:solidFill>
                            <a:srgbClr val="0F172A"/>
                          </a:solidFill>
                          <a:latin typeface="Inter"/>
                        </a:rPr>
                        <a:t>682,497</a:t>
                      </a:r>
                    </a:p>
                  </a:txBody>
                  <a:tcPr marL="54864" marR="54864" marT="27432" marB="27432" anchor="ctr">
                    <a:solidFill>
                      <a:srgbClr val="FFFFFF"/>
                    </a:solidFill>
                  </a:tcPr>
                </a:tc>
                <a:tc>
                  <a:txBody>
                    <a:bodyPr wrap="square"/>
                    <a:lstStyle/>
                    <a:p>
                      <a:pPr algn="r"/>
                      <a:r>
                        <a:rPr sz="1100" b="0">
                          <a:solidFill>
                            <a:srgbClr val="0F172A"/>
                          </a:solidFill>
                          <a:latin typeface="Inter"/>
                        </a:rPr>
                        <a:t>23</a:t>
                      </a:r>
                    </a:p>
                  </a:txBody>
                  <a:tcPr marL="54864" marR="54864" marT="27432" marB="27432" anchor="ctr">
                    <a:solidFill>
                      <a:srgbClr val="FFFFFF"/>
                    </a:solidFill>
                  </a:tcPr>
                </a:tc>
                <a:tc>
                  <a:txBody>
                    <a:bodyPr wrap="square"/>
                    <a:lstStyle/>
                    <a:p>
                      <a:pPr algn="r"/>
                      <a:r>
                        <a:rPr sz="1100" b="0">
                          <a:solidFill>
                            <a:srgbClr val="0F172A"/>
                          </a:solidFill>
                          <a:latin typeface="Inter"/>
                        </a:rPr>
                        <a:t>20.54%</a:t>
                      </a:r>
                    </a:p>
                  </a:txBody>
                  <a:tcPr marL="54864" marR="54864" marT="27432" marB="27432" anchor="ctr">
                    <a:solidFill>
                      <a:srgbClr val="FFFFFF"/>
                    </a:solidFill>
                  </a:tcPr>
                </a:tc>
              </a:tr>
              <a:tr h="365760">
                <a:tc>
                  <a:txBody>
                    <a:bodyPr wrap="square"/>
                    <a:lstStyle/>
                    <a:p>
                      <a:pPr algn="l"/>
                      <a:r>
                        <a:rPr sz="1100" b="0">
                          <a:solidFill>
                            <a:srgbClr val="0F172A"/>
                          </a:solidFill>
                          <a:latin typeface="Inter"/>
                        </a:rPr>
                        <a:t>Oct 18 – 24</a:t>
                      </a:r>
                    </a:p>
                  </a:txBody>
                  <a:tcPr marL="54864" marR="54864" marT="27432" marB="27432" anchor="ctr">
                    <a:solidFill>
                      <a:srgbClr val="FBFAF7"/>
                    </a:solidFill>
                  </a:tcPr>
                </a:tc>
                <a:tc>
                  <a:txBody>
                    <a:bodyPr wrap="square"/>
                    <a:lstStyle/>
                    <a:p>
                      <a:pPr algn="r"/>
                      <a:r>
                        <a:rPr sz="1100" b="0">
                          <a:solidFill>
                            <a:srgbClr val="0F172A"/>
                          </a:solidFill>
                          <a:latin typeface="Inter"/>
                        </a:rPr>
                        <a:t>C$57,663</a:t>
                      </a:r>
                    </a:p>
                  </a:txBody>
                  <a:tcPr marL="54864" marR="54864" marT="27432" marB="27432" anchor="ctr">
                    <a:solidFill>
                      <a:srgbClr val="FBFAF7"/>
                    </a:solidFill>
                  </a:tcPr>
                </a:tc>
                <a:tc>
                  <a:txBody>
                    <a:bodyPr wrap="square"/>
                    <a:lstStyle/>
                    <a:p>
                      <a:pPr algn="r"/>
                      <a:r>
                        <a:rPr sz="1100" b="0">
                          <a:solidFill>
                            <a:srgbClr val="0F172A"/>
                          </a:solidFill>
                          <a:latin typeface="Inter"/>
                        </a:rPr>
                        <a:t>118</a:t>
                      </a:r>
                    </a:p>
                  </a:txBody>
                  <a:tcPr marL="54864" marR="54864" marT="27432" marB="27432" anchor="ctr">
                    <a:solidFill>
                      <a:srgbClr val="FBFAF7"/>
                    </a:solidFill>
                  </a:tcPr>
                </a:tc>
                <a:tc>
                  <a:txBody>
                    <a:bodyPr wrap="square"/>
                    <a:lstStyle/>
                    <a:p>
                      <a:pPr algn="r"/>
                      <a:r>
                        <a:rPr sz="1100" b="0">
                          <a:solidFill>
                            <a:srgbClr val="0F172A"/>
                          </a:solidFill>
                          <a:latin typeface="Inter"/>
                        </a:rPr>
                        <a:t>C$489</a:t>
                      </a:r>
                    </a:p>
                  </a:txBody>
                  <a:tcPr marL="54864" marR="54864" marT="27432" marB="27432" anchor="ctr">
                    <a:solidFill>
                      <a:srgbClr val="FBFAF7"/>
                    </a:solidFill>
                  </a:tcPr>
                </a:tc>
                <a:tc>
                  <a:txBody>
                    <a:bodyPr wrap="square"/>
                    <a:lstStyle/>
                    <a:p>
                      <a:pPr algn="r"/>
                      <a:r>
                        <a:rPr sz="1100" b="0">
                          <a:solidFill>
                            <a:srgbClr val="0F172A"/>
                          </a:solidFill>
                          <a:latin typeface="Inter"/>
                        </a:rPr>
                        <a:t>559,135</a:t>
                      </a:r>
                    </a:p>
                  </a:txBody>
                  <a:tcPr marL="54864" marR="54864" marT="27432" marB="27432" anchor="ctr">
                    <a:solidFill>
                      <a:srgbClr val="FBFAF7"/>
                    </a:solidFill>
                  </a:tcPr>
                </a:tc>
                <a:tc>
                  <a:txBody>
                    <a:bodyPr wrap="square"/>
                    <a:lstStyle/>
                    <a:p>
                      <a:pPr algn="r"/>
                      <a:r>
                        <a:rPr sz="1100" b="0">
                          <a:solidFill>
                            <a:srgbClr val="0F172A"/>
                          </a:solidFill>
                          <a:latin typeface="Inter"/>
                        </a:rPr>
                        <a:t>12</a:t>
                      </a:r>
                    </a:p>
                  </a:txBody>
                  <a:tcPr marL="54864" marR="54864" marT="27432" marB="27432" anchor="ctr">
                    <a:solidFill>
                      <a:srgbClr val="FBFAF7"/>
                    </a:solidFill>
                  </a:tcPr>
                </a:tc>
                <a:tc>
                  <a:txBody>
                    <a:bodyPr wrap="square"/>
                    <a:lstStyle/>
                    <a:p>
                      <a:pPr algn="r"/>
                      <a:r>
                        <a:rPr sz="1100" b="0">
                          <a:solidFill>
                            <a:srgbClr val="DC2626"/>
                          </a:solidFill>
                          <a:latin typeface="Inter"/>
                        </a:rPr>
                        <a:t>10.43%</a:t>
                      </a:r>
                    </a:p>
                  </a:txBody>
                  <a:tcPr marL="54864" marR="54864" marT="27432" marB="27432" anchor="ctr">
                    <a:solidFill>
                      <a:srgbClr val="FBFAF7"/>
                    </a:solidFill>
                  </a:tcPr>
                </a:tc>
              </a:tr>
              <a:tr h="365760">
                <a:tc>
                  <a:txBody>
                    <a:bodyPr wrap="square"/>
                    <a:lstStyle/>
                    <a:p>
                      <a:pPr algn="l"/>
                      <a:r>
                        <a:rPr sz="1100" b="1">
                          <a:solidFill>
                            <a:srgbClr val="0F172A"/>
                          </a:solidFill>
                          <a:latin typeface="Inter"/>
                        </a:rPr>
                        <a:t>4-week total</a:t>
                      </a:r>
                    </a:p>
                  </a:txBody>
                  <a:tcPr marL="54864" marR="54864" marT="27432" marB="27432" anchor="ctr">
                    <a:solidFill>
                      <a:srgbClr val="F6F3EC"/>
                    </a:solidFill>
                  </a:tcPr>
                </a:tc>
                <a:tc>
                  <a:txBody>
                    <a:bodyPr wrap="square"/>
                    <a:lstStyle/>
                    <a:p>
                      <a:pPr algn="r"/>
                      <a:r>
                        <a:rPr sz="1100" b="1">
                          <a:solidFill>
                            <a:srgbClr val="0F172A"/>
                          </a:solidFill>
                          <a:latin typeface="Inter"/>
                        </a:rPr>
                        <a:t>C$283,870</a:t>
                      </a:r>
                    </a:p>
                  </a:txBody>
                  <a:tcPr marL="54864" marR="54864" marT="27432" marB="27432" anchor="ctr">
                    <a:solidFill>
                      <a:srgbClr val="F6F3EC"/>
                    </a:solidFill>
                  </a:tcPr>
                </a:tc>
                <a:tc>
                  <a:txBody>
                    <a:bodyPr wrap="square"/>
                    <a:lstStyle/>
                    <a:p>
                      <a:pPr algn="r"/>
                      <a:r>
                        <a:rPr sz="1100" b="1">
                          <a:solidFill>
                            <a:srgbClr val="0F172A"/>
                          </a:solidFill>
                          <a:latin typeface="Inter"/>
                        </a:rPr>
                        <a:t>628</a:t>
                      </a:r>
                    </a:p>
                  </a:txBody>
                  <a:tcPr marL="54864" marR="54864" marT="27432" marB="27432" anchor="ctr">
                    <a:solidFill>
                      <a:srgbClr val="F6F3EC"/>
                    </a:solidFill>
                  </a:tcPr>
                </a:tc>
                <a:tc>
                  <a:txBody>
                    <a:bodyPr wrap="square"/>
                    <a:lstStyle/>
                    <a:p>
                      <a:pPr algn="r"/>
                      <a:r>
                        <a:rPr sz="1100" b="1">
                          <a:solidFill>
                            <a:srgbClr val="0F172A"/>
                          </a:solidFill>
                          <a:latin typeface="Inter"/>
                        </a:rPr>
                        <a:t>C$452</a:t>
                      </a:r>
                    </a:p>
                  </a:txBody>
                  <a:tcPr marL="54864" marR="54864" marT="27432" marB="27432" anchor="ctr">
                    <a:solidFill>
                      <a:srgbClr val="F6F3EC"/>
                    </a:solidFill>
                  </a:tcPr>
                </a:tc>
                <a:tc>
                  <a:txBody>
                    <a:bodyPr wrap="square"/>
                    <a:lstStyle/>
                    <a:p>
                      <a:pPr algn="r"/>
                      <a:r>
                        <a:rPr sz="1100" b="1">
                          <a:solidFill>
                            <a:srgbClr val="0F172A"/>
                          </a:solidFill>
                          <a:latin typeface="Inter"/>
                        </a:rPr>
                        <a:t>3,231,677</a:t>
                      </a:r>
                    </a:p>
                  </a:txBody>
                  <a:tcPr marL="54864" marR="54864" marT="27432" marB="27432" anchor="ctr">
                    <a:solidFill>
                      <a:srgbClr val="F6F3EC"/>
                    </a:solidFill>
                  </a:tcPr>
                </a:tc>
                <a:tc>
                  <a:txBody>
                    <a:bodyPr wrap="square"/>
                    <a:lstStyle/>
                    <a:p>
                      <a:pPr algn="r"/>
                      <a:r>
                        <a:rPr sz="1100" b="1">
                          <a:solidFill>
                            <a:srgbClr val="0F172A"/>
                          </a:solidFill>
                          <a:latin typeface="Inter"/>
                        </a:rPr>
                        <a:t>51</a:t>
                      </a:r>
                    </a:p>
                  </a:txBody>
                  <a:tcPr marL="54864" marR="54864" marT="27432" marB="27432" anchor="ctr">
                    <a:solidFill>
                      <a:srgbClr val="F6F3EC"/>
                    </a:solidFill>
                  </a:tcPr>
                </a:tc>
                <a:tc>
                  <a:txBody>
                    <a:bodyPr wrap="square"/>
                    <a:lstStyle/>
                    <a:p>
                      <a:pPr algn="r"/>
                      <a:r>
                        <a:rPr sz="1100" b="1">
                          <a:solidFill>
                            <a:srgbClr val="0F172A"/>
                          </a:solidFill>
                          <a:latin typeface="Inter"/>
                        </a:rPr>
                        <a:t>—</a:t>
                      </a:r>
                    </a:p>
                  </a:txBody>
                  <a:tcPr marL="54864" marR="54864" marT="27432" marB="27432" anchor="ctr">
                    <a:solidFill>
                      <a:srgbClr val="F6F3EC"/>
                    </a:solidFill>
                  </a:tcPr>
                </a:tc>
              </a:tr>
            </a:tbl>
          </a:graphicData>
        </a:graphic>
      </p:graphicFrame>
      <p:sp>
        <p:nvSpPr>
          <p:cNvPr id="11" name=""/>
          <p:cNvSpPr/>
          <p:nvPr/>
        </p:nvSpPr>
        <p:spPr>
          <a:xfrm>
            <a:off x="548640" y="3886200"/>
            <a:ext cx="5440680" cy="2331720"/>
          </a:xfrm>
          <a:prstGeom prst="roundRect">
            <a:avLst>
              <a:gd name="" fmla="val 6000"/>
            </a:avLst>
          </a:prstGeom>
          <a:solidFill>
            <a:srgbClr val="FFFFFF"/>
          </a:solidFill>
          <a:ln w="9525">
            <a:solidFill>
              <a:srgbClr val="E5E0D6"/>
            </a:solidFill>
          </a:ln>
        </p:spPr>
      </p:sp>
      <p:sp>
        <p:nvSpPr>
          <p:cNvPr id="12" name=""/>
          <p:cNvSpPr txBox="1"/>
          <p:nvPr/>
        </p:nvSpPr>
        <p:spPr>
          <a:xfrm>
            <a:off x="731520" y="4023360"/>
            <a:ext cx="50749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What happened this week</a:t>
            </a:r>
          </a:p>
        </p:txBody>
      </p:sp>
      <p:sp>
        <p:nvSpPr>
          <p:cNvPr id="13" name=""/>
          <p:cNvSpPr txBox="1"/>
          <p:nvPr/>
        </p:nvSpPr>
        <p:spPr>
          <a:xfrm>
            <a:off x="731520" y="4343400"/>
            <a:ext cx="5074920" cy="17830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Sales were C$57,663, +21% vs the prior week (C$47,564), on 118 units (+2%).</a:t>
            </a:r>
          </a:p>
          <a:p>
            <a:pPr algn="l">
              <a:spcAft>
                <a:spcPts val="500"/>
              </a:spcAft>
            </a:pPr>
            <a:r>
              <a:rPr sz="1100" b="0">
                <a:solidFill>
                  <a:srgbClr val="334155"/>
                </a:solidFill>
                <a:latin typeface="Inter"/>
              </a:rPr>
              <a:t>Octaspring Queen drove the week: 43 units vs 23 the week before (+91%), almost half of all sales.</a:t>
            </a:r>
          </a:p>
        </p:txBody>
      </p:sp>
      <p:sp>
        <p:nvSpPr>
          <p:cNvPr id="14" name=""/>
          <p:cNvSpPr/>
          <p:nvPr/>
        </p:nvSpPr>
        <p:spPr>
          <a:xfrm>
            <a:off x="6199632" y="3886200"/>
            <a:ext cx="5440680" cy="2331720"/>
          </a:xfrm>
          <a:prstGeom prst="roundRect">
            <a:avLst>
              <a:gd name="" fmla="val 6000"/>
            </a:avLst>
          </a:prstGeom>
          <a:solidFill>
            <a:srgbClr val="FFFFFF"/>
          </a:solidFill>
          <a:ln w="9525">
            <a:solidFill>
              <a:srgbClr val="E5E0D6"/>
            </a:solidFill>
          </a:ln>
        </p:spPr>
      </p:sp>
      <p:sp>
        <p:nvSpPr>
          <p:cNvPr id="15" name=""/>
          <p:cNvSpPr txBox="1"/>
          <p:nvPr/>
        </p:nvSpPr>
        <p:spPr>
          <a:xfrm>
            <a:off x="6382512" y="4023360"/>
            <a:ext cx="50749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Refunds eased</a:t>
            </a:r>
          </a:p>
        </p:txBody>
      </p:sp>
      <p:sp>
        <p:nvSpPr>
          <p:cNvPr id="16" name=""/>
          <p:cNvSpPr txBox="1"/>
          <p:nvPr/>
        </p:nvSpPr>
        <p:spPr>
          <a:xfrm>
            <a:off x="6382512" y="4343400"/>
            <a:ext cx="5074920" cy="17830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12 units were refunded this week (10.4% refund rate), vs 23 (20.5%) the week before.</a:t>
            </a:r>
          </a:p>
          <a:p>
            <a:pPr algn="l">
              <a:spcAft>
                <a:spcPts val="500"/>
              </a:spcAft>
            </a:pPr>
            <a:r>
              <a:rPr sz="1100" b="0">
                <a:solidFill>
                  <a:srgbClr val="334155"/>
                </a:solidFill>
                <a:latin typeface="Inter"/>
              </a:rPr>
              <a:t>Last week's spike was mostly the Queen and Twin XL toppers (6 refunded units each), largely Prime Big Deal Days orders coming back. This week King had the most refunds (4 units).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SALES PACING</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October month to date</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4 / 17</a:t>
            </a:r>
          </a:p>
        </p:txBody>
      </p:sp>
      <p:sp>
        <p:nvSpPr>
          <p:cNvPr id="10" name=""/>
          <p:cNvSpPr/>
          <p:nvPr/>
        </p:nvSpPr>
        <p:spPr>
          <a:xfrm>
            <a:off x="548640" y="1417320"/>
            <a:ext cx="2651760" cy="1554480"/>
          </a:xfrm>
          <a:prstGeom prst="roundRect">
            <a:avLst>
              <a:gd name="" fmla="val 6000"/>
            </a:avLst>
          </a:prstGeom>
          <a:solidFill>
            <a:srgbClr val="F6F3EC"/>
          </a:solidFill>
          <a:ln>
            <a:noFill/>
          </a:ln>
        </p:spPr>
      </p:sp>
      <p:sp>
        <p:nvSpPr>
          <p:cNvPr id="11" name=""/>
          <p:cNvSpPr txBox="1"/>
          <p:nvPr/>
        </p:nvSpPr>
        <p:spPr>
          <a:xfrm>
            <a:off x="713232"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REVENUE</a:t>
            </a:r>
          </a:p>
        </p:txBody>
      </p:sp>
      <p:sp>
        <p:nvSpPr>
          <p:cNvPr id="12" name=""/>
          <p:cNvSpPr txBox="1"/>
          <p:nvPr/>
        </p:nvSpPr>
        <p:spPr>
          <a:xfrm>
            <a:off x="713232"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C$260.5K</a:t>
            </a:r>
          </a:p>
        </p:txBody>
      </p:sp>
      <p:sp>
        <p:nvSpPr>
          <p:cNvPr id="13" name=""/>
          <p:cNvSpPr txBox="1"/>
          <p:nvPr/>
        </p:nvSpPr>
        <p:spPr>
          <a:xfrm>
            <a:off x="713232"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Oct 1–25 · 574 orders</a:t>
            </a:r>
          </a:p>
        </p:txBody>
      </p:sp>
      <p:sp>
        <p:nvSpPr>
          <p:cNvPr id="14" name=""/>
          <p:cNvSpPr/>
          <p:nvPr/>
        </p:nvSpPr>
        <p:spPr>
          <a:xfrm>
            <a:off x="3364992" y="1417320"/>
            <a:ext cx="2651760" cy="1554480"/>
          </a:xfrm>
          <a:prstGeom prst="roundRect">
            <a:avLst>
              <a:gd name="" fmla="val 6000"/>
            </a:avLst>
          </a:prstGeom>
          <a:solidFill>
            <a:srgbClr val="F6F3EC"/>
          </a:solidFill>
          <a:ln>
            <a:noFill/>
          </a:ln>
        </p:spPr>
      </p:sp>
      <p:sp>
        <p:nvSpPr>
          <p:cNvPr id="15" name=""/>
          <p:cNvSpPr txBox="1"/>
          <p:nvPr/>
        </p:nvSpPr>
        <p:spPr>
          <a:xfrm>
            <a:off x="3529584"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AD SPEND</a:t>
            </a:r>
          </a:p>
        </p:txBody>
      </p:sp>
      <p:sp>
        <p:nvSpPr>
          <p:cNvPr id="16" name=""/>
          <p:cNvSpPr txBox="1"/>
          <p:nvPr/>
        </p:nvSpPr>
        <p:spPr>
          <a:xfrm>
            <a:off x="3529584"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C$18.4K</a:t>
            </a:r>
          </a:p>
        </p:txBody>
      </p:sp>
      <p:sp>
        <p:nvSpPr>
          <p:cNvPr id="17" name=""/>
          <p:cNvSpPr txBox="1"/>
          <p:nvPr/>
        </p:nvSpPr>
        <p:spPr>
          <a:xfrm>
            <a:off x="3529584"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ACoS 10.9%</a:t>
            </a:r>
          </a:p>
        </p:txBody>
      </p:sp>
      <p:sp>
        <p:nvSpPr>
          <p:cNvPr id="18" name=""/>
          <p:cNvSpPr/>
          <p:nvPr/>
        </p:nvSpPr>
        <p:spPr>
          <a:xfrm>
            <a:off x="6181344" y="1417320"/>
            <a:ext cx="2651760" cy="1554480"/>
          </a:xfrm>
          <a:prstGeom prst="roundRect">
            <a:avLst>
              <a:gd name="" fmla="val 6000"/>
            </a:avLst>
          </a:prstGeom>
          <a:solidFill>
            <a:srgbClr val="F6F3EC"/>
          </a:solidFill>
          <a:ln>
            <a:noFill/>
          </a:ln>
        </p:spPr>
      </p:sp>
      <p:sp>
        <p:nvSpPr>
          <p:cNvPr id="19" name=""/>
          <p:cNvSpPr txBox="1"/>
          <p:nvPr/>
        </p:nvSpPr>
        <p:spPr>
          <a:xfrm>
            <a:off x="6345936"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TACOS</a:t>
            </a:r>
          </a:p>
        </p:txBody>
      </p:sp>
      <p:sp>
        <p:nvSpPr>
          <p:cNvPr id="20" name=""/>
          <p:cNvSpPr txBox="1"/>
          <p:nvPr/>
        </p:nvSpPr>
        <p:spPr>
          <a:xfrm>
            <a:off x="6345936"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7.1%</a:t>
            </a:r>
          </a:p>
        </p:txBody>
      </p:sp>
      <p:sp>
        <p:nvSpPr>
          <p:cNvPr id="21" name=""/>
          <p:cNvSpPr txBox="1"/>
          <p:nvPr/>
        </p:nvSpPr>
        <p:spPr>
          <a:xfrm>
            <a:off x="6345936"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ad spend ÷ total sales</a:t>
            </a:r>
          </a:p>
        </p:txBody>
      </p:sp>
      <p:sp>
        <p:nvSpPr>
          <p:cNvPr id="22" name=""/>
          <p:cNvSpPr/>
          <p:nvPr/>
        </p:nvSpPr>
        <p:spPr>
          <a:xfrm>
            <a:off x="8997696" y="1417320"/>
            <a:ext cx="2642616" cy="1554480"/>
          </a:xfrm>
          <a:prstGeom prst="roundRect">
            <a:avLst>
              <a:gd name="" fmla="val 6000"/>
            </a:avLst>
          </a:prstGeom>
          <a:solidFill>
            <a:srgbClr val="F6F3EC"/>
          </a:solidFill>
          <a:ln>
            <a:noFill/>
          </a:ln>
        </p:spPr>
      </p:sp>
      <p:sp>
        <p:nvSpPr>
          <p:cNvPr id="23" name=""/>
          <p:cNvSpPr txBox="1"/>
          <p:nvPr/>
        </p:nvSpPr>
        <p:spPr>
          <a:xfrm>
            <a:off x="9162288" y="1545336"/>
            <a:ext cx="2368296" cy="274320"/>
          </a:xfrm>
          <a:prstGeom prst="rect">
            <a:avLst/>
          </a:prstGeom>
          <a:noFill/>
        </p:spPr>
        <p:txBody>
          <a:bodyPr wrap="square" lIns="36576" rIns="36576" tIns="18288" bIns="18288" anchor="t">
            <a:spAutoFit/>
          </a:bodyPr>
          <a:lstStyle/>
          <a:p>
            <a:pPr algn="l"/>
            <a:r>
              <a:rPr sz="900" b="1">
                <a:solidFill>
                  <a:srgbClr val="6B6558"/>
                </a:solidFill>
                <a:latin typeface="Inter"/>
              </a:rPr>
              <a:t>VS LAST YEAR</a:t>
            </a:r>
          </a:p>
        </p:txBody>
      </p:sp>
      <p:sp>
        <p:nvSpPr>
          <p:cNvPr id="24" name=""/>
          <p:cNvSpPr txBox="1"/>
          <p:nvPr/>
        </p:nvSpPr>
        <p:spPr>
          <a:xfrm>
            <a:off x="9162288" y="1801368"/>
            <a:ext cx="2368296" cy="548640"/>
          </a:xfrm>
          <a:prstGeom prst="rect">
            <a:avLst/>
          </a:prstGeom>
          <a:noFill/>
        </p:spPr>
        <p:txBody>
          <a:bodyPr wrap="square" lIns="36576" rIns="36576" tIns="18288" bIns="18288" anchor="t">
            <a:spAutoFit/>
          </a:bodyPr>
          <a:lstStyle/>
          <a:p>
            <a:pPr algn="l"/>
            <a:r>
              <a:rPr sz="2600" b="1">
                <a:solidFill>
                  <a:srgbClr val="DC2626"/>
                </a:solidFill>
                <a:latin typeface="Space Grotesk"/>
              </a:rPr>
              <a:t>-16%</a:t>
            </a:r>
          </a:p>
        </p:txBody>
      </p:sp>
      <p:sp>
        <p:nvSpPr>
          <p:cNvPr id="25" name=""/>
          <p:cNvSpPr txBox="1"/>
          <p:nvPr/>
        </p:nvSpPr>
        <p:spPr>
          <a:xfrm>
            <a:off x="9162288" y="2560320"/>
            <a:ext cx="2368296" cy="320040"/>
          </a:xfrm>
          <a:prstGeom prst="rect">
            <a:avLst/>
          </a:prstGeom>
          <a:noFill/>
        </p:spPr>
        <p:txBody>
          <a:bodyPr wrap="square" lIns="36576" rIns="36576" tIns="18288" bIns="18288" anchor="t">
            <a:spAutoFit/>
          </a:bodyPr>
          <a:lstStyle/>
          <a:p>
            <a:pPr algn="l"/>
            <a:r>
              <a:rPr sz="1000" b="0">
                <a:solidFill>
                  <a:srgbClr val="DC2626"/>
                </a:solidFill>
                <a:latin typeface="Inter"/>
              </a:rPr>
              <a:t>Oct 1–25, 2025: C$310.4K</a:t>
            </a:r>
          </a:p>
        </p:txBody>
      </p:sp>
      <p:sp>
        <p:nvSpPr>
          <p:cNvPr id="26" name=""/>
          <p:cNvSpPr/>
          <p:nvPr/>
        </p:nvSpPr>
        <p:spPr>
          <a:xfrm>
            <a:off x="807872" y="3474720"/>
            <a:ext cx="921715" cy="2468879"/>
          </a:xfrm>
          <a:prstGeom prst="rect">
            <a:avLst/>
          </a:prstGeom>
          <a:solidFill>
            <a:srgbClr val="C7D2FE"/>
          </a:solidFill>
          <a:ln>
            <a:noFill/>
          </a:ln>
        </p:spPr>
      </p:sp>
      <p:sp>
        <p:nvSpPr>
          <p:cNvPr id="27" name=""/>
          <p:cNvSpPr txBox="1"/>
          <p:nvPr/>
        </p:nvSpPr>
        <p:spPr>
          <a:xfrm>
            <a:off x="548640" y="3200400"/>
            <a:ext cx="1440180" cy="237744"/>
          </a:xfrm>
          <a:prstGeom prst="rect">
            <a:avLst/>
          </a:prstGeom>
          <a:noFill/>
        </p:spPr>
        <p:txBody>
          <a:bodyPr wrap="square" lIns="36576" rIns="36576" tIns="18288" bIns="18288" anchor="t">
            <a:spAutoFit/>
          </a:bodyPr>
          <a:lstStyle/>
          <a:p>
            <a:pPr algn="ctr"/>
            <a:r>
              <a:rPr sz="900" b="1">
                <a:solidFill>
                  <a:srgbClr val="0F172A"/>
                </a:solidFill>
                <a:latin typeface="Inter"/>
              </a:rPr>
              <a:t>C$350.6K</a:t>
            </a:r>
          </a:p>
        </p:txBody>
      </p:sp>
      <p:sp>
        <p:nvSpPr>
          <p:cNvPr id="28" name=""/>
          <p:cNvSpPr txBox="1"/>
          <p:nvPr/>
        </p:nvSpPr>
        <p:spPr>
          <a:xfrm>
            <a:off x="548640" y="5961888"/>
            <a:ext cx="1440180" cy="256032"/>
          </a:xfrm>
          <a:prstGeom prst="rect">
            <a:avLst/>
          </a:prstGeom>
          <a:noFill/>
        </p:spPr>
        <p:txBody>
          <a:bodyPr wrap="square" lIns="36576" rIns="36576" tIns="18288" bIns="18288" anchor="t">
            <a:spAutoFit/>
          </a:bodyPr>
          <a:lstStyle/>
          <a:p>
            <a:pPr algn="ctr"/>
            <a:r>
              <a:rPr sz="900" b="0">
                <a:solidFill>
                  <a:srgbClr val="6B6558"/>
                </a:solidFill>
                <a:latin typeface="Inter"/>
              </a:rPr>
              <a:t>Oct 2025</a:t>
            </a:r>
          </a:p>
        </p:txBody>
      </p:sp>
      <p:sp>
        <p:nvSpPr>
          <p:cNvPr id="29" name=""/>
          <p:cNvSpPr/>
          <p:nvPr/>
        </p:nvSpPr>
        <p:spPr>
          <a:xfrm>
            <a:off x="2248052" y="4117013"/>
            <a:ext cx="921715" cy="1826586"/>
          </a:xfrm>
          <a:prstGeom prst="rect">
            <a:avLst/>
          </a:prstGeom>
          <a:solidFill>
            <a:srgbClr val="C7D2FE"/>
          </a:solidFill>
          <a:ln>
            <a:noFill/>
          </a:ln>
        </p:spPr>
      </p:sp>
      <p:sp>
        <p:nvSpPr>
          <p:cNvPr id="30" name=""/>
          <p:cNvSpPr txBox="1"/>
          <p:nvPr/>
        </p:nvSpPr>
        <p:spPr>
          <a:xfrm>
            <a:off x="1988819" y="3842693"/>
            <a:ext cx="1440180" cy="237744"/>
          </a:xfrm>
          <a:prstGeom prst="rect">
            <a:avLst/>
          </a:prstGeom>
          <a:noFill/>
        </p:spPr>
        <p:txBody>
          <a:bodyPr wrap="square" lIns="36576" rIns="36576" tIns="18288" bIns="18288" anchor="t">
            <a:spAutoFit/>
          </a:bodyPr>
          <a:lstStyle/>
          <a:p>
            <a:pPr algn="ctr"/>
            <a:r>
              <a:rPr sz="900" b="1">
                <a:solidFill>
                  <a:srgbClr val="0F172A"/>
                </a:solidFill>
                <a:latin typeface="Inter"/>
              </a:rPr>
              <a:t>C$259.4K</a:t>
            </a:r>
          </a:p>
        </p:txBody>
      </p:sp>
      <p:sp>
        <p:nvSpPr>
          <p:cNvPr id="31" name=""/>
          <p:cNvSpPr txBox="1"/>
          <p:nvPr/>
        </p:nvSpPr>
        <p:spPr>
          <a:xfrm>
            <a:off x="1988819" y="5961888"/>
            <a:ext cx="1440180" cy="256032"/>
          </a:xfrm>
          <a:prstGeom prst="rect">
            <a:avLst/>
          </a:prstGeom>
          <a:noFill/>
        </p:spPr>
        <p:txBody>
          <a:bodyPr wrap="square" lIns="36576" rIns="36576" tIns="18288" bIns="18288" anchor="t">
            <a:spAutoFit/>
          </a:bodyPr>
          <a:lstStyle/>
          <a:p>
            <a:pPr algn="ctr"/>
            <a:r>
              <a:rPr sz="900" b="0">
                <a:solidFill>
                  <a:srgbClr val="6B6558"/>
                </a:solidFill>
                <a:latin typeface="Inter"/>
              </a:rPr>
              <a:t>Sep 2026</a:t>
            </a:r>
          </a:p>
        </p:txBody>
      </p:sp>
      <p:sp>
        <p:nvSpPr>
          <p:cNvPr id="32" name=""/>
          <p:cNvSpPr/>
          <p:nvPr/>
        </p:nvSpPr>
        <p:spPr>
          <a:xfrm>
            <a:off x="3688232" y="4109388"/>
            <a:ext cx="921715" cy="1834211"/>
          </a:xfrm>
          <a:prstGeom prst="rect">
            <a:avLst/>
          </a:prstGeom>
          <a:solidFill>
            <a:srgbClr val="C7D2FE"/>
          </a:solidFill>
          <a:ln>
            <a:noFill/>
          </a:ln>
        </p:spPr>
      </p:sp>
      <p:sp>
        <p:nvSpPr>
          <p:cNvPr id="33" name=""/>
          <p:cNvSpPr txBox="1"/>
          <p:nvPr/>
        </p:nvSpPr>
        <p:spPr>
          <a:xfrm>
            <a:off x="3429000" y="3835068"/>
            <a:ext cx="1440180" cy="237744"/>
          </a:xfrm>
          <a:prstGeom prst="rect">
            <a:avLst/>
          </a:prstGeom>
          <a:noFill/>
        </p:spPr>
        <p:txBody>
          <a:bodyPr wrap="square" lIns="36576" rIns="36576" tIns="18288" bIns="18288" anchor="t">
            <a:spAutoFit/>
          </a:bodyPr>
          <a:lstStyle/>
          <a:p>
            <a:pPr algn="ctr"/>
            <a:r>
              <a:rPr sz="900" b="1">
                <a:solidFill>
                  <a:srgbClr val="0F172A"/>
                </a:solidFill>
                <a:latin typeface="Inter"/>
              </a:rPr>
              <a:t>C$260.5K</a:t>
            </a:r>
          </a:p>
        </p:txBody>
      </p:sp>
      <p:sp>
        <p:nvSpPr>
          <p:cNvPr id="34" name=""/>
          <p:cNvSpPr txBox="1"/>
          <p:nvPr/>
        </p:nvSpPr>
        <p:spPr>
          <a:xfrm>
            <a:off x="3429000" y="5961888"/>
            <a:ext cx="1440180" cy="256032"/>
          </a:xfrm>
          <a:prstGeom prst="rect">
            <a:avLst/>
          </a:prstGeom>
          <a:noFill/>
        </p:spPr>
        <p:txBody>
          <a:bodyPr wrap="square" lIns="36576" rIns="36576" tIns="18288" bIns="18288" anchor="t">
            <a:spAutoFit/>
          </a:bodyPr>
          <a:lstStyle/>
          <a:p>
            <a:pPr algn="ctr"/>
            <a:r>
              <a:rPr sz="900" b="0">
                <a:solidFill>
                  <a:srgbClr val="6B6558"/>
                </a:solidFill>
                <a:latin typeface="Inter"/>
              </a:rPr>
              <a:t>Oct MTD</a:t>
            </a:r>
          </a:p>
        </p:txBody>
      </p:sp>
      <p:sp>
        <p:nvSpPr>
          <p:cNvPr id="35" name=""/>
          <p:cNvSpPr/>
          <p:nvPr/>
        </p:nvSpPr>
        <p:spPr>
          <a:xfrm>
            <a:off x="5128412" y="3763703"/>
            <a:ext cx="921715" cy="2179896"/>
          </a:xfrm>
          <a:prstGeom prst="rect">
            <a:avLst/>
          </a:prstGeom>
          <a:solidFill>
            <a:srgbClr val="2447FF"/>
          </a:solidFill>
          <a:ln>
            <a:noFill/>
          </a:ln>
        </p:spPr>
      </p:sp>
      <p:sp>
        <p:nvSpPr>
          <p:cNvPr id="36" name=""/>
          <p:cNvSpPr txBox="1"/>
          <p:nvPr/>
        </p:nvSpPr>
        <p:spPr>
          <a:xfrm>
            <a:off x="4869179" y="3489383"/>
            <a:ext cx="1440180" cy="237744"/>
          </a:xfrm>
          <a:prstGeom prst="rect">
            <a:avLst/>
          </a:prstGeom>
          <a:noFill/>
        </p:spPr>
        <p:txBody>
          <a:bodyPr wrap="square" lIns="36576" rIns="36576" tIns="18288" bIns="18288" anchor="t">
            <a:spAutoFit/>
          </a:bodyPr>
          <a:lstStyle/>
          <a:p>
            <a:pPr algn="ctr"/>
            <a:r>
              <a:rPr sz="900" b="1">
                <a:solidFill>
                  <a:srgbClr val="0F172A"/>
                </a:solidFill>
                <a:latin typeface="Inter"/>
              </a:rPr>
              <a:t>C$309.6K</a:t>
            </a:r>
          </a:p>
        </p:txBody>
      </p:sp>
      <p:sp>
        <p:nvSpPr>
          <p:cNvPr id="37" name=""/>
          <p:cNvSpPr txBox="1"/>
          <p:nvPr/>
        </p:nvSpPr>
        <p:spPr>
          <a:xfrm>
            <a:off x="4869179" y="5961888"/>
            <a:ext cx="1440180" cy="256032"/>
          </a:xfrm>
          <a:prstGeom prst="rect">
            <a:avLst/>
          </a:prstGeom>
          <a:noFill/>
        </p:spPr>
        <p:txBody>
          <a:bodyPr wrap="square" lIns="36576" rIns="36576" tIns="18288" bIns="18288" anchor="t">
            <a:spAutoFit/>
          </a:bodyPr>
          <a:lstStyle/>
          <a:p>
            <a:pPr algn="ctr"/>
            <a:r>
              <a:rPr sz="900" b="0">
                <a:solidFill>
                  <a:srgbClr val="6B6558"/>
                </a:solidFill>
                <a:latin typeface="Inter"/>
              </a:rPr>
              <a:t>Oct pace</a:t>
            </a:r>
          </a:p>
        </p:txBody>
      </p:sp>
      <p:sp>
        <p:nvSpPr>
          <p:cNvPr id="38" name=""/>
          <p:cNvSpPr/>
          <p:nvPr/>
        </p:nvSpPr>
        <p:spPr>
          <a:xfrm>
            <a:off x="548640" y="5943600"/>
            <a:ext cx="5760720" cy="9144"/>
          </a:xfrm>
          <a:prstGeom prst="rect">
            <a:avLst/>
          </a:prstGeom>
          <a:solidFill>
            <a:srgbClr val="E5E0D6"/>
          </a:solidFill>
          <a:ln>
            <a:noFill/>
          </a:ln>
        </p:spPr>
      </p:sp>
      <p:sp>
        <p:nvSpPr>
          <p:cNvPr id="39" name=""/>
          <p:cNvSpPr/>
          <p:nvPr/>
        </p:nvSpPr>
        <p:spPr>
          <a:xfrm>
            <a:off x="6583680" y="3200400"/>
            <a:ext cx="5056632" cy="1325880"/>
          </a:xfrm>
          <a:prstGeom prst="roundRect">
            <a:avLst>
              <a:gd name="" fmla="val 6000"/>
            </a:avLst>
          </a:prstGeom>
          <a:solidFill>
            <a:srgbClr val="FFFFFF"/>
          </a:solidFill>
          <a:ln w="9525">
            <a:solidFill>
              <a:srgbClr val="E5E0D6"/>
            </a:solidFill>
          </a:ln>
        </p:spPr>
      </p:sp>
      <p:sp>
        <p:nvSpPr>
          <p:cNvPr id="40" name=""/>
          <p:cNvSpPr txBox="1"/>
          <p:nvPr/>
        </p:nvSpPr>
        <p:spPr>
          <a:xfrm>
            <a:off x="6766560" y="3337560"/>
            <a:ext cx="469087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Full-month pace</a:t>
            </a:r>
          </a:p>
        </p:txBody>
      </p:sp>
      <p:sp>
        <p:nvSpPr>
          <p:cNvPr id="41" name=""/>
          <p:cNvSpPr txBox="1"/>
          <p:nvPr/>
        </p:nvSpPr>
        <p:spPr>
          <a:xfrm>
            <a:off x="6766560" y="3657600"/>
            <a:ext cx="4690872" cy="777240"/>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October is pacing to about C$309.6K: C$260.5K so far plus 6 days at C$8.2K/day (the October daily average without the 2 event days).</a:t>
            </a:r>
          </a:p>
        </p:txBody>
      </p:sp>
      <p:sp>
        <p:nvSpPr>
          <p:cNvPr id="42" name=""/>
          <p:cNvSpPr/>
          <p:nvPr/>
        </p:nvSpPr>
        <p:spPr>
          <a:xfrm>
            <a:off x="6583680" y="4663440"/>
            <a:ext cx="5056632" cy="1554480"/>
          </a:xfrm>
          <a:prstGeom prst="roundRect">
            <a:avLst>
              <a:gd name="" fmla="val 6000"/>
            </a:avLst>
          </a:prstGeom>
          <a:solidFill>
            <a:srgbClr val="FEF2F2"/>
          </a:solidFill>
          <a:ln>
            <a:noFill/>
          </a:ln>
        </p:spPr>
      </p:sp>
      <p:sp>
        <p:nvSpPr>
          <p:cNvPr id="43" name=""/>
          <p:cNvSpPr txBox="1"/>
          <p:nvPr/>
        </p:nvSpPr>
        <p:spPr>
          <a:xfrm>
            <a:off x="6766560" y="4773168"/>
            <a:ext cx="4754880" cy="274320"/>
          </a:xfrm>
          <a:prstGeom prst="rect">
            <a:avLst/>
          </a:prstGeom>
          <a:noFill/>
        </p:spPr>
        <p:txBody>
          <a:bodyPr wrap="square" lIns="36576" rIns="36576" tIns="18288" bIns="18288" anchor="t">
            <a:spAutoFit/>
          </a:bodyPr>
          <a:lstStyle/>
          <a:p>
            <a:pPr algn="l"/>
            <a:r>
              <a:rPr sz="1200" b="1">
                <a:solidFill>
                  <a:srgbClr val="DC2626"/>
                </a:solidFill>
                <a:latin typeface="Space Grotesk"/>
              </a:rPr>
              <a:t>Recommendation</a:t>
            </a:r>
          </a:p>
        </p:txBody>
      </p:sp>
      <p:sp>
        <p:nvSpPr>
          <p:cNvPr id="44" name=""/>
          <p:cNvSpPr txBox="1"/>
          <p:nvPr/>
        </p:nvSpPr>
        <p:spPr>
          <a:xfrm>
            <a:off x="6766560" y="5074920"/>
            <a:ext cx="4754880" cy="1097280"/>
          </a:xfrm>
          <a:prstGeom prst="rect">
            <a:avLst/>
          </a:prstGeom>
          <a:noFill/>
        </p:spPr>
        <p:txBody>
          <a:bodyPr wrap="square" lIns="36576" rIns="36576" tIns="18288" bIns="18288" anchor="t">
            <a:spAutoFit/>
          </a:bodyPr>
          <a:lstStyle/>
          <a:p>
            <a:pPr algn="l"/>
            <a:r>
              <a:rPr sz="1050" b="0">
                <a:solidFill>
                  <a:srgbClr val="334155"/>
                </a:solidFill>
                <a:latin typeface="Inter"/>
              </a:rPr>
              <a:t>Pace is +19% vs Sep. October is behind last year on the same days. Keeping the Queen topper in stock at FBA is the biggest lever: it has 23 units available, under one week of sales.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SALES PACING</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Ad spend pacing — month to date</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5 / 17</a:t>
            </a:r>
          </a:p>
        </p:txBody>
      </p:sp>
      <p:sp>
        <p:nvSpPr>
          <p:cNvPr id="10" name=""/>
          <p:cNvSpPr/>
          <p:nvPr/>
        </p:nvSpPr>
        <p:spPr>
          <a:xfrm>
            <a:off x="548640" y="1417320"/>
            <a:ext cx="2651760" cy="1554480"/>
          </a:xfrm>
          <a:prstGeom prst="roundRect">
            <a:avLst>
              <a:gd name="" fmla="val 6000"/>
            </a:avLst>
          </a:prstGeom>
          <a:solidFill>
            <a:srgbClr val="F6F3EC"/>
          </a:solidFill>
          <a:ln>
            <a:noFill/>
          </a:ln>
        </p:spPr>
      </p:sp>
      <p:sp>
        <p:nvSpPr>
          <p:cNvPr id="11" name=""/>
          <p:cNvSpPr txBox="1"/>
          <p:nvPr/>
        </p:nvSpPr>
        <p:spPr>
          <a:xfrm>
            <a:off x="713232"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AD SPEND</a:t>
            </a:r>
          </a:p>
        </p:txBody>
      </p:sp>
      <p:sp>
        <p:nvSpPr>
          <p:cNvPr id="12" name=""/>
          <p:cNvSpPr txBox="1"/>
          <p:nvPr/>
        </p:nvSpPr>
        <p:spPr>
          <a:xfrm>
            <a:off x="713232"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C$18.4K</a:t>
            </a:r>
          </a:p>
        </p:txBody>
      </p:sp>
      <p:sp>
        <p:nvSpPr>
          <p:cNvPr id="13" name=""/>
          <p:cNvSpPr txBox="1"/>
          <p:nvPr/>
        </p:nvSpPr>
        <p:spPr>
          <a:xfrm>
            <a:off x="713232"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C$737 per day</a:t>
            </a:r>
          </a:p>
        </p:txBody>
      </p:sp>
      <p:sp>
        <p:nvSpPr>
          <p:cNvPr id="14" name=""/>
          <p:cNvSpPr/>
          <p:nvPr/>
        </p:nvSpPr>
        <p:spPr>
          <a:xfrm>
            <a:off x="3364992" y="1417320"/>
            <a:ext cx="2651760" cy="1554480"/>
          </a:xfrm>
          <a:prstGeom prst="roundRect">
            <a:avLst>
              <a:gd name="" fmla="val 6000"/>
            </a:avLst>
          </a:prstGeom>
          <a:solidFill>
            <a:srgbClr val="F6F3EC"/>
          </a:solidFill>
          <a:ln>
            <a:noFill/>
          </a:ln>
        </p:spPr>
      </p:sp>
      <p:sp>
        <p:nvSpPr>
          <p:cNvPr id="15" name=""/>
          <p:cNvSpPr txBox="1"/>
          <p:nvPr/>
        </p:nvSpPr>
        <p:spPr>
          <a:xfrm>
            <a:off x="3529584"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PROJECTED SPEND</a:t>
            </a:r>
          </a:p>
        </p:txBody>
      </p:sp>
      <p:sp>
        <p:nvSpPr>
          <p:cNvPr id="16" name=""/>
          <p:cNvSpPr txBox="1"/>
          <p:nvPr/>
        </p:nvSpPr>
        <p:spPr>
          <a:xfrm>
            <a:off x="3529584"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C$22.8K</a:t>
            </a:r>
          </a:p>
        </p:txBody>
      </p:sp>
      <p:sp>
        <p:nvSpPr>
          <p:cNvPr id="17" name=""/>
          <p:cNvSpPr txBox="1"/>
          <p:nvPr/>
        </p:nvSpPr>
        <p:spPr>
          <a:xfrm>
            <a:off x="3529584"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if the daily rate holds to Oct 31</a:t>
            </a:r>
          </a:p>
        </p:txBody>
      </p:sp>
      <p:sp>
        <p:nvSpPr>
          <p:cNvPr id="18" name=""/>
          <p:cNvSpPr/>
          <p:nvPr/>
        </p:nvSpPr>
        <p:spPr>
          <a:xfrm>
            <a:off x="6181344" y="1417320"/>
            <a:ext cx="2651760" cy="1554480"/>
          </a:xfrm>
          <a:prstGeom prst="roundRect">
            <a:avLst>
              <a:gd name="" fmla="val 6000"/>
            </a:avLst>
          </a:prstGeom>
          <a:solidFill>
            <a:srgbClr val="F6F3EC"/>
          </a:solidFill>
          <a:ln>
            <a:noFill/>
          </a:ln>
        </p:spPr>
      </p:sp>
      <p:sp>
        <p:nvSpPr>
          <p:cNvPr id="19" name=""/>
          <p:cNvSpPr txBox="1"/>
          <p:nvPr/>
        </p:nvSpPr>
        <p:spPr>
          <a:xfrm>
            <a:off x="6345936"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TACOS</a:t>
            </a:r>
          </a:p>
        </p:txBody>
      </p:sp>
      <p:sp>
        <p:nvSpPr>
          <p:cNvPr id="20" name=""/>
          <p:cNvSpPr txBox="1"/>
          <p:nvPr/>
        </p:nvSpPr>
        <p:spPr>
          <a:xfrm>
            <a:off x="6345936"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7.1%</a:t>
            </a:r>
          </a:p>
        </p:txBody>
      </p:sp>
      <p:sp>
        <p:nvSpPr>
          <p:cNvPr id="21" name=""/>
          <p:cNvSpPr txBox="1"/>
          <p:nvPr/>
        </p:nvSpPr>
        <p:spPr>
          <a:xfrm>
            <a:off x="6345936"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this week 6.3%</a:t>
            </a:r>
          </a:p>
        </p:txBody>
      </p:sp>
      <p:sp>
        <p:nvSpPr>
          <p:cNvPr id="22" name=""/>
          <p:cNvSpPr/>
          <p:nvPr/>
        </p:nvSpPr>
        <p:spPr>
          <a:xfrm>
            <a:off x="8997696" y="1417320"/>
            <a:ext cx="2642616" cy="1554480"/>
          </a:xfrm>
          <a:prstGeom prst="roundRect">
            <a:avLst>
              <a:gd name="" fmla="val 6000"/>
            </a:avLst>
          </a:prstGeom>
          <a:solidFill>
            <a:srgbClr val="F6F3EC"/>
          </a:solidFill>
          <a:ln>
            <a:noFill/>
          </a:ln>
        </p:spPr>
      </p:sp>
      <p:sp>
        <p:nvSpPr>
          <p:cNvPr id="23" name=""/>
          <p:cNvSpPr txBox="1"/>
          <p:nvPr/>
        </p:nvSpPr>
        <p:spPr>
          <a:xfrm>
            <a:off x="9162288" y="1545336"/>
            <a:ext cx="2368296" cy="274320"/>
          </a:xfrm>
          <a:prstGeom prst="rect">
            <a:avLst/>
          </a:prstGeom>
          <a:noFill/>
        </p:spPr>
        <p:txBody>
          <a:bodyPr wrap="square" lIns="36576" rIns="36576" tIns="18288" bIns="18288" anchor="t">
            <a:spAutoFit/>
          </a:bodyPr>
          <a:lstStyle/>
          <a:p>
            <a:pPr algn="l"/>
            <a:r>
              <a:rPr sz="900" b="1">
                <a:solidFill>
                  <a:srgbClr val="6B6558"/>
                </a:solidFill>
                <a:latin typeface="Inter"/>
              </a:rPr>
              <a:t>MTD ACOS</a:t>
            </a:r>
          </a:p>
        </p:txBody>
      </p:sp>
      <p:sp>
        <p:nvSpPr>
          <p:cNvPr id="24" name=""/>
          <p:cNvSpPr txBox="1"/>
          <p:nvPr/>
        </p:nvSpPr>
        <p:spPr>
          <a:xfrm>
            <a:off x="9162288" y="1801368"/>
            <a:ext cx="2368296" cy="548640"/>
          </a:xfrm>
          <a:prstGeom prst="rect">
            <a:avLst/>
          </a:prstGeom>
          <a:noFill/>
        </p:spPr>
        <p:txBody>
          <a:bodyPr wrap="square" lIns="36576" rIns="36576" tIns="18288" bIns="18288" anchor="t">
            <a:spAutoFit/>
          </a:bodyPr>
          <a:lstStyle/>
          <a:p>
            <a:pPr algn="l"/>
            <a:r>
              <a:rPr sz="2600" b="1">
                <a:solidFill>
                  <a:srgbClr val="2447FF"/>
                </a:solidFill>
                <a:latin typeface="Space Grotesk"/>
              </a:rPr>
              <a:t>10.9%</a:t>
            </a:r>
          </a:p>
        </p:txBody>
      </p:sp>
      <p:sp>
        <p:nvSpPr>
          <p:cNvPr id="25" name=""/>
          <p:cNvSpPr txBox="1"/>
          <p:nvPr/>
        </p:nvSpPr>
        <p:spPr>
          <a:xfrm>
            <a:off x="9162288" y="2560320"/>
            <a:ext cx="2368296" cy="320040"/>
          </a:xfrm>
          <a:prstGeom prst="rect">
            <a:avLst/>
          </a:prstGeom>
          <a:noFill/>
        </p:spPr>
        <p:txBody>
          <a:bodyPr wrap="square" lIns="36576" rIns="36576" tIns="18288" bIns="18288" anchor="t">
            <a:spAutoFit/>
          </a:bodyPr>
          <a:lstStyle/>
          <a:p>
            <a:pPr algn="l"/>
            <a:r>
              <a:rPr sz="1000" b="0">
                <a:solidFill>
                  <a:srgbClr val="6B6558"/>
                </a:solidFill>
                <a:latin typeface="Inter"/>
              </a:rPr>
              <a:t>this week 10.4%</a:t>
            </a:r>
          </a:p>
        </p:txBody>
      </p:sp>
      <p:sp>
        <p:nvSpPr>
          <p:cNvPr id="26" name=""/>
          <p:cNvSpPr/>
          <p:nvPr/>
        </p:nvSpPr>
        <p:spPr>
          <a:xfrm>
            <a:off x="548640" y="3200400"/>
            <a:ext cx="3611880" cy="3017520"/>
          </a:xfrm>
          <a:prstGeom prst="roundRect">
            <a:avLst>
              <a:gd name="" fmla="val 6000"/>
            </a:avLst>
          </a:prstGeom>
          <a:solidFill>
            <a:srgbClr val="FFFFFF"/>
          </a:solidFill>
          <a:ln w="9525">
            <a:solidFill>
              <a:srgbClr val="E5E0D6"/>
            </a:solidFill>
          </a:ln>
        </p:spPr>
      </p:sp>
      <p:sp>
        <p:nvSpPr>
          <p:cNvPr id="27" name=""/>
          <p:cNvSpPr txBox="1"/>
          <p:nvPr/>
        </p:nvSpPr>
        <p:spPr>
          <a:xfrm>
            <a:off x="731520" y="3337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MTD performance</a:t>
            </a:r>
          </a:p>
        </p:txBody>
      </p:sp>
      <p:sp>
        <p:nvSpPr>
          <p:cNvPr id="28" name=""/>
          <p:cNvSpPr txBox="1"/>
          <p:nvPr/>
        </p:nvSpPr>
        <p:spPr>
          <a:xfrm>
            <a:off x="731520" y="3657600"/>
            <a:ext cx="3246120" cy="24688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C$168.8K in ad sales on C$18.4K spend, a 9.2x return.</a:t>
            </a:r>
          </a:p>
          <a:p>
            <a:pPr algn="l">
              <a:spcAft>
                <a:spcPts val="500"/>
              </a:spcAft>
            </a:pPr>
            <a:r>
              <a:rPr sz="1100" b="0">
                <a:solidFill>
                  <a:srgbClr val="334155"/>
                </a:solidFill>
                <a:latin typeface="Inter"/>
              </a:rPr>
              <a:t>Ads drove 65% of October sales.</a:t>
            </a:r>
          </a:p>
        </p:txBody>
      </p:sp>
      <p:sp>
        <p:nvSpPr>
          <p:cNvPr id="29" name=""/>
          <p:cNvSpPr/>
          <p:nvPr/>
        </p:nvSpPr>
        <p:spPr>
          <a:xfrm>
            <a:off x="4288536" y="3200400"/>
            <a:ext cx="3611880" cy="3017520"/>
          </a:xfrm>
          <a:prstGeom prst="roundRect">
            <a:avLst>
              <a:gd name="" fmla="val 6000"/>
            </a:avLst>
          </a:prstGeom>
          <a:solidFill>
            <a:srgbClr val="FFFFFF"/>
          </a:solidFill>
          <a:ln w="9525">
            <a:solidFill>
              <a:srgbClr val="E5E0D6"/>
            </a:solidFill>
          </a:ln>
        </p:spPr>
      </p:sp>
      <p:sp>
        <p:nvSpPr>
          <p:cNvPr id="30" name=""/>
          <p:cNvSpPr txBox="1"/>
          <p:nvPr/>
        </p:nvSpPr>
        <p:spPr>
          <a:xfrm>
            <a:off x="4471416" y="3337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Context</a:t>
            </a:r>
          </a:p>
        </p:txBody>
      </p:sp>
      <p:sp>
        <p:nvSpPr>
          <p:cNvPr id="31" name=""/>
          <p:cNvSpPr txBox="1"/>
          <p:nvPr/>
        </p:nvSpPr>
        <p:spPr>
          <a:xfrm>
            <a:off x="4471416" y="3657600"/>
            <a:ext cx="3246120" cy="24688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Prime Big Deal Days week (Oct 4–10) ran at 9.7% ACoS and 6.4% TACoS.</a:t>
            </a:r>
          </a:p>
          <a:p>
            <a:pPr algn="l">
              <a:spcAft>
                <a:spcPts val="500"/>
              </a:spcAft>
            </a:pPr>
            <a:r>
              <a:rPr sz="1100" b="0">
                <a:solidFill>
                  <a:srgbClr val="334155"/>
                </a:solidFill>
                <a:latin typeface="Inter"/>
              </a:rPr>
              <a:t>This week ACoS fell to 10.4% from 16.9%, with 26% less spend and 19% more ad sales.</a:t>
            </a:r>
          </a:p>
        </p:txBody>
      </p:sp>
      <p:sp>
        <p:nvSpPr>
          <p:cNvPr id="32" name=""/>
          <p:cNvSpPr/>
          <p:nvPr/>
        </p:nvSpPr>
        <p:spPr>
          <a:xfrm>
            <a:off x="8028431" y="3200400"/>
            <a:ext cx="3611880" cy="3017520"/>
          </a:xfrm>
          <a:prstGeom prst="roundRect">
            <a:avLst>
              <a:gd name="" fmla="val 6000"/>
            </a:avLst>
          </a:prstGeom>
          <a:solidFill>
            <a:srgbClr val="FFFFFF"/>
          </a:solidFill>
          <a:ln w="9525">
            <a:solidFill>
              <a:srgbClr val="E5E0D6"/>
            </a:solidFill>
          </a:ln>
        </p:spPr>
      </p:sp>
      <p:sp>
        <p:nvSpPr>
          <p:cNvPr id="33" name=""/>
          <p:cNvSpPr txBox="1"/>
          <p:nvPr/>
        </p:nvSpPr>
        <p:spPr>
          <a:xfrm>
            <a:off x="8211311" y="3337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This week's efficiency</a:t>
            </a:r>
          </a:p>
        </p:txBody>
      </p:sp>
      <p:sp>
        <p:nvSpPr>
          <p:cNvPr id="34" name=""/>
          <p:cNvSpPr txBox="1"/>
          <p:nvPr/>
        </p:nvSpPr>
        <p:spPr>
          <a:xfrm>
            <a:off x="8211311" y="3657600"/>
            <a:ext cx="3246120" cy="24688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Spend C$3,612 (-26%), ad sales C$34,696 (+19%).</a:t>
            </a:r>
          </a:p>
          <a:p>
            <a:pPr algn="l">
              <a:spcAft>
                <a:spcPts val="500"/>
              </a:spcAft>
            </a:pPr>
            <a:r>
              <a:rPr sz="1100" b="0">
                <a:solidFill>
                  <a:srgbClr val="334155"/>
                </a:solidFill>
                <a:latin typeface="Inter"/>
              </a:rPr>
              <a:t>ACoS 10.4% (-6.5 pts); TACoS 6.3% (-4.1 pts).</a:t>
            </a:r>
          </a:p>
          <a:p>
            <a:pPr algn="l">
              <a:spcAft>
                <a:spcPts val="500"/>
              </a:spcAft>
            </a:pPr>
            <a:r>
              <a:rPr sz="1100" b="0">
                <a:solidFill>
                  <a:srgbClr val="334155"/>
                </a:solidFill>
                <a:latin typeface="Inter"/>
              </a:rPr>
              <a:t>CPC C$1.43, 78 ad orders.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Brand vs. category spend</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6 / 17</a:t>
            </a:r>
          </a:p>
        </p:txBody>
      </p:sp>
      <p:graphicFrame>
        <p:nvGraphicFramePr>
          <p:cNvPr id="10" name=""/>
          <p:cNvGraphicFramePr>
            <a:graphicFrameLocks noGrp="1"/>
          </p:cNvGraphicFramePr>
          <p:nvPr/>
        </p:nvGraphicFramePr>
        <p:xfrm>
          <a:off x="548640" y="1417320"/>
          <a:ext cx="6766560" cy="3127248"/>
        </p:xfrm>
        <a:graphic>
          <a:graphicData uri="http://schemas.openxmlformats.org/drawingml/2006/table">
            <a:tbl>
              <a:tblPr firstRow="1" bandRow="1">
                <a:tableStyleId>{5C22544A-7EE6-4342-B048-85BDC9FD1C3A}</a:tableStyleId>
              </a:tblPr>
              <a:tblGrid>
                <a:gridCol w="2651760"/>
                <a:gridCol w="914400"/>
                <a:gridCol w="914400"/>
                <a:gridCol w="731520"/>
                <a:gridCol w="777240"/>
                <a:gridCol w="777240"/>
              </a:tblGrid>
              <a:tr h="347472">
                <a:tc>
                  <a:txBody>
                    <a:bodyPr wrap="square"/>
                    <a:lstStyle/>
                    <a:p>
                      <a:pPr algn="l"/>
                      <a:r>
                        <a:rPr sz="950" b="1">
                          <a:solidFill>
                            <a:srgbClr val="FFFFFF"/>
                          </a:solidFill>
                          <a:latin typeface="Inter"/>
                        </a:rPr>
                        <a:t>Strategy</a:t>
                      </a:r>
                    </a:p>
                  </a:txBody>
                  <a:tcPr marL="54864" marR="54864" marT="27432" marB="27432" anchor="ctr">
                    <a:solidFill>
                      <a:srgbClr val="0F172A"/>
                    </a:solidFill>
                  </a:tcPr>
                </a:tc>
                <a:tc>
                  <a:txBody>
                    <a:bodyPr wrap="square"/>
                    <a:lstStyle/>
                    <a:p>
                      <a:pPr algn="r"/>
                      <a:r>
                        <a:rPr sz="950" b="1">
                          <a:solidFill>
                            <a:srgbClr val="FFFFFF"/>
                          </a:solidFill>
                          <a:latin typeface="Inter"/>
                        </a:rPr>
                        <a:t>Ad spend</a:t>
                      </a:r>
                    </a:p>
                  </a:txBody>
                  <a:tcPr marL="54864" marR="54864" marT="27432" marB="27432" anchor="ctr">
                    <a:solidFill>
                      <a:srgbClr val="0F172A"/>
                    </a:solidFill>
                  </a:tcPr>
                </a:tc>
                <a:tc>
                  <a:txBody>
                    <a:bodyPr wrap="square"/>
                    <a:lstStyle/>
                    <a:p>
                      <a:pPr algn="r"/>
                      <a:r>
                        <a:rPr sz="950" b="1">
                          <a:solidFill>
                            <a:srgbClr val="FFFFFF"/>
                          </a:solidFill>
                          <a:latin typeface="Inter"/>
                        </a:rPr>
                        <a:t>Ad sales</a:t>
                      </a:r>
                    </a:p>
                  </a:txBody>
                  <a:tcPr marL="54864" marR="54864" marT="27432" marB="27432" anchor="ctr">
                    <a:solidFill>
                      <a:srgbClr val="0F172A"/>
                    </a:solidFill>
                  </a:tcPr>
                </a:tc>
                <a:tc>
                  <a:txBody>
                    <a:bodyPr wrap="square"/>
                    <a:lstStyle/>
                    <a:p>
                      <a:pPr algn="r"/>
                      <a:r>
                        <a:rPr sz="950" b="1">
                          <a:solidFill>
                            <a:srgbClr val="FFFFFF"/>
                          </a:solidFill>
                          <a:latin typeface="Inter"/>
                        </a:rPr>
                        <a:t>ROAS</a:t>
                      </a:r>
                    </a:p>
                  </a:txBody>
                  <a:tcPr marL="54864" marR="54864" marT="27432" marB="27432" anchor="ctr">
                    <a:solidFill>
                      <a:srgbClr val="0F172A"/>
                    </a:solidFill>
                  </a:tcPr>
                </a:tc>
                <a:tc>
                  <a:txBody>
                    <a:bodyPr wrap="square"/>
                    <a:lstStyle/>
                    <a:p>
                      <a:pPr algn="r"/>
                      <a:r>
                        <a:rPr sz="950" b="1">
                          <a:solidFill>
                            <a:srgbClr val="FFFFFF"/>
                          </a:solidFill>
                          <a:latin typeface="Inter"/>
                        </a:rPr>
                        <a:t>ACoS</a:t>
                      </a:r>
                    </a:p>
                  </a:txBody>
                  <a:tcPr marL="54864" marR="54864" marT="27432" marB="27432" anchor="ctr">
                    <a:solidFill>
                      <a:srgbClr val="0F172A"/>
                    </a:solidFill>
                  </a:tcPr>
                </a:tc>
                <a:tc>
                  <a:txBody>
                    <a:bodyPr wrap="square"/>
                    <a:lstStyle/>
                    <a:p>
                      <a:pPr algn="r"/>
                      <a:r>
                        <a:rPr sz="950" b="1">
                          <a:solidFill>
                            <a:srgbClr val="FFFFFF"/>
                          </a:solidFill>
                          <a:latin typeface="Inter"/>
                        </a:rPr>
                        <a:t>Orders</a:t>
                      </a:r>
                    </a:p>
                  </a:txBody>
                  <a:tcPr marL="54864" marR="54864" marT="27432" marB="27432" anchor="ctr">
                    <a:solidFill>
                      <a:srgbClr val="0F172A"/>
                    </a:solidFill>
                  </a:tcPr>
                </a:tc>
              </a:tr>
              <a:tr h="347472">
                <a:tc>
                  <a:txBody>
                    <a:bodyPr wrap="square"/>
                    <a:lstStyle/>
                    <a:p>
                      <a:pPr algn="l"/>
                      <a:r>
                        <a:rPr sz="1050" b="0">
                          <a:solidFill>
                            <a:srgbClr val="0F172A"/>
                          </a:solidFill>
                          <a:latin typeface="Inter"/>
                        </a:rPr>
                        <a:t>Branded keywords</a:t>
                      </a:r>
                    </a:p>
                  </a:txBody>
                  <a:tcPr marL="54864" marR="54864" marT="27432" marB="27432" anchor="ctr">
                    <a:solidFill>
                      <a:srgbClr val="FFFFFF"/>
                    </a:solidFill>
                  </a:tcPr>
                </a:tc>
                <a:tc>
                  <a:txBody>
                    <a:bodyPr wrap="square"/>
                    <a:lstStyle/>
                    <a:p>
                      <a:pPr algn="r"/>
                      <a:r>
                        <a:rPr sz="1050" b="0">
                          <a:solidFill>
                            <a:srgbClr val="0F172A"/>
                          </a:solidFill>
                          <a:latin typeface="Inter"/>
                        </a:rPr>
                        <a:t>C$1,605</a:t>
                      </a:r>
                    </a:p>
                  </a:txBody>
                  <a:tcPr marL="54864" marR="54864" marT="27432" marB="27432" anchor="ctr">
                    <a:solidFill>
                      <a:srgbClr val="FFFFFF"/>
                    </a:solidFill>
                  </a:tcPr>
                </a:tc>
                <a:tc>
                  <a:txBody>
                    <a:bodyPr wrap="square"/>
                    <a:lstStyle/>
                    <a:p>
                      <a:pPr algn="r"/>
                      <a:r>
                        <a:rPr sz="1050" b="0">
                          <a:solidFill>
                            <a:srgbClr val="0F172A"/>
                          </a:solidFill>
                          <a:latin typeface="Inter"/>
                        </a:rPr>
                        <a:t>C$27,076</a:t>
                      </a:r>
                    </a:p>
                  </a:txBody>
                  <a:tcPr marL="54864" marR="54864" marT="27432" marB="27432" anchor="ctr">
                    <a:solidFill>
                      <a:srgbClr val="FFFFFF"/>
                    </a:solidFill>
                  </a:tcPr>
                </a:tc>
                <a:tc>
                  <a:txBody>
                    <a:bodyPr wrap="square"/>
                    <a:lstStyle/>
                    <a:p>
                      <a:pPr algn="r"/>
                      <a:r>
                        <a:rPr sz="1050" b="0">
                          <a:solidFill>
                            <a:srgbClr val="0F172A"/>
                          </a:solidFill>
                          <a:latin typeface="Inter"/>
                        </a:rPr>
                        <a:t>16.87x</a:t>
                      </a:r>
                    </a:p>
                  </a:txBody>
                  <a:tcPr marL="54864" marR="54864" marT="27432" marB="27432" anchor="ctr">
                    <a:solidFill>
                      <a:srgbClr val="FFFFFF"/>
                    </a:solidFill>
                  </a:tcPr>
                </a:tc>
                <a:tc>
                  <a:txBody>
                    <a:bodyPr wrap="square"/>
                    <a:lstStyle/>
                    <a:p>
                      <a:pPr algn="r"/>
                      <a:r>
                        <a:rPr sz="1050" b="0">
                          <a:solidFill>
                            <a:srgbClr val="0F172A"/>
                          </a:solidFill>
                          <a:latin typeface="Inter"/>
                        </a:rPr>
                        <a:t>5.9%</a:t>
                      </a:r>
                    </a:p>
                  </a:txBody>
                  <a:tcPr marL="54864" marR="54864" marT="27432" marB="27432" anchor="ctr">
                    <a:solidFill>
                      <a:srgbClr val="FFFFFF"/>
                    </a:solidFill>
                  </a:tcPr>
                </a:tc>
                <a:tc>
                  <a:txBody>
                    <a:bodyPr wrap="square"/>
                    <a:lstStyle/>
                    <a:p>
                      <a:pPr algn="r"/>
                      <a:r>
                        <a:rPr sz="1050" b="0">
                          <a:solidFill>
                            <a:srgbClr val="0F172A"/>
                          </a:solidFill>
                          <a:latin typeface="Inter"/>
                        </a:rPr>
                        <a:t>60</a:t>
                      </a:r>
                    </a:p>
                  </a:txBody>
                  <a:tcPr marL="54864" marR="54864" marT="27432" marB="27432" anchor="ctr">
                    <a:solidFill>
                      <a:srgbClr val="FFFFFF"/>
                    </a:solidFill>
                  </a:tcPr>
                </a:tc>
              </a:tr>
              <a:tr h="347472">
                <a:tc>
                  <a:txBody>
                    <a:bodyPr wrap="square"/>
                    <a:lstStyle/>
                    <a:p>
                      <a:pPr algn="l"/>
                      <a:r>
                        <a:rPr sz="1050" b="0">
                          <a:solidFill>
                            <a:srgbClr val="0F172A"/>
                          </a:solidFill>
                          <a:latin typeface="Inter"/>
                        </a:rPr>
                        <a:t>Audience / category display</a:t>
                      </a:r>
                    </a:p>
                  </a:txBody>
                  <a:tcPr marL="54864" marR="54864" marT="27432" marB="27432" anchor="ctr">
                    <a:solidFill>
                      <a:srgbClr val="FBFAF7"/>
                    </a:solidFill>
                  </a:tcPr>
                </a:tc>
                <a:tc>
                  <a:txBody>
                    <a:bodyPr wrap="square"/>
                    <a:lstStyle/>
                    <a:p>
                      <a:pPr algn="r"/>
                      <a:r>
                        <a:rPr sz="1050" b="0">
                          <a:solidFill>
                            <a:srgbClr val="0F172A"/>
                          </a:solidFill>
                          <a:latin typeface="Inter"/>
                        </a:rPr>
                        <a:t>C$942</a:t>
                      </a:r>
                    </a:p>
                  </a:txBody>
                  <a:tcPr marL="54864" marR="54864" marT="27432" marB="27432" anchor="ctr">
                    <a:solidFill>
                      <a:srgbClr val="FBFAF7"/>
                    </a:solidFill>
                  </a:tcPr>
                </a:tc>
                <a:tc>
                  <a:txBody>
                    <a:bodyPr wrap="square"/>
                    <a:lstStyle/>
                    <a:p>
                      <a:pPr algn="r"/>
                      <a:r>
                        <a:rPr sz="1050" b="0">
                          <a:solidFill>
                            <a:srgbClr val="0F172A"/>
                          </a:solidFill>
                          <a:latin typeface="Inter"/>
                        </a:rPr>
                        <a:t>C$0</a:t>
                      </a:r>
                    </a:p>
                  </a:txBody>
                  <a:tcPr marL="54864" marR="54864" marT="27432" marB="27432" anchor="ctr">
                    <a:solidFill>
                      <a:srgbClr val="FBFAF7"/>
                    </a:solidFill>
                  </a:tcPr>
                </a:tc>
                <a:tc>
                  <a:txBody>
                    <a:bodyPr wrap="square"/>
                    <a:lstStyle/>
                    <a:p>
                      <a:pPr algn="r"/>
                      <a:r>
                        <a:rPr sz="1050" b="0">
                          <a:solidFill>
                            <a:srgbClr val="0F172A"/>
                          </a:solidFill>
                          <a:latin typeface="Inter"/>
                        </a:rPr>
                        <a:t>0.00x</a:t>
                      </a:r>
                    </a:p>
                  </a:txBody>
                  <a:tcPr marL="54864" marR="54864" marT="27432" marB="27432" anchor="ctr">
                    <a:solidFill>
                      <a:srgbClr val="FBFAF7"/>
                    </a:solidFill>
                  </a:tcPr>
                </a:tc>
                <a:tc>
                  <a:txBody>
                    <a:bodyPr wrap="square"/>
                    <a:lstStyle/>
                    <a:p>
                      <a:pPr algn="r"/>
                      <a:r>
                        <a:rPr sz="1050" b="0">
                          <a:solidFill>
                            <a:srgbClr val="0F172A"/>
                          </a:solidFill>
                          <a:latin typeface="Inter"/>
                        </a:rPr>
                        <a:t>—</a:t>
                      </a:r>
                    </a:p>
                  </a:txBody>
                  <a:tcPr marL="54864" marR="54864" marT="27432" marB="27432" anchor="ctr">
                    <a:solidFill>
                      <a:srgbClr val="FBFAF7"/>
                    </a:solidFill>
                  </a:tcPr>
                </a:tc>
                <a:tc>
                  <a:txBody>
                    <a:bodyPr wrap="square"/>
                    <a:lstStyle/>
                    <a:p>
                      <a:pPr algn="r"/>
                      <a:r>
                        <a:rPr sz="1050" b="0">
                          <a:solidFill>
                            <a:srgbClr val="0F172A"/>
                          </a:solidFill>
                          <a:latin typeface="Inter"/>
                        </a:rPr>
                        <a:t>0</a:t>
                      </a:r>
                    </a:p>
                  </a:txBody>
                  <a:tcPr marL="54864" marR="54864" marT="27432" marB="27432" anchor="ctr">
                    <a:solidFill>
                      <a:srgbClr val="FBFAF7"/>
                    </a:solidFill>
                  </a:tcPr>
                </a:tc>
              </a:tr>
              <a:tr h="347472">
                <a:tc>
                  <a:txBody>
                    <a:bodyPr wrap="square"/>
                    <a:lstStyle/>
                    <a:p>
                      <a:pPr algn="l"/>
                      <a:r>
                        <a:rPr sz="1050" b="0">
                          <a:solidFill>
                            <a:srgbClr val="0F172A"/>
                          </a:solidFill>
                          <a:latin typeface="Inter"/>
                        </a:rPr>
                        <a:t>Category keywords</a:t>
                      </a:r>
                    </a:p>
                  </a:txBody>
                  <a:tcPr marL="54864" marR="54864" marT="27432" marB="27432" anchor="ctr">
                    <a:solidFill>
                      <a:srgbClr val="FFFFFF"/>
                    </a:solidFill>
                  </a:tcPr>
                </a:tc>
                <a:tc>
                  <a:txBody>
                    <a:bodyPr wrap="square"/>
                    <a:lstStyle/>
                    <a:p>
                      <a:pPr algn="r"/>
                      <a:r>
                        <a:rPr sz="1050" b="0">
                          <a:solidFill>
                            <a:srgbClr val="0F172A"/>
                          </a:solidFill>
                          <a:latin typeface="Inter"/>
                        </a:rPr>
                        <a:t>C$568</a:t>
                      </a:r>
                    </a:p>
                  </a:txBody>
                  <a:tcPr marL="54864" marR="54864" marT="27432" marB="27432" anchor="ctr">
                    <a:solidFill>
                      <a:srgbClr val="FFFFFF"/>
                    </a:solidFill>
                  </a:tcPr>
                </a:tc>
                <a:tc>
                  <a:txBody>
                    <a:bodyPr wrap="square"/>
                    <a:lstStyle/>
                    <a:p>
                      <a:pPr algn="r"/>
                      <a:r>
                        <a:rPr sz="1050" b="0">
                          <a:solidFill>
                            <a:srgbClr val="0F172A"/>
                          </a:solidFill>
                          <a:latin typeface="Inter"/>
                        </a:rPr>
                        <a:t>C$2,122</a:t>
                      </a:r>
                    </a:p>
                  </a:txBody>
                  <a:tcPr marL="54864" marR="54864" marT="27432" marB="27432" anchor="ctr">
                    <a:solidFill>
                      <a:srgbClr val="FFFFFF"/>
                    </a:solidFill>
                  </a:tcPr>
                </a:tc>
                <a:tc>
                  <a:txBody>
                    <a:bodyPr wrap="square"/>
                    <a:lstStyle/>
                    <a:p>
                      <a:pPr algn="r"/>
                      <a:r>
                        <a:rPr sz="1050" b="0">
                          <a:solidFill>
                            <a:srgbClr val="0F172A"/>
                          </a:solidFill>
                          <a:latin typeface="Inter"/>
                        </a:rPr>
                        <a:t>3.73x</a:t>
                      </a:r>
                    </a:p>
                  </a:txBody>
                  <a:tcPr marL="54864" marR="54864" marT="27432" marB="27432" anchor="ctr">
                    <a:solidFill>
                      <a:srgbClr val="FFFFFF"/>
                    </a:solidFill>
                  </a:tcPr>
                </a:tc>
                <a:tc>
                  <a:txBody>
                    <a:bodyPr wrap="square"/>
                    <a:lstStyle/>
                    <a:p>
                      <a:pPr algn="r"/>
                      <a:r>
                        <a:rPr sz="1050" b="0">
                          <a:solidFill>
                            <a:srgbClr val="0F172A"/>
                          </a:solidFill>
                          <a:latin typeface="Inter"/>
                        </a:rPr>
                        <a:t>26.8%</a:t>
                      </a:r>
                    </a:p>
                  </a:txBody>
                  <a:tcPr marL="54864" marR="54864" marT="27432" marB="27432" anchor="ctr">
                    <a:solidFill>
                      <a:srgbClr val="FFFFFF"/>
                    </a:solidFill>
                  </a:tcPr>
                </a:tc>
                <a:tc>
                  <a:txBody>
                    <a:bodyPr wrap="square"/>
                    <a:lstStyle/>
                    <a:p>
                      <a:pPr algn="r"/>
                      <a:r>
                        <a:rPr sz="1050" b="0">
                          <a:solidFill>
                            <a:srgbClr val="0F172A"/>
                          </a:solidFill>
                          <a:latin typeface="Inter"/>
                        </a:rPr>
                        <a:t>6</a:t>
                      </a:r>
                    </a:p>
                  </a:txBody>
                  <a:tcPr marL="54864" marR="54864" marT="27432" marB="27432" anchor="ctr">
                    <a:solidFill>
                      <a:srgbClr val="FFFFFF"/>
                    </a:solidFill>
                  </a:tcPr>
                </a:tc>
              </a:tr>
              <a:tr h="347472">
                <a:tc>
                  <a:txBody>
                    <a:bodyPr wrap="square"/>
                    <a:lstStyle/>
                    <a:p>
                      <a:pPr algn="l"/>
                      <a:r>
                        <a:rPr sz="1050" b="0">
                          <a:solidFill>
                            <a:srgbClr val="0F172A"/>
                          </a:solidFill>
                          <a:latin typeface="Inter"/>
                        </a:rPr>
                        <a:t>Brand defense (product targets)</a:t>
                      </a:r>
                    </a:p>
                  </a:txBody>
                  <a:tcPr marL="54864" marR="54864" marT="27432" marB="27432" anchor="ctr">
                    <a:solidFill>
                      <a:srgbClr val="FBFAF7"/>
                    </a:solidFill>
                  </a:tcPr>
                </a:tc>
                <a:tc>
                  <a:txBody>
                    <a:bodyPr wrap="square"/>
                    <a:lstStyle/>
                    <a:p>
                      <a:pPr algn="r"/>
                      <a:r>
                        <a:rPr sz="1050" b="0">
                          <a:solidFill>
                            <a:srgbClr val="0F172A"/>
                          </a:solidFill>
                          <a:latin typeface="Inter"/>
                        </a:rPr>
                        <a:t>C$216</a:t>
                      </a:r>
                    </a:p>
                  </a:txBody>
                  <a:tcPr marL="54864" marR="54864" marT="27432" marB="27432" anchor="ctr">
                    <a:solidFill>
                      <a:srgbClr val="FBFAF7"/>
                    </a:solidFill>
                  </a:tcPr>
                </a:tc>
                <a:tc>
                  <a:txBody>
                    <a:bodyPr wrap="square"/>
                    <a:lstStyle/>
                    <a:p>
                      <a:pPr algn="r"/>
                      <a:r>
                        <a:rPr sz="1050" b="0">
                          <a:solidFill>
                            <a:srgbClr val="0F172A"/>
                          </a:solidFill>
                          <a:latin typeface="Inter"/>
                        </a:rPr>
                        <a:t>C$4,301</a:t>
                      </a:r>
                    </a:p>
                  </a:txBody>
                  <a:tcPr marL="54864" marR="54864" marT="27432" marB="27432" anchor="ctr">
                    <a:solidFill>
                      <a:srgbClr val="FBFAF7"/>
                    </a:solidFill>
                  </a:tcPr>
                </a:tc>
                <a:tc>
                  <a:txBody>
                    <a:bodyPr wrap="square"/>
                    <a:lstStyle/>
                    <a:p>
                      <a:pPr algn="r"/>
                      <a:r>
                        <a:rPr sz="1050" b="0">
                          <a:solidFill>
                            <a:srgbClr val="0F172A"/>
                          </a:solidFill>
                          <a:latin typeface="Inter"/>
                        </a:rPr>
                        <a:t>19.89x</a:t>
                      </a:r>
                    </a:p>
                  </a:txBody>
                  <a:tcPr marL="54864" marR="54864" marT="27432" marB="27432" anchor="ctr">
                    <a:solidFill>
                      <a:srgbClr val="FBFAF7"/>
                    </a:solidFill>
                  </a:tcPr>
                </a:tc>
                <a:tc>
                  <a:txBody>
                    <a:bodyPr wrap="square"/>
                    <a:lstStyle/>
                    <a:p>
                      <a:pPr algn="r"/>
                      <a:r>
                        <a:rPr sz="1050" b="0">
                          <a:solidFill>
                            <a:srgbClr val="0F172A"/>
                          </a:solidFill>
                          <a:latin typeface="Inter"/>
                        </a:rPr>
                        <a:t>5.0%</a:t>
                      </a:r>
                    </a:p>
                  </a:txBody>
                  <a:tcPr marL="54864" marR="54864" marT="27432" marB="27432" anchor="ctr">
                    <a:solidFill>
                      <a:srgbClr val="FBFAF7"/>
                    </a:solidFill>
                  </a:tcPr>
                </a:tc>
                <a:tc>
                  <a:txBody>
                    <a:bodyPr wrap="square"/>
                    <a:lstStyle/>
                    <a:p>
                      <a:pPr algn="r"/>
                      <a:r>
                        <a:rPr sz="1050" b="0">
                          <a:solidFill>
                            <a:srgbClr val="0F172A"/>
                          </a:solidFill>
                          <a:latin typeface="Inter"/>
                        </a:rPr>
                        <a:t>7</a:t>
                      </a:r>
                    </a:p>
                  </a:txBody>
                  <a:tcPr marL="54864" marR="54864" marT="27432" marB="27432" anchor="ctr">
                    <a:solidFill>
                      <a:srgbClr val="FBFAF7"/>
                    </a:solidFill>
                  </a:tcPr>
                </a:tc>
              </a:tr>
              <a:tr h="347472">
                <a:tc>
                  <a:txBody>
                    <a:bodyPr wrap="square"/>
                    <a:lstStyle/>
                    <a:p>
                      <a:pPr algn="l"/>
                      <a:r>
                        <a:rPr sz="1050" b="0">
                          <a:solidFill>
                            <a:srgbClr val="0F172A"/>
                          </a:solidFill>
                          <a:latin typeface="Inter"/>
                        </a:rPr>
                        <a:t>Other</a:t>
                      </a:r>
                    </a:p>
                  </a:txBody>
                  <a:tcPr marL="54864" marR="54864" marT="27432" marB="27432" anchor="ctr">
                    <a:solidFill>
                      <a:srgbClr val="FFFFFF"/>
                    </a:solidFill>
                  </a:tcPr>
                </a:tc>
                <a:tc>
                  <a:txBody>
                    <a:bodyPr wrap="square"/>
                    <a:lstStyle/>
                    <a:p>
                      <a:pPr algn="r"/>
                      <a:r>
                        <a:rPr sz="1050" b="0">
                          <a:solidFill>
                            <a:srgbClr val="0F172A"/>
                          </a:solidFill>
                          <a:latin typeface="Inter"/>
                        </a:rPr>
                        <a:t>C$126</a:t>
                      </a:r>
                    </a:p>
                  </a:txBody>
                  <a:tcPr marL="54864" marR="54864" marT="27432" marB="27432" anchor="ctr">
                    <a:solidFill>
                      <a:srgbClr val="FFFFFF"/>
                    </a:solidFill>
                  </a:tcPr>
                </a:tc>
                <a:tc>
                  <a:txBody>
                    <a:bodyPr wrap="square"/>
                    <a:lstStyle/>
                    <a:p>
                      <a:pPr algn="r"/>
                      <a:r>
                        <a:rPr sz="1050" b="0">
                          <a:solidFill>
                            <a:srgbClr val="0F172A"/>
                          </a:solidFill>
                          <a:latin typeface="Inter"/>
                        </a:rPr>
                        <a:t>C$735</a:t>
                      </a:r>
                    </a:p>
                  </a:txBody>
                  <a:tcPr marL="54864" marR="54864" marT="27432" marB="27432" anchor="ctr">
                    <a:solidFill>
                      <a:srgbClr val="FFFFFF"/>
                    </a:solidFill>
                  </a:tcPr>
                </a:tc>
                <a:tc>
                  <a:txBody>
                    <a:bodyPr wrap="square"/>
                    <a:lstStyle/>
                    <a:p>
                      <a:pPr algn="r"/>
                      <a:r>
                        <a:rPr sz="1050" b="0">
                          <a:solidFill>
                            <a:srgbClr val="0F172A"/>
                          </a:solidFill>
                          <a:latin typeface="Inter"/>
                        </a:rPr>
                        <a:t>5.84x</a:t>
                      </a:r>
                    </a:p>
                  </a:txBody>
                  <a:tcPr marL="54864" marR="54864" marT="27432" marB="27432" anchor="ctr">
                    <a:solidFill>
                      <a:srgbClr val="FFFFFF"/>
                    </a:solidFill>
                  </a:tcPr>
                </a:tc>
                <a:tc>
                  <a:txBody>
                    <a:bodyPr wrap="square"/>
                    <a:lstStyle/>
                    <a:p>
                      <a:pPr algn="r"/>
                      <a:r>
                        <a:rPr sz="1050" b="0">
                          <a:solidFill>
                            <a:srgbClr val="0F172A"/>
                          </a:solidFill>
                          <a:latin typeface="Inter"/>
                        </a:rPr>
                        <a:t>17.1%</a:t>
                      </a:r>
                    </a:p>
                  </a:txBody>
                  <a:tcPr marL="54864" marR="54864" marT="27432" marB="27432" anchor="ctr">
                    <a:solidFill>
                      <a:srgbClr val="FFFFFF"/>
                    </a:solidFill>
                  </a:tcPr>
                </a:tc>
                <a:tc>
                  <a:txBody>
                    <a:bodyPr wrap="square"/>
                    <a:lstStyle/>
                    <a:p>
                      <a:pPr algn="r"/>
                      <a:r>
                        <a:rPr sz="1050" b="0">
                          <a:solidFill>
                            <a:srgbClr val="0F172A"/>
                          </a:solidFill>
                          <a:latin typeface="Inter"/>
                        </a:rPr>
                        <a:t>2</a:t>
                      </a:r>
                    </a:p>
                  </a:txBody>
                  <a:tcPr marL="54864" marR="54864" marT="27432" marB="27432" anchor="ctr">
                    <a:solidFill>
                      <a:srgbClr val="FFFFFF"/>
                    </a:solidFill>
                  </a:tcPr>
                </a:tc>
              </a:tr>
              <a:tr h="347472">
                <a:tc>
                  <a:txBody>
                    <a:bodyPr wrap="square"/>
                    <a:lstStyle/>
                    <a:p>
                      <a:pPr algn="l"/>
                      <a:r>
                        <a:rPr sz="1050" b="0">
                          <a:solidFill>
                            <a:srgbClr val="0F172A"/>
                          </a:solidFill>
                          <a:latin typeface="Inter"/>
                        </a:rPr>
                        <a:t>Competitor targeting</a:t>
                      </a:r>
                    </a:p>
                  </a:txBody>
                  <a:tcPr marL="54864" marR="54864" marT="27432" marB="27432" anchor="ctr">
                    <a:solidFill>
                      <a:srgbClr val="FBFAF7"/>
                    </a:solidFill>
                  </a:tcPr>
                </a:tc>
                <a:tc>
                  <a:txBody>
                    <a:bodyPr wrap="square"/>
                    <a:lstStyle/>
                    <a:p>
                      <a:pPr algn="r"/>
                      <a:r>
                        <a:rPr sz="1050" b="0">
                          <a:solidFill>
                            <a:srgbClr val="0F172A"/>
                          </a:solidFill>
                          <a:latin typeface="Inter"/>
                        </a:rPr>
                        <a:t>C$79</a:t>
                      </a:r>
                    </a:p>
                  </a:txBody>
                  <a:tcPr marL="54864" marR="54864" marT="27432" marB="27432" anchor="ctr">
                    <a:solidFill>
                      <a:srgbClr val="FBFAF7"/>
                    </a:solidFill>
                  </a:tcPr>
                </a:tc>
                <a:tc>
                  <a:txBody>
                    <a:bodyPr wrap="square"/>
                    <a:lstStyle/>
                    <a:p>
                      <a:pPr algn="r"/>
                      <a:r>
                        <a:rPr sz="1050" b="0">
                          <a:solidFill>
                            <a:srgbClr val="0F172A"/>
                          </a:solidFill>
                          <a:latin typeface="Inter"/>
                        </a:rPr>
                        <a:t>C$0</a:t>
                      </a:r>
                    </a:p>
                  </a:txBody>
                  <a:tcPr marL="54864" marR="54864" marT="27432" marB="27432" anchor="ctr">
                    <a:solidFill>
                      <a:srgbClr val="FBFAF7"/>
                    </a:solidFill>
                  </a:tcPr>
                </a:tc>
                <a:tc>
                  <a:txBody>
                    <a:bodyPr wrap="square"/>
                    <a:lstStyle/>
                    <a:p>
                      <a:pPr algn="r"/>
                      <a:r>
                        <a:rPr sz="1050" b="0">
                          <a:solidFill>
                            <a:srgbClr val="0F172A"/>
                          </a:solidFill>
                          <a:latin typeface="Inter"/>
                        </a:rPr>
                        <a:t>0.00x</a:t>
                      </a:r>
                    </a:p>
                  </a:txBody>
                  <a:tcPr marL="54864" marR="54864" marT="27432" marB="27432" anchor="ctr">
                    <a:solidFill>
                      <a:srgbClr val="FBFAF7"/>
                    </a:solidFill>
                  </a:tcPr>
                </a:tc>
                <a:tc>
                  <a:txBody>
                    <a:bodyPr wrap="square"/>
                    <a:lstStyle/>
                    <a:p>
                      <a:pPr algn="r"/>
                      <a:r>
                        <a:rPr sz="1050" b="0">
                          <a:solidFill>
                            <a:srgbClr val="0F172A"/>
                          </a:solidFill>
                          <a:latin typeface="Inter"/>
                        </a:rPr>
                        <a:t>—</a:t>
                      </a:r>
                    </a:p>
                  </a:txBody>
                  <a:tcPr marL="54864" marR="54864" marT="27432" marB="27432" anchor="ctr">
                    <a:solidFill>
                      <a:srgbClr val="FBFAF7"/>
                    </a:solidFill>
                  </a:tcPr>
                </a:tc>
                <a:tc>
                  <a:txBody>
                    <a:bodyPr wrap="square"/>
                    <a:lstStyle/>
                    <a:p>
                      <a:pPr algn="r"/>
                      <a:r>
                        <a:rPr sz="1050" b="0">
                          <a:solidFill>
                            <a:srgbClr val="0F172A"/>
                          </a:solidFill>
                          <a:latin typeface="Inter"/>
                        </a:rPr>
                        <a:t>0</a:t>
                      </a:r>
                    </a:p>
                  </a:txBody>
                  <a:tcPr marL="54864" marR="54864" marT="27432" marB="27432" anchor="ctr">
                    <a:solidFill>
                      <a:srgbClr val="FBFAF7"/>
                    </a:solidFill>
                  </a:tcPr>
                </a:tc>
              </a:tr>
              <a:tr h="347472">
                <a:tc>
                  <a:txBody>
                    <a:bodyPr wrap="square"/>
                    <a:lstStyle/>
                    <a:p>
                      <a:pPr algn="l"/>
                      <a:r>
                        <a:rPr sz="1050" b="0">
                          <a:solidFill>
                            <a:srgbClr val="0F172A"/>
                          </a:solidFill>
                          <a:latin typeface="Inter"/>
                        </a:rPr>
                        <a:t>Auto targeting</a:t>
                      </a:r>
                    </a:p>
                  </a:txBody>
                  <a:tcPr marL="54864" marR="54864" marT="27432" marB="27432" anchor="ctr">
                    <a:solidFill>
                      <a:srgbClr val="FFFFFF"/>
                    </a:solidFill>
                  </a:tcPr>
                </a:tc>
                <a:tc>
                  <a:txBody>
                    <a:bodyPr wrap="square"/>
                    <a:lstStyle/>
                    <a:p>
                      <a:pPr algn="r"/>
                      <a:r>
                        <a:rPr sz="1050" b="0">
                          <a:solidFill>
                            <a:srgbClr val="0F172A"/>
                          </a:solidFill>
                          <a:latin typeface="Inter"/>
                        </a:rPr>
                        <a:t>C$55</a:t>
                      </a:r>
                    </a:p>
                  </a:txBody>
                  <a:tcPr marL="54864" marR="54864" marT="27432" marB="27432" anchor="ctr">
                    <a:solidFill>
                      <a:srgbClr val="FFFFFF"/>
                    </a:solidFill>
                  </a:tcPr>
                </a:tc>
                <a:tc>
                  <a:txBody>
                    <a:bodyPr wrap="square"/>
                    <a:lstStyle/>
                    <a:p>
                      <a:pPr algn="r"/>
                      <a:r>
                        <a:rPr sz="1050" b="0">
                          <a:solidFill>
                            <a:srgbClr val="0F172A"/>
                          </a:solidFill>
                          <a:latin typeface="Inter"/>
                        </a:rPr>
                        <a:t>C$462</a:t>
                      </a:r>
                    </a:p>
                  </a:txBody>
                  <a:tcPr marL="54864" marR="54864" marT="27432" marB="27432" anchor="ctr">
                    <a:solidFill>
                      <a:srgbClr val="FFFFFF"/>
                    </a:solidFill>
                  </a:tcPr>
                </a:tc>
                <a:tc>
                  <a:txBody>
                    <a:bodyPr wrap="square"/>
                    <a:lstStyle/>
                    <a:p>
                      <a:pPr algn="r"/>
                      <a:r>
                        <a:rPr sz="1050" b="0">
                          <a:solidFill>
                            <a:srgbClr val="0F172A"/>
                          </a:solidFill>
                          <a:latin typeface="Inter"/>
                        </a:rPr>
                        <a:t>8.42x</a:t>
                      </a:r>
                    </a:p>
                  </a:txBody>
                  <a:tcPr marL="54864" marR="54864" marT="27432" marB="27432" anchor="ctr">
                    <a:solidFill>
                      <a:srgbClr val="FFFFFF"/>
                    </a:solidFill>
                  </a:tcPr>
                </a:tc>
                <a:tc>
                  <a:txBody>
                    <a:bodyPr wrap="square"/>
                    <a:lstStyle/>
                    <a:p>
                      <a:pPr algn="r"/>
                      <a:r>
                        <a:rPr sz="1050" b="0">
                          <a:solidFill>
                            <a:srgbClr val="0F172A"/>
                          </a:solidFill>
                          <a:latin typeface="Inter"/>
                        </a:rPr>
                        <a:t>11.9%</a:t>
                      </a:r>
                    </a:p>
                  </a:txBody>
                  <a:tcPr marL="54864" marR="54864" marT="27432" marB="27432" anchor="ctr">
                    <a:solidFill>
                      <a:srgbClr val="FFFFFF"/>
                    </a:solidFill>
                  </a:tcPr>
                </a:tc>
                <a:tc>
                  <a:txBody>
                    <a:bodyPr wrap="square"/>
                    <a:lstStyle/>
                    <a:p>
                      <a:pPr algn="r"/>
                      <a:r>
                        <a:rPr sz="1050" b="0">
                          <a:solidFill>
                            <a:srgbClr val="0F172A"/>
                          </a:solidFill>
                          <a:latin typeface="Inter"/>
                        </a:rPr>
                        <a:t>3</a:t>
                      </a:r>
                    </a:p>
                  </a:txBody>
                  <a:tcPr marL="54864" marR="54864" marT="27432" marB="27432" anchor="ctr">
                    <a:solidFill>
                      <a:srgbClr val="FFFFFF"/>
                    </a:solidFill>
                  </a:tcPr>
                </a:tc>
              </a:tr>
              <a:tr h="347472">
                <a:tc>
                  <a:txBody>
                    <a:bodyPr wrap="square"/>
                    <a:lstStyle/>
                    <a:p>
                      <a:pPr algn="l"/>
                      <a:r>
                        <a:rPr sz="1050" b="1">
                          <a:solidFill>
                            <a:srgbClr val="0F172A"/>
                          </a:solidFill>
                          <a:latin typeface="Inter"/>
                        </a:rPr>
                        <a:t>All campaigns</a:t>
                      </a:r>
                    </a:p>
                  </a:txBody>
                  <a:tcPr marL="54864" marR="54864" marT="27432" marB="27432" anchor="ctr">
                    <a:solidFill>
                      <a:srgbClr val="F6F3EC"/>
                    </a:solidFill>
                  </a:tcPr>
                </a:tc>
                <a:tc>
                  <a:txBody>
                    <a:bodyPr wrap="square"/>
                    <a:lstStyle/>
                    <a:p>
                      <a:pPr algn="r"/>
                      <a:r>
                        <a:rPr sz="1050" b="1">
                          <a:solidFill>
                            <a:srgbClr val="0F172A"/>
                          </a:solidFill>
                          <a:latin typeface="Inter"/>
                        </a:rPr>
                        <a:t>C$3,602</a:t>
                      </a:r>
                    </a:p>
                  </a:txBody>
                  <a:tcPr marL="54864" marR="54864" marT="27432" marB="27432" anchor="ctr">
                    <a:solidFill>
                      <a:srgbClr val="F6F3EC"/>
                    </a:solidFill>
                  </a:tcPr>
                </a:tc>
                <a:tc>
                  <a:txBody>
                    <a:bodyPr wrap="square"/>
                    <a:lstStyle/>
                    <a:p>
                      <a:pPr algn="r"/>
                      <a:r>
                        <a:rPr sz="1050" b="1">
                          <a:solidFill>
                            <a:srgbClr val="0F172A"/>
                          </a:solidFill>
                          <a:latin typeface="Inter"/>
                        </a:rPr>
                        <a:t>C$34,696</a:t>
                      </a:r>
                    </a:p>
                  </a:txBody>
                  <a:tcPr marL="54864" marR="54864" marT="27432" marB="27432" anchor="ctr">
                    <a:solidFill>
                      <a:srgbClr val="F6F3EC"/>
                    </a:solidFill>
                  </a:tcPr>
                </a:tc>
                <a:tc>
                  <a:txBody>
                    <a:bodyPr wrap="square"/>
                    <a:lstStyle/>
                    <a:p>
                      <a:pPr algn="r"/>
                      <a:r>
                        <a:rPr sz="1050" b="1">
                          <a:solidFill>
                            <a:srgbClr val="0F172A"/>
                          </a:solidFill>
                          <a:latin typeface="Inter"/>
                        </a:rPr>
                        <a:t>9.63x</a:t>
                      </a:r>
                    </a:p>
                  </a:txBody>
                  <a:tcPr marL="54864" marR="54864" marT="27432" marB="27432" anchor="ctr">
                    <a:solidFill>
                      <a:srgbClr val="F6F3EC"/>
                    </a:solidFill>
                  </a:tcPr>
                </a:tc>
                <a:tc>
                  <a:txBody>
                    <a:bodyPr wrap="square"/>
                    <a:lstStyle/>
                    <a:p>
                      <a:pPr algn="r"/>
                      <a:r>
                        <a:rPr sz="1050" b="1">
                          <a:solidFill>
                            <a:srgbClr val="0F172A"/>
                          </a:solidFill>
                          <a:latin typeface="Inter"/>
                        </a:rPr>
                        <a:t>10.4%</a:t>
                      </a:r>
                    </a:p>
                  </a:txBody>
                  <a:tcPr marL="54864" marR="54864" marT="27432" marB="27432" anchor="ctr">
                    <a:solidFill>
                      <a:srgbClr val="F6F3EC"/>
                    </a:solidFill>
                  </a:tcPr>
                </a:tc>
                <a:tc>
                  <a:txBody>
                    <a:bodyPr wrap="square"/>
                    <a:lstStyle/>
                    <a:p>
                      <a:pPr algn="r"/>
                      <a:r>
                        <a:rPr sz="1050" b="1">
                          <a:solidFill>
                            <a:srgbClr val="0F172A"/>
                          </a:solidFill>
                          <a:latin typeface="Inter"/>
                        </a:rPr>
                        <a:t>78</a:t>
                      </a:r>
                    </a:p>
                  </a:txBody>
                  <a:tcPr marL="54864" marR="54864" marT="27432" marB="27432" anchor="ctr">
                    <a:solidFill>
                      <a:srgbClr val="F6F3EC"/>
                    </a:solidFill>
                  </a:tcPr>
                </a:tc>
              </a:tr>
            </a:tbl>
          </a:graphicData>
        </a:graphic>
      </p:graphicFrame>
      <p:sp>
        <p:nvSpPr>
          <p:cNvPr id="11" name=""/>
          <p:cNvSpPr/>
          <p:nvPr/>
        </p:nvSpPr>
        <p:spPr>
          <a:xfrm>
            <a:off x="7543800" y="1417320"/>
            <a:ext cx="4096512" cy="2468880"/>
          </a:xfrm>
          <a:prstGeom prst="roundRect">
            <a:avLst>
              <a:gd name="" fmla="val 6000"/>
            </a:avLst>
          </a:prstGeom>
          <a:solidFill>
            <a:srgbClr val="FFFFFF"/>
          </a:solidFill>
          <a:ln w="9525">
            <a:solidFill>
              <a:srgbClr val="E5E0D6"/>
            </a:solidFill>
          </a:ln>
        </p:spPr>
      </p:sp>
      <p:sp>
        <p:nvSpPr>
          <p:cNvPr id="12" name=""/>
          <p:cNvSpPr txBox="1"/>
          <p:nvPr/>
        </p:nvSpPr>
        <p:spPr>
          <a:xfrm>
            <a:off x="7726679" y="1554480"/>
            <a:ext cx="373075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What it says</a:t>
            </a:r>
          </a:p>
        </p:txBody>
      </p:sp>
      <p:sp>
        <p:nvSpPr>
          <p:cNvPr id="13" name=""/>
          <p:cNvSpPr txBox="1"/>
          <p:nvPr/>
        </p:nvSpPr>
        <p:spPr>
          <a:xfrm>
            <a:off x="7726679" y="1874519"/>
            <a:ext cx="3730752" cy="1920240"/>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Branded keywords brought C$27,076 in sales on C$1,605 spend (5.9% ACoS) and 60 orders.</a:t>
            </a:r>
          </a:p>
          <a:p>
            <a:pPr algn="l">
              <a:spcAft>
                <a:spcPts val="500"/>
              </a:spcAft>
            </a:pPr>
            <a:r>
              <a:rPr sz="1050" b="0">
                <a:solidFill>
                  <a:srgbClr val="334155"/>
                </a:solidFill>
                <a:latin typeface="Inter"/>
              </a:rPr>
              <a:t>Category keywords spent C$568 for C$2,122 (26.8% ACoS); spend there was cut 55% vs last week.</a:t>
            </a:r>
          </a:p>
          <a:p>
            <a:pPr algn="l">
              <a:spcAft>
                <a:spcPts val="500"/>
              </a:spcAft>
            </a:pPr>
            <a:r>
              <a:rPr sz="1050" b="0">
                <a:solidFill>
                  <a:srgbClr val="334155"/>
                </a:solidFill>
                <a:latin typeface="Inter"/>
              </a:rPr>
              <a:t>Streaming TV spent C$897 this week with no attributed sales.</a:t>
            </a:r>
          </a:p>
        </p:txBody>
      </p:sp>
      <p:sp>
        <p:nvSpPr>
          <p:cNvPr id="14" name=""/>
          <p:cNvSpPr/>
          <p:nvPr/>
        </p:nvSpPr>
        <p:spPr>
          <a:xfrm>
            <a:off x="7543800" y="4023360"/>
            <a:ext cx="4096512" cy="2194560"/>
          </a:xfrm>
          <a:prstGeom prst="roundRect">
            <a:avLst>
              <a:gd name="" fmla="val 6000"/>
            </a:avLst>
          </a:prstGeom>
          <a:solidFill>
            <a:srgbClr val="FFFFFF"/>
          </a:solidFill>
          <a:ln w="9525">
            <a:solidFill>
              <a:srgbClr val="E5E0D6"/>
            </a:solidFill>
          </a:ln>
        </p:spPr>
      </p:sp>
      <p:sp>
        <p:nvSpPr>
          <p:cNvPr id="15" name=""/>
          <p:cNvSpPr txBox="1"/>
          <p:nvPr/>
        </p:nvSpPr>
        <p:spPr>
          <a:xfrm>
            <a:off x="7726679" y="4160520"/>
            <a:ext cx="373075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Coverage note</a:t>
            </a:r>
          </a:p>
        </p:txBody>
      </p:sp>
      <p:sp>
        <p:nvSpPr>
          <p:cNvPr id="16" name=""/>
          <p:cNvSpPr txBox="1"/>
          <p:nvPr/>
        </p:nvSpPr>
        <p:spPr>
          <a:xfrm>
            <a:off x="7726679" y="4480560"/>
            <a:ext cx="3730752" cy="1645919"/>
          </a:xfrm>
          <a:prstGeom prst="rect">
            <a:avLst/>
          </a:prstGeom>
          <a:noFill/>
        </p:spPr>
        <p:txBody>
          <a:bodyPr wrap="square" lIns="36576" rIns="36576" tIns="18288" bIns="18288" anchor="t">
            <a:spAutoFit/>
          </a:bodyPr>
          <a:lstStyle/>
          <a:p>
            <a:pPr algn="l">
              <a:spcAft>
                <a:spcPts val="500"/>
              </a:spcAft>
            </a:pPr>
            <a:r>
              <a:rPr sz="1000" b="0">
                <a:solidFill>
                  <a:srgbClr val="334155"/>
                </a:solidFill>
                <a:latin typeface="Inter"/>
              </a:rPr>
              <a:t>Strategy is read from the campaign names (Brand / Category / Auto / Audience).</a:t>
            </a:r>
          </a:p>
          <a:p>
            <a:pPr algn="l">
              <a:spcAft>
                <a:spcPts val="500"/>
              </a:spcAft>
            </a:pPr>
            <a:r>
              <a:rPr sz="1000" b="0">
                <a:solidFill>
                  <a:srgbClr val="334155"/>
                </a:solidFill>
                <a:latin typeface="Inter"/>
              </a:rPr>
              <a:t>Campaign totals come from the campaign report and can differ slightly from account totals.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Bid optimization</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7 / 17</a:t>
            </a:r>
          </a:p>
        </p:txBody>
      </p:sp>
      <p:sp>
        <p:nvSpPr>
          <p:cNvPr id="10" name=""/>
          <p:cNvSpPr/>
          <p:nvPr/>
        </p:nvSpPr>
        <p:spPr>
          <a:xfrm>
            <a:off x="548640" y="1417320"/>
            <a:ext cx="2651760" cy="1463040"/>
          </a:xfrm>
          <a:prstGeom prst="roundRect">
            <a:avLst>
              <a:gd name="" fmla="val 6000"/>
            </a:avLst>
          </a:prstGeom>
          <a:solidFill>
            <a:srgbClr val="F6F3EC"/>
          </a:solidFill>
          <a:ln>
            <a:noFill/>
          </a:ln>
        </p:spPr>
      </p:sp>
      <p:sp>
        <p:nvSpPr>
          <p:cNvPr id="11" name=""/>
          <p:cNvSpPr txBox="1"/>
          <p:nvPr/>
        </p:nvSpPr>
        <p:spPr>
          <a:xfrm>
            <a:off x="713232"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TARGETS TRACKED</a:t>
            </a:r>
          </a:p>
        </p:txBody>
      </p:sp>
      <p:sp>
        <p:nvSpPr>
          <p:cNvPr id="12" name=""/>
          <p:cNvSpPr txBox="1"/>
          <p:nvPr/>
        </p:nvSpPr>
        <p:spPr>
          <a:xfrm>
            <a:off x="713232"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520</a:t>
            </a:r>
          </a:p>
        </p:txBody>
      </p:sp>
      <p:sp>
        <p:nvSpPr>
          <p:cNvPr id="13" name=""/>
          <p:cNvSpPr txBox="1"/>
          <p:nvPr/>
        </p:nvSpPr>
        <p:spPr>
          <a:xfrm>
            <a:off x="713232" y="246888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keywords and product targets</a:t>
            </a:r>
          </a:p>
        </p:txBody>
      </p:sp>
      <p:sp>
        <p:nvSpPr>
          <p:cNvPr id="14" name=""/>
          <p:cNvSpPr/>
          <p:nvPr/>
        </p:nvSpPr>
        <p:spPr>
          <a:xfrm>
            <a:off x="3364992" y="1417320"/>
            <a:ext cx="2651760" cy="1463040"/>
          </a:xfrm>
          <a:prstGeom prst="roundRect">
            <a:avLst>
              <a:gd name="" fmla="val 6000"/>
            </a:avLst>
          </a:prstGeom>
          <a:solidFill>
            <a:srgbClr val="F6F3EC"/>
          </a:solidFill>
          <a:ln>
            <a:noFill/>
          </a:ln>
        </p:spPr>
      </p:sp>
      <p:sp>
        <p:nvSpPr>
          <p:cNvPr id="15" name=""/>
          <p:cNvSpPr txBox="1"/>
          <p:nvPr/>
        </p:nvSpPr>
        <p:spPr>
          <a:xfrm>
            <a:off x="3529584"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WINNERS</a:t>
            </a:r>
          </a:p>
        </p:txBody>
      </p:sp>
      <p:sp>
        <p:nvSpPr>
          <p:cNvPr id="16" name=""/>
          <p:cNvSpPr txBox="1"/>
          <p:nvPr/>
        </p:nvSpPr>
        <p:spPr>
          <a:xfrm>
            <a:off x="3529584" y="1801368"/>
            <a:ext cx="2377440" cy="548640"/>
          </a:xfrm>
          <a:prstGeom prst="rect">
            <a:avLst/>
          </a:prstGeom>
          <a:noFill/>
        </p:spPr>
        <p:txBody>
          <a:bodyPr wrap="square" lIns="36576" rIns="36576" tIns="18288" bIns="18288" anchor="t">
            <a:spAutoFit/>
          </a:bodyPr>
          <a:lstStyle/>
          <a:p>
            <a:pPr algn="l"/>
            <a:r>
              <a:rPr sz="2600" b="1">
                <a:solidFill>
                  <a:srgbClr val="16A34A"/>
                </a:solidFill>
                <a:latin typeface="Space Grotesk"/>
              </a:rPr>
              <a:t>22</a:t>
            </a:r>
          </a:p>
        </p:txBody>
      </p:sp>
      <p:sp>
        <p:nvSpPr>
          <p:cNvPr id="17" name=""/>
          <p:cNvSpPr txBox="1"/>
          <p:nvPr/>
        </p:nvSpPr>
        <p:spPr>
          <a:xfrm>
            <a:off x="3529584" y="246888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converting at or under 35% ACoS</a:t>
            </a:r>
          </a:p>
        </p:txBody>
      </p:sp>
      <p:sp>
        <p:nvSpPr>
          <p:cNvPr id="18" name=""/>
          <p:cNvSpPr/>
          <p:nvPr/>
        </p:nvSpPr>
        <p:spPr>
          <a:xfrm>
            <a:off x="6181344" y="1417320"/>
            <a:ext cx="2651760" cy="1463040"/>
          </a:xfrm>
          <a:prstGeom prst="roundRect">
            <a:avLst>
              <a:gd name="" fmla="val 6000"/>
            </a:avLst>
          </a:prstGeom>
          <a:solidFill>
            <a:srgbClr val="F6F3EC"/>
          </a:solidFill>
          <a:ln>
            <a:noFill/>
          </a:ln>
        </p:spPr>
      </p:sp>
      <p:sp>
        <p:nvSpPr>
          <p:cNvPr id="19" name=""/>
          <p:cNvSpPr txBox="1"/>
          <p:nvPr/>
        </p:nvSpPr>
        <p:spPr>
          <a:xfrm>
            <a:off x="6345936"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NEED ATTENTION</a:t>
            </a:r>
          </a:p>
        </p:txBody>
      </p:sp>
      <p:sp>
        <p:nvSpPr>
          <p:cNvPr id="20" name=""/>
          <p:cNvSpPr txBox="1"/>
          <p:nvPr/>
        </p:nvSpPr>
        <p:spPr>
          <a:xfrm>
            <a:off x="6345936" y="1801368"/>
            <a:ext cx="2377440" cy="548640"/>
          </a:xfrm>
          <a:prstGeom prst="rect">
            <a:avLst/>
          </a:prstGeom>
          <a:noFill/>
        </p:spPr>
        <p:txBody>
          <a:bodyPr wrap="square" lIns="36576" rIns="36576" tIns="18288" bIns="18288" anchor="t">
            <a:spAutoFit/>
          </a:bodyPr>
          <a:lstStyle/>
          <a:p>
            <a:pPr algn="l"/>
            <a:r>
              <a:rPr sz="2600" b="1">
                <a:solidFill>
                  <a:srgbClr val="DC2626"/>
                </a:solidFill>
                <a:latin typeface="Space Grotesk"/>
              </a:rPr>
              <a:t>97</a:t>
            </a:r>
          </a:p>
        </p:txBody>
      </p:sp>
      <p:sp>
        <p:nvSpPr>
          <p:cNvPr id="21" name=""/>
          <p:cNvSpPr txBox="1"/>
          <p:nvPr/>
        </p:nvSpPr>
        <p:spPr>
          <a:xfrm>
            <a:off x="6345936" y="246888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0 high ACoS · 10 no sales</a:t>
            </a:r>
          </a:p>
        </p:txBody>
      </p:sp>
      <p:sp>
        <p:nvSpPr>
          <p:cNvPr id="22" name=""/>
          <p:cNvSpPr/>
          <p:nvPr/>
        </p:nvSpPr>
        <p:spPr>
          <a:xfrm>
            <a:off x="8997696" y="1417320"/>
            <a:ext cx="2642616" cy="1463040"/>
          </a:xfrm>
          <a:prstGeom prst="roundRect">
            <a:avLst>
              <a:gd name="" fmla="val 6000"/>
            </a:avLst>
          </a:prstGeom>
          <a:solidFill>
            <a:srgbClr val="F6F3EC"/>
          </a:solidFill>
          <a:ln>
            <a:noFill/>
          </a:ln>
        </p:spPr>
      </p:sp>
      <p:sp>
        <p:nvSpPr>
          <p:cNvPr id="23" name=""/>
          <p:cNvSpPr txBox="1"/>
          <p:nvPr/>
        </p:nvSpPr>
        <p:spPr>
          <a:xfrm>
            <a:off x="9162288" y="1545336"/>
            <a:ext cx="2368296" cy="274320"/>
          </a:xfrm>
          <a:prstGeom prst="rect">
            <a:avLst/>
          </a:prstGeom>
          <a:noFill/>
        </p:spPr>
        <p:txBody>
          <a:bodyPr wrap="square" lIns="36576" rIns="36576" tIns="18288" bIns="18288" anchor="t">
            <a:spAutoFit/>
          </a:bodyPr>
          <a:lstStyle/>
          <a:p>
            <a:pPr algn="l"/>
            <a:r>
              <a:rPr sz="900" b="1">
                <a:solidFill>
                  <a:srgbClr val="6B6558"/>
                </a:solidFill>
                <a:latin typeface="Inter"/>
              </a:rPr>
              <a:t>LOW CLICK RATE</a:t>
            </a:r>
          </a:p>
        </p:txBody>
      </p:sp>
      <p:sp>
        <p:nvSpPr>
          <p:cNvPr id="24" name=""/>
          <p:cNvSpPr txBox="1"/>
          <p:nvPr/>
        </p:nvSpPr>
        <p:spPr>
          <a:xfrm>
            <a:off x="9162288" y="1801368"/>
            <a:ext cx="2368296" cy="548640"/>
          </a:xfrm>
          <a:prstGeom prst="rect">
            <a:avLst/>
          </a:prstGeom>
          <a:noFill/>
        </p:spPr>
        <p:txBody>
          <a:bodyPr wrap="square" lIns="36576" rIns="36576" tIns="18288" bIns="18288" anchor="t">
            <a:spAutoFit/>
          </a:bodyPr>
          <a:lstStyle/>
          <a:p>
            <a:pPr algn="l"/>
            <a:r>
              <a:rPr sz="2600" b="1">
                <a:solidFill>
                  <a:srgbClr val="D97706"/>
                </a:solidFill>
                <a:latin typeface="Space Grotesk"/>
              </a:rPr>
              <a:t>52</a:t>
            </a:r>
          </a:p>
        </p:txBody>
      </p:sp>
      <p:sp>
        <p:nvSpPr>
          <p:cNvPr id="25" name=""/>
          <p:cNvSpPr txBox="1"/>
          <p:nvPr/>
        </p:nvSpPr>
        <p:spPr>
          <a:xfrm>
            <a:off x="9162288" y="2468880"/>
            <a:ext cx="2368296" cy="320040"/>
          </a:xfrm>
          <a:prstGeom prst="rect">
            <a:avLst/>
          </a:prstGeom>
          <a:noFill/>
        </p:spPr>
        <p:txBody>
          <a:bodyPr wrap="square" lIns="36576" rIns="36576" tIns="18288" bIns="18288" anchor="t">
            <a:spAutoFit/>
          </a:bodyPr>
          <a:lstStyle/>
          <a:p>
            <a:pPr algn="l"/>
            <a:r>
              <a:rPr sz="1000" b="0">
                <a:solidFill>
                  <a:srgbClr val="6B6558"/>
                </a:solidFill>
                <a:latin typeface="Inter"/>
              </a:rPr>
              <a:t>seen but rarely clicked</a:t>
            </a:r>
          </a:p>
        </p:txBody>
      </p:sp>
      <p:graphicFrame>
        <p:nvGraphicFramePr>
          <p:cNvPr id="26" name=""/>
          <p:cNvGraphicFramePr>
            <a:graphicFrameLocks noGrp="1"/>
          </p:cNvGraphicFramePr>
          <p:nvPr/>
        </p:nvGraphicFramePr>
        <p:xfrm>
          <a:off x="548640" y="3063240"/>
          <a:ext cx="7223760" cy="1975104"/>
        </p:xfrm>
        <a:graphic>
          <a:graphicData uri="http://schemas.openxmlformats.org/drawingml/2006/table">
            <a:tbl>
              <a:tblPr firstRow="1" bandRow="1">
                <a:tableStyleId>{5C22544A-7EE6-4342-B048-85BDC9FD1C3A}</a:tableStyleId>
              </a:tblPr>
              <a:tblGrid>
                <a:gridCol w="1920240"/>
                <a:gridCol w="731520"/>
                <a:gridCol w="822960"/>
                <a:gridCol w="822960"/>
                <a:gridCol w="822960"/>
                <a:gridCol w="822960"/>
                <a:gridCol w="640080"/>
                <a:gridCol w="640080"/>
              </a:tblGrid>
              <a:tr h="329184">
                <a:tc>
                  <a:txBody>
                    <a:bodyPr wrap="square"/>
                    <a:lstStyle/>
                    <a:p>
                      <a:pPr algn="l"/>
                      <a:r>
                        <a:rPr sz="900" b="1">
                          <a:solidFill>
                            <a:srgbClr val="FFFFFF"/>
                          </a:solidFill>
                          <a:latin typeface="Inter"/>
                        </a:rPr>
                        <a:t>Target</a:t>
                      </a:r>
                    </a:p>
                  </a:txBody>
                  <a:tcPr marL="54864" marR="54864" marT="27432" marB="27432" anchor="ctr">
                    <a:solidFill>
                      <a:srgbClr val="0F172A"/>
                    </a:solidFill>
                  </a:tcPr>
                </a:tc>
                <a:tc>
                  <a:txBody>
                    <a:bodyPr wrap="square"/>
                    <a:lstStyle/>
                    <a:p>
                      <a:pPr algn="r"/>
                      <a:r>
                        <a:rPr sz="900" b="1">
                          <a:solidFill>
                            <a:srgbClr val="FFFFFF"/>
                          </a:solidFill>
                          <a:latin typeface="Inter"/>
                        </a:rPr>
                        <a:t>Match</a:t>
                      </a:r>
                    </a:p>
                  </a:txBody>
                  <a:tcPr marL="54864" marR="54864" marT="27432" marB="27432" anchor="ctr">
                    <a:solidFill>
                      <a:srgbClr val="0F172A"/>
                    </a:solidFill>
                  </a:tcPr>
                </a:tc>
                <a:tc>
                  <a:txBody>
                    <a:bodyPr wrap="square"/>
                    <a:lstStyle/>
                    <a:p>
                      <a:pPr algn="r"/>
                      <a:r>
                        <a:rPr sz="900" b="1">
                          <a:solidFill>
                            <a:srgbClr val="FFFFFF"/>
                          </a:solidFill>
                          <a:latin typeface="Inter"/>
                        </a:rPr>
                        <a:t>Type</a:t>
                      </a:r>
                    </a:p>
                  </a:txBody>
                  <a:tcPr marL="54864" marR="54864" marT="27432" marB="27432" anchor="ctr">
                    <a:solidFill>
                      <a:srgbClr val="0F172A"/>
                    </a:solidFill>
                  </a:tcPr>
                </a:tc>
                <a:tc>
                  <a:txBody>
                    <a:bodyPr wrap="square"/>
                    <a:lstStyle/>
                    <a:p>
                      <a:pPr algn="r"/>
                      <a:r>
                        <a:rPr sz="900" b="1">
                          <a:solidFill>
                            <a:srgbClr val="FFFFFF"/>
                          </a:solidFill>
                          <a:latin typeface="Inter"/>
                        </a:rPr>
                        <a:t>Spend</a:t>
                      </a:r>
                    </a:p>
                  </a:txBody>
                  <a:tcPr marL="54864" marR="54864" marT="27432" marB="27432" anchor="ctr">
                    <a:solidFill>
                      <a:srgbClr val="0F172A"/>
                    </a:solidFill>
                  </a:tcPr>
                </a:tc>
                <a:tc>
                  <a:txBody>
                    <a:bodyPr wrap="square"/>
                    <a:lstStyle/>
                    <a:p>
                      <a:pPr algn="r"/>
                      <a:r>
                        <a:rPr sz="900" b="1">
                          <a:solidFill>
                            <a:srgbClr val="FFFFFF"/>
                          </a:solidFill>
                          <a:latin typeface="Inter"/>
                        </a:rPr>
                        <a:t>Sales</a:t>
                      </a:r>
                    </a:p>
                  </a:txBody>
                  <a:tcPr marL="54864" marR="54864" marT="27432" marB="27432" anchor="ctr">
                    <a:solidFill>
                      <a:srgbClr val="0F172A"/>
                    </a:solidFill>
                  </a:tcPr>
                </a:tc>
                <a:tc>
                  <a:txBody>
                    <a:bodyPr wrap="square"/>
                    <a:lstStyle/>
                    <a:p>
                      <a:pPr algn="r"/>
                      <a:r>
                        <a:rPr sz="900" b="1">
                          <a:solidFill>
                            <a:srgbClr val="FFFFFF"/>
                          </a:solidFill>
                          <a:latin typeface="Inter"/>
                        </a:rPr>
                        <a:t>ACoS</a:t>
                      </a:r>
                    </a:p>
                  </a:txBody>
                  <a:tcPr marL="54864" marR="54864" marT="27432" marB="27432" anchor="ctr">
                    <a:solidFill>
                      <a:srgbClr val="0F172A"/>
                    </a:solidFill>
                  </a:tcPr>
                </a:tc>
                <a:tc>
                  <a:txBody>
                    <a:bodyPr wrap="square"/>
                    <a:lstStyle/>
                    <a:p>
                      <a:pPr algn="r"/>
                      <a:r>
                        <a:rPr sz="900" b="1">
                          <a:solidFill>
                            <a:srgbClr val="FFFFFF"/>
                          </a:solidFill>
                          <a:latin typeface="Inter"/>
                        </a:rPr>
                        <a:t>Clicks</a:t>
                      </a:r>
                    </a:p>
                  </a:txBody>
                  <a:tcPr marL="54864" marR="54864" marT="27432" marB="27432" anchor="ctr">
                    <a:solidFill>
                      <a:srgbClr val="0F172A"/>
                    </a:solidFill>
                  </a:tcPr>
                </a:tc>
                <a:tc>
                  <a:txBody>
                    <a:bodyPr wrap="square"/>
                    <a:lstStyle/>
                    <a:p>
                      <a:pPr algn="r"/>
                      <a:r>
                        <a:rPr sz="900" b="1">
                          <a:solidFill>
                            <a:srgbClr val="FFFFFF"/>
                          </a:solidFill>
                          <a:latin typeface="Inter"/>
                        </a:rPr>
                        <a:t>Orders</a:t>
                      </a:r>
                    </a:p>
                  </a:txBody>
                  <a:tcPr marL="54864" marR="54864" marT="27432" marB="27432" anchor="ctr">
                    <a:solidFill>
                      <a:srgbClr val="0F172A"/>
                    </a:solidFill>
                  </a:tcPr>
                </a:tc>
              </a:tr>
              <a:tr h="329184">
                <a:tc>
                  <a:txBody>
                    <a:bodyPr wrap="square"/>
                    <a:lstStyle/>
                    <a:p>
                      <a:pPr algn="l"/>
                      <a:r>
                        <a:rPr sz="1000" b="0">
                          <a:solidFill>
                            <a:srgbClr val="0F172A"/>
                          </a:solidFill>
                          <a:latin typeface="Inter"/>
                        </a:rPr>
                        <a:t>mattress +topper</a:t>
                      </a:r>
                    </a:p>
                  </a:txBody>
                  <a:tcPr marL="54864" marR="54864" marT="27432" marB="27432" anchor="ctr">
                    <a:solidFill>
                      <a:srgbClr val="FFFFFF"/>
                    </a:solidFill>
                  </a:tcPr>
                </a:tc>
                <a:tc>
                  <a:txBody>
                    <a:bodyPr wrap="square"/>
                    <a:lstStyle/>
                    <a:p>
                      <a:pPr algn="r"/>
                      <a:r>
                        <a:rPr sz="1000" b="0">
                          <a:solidFill>
                            <a:srgbClr val="0F172A"/>
                          </a:solidFill>
                          <a:latin typeface="Inter"/>
                        </a:rPr>
                        <a:t>Phrase</a:t>
                      </a:r>
                    </a:p>
                  </a:txBody>
                  <a:tcPr marL="54864" marR="54864" marT="27432" marB="27432" anchor="ctr">
                    <a:solidFill>
                      <a:srgbClr val="FFFFFF"/>
                    </a:solidFill>
                  </a:tcPr>
                </a:tc>
                <a:tc>
                  <a:txBody>
                    <a:bodyPr wrap="square"/>
                    <a:lstStyle/>
                    <a:p>
                      <a:pPr algn="r"/>
                      <a:r>
                        <a:rPr sz="1000" b="0">
                          <a:solidFill>
                            <a:srgbClr val="0F172A"/>
                          </a:solidFill>
                          <a:latin typeface="Inter"/>
                        </a:rPr>
                        <a:t>Category</a:t>
                      </a:r>
                    </a:p>
                  </a:txBody>
                  <a:tcPr marL="54864" marR="54864" marT="27432" marB="27432" anchor="ctr">
                    <a:solidFill>
                      <a:srgbClr val="FFFFFF"/>
                    </a:solidFill>
                  </a:tcPr>
                </a:tc>
                <a:tc>
                  <a:txBody>
                    <a:bodyPr wrap="square"/>
                    <a:lstStyle/>
                    <a:p>
                      <a:pPr algn="r"/>
                      <a:r>
                        <a:rPr sz="1000" b="0">
                          <a:solidFill>
                            <a:srgbClr val="0F172A"/>
                          </a:solidFill>
                          <a:latin typeface="Inter"/>
                        </a:rPr>
                        <a:t>C$183</a:t>
                      </a:r>
                    </a:p>
                  </a:txBody>
                  <a:tcPr marL="54864" marR="54864" marT="27432" marB="27432" anchor="ctr">
                    <a:solidFill>
                      <a:srgbClr val="FFFFFF"/>
                    </a:solidFill>
                  </a:tcPr>
                </a:tc>
                <a:tc>
                  <a:txBody>
                    <a:bodyPr wrap="square"/>
                    <a:lstStyle/>
                    <a:p>
                      <a:pPr algn="r"/>
                      <a:r>
                        <a:rPr sz="1000" b="0">
                          <a:solidFill>
                            <a:srgbClr val="0F172A"/>
                          </a:solidFill>
                          <a:latin typeface="Inter"/>
                        </a:rPr>
                        <a:t>C$525</a:t>
                      </a:r>
                    </a:p>
                  </a:txBody>
                  <a:tcPr marL="54864" marR="54864" marT="27432" marB="27432" anchor="ctr">
                    <a:solidFill>
                      <a:srgbClr val="FFFFFF"/>
                    </a:solidFill>
                  </a:tcPr>
                </a:tc>
                <a:tc>
                  <a:txBody>
                    <a:bodyPr wrap="square"/>
                    <a:lstStyle/>
                    <a:p>
                      <a:pPr algn="r"/>
                      <a:r>
                        <a:rPr sz="1000" b="0">
                          <a:solidFill>
                            <a:srgbClr val="DC2626"/>
                          </a:solidFill>
                          <a:latin typeface="Inter"/>
                        </a:rPr>
                        <a:t>34.9%</a:t>
                      </a:r>
                    </a:p>
                  </a:txBody>
                  <a:tcPr marL="54864" marR="54864" marT="27432" marB="27432" anchor="ctr">
                    <a:solidFill>
                      <a:srgbClr val="FFFFFF"/>
                    </a:solidFill>
                  </a:tcPr>
                </a:tc>
                <a:tc>
                  <a:txBody>
                    <a:bodyPr wrap="square"/>
                    <a:lstStyle/>
                    <a:p>
                      <a:pPr algn="r"/>
                      <a:r>
                        <a:rPr sz="1000" b="0">
                          <a:solidFill>
                            <a:srgbClr val="0F172A"/>
                          </a:solidFill>
                          <a:latin typeface="Inter"/>
                        </a:rPr>
                        <a:t>165</a:t>
                      </a:r>
                    </a:p>
                  </a:txBody>
                  <a:tcPr marL="54864" marR="54864" marT="27432" marB="27432" anchor="ctr">
                    <a:solidFill>
                      <a:srgbClr val="FFFFFF"/>
                    </a:solidFill>
                  </a:tcPr>
                </a:tc>
                <a:tc>
                  <a:txBody>
                    <a:bodyPr wrap="square"/>
                    <a:lstStyle/>
                    <a:p>
                      <a:pPr algn="r"/>
                      <a:r>
                        <a:rPr sz="1000" b="0">
                          <a:solidFill>
                            <a:srgbClr val="0F172A"/>
                          </a:solidFill>
                          <a:latin typeface="Inter"/>
                        </a:rPr>
                        <a:t>1</a:t>
                      </a:r>
                    </a:p>
                  </a:txBody>
                  <a:tcPr marL="54864" marR="54864" marT="27432" marB="27432" anchor="ctr">
                    <a:solidFill>
                      <a:srgbClr val="FFFFFF"/>
                    </a:solidFill>
                  </a:tcPr>
                </a:tc>
              </a:tr>
              <a:tr h="329184">
                <a:tc>
                  <a:txBody>
                    <a:bodyPr wrap="square"/>
                    <a:lstStyle/>
                    <a:p>
                      <a:pPr algn="l"/>
                      <a:r>
                        <a:rPr sz="1000" b="0">
                          <a:solidFill>
                            <a:srgbClr val="0F172A"/>
                          </a:solidFill>
                          <a:latin typeface="Inter"/>
                        </a:rPr>
                        <a:t>mattress +topper</a:t>
                      </a:r>
                    </a:p>
                  </a:txBody>
                  <a:tcPr marL="54864" marR="54864" marT="27432" marB="27432" anchor="ctr">
                    <a:solidFill>
                      <a:srgbClr val="FBFAF7"/>
                    </a:solidFill>
                  </a:tcPr>
                </a:tc>
                <a:tc>
                  <a:txBody>
                    <a:bodyPr wrap="square"/>
                    <a:lstStyle/>
                    <a:p>
                      <a:pPr algn="r"/>
                      <a:r>
                        <a:rPr sz="1000" b="0">
                          <a:solidFill>
                            <a:srgbClr val="0F172A"/>
                          </a:solidFill>
                          <a:latin typeface="Inter"/>
                        </a:rPr>
                        <a:t>Exact</a:t>
                      </a:r>
                    </a:p>
                  </a:txBody>
                  <a:tcPr marL="54864" marR="54864" marT="27432" marB="27432" anchor="ctr">
                    <a:solidFill>
                      <a:srgbClr val="FBFAF7"/>
                    </a:solidFill>
                  </a:tcPr>
                </a:tc>
                <a:tc>
                  <a:txBody>
                    <a:bodyPr wrap="square"/>
                    <a:lstStyle/>
                    <a:p>
                      <a:pPr algn="r"/>
                      <a:r>
                        <a:rPr sz="1000" b="0">
                          <a:solidFill>
                            <a:srgbClr val="0F172A"/>
                          </a:solidFill>
                          <a:latin typeface="Inter"/>
                        </a:rPr>
                        <a:t>Category</a:t>
                      </a:r>
                    </a:p>
                  </a:txBody>
                  <a:tcPr marL="54864" marR="54864" marT="27432" marB="27432" anchor="ctr">
                    <a:solidFill>
                      <a:srgbClr val="FBFAF7"/>
                    </a:solidFill>
                  </a:tcPr>
                </a:tc>
                <a:tc>
                  <a:txBody>
                    <a:bodyPr wrap="square"/>
                    <a:lstStyle/>
                    <a:p>
                      <a:pPr algn="r"/>
                      <a:r>
                        <a:rPr sz="1000" b="0">
                          <a:solidFill>
                            <a:srgbClr val="0F172A"/>
                          </a:solidFill>
                          <a:latin typeface="Inter"/>
                        </a:rPr>
                        <a:t>C$76</a:t>
                      </a:r>
                    </a:p>
                  </a:txBody>
                  <a:tcPr marL="54864" marR="54864" marT="27432" marB="27432" anchor="ctr">
                    <a:solidFill>
                      <a:srgbClr val="FBFAF7"/>
                    </a:solidFill>
                  </a:tcPr>
                </a:tc>
                <a:tc>
                  <a:txBody>
                    <a:bodyPr wrap="square"/>
                    <a:lstStyle/>
                    <a:p>
                      <a:pPr algn="r"/>
                      <a:r>
                        <a:rPr sz="1000" b="0">
                          <a:solidFill>
                            <a:srgbClr val="0F172A"/>
                          </a:solidFill>
                          <a:latin typeface="Inter"/>
                        </a:rPr>
                        <a:t>C$0</a:t>
                      </a:r>
                    </a:p>
                  </a:txBody>
                  <a:tcPr marL="54864" marR="54864" marT="27432" marB="27432" anchor="ctr">
                    <a:solidFill>
                      <a:srgbClr val="FBFAF7"/>
                    </a:solidFill>
                  </a:tcPr>
                </a:tc>
                <a:tc>
                  <a:txBody>
                    <a:bodyPr wrap="square"/>
                    <a:lstStyle/>
                    <a:p>
                      <a:pPr algn="r"/>
                      <a:r>
                        <a:rPr sz="1000" b="0">
                          <a:solidFill>
                            <a:srgbClr val="DC2626"/>
                          </a:solidFill>
                          <a:latin typeface="Inter"/>
                        </a:rPr>
                        <a:t>no sales</a:t>
                      </a:r>
                    </a:p>
                  </a:txBody>
                  <a:tcPr marL="54864" marR="54864" marT="27432" marB="27432" anchor="ctr">
                    <a:solidFill>
                      <a:srgbClr val="FBFAF7"/>
                    </a:solidFill>
                  </a:tcPr>
                </a:tc>
                <a:tc>
                  <a:txBody>
                    <a:bodyPr wrap="square"/>
                    <a:lstStyle/>
                    <a:p>
                      <a:pPr algn="r"/>
                      <a:r>
                        <a:rPr sz="1000" b="0">
                          <a:solidFill>
                            <a:srgbClr val="0F172A"/>
                          </a:solidFill>
                          <a:latin typeface="Inter"/>
                        </a:rPr>
                        <a:t>53</a:t>
                      </a:r>
                    </a:p>
                  </a:txBody>
                  <a:tcPr marL="54864" marR="54864" marT="27432" marB="27432" anchor="ctr">
                    <a:solidFill>
                      <a:srgbClr val="FBFAF7"/>
                    </a:solidFill>
                  </a:tcPr>
                </a:tc>
                <a:tc>
                  <a:txBody>
                    <a:bodyPr wrap="square"/>
                    <a:lstStyle/>
                    <a:p>
                      <a:pPr algn="r"/>
                      <a:r>
                        <a:rPr sz="1000" b="0">
                          <a:solidFill>
                            <a:srgbClr val="0F172A"/>
                          </a:solidFill>
                          <a:latin typeface="Inter"/>
                        </a:rPr>
                        <a:t>0</a:t>
                      </a:r>
                    </a:p>
                  </a:txBody>
                  <a:tcPr marL="54864" marR="54864" marT="27432" marB="27432" anchor="ctr">
                    <a:solidFill>
                      <a:srgbClr val="FBFAF7"/>
                    </a:solidFill>
                  </a:tcPr>
                </a:tc>
              </a:tr>
              <a:tr h="329184">
                <a:tc>
                  <a:txBody>
                    <a:bodyPr wrap="square"/>
                    <a:lstStyle/>
                    <a:p>
                      <a:pPr algn="l"/>
                      <a:r>
                        <a:rPr sz="1000" b="0">
                          <a:solidFill>
                            <a:srgbClr val="0F172A"/>
                          </a:solidFill>
                          <a:latin typeface="Inter"/>
                        </a:rPr>
                        <a:t>sur matelas dormeo</a:t>
                      </a:r>
                    </a:p>
                  </a:txBody>
                  <a:tcPr marL="54864" marR="54864" marT="27432" marB="27432" anchor="ctr">
                    <a:solidFill>
                      <a:srgbClr val="FFFFFF"/>
                    </a:solidFill>
                  </a:tcPr>
                </a:tc>
                <a:tc>
                  <a:txBody>
                    <a:bodyPr wrap="square"/>
                    <a:lstStyle/>
                    <a:p>
                      <a:pPr algn="r"/>
                      <a:r>
                        <a:rPr sz="1000" b="0">
                          <a:solidFill>
                            <a:srgbClr val="0F172A"/>
                          </a:solidFill>
                          <a:latin typeface="Inter"/>
                        </a:rPr>
                        <a:t>Exact</a:t>
                      </a:r>
                    </a:p>
                  </a:txBody>
                  <a:tcPr marL="54864" marR="54864" marT="27432" marB="27432" anchor="ctr">
                    <a:solidFill>
                      <a:srgbClr val="FFFFFF"/>
                    </a:solidFill>
                  </a:tcPr>
                </a:tc>
                <a:tc>
                  <a:txBody>
                    <a:bodyPr wrap="square"/>
                    <a:lstStyle/>
                    <a:p>
                      <a:pPr algn="r"/>
                      <a:r>
                        <a:rPr sz="1000" b="0">
                          <a:solidFill>
                            <a:srgbClr val="0F172A"/>
                          </a:solidFill>
                          <a:latin typeface="Inter"/>
                        </a:rPr>
                        <a:t>Brand</a:t>
                      </a:r>
                    </a:p>
                  </a:txBody>
                  <a:tcPr marL="54864" marR="54864" marT="27432" marB="27432" anchor="ctr">
                    <a:solidFill>
                      <a:srgbClr val="FFFFFF"/>
                    </a:solidFill>
                  </a:tcPr>
                </a:tc>
                <a:tc>
                  <a:txBody>
                    <a:bodyPr wrap="square"/>
                    <a:lstStyle/>
                    <a:p>
                      <a:pPr algn="r"/>
                      <a:r>
                        <a:rPr sz="1000" b="0">
                          <a:solidFill>
                            <a:srgbClr val="0F172A"/>
                          </a:solidFill>
                          <a:latin typeface="Inter"/>
                        </a:rPr>
                        <a:t>C$46</a:t>
                      </a:r>
                    </a:p>
                  </a:txBody>
                  <a:tcPr marL="54864" marR="54864" marT="27432" marB="27432" anchor="ctr">
                    <a:solidFill>
                      <a:srgbClr val="FFFFFF"/>
                    </a:solidFill>
                  </a:tcPr>
                </a:tc>
                <a:tc>
                  <a:txBody>
                    <a:bodyPr wrap="square"/>
                    <a:lstStyle/>
                    <a:p>
                      <a:pPr algn="r"/>
                      <a:r>
                        <a:rPr sz="1000" b="0">
                          <a:solidFill>
                            <a:srgbClr val="0F172A"/>
                          </a:solidFill>
                          <a:latin typeface="Inter"/>
                        </a:rPr>
                        <a:t>C$0</a:t>
                      </a:r>
                    </a:p>
                  </a:txBody>
                  <a:tcPr marL="54864" marR="54864" marT="27432" marB="27432" anchor="ctr">
                    <a:solidFill>
                      <a:srgbClr val="FFFFFF"/>
                    </a:solidFill>
                  </a:tcPr>
                </a:tc>
                <a:tc>
                  <a:txBody>
                    <a:bodyPr wrap="square"/>
                    <a:lstStyle/>
                    <a:p>
                      <a:pPr algn="r"/>
                      <a:r>
                        <a:rPr sz="1000" b="0">
                          <a:solidFill>
                            <a:srgbClr val="DC2626"/>
                          </a:solidFill>
                          <a:latin typeface="Inter"/>
                        </a:rPr>
                        <a:t>no sales</a:t>
                      </a:r>
                    </a:p>
                  </a:txBody>
                  <a:tcPr marL="54864" marR="54864" marT="27432" marB="27432" anchor="ctr">
                    <a:solidFill>
                      <a:srgbClr val="FFFFFF"/>
                    </a:solidFill>
                  </a:tcPr>
                </a:tc>
                <a:tc>
                  <a:txBody>
                    <a:bodyPr wrap="square"/>
                    <a:lstStyle/>
                    <a:p>
                      <a:pPr algn="r"/>
                      <a:r>
                        <a:rPr sz="1000" b="0">
                          <a:solidFill>
                            <a:srgbClr val="0F172A"/>
                          </a:solidFill>
                          <a:latin typeface="Inter"/>
                        </a:rPr>
                        <a:t>16</a:t>
                      </a:r>
                    </a:p>
                  </a:txBody>
                  <a:tcPr marL="54864" marR="54864" marT="27432" marB="27432" anchor="ctr">
                    <a:solidFill>
                      <a:srgbClr val="FFFFFF"/>
                    </a:solidFill>
                  </a:tcPr>
                </a:tc>
                <a:tc>
                  <a:txBody>
                    <a:bodyPr wrap="square"/>
                    <a:lstStyle/>
                    <a:p>
                      <a:pPr algn="r"/>
                      <a:r>
                        <a:rPr sz="1000" b="0">
                          <a:solidFill>
                            <a:srgbClr val="0F172A"/>
                          </a:solidFill>
                          <a:latin typeface="Inter"/>
                        </a:rPr>
                        <a:t>0</a:t>
                      </a:r>
                    </a:p>
                  </a:txBody>
                  <a:tcPr marL="54864" marR="54864" marT="27432" marB="27432" anchor="ctr">
                    <a:solidFill>
                      <a:srgbClr val="FFFFFF"/>
                    </a:solidFill>
                  </a:tcPr>
                </a:tc>
              </a:tr>
              <a:tr h="329184">
                <a:tc>
                  <a:txBody>
                    <a:bodyPr wrap="square"/>
                    <a:lstStyle/>
                    <a:p>
                      <a:pPr algn="l"/>
                      <a:r>
                        <a:rPr sz="1000" b="0">
                          <a:solidFill>
                            <a:srgbClr val="0F172A"/>
                          </a:solidFill>
                          <a:latin typeface="Inter"/>
                        </a:rPr>
                        <a:t>dormeo mattress topper</a:t>
                      </a:r>
                    </a:p>
                  </a:txBody>
                  <a:tcPr marL="54864" marR="54864" marT="27432" marB="27432" anchor="ctr">
                    <a:solidFill>
                      <a:srgbClr val="FBFAF7"/>
                    </a:solidFill>
                  </a:tcPr>
                </a:tc>
                <a:tc>
                  <a:txBody>
                    <a:bodyPr wrap="square"/>
                    <a:lstStyle/>
                    <a:p>
                      <a:pPr algn="r"/>
                      <a:r>
                        <a:rPr sz="1000" b="0">
                          <a:solidFill>
                            <a:srgbClr val="0F172A"/>
                          </a:solidFill>
                          <a:latin typeface="Inter"/>
                        </a:rPr>
                        <a:t>Exact</a:t>
                      </a:r>
                    </a:p>
                  </a:txBody>
                  <a:tcPr marL="54864" marR="54864" marT="27432" marB="27432" anchor="ctr">
                    <a:solidFill>
                      <a:srgbClr val="FBFAF7"/>
                    </a:solidFill>
                  </a:tcPr>
                </a:tc>
                <a:tc>
                  <a:txBody>
                    <a:bodyPr wrap="square"/>
                    <a:lstStyle/>
                    <a:p>
                      <a:pPr algn="r"/>
                      <a:r>
                        <a:rPr sz="1000" b="0">
                          <a:solidFill>
                            <a:srgbClr val="0F172A"/>
                          </a:solidFill>
                          <a:latin typeface="Inter"/>
                        </a:rPr>
                        <a:t>Brand</a:t>
                      </a:r>
                    </a:p>
                  </a:txBody>
                  <a:tcPr marL="54864" marR="54864" marT="27432" marB="27432" anchor="ctr">
                    <a:solidFill>
                      <a:srgbClr val="FBFAF7"/>
                    </a:solidFill>
                  </a:tcPr>
                </a:tc>
                <a:tc>
                  <a:txBody>
                    <a:bodyPr wrap="square"/>
                    <a:lstStyle/>
                    <a:p>
                      <a:pPr algn="r"/>
                      <a:r>
                        <a:rPr sz="1000" b="0">
                          <a:solidFill>
                            <a:srgbClr val="0F172A"/>
                          </a:solidFill>
                          <a:latin typeface="Inter"/>
                        </a:rPr>
                        <a:t>C$44</a:t>
                      </a:r>
                    </a:p>
                  </a:txBody>
                  <a:tcPr marL="54864" marR="54864" marT="27432" marB="27432" anchor="ctr">
                    <a:solidFill>
                      <a:srgbClr val="FBFAF7"/>
                    </a:solidFill>
                  </a:tcPr>
                </a:tc>
                <a:tc>
                  <a:txBody>
                    <a:bodyPr wrap="square"/>
                    <a:lstStyle/>
                    <a:p>
                      <a:pPr algn="r"/>
                      <a:r>
                        <a:rPr sz="1000" b="0">
                          <a:solidFill>
                            <a:srgbClr val="0F172A"/>
                          </a:solidFill>
                          <a:latin typeface="Inter"/>
                        </a:rPr>
                        <a:t>C$0</a:t>
                      </a:r>
                    </a:p>
                  </a:txBody>
                  <a:tcPr marL="54864" marR="54864" marT="27432" marB="27432" anchor="ctr">
                    <a:solidFill>
                      <a:srgbClr val="FBFAF7"/>
                    </a:solidFill>
                  </a:tcPr>
                </a:tc>
                <a:tc>
                  <a:txBody>
                    <a:bodyPr wrap="square"/>
                    <a:lstStyle/>
                    <a:p>
                      <a:pPr algn="r"/>
                      <a:r>
                        <a:rPr sz="1000" b="0">
                          <a:solidFill>
                            <a:srgbClr val="DC2626"/>
                          </a:solidFill>
                          <a:latin typeface="Inter"/>
                        </a:rPr>
                        <a:t>no sales</a:t>
                      </a:r>
                    </a:p>
                  </a:txBody>
                  <a:tcPr marL="54864" marR="54864" marT="27432" marB="27432" anchor="ctr">
                    <a:solidFill>
                      <a:srgbClr val="FBFAF7"/>
                    </a:solidFill>
                  </a:tcPr>
                </a:tc>
                <a:tc>
                  <a:txBody>
                    <a:bodyPr wrap="square"/>
                    <a:lstStyle/>
                    <a:p>
                      <a:pPr algn="r"/>
                      <a:r>
                        <a:rPr sz="1000" b="0">
                          <a:solidFill>
                            <a:srgbClr val="0F172A"/>
                          </a:solidFill>
                          <a:latin typeface="Inter"/>
                        </a:rPr>
                        <a:t>34</a:t>
                      </a:r>
                    </a:p>
                  </a:txBody>
                  <a:tcPr marL="54864" marR="54864" marT="27432" marB="27432" anchor="ctr">
                    <a:solidFill>
                      <a:srgbClr val="FBFAF7"/>
                    </a:solidFill>
                  </a:tcPr>
                </a:tc>
                <a:tc>
                  <a:txBody>
                    <a:bodyPr wrap="square"/>
                    <a:lstStyle/>
                    <a:p>
                      <a:pPr algn="r"/>
                      <a:r>
                        <a:rPr sz="1000" b="0">
                          <a:solidFill>
                            <a:srgbClr val="0F172A"/>
                          </a:solidFill>
                          <a:latin typeface="Inter"/>
                        </a:rPr>
                        <a:t>0</a:t>
                      </a:r>
                    </a:p>
                  </a:txBody>
                  <a:tcPr marL="54864" marR="54864" marT="27432" marB="27432" anchor="ctr">
                    <a:solidFill>
                      <a:srgbClr val="FBFAF7"/>
                    </a:solidFill>
                  </a:tcPr>
                </a:tc>
              </a:tr>
              <a:tr h="329184">
                <a:tc>
                  <a:txBody>
                    <a:bodyPr wrap="square"/>
                    <a:lstStyle/>
                    <a:p>
                      <a:pPr algn="l"/>
                      <a:r>
                        <a:rPr sz="1000" b="0">
                          <a:solidFill>
                            <a:srgbClr val="0F172A"/>
                          </a:solidFill>
                          <a:latin typeface="Inter"/>
                        </a:rPr>
                        <a:t>dormeo</a:t>
                      </a:r>
                    </a:p>
                  </a:txBody>
                  <a:tcPr marL="54864" marR="54864" marT="27432" marB="27432" anchor="ctr">
                    <a:solidFill>
                      <a:srgbClr val="FFFFFF"/>
                    </a:solidFill>
                  </a:tcPr>
                </a:tc>
                <a:tc>
                  <a:txBody>
                    <a:bodyPr wrap="square"/>
                    <a:lstStyle/>
                    <a:p>
                      <a:pPr algn="r"/>
                      <a:r>
                        <a:rPr sz="1000" b="0">
                          <a:solidFill>
                            <a:srgbClr val="0F172A"/>
                          </a:solidFill>
                          <a:latin typeface="Inter"/>
                        </a:rPr>
                        <a:t>Phrase</a:t>
                      </a:r>
                    </a:p>
                  </a:txBody>
                  <a:tcPr marL="54864" marR="54864" marT="27432" marB="27432" anchor="ctr">
                    <a:solidFill>
                      <a:srgbClr val="FFFFFF"/>
                    </a:solidFill>
                  </a:tcPr>
                </a:tc>
                <a:tc>
                  <a:txBody>
                    <a:bodyPr wrap="square"/>
                    <a:lstStyle/>
                    <a:p>
                      <a:pPr algn="r"/>
                      <a:r>
                        <a:rPr sz="1000" b="0">
                          <a:solidFill>
                            <a:srgbClr val="0F172A"/>
                          </a:solidFill>
                          <a:latin typeface="Inter"/>
                        </a:rPr>
                        <a:t>Brand</a:t>
                      </a:r>
                    </a:p>
                  </a:txBody>
                  <a:tcPr marL="54864" marR="54864" marT="27432" marB="27432" anchor="ctr">
                    <a:solidFill>
                      <a:srgbClr val="FFFFFF"/>
                    </a:solidFill>
                  </a:tcPr>
                </a:tc>
                <a:tc>
                  <a:txBody>
                    <a:bodyPr wrap="square"/>
                    <a:lstStyle/>
                    <a:p>
                      <a:pPr algn="r"/>
                      <a:r>
                        <a:rPr sz="1000" b="0">
                          <a:solidFill>
                            <a:srgbClr val="0F172A"/>
                          </a:solidFill>
                          <a:latin typeface="Inter"/>
                        </a:rPr>
                        <a:t>C$40</a:t>
                      </a:r>
                    </a:p>
                  </a:txBody>
                  <a:tcPr marL="54864" marR="54864" marT="27432" marB="27432" anchor="ctr">
                    <a:solidFill>
                      <a:srgbClr val="FFFFFF"/>
                    </a:solidFill>
                  </a:tcPr>
                </a:tc>
                <a:tc>
                  <a:txBody>
                    <a:bodyPr wrap="square"/>
                    <a:lstStyle/>
                    <a:p>
                      <a:pPr algn="r"/>
                      <a:r>
                        <a:rPr sz="1000" b="0">
                          <a:solidFill>
                            <a:srgbClr val="0F172A"/>
                          </a:solidFill>
                          <a:latin typeface="Inter"/>
                        </a:rPr>
                        <a:t>C$0</a:t>
                      </a:r>
                    </a:p>
                  </a:txBody>
                  <a:tcPr marL="54864" marR="54864" marT="27432" marB="27432" anchor="ctr">
                    <a:solidFill>
                      <a:srgbClr val="FFFFFF"/>
                    </a:solidFill>
                  </a:tcPr>
                </a:tc>
                <a:tc>
                  <a:txBody>
                    <a:bodyPr wrap="square"/>
                    <a:lstStyle/>
                    <a:p>
                      <a:pPr algn="r"/>
                      <a:r>
                        <a:rPr sz="1000" b="0">
                          <a:solidFill>
                            <a:srgbClr val="DC2626"/>
                          </a:solidFill>
                          <a:latin typeface="Inter"/>
                        </a:rPr>
                        <a:t>no sales</a:t>
                      </a:r>
                    </a:p>
                  </a:txBody>
                  <a:tcPr marL="54864" marR="54864" marT="27432" marB="27432" anchor="ctr">
                    <a:solidFill>
                      <a:srgbClr val="FFFFFF"/>
                    </a:solidFill>
                  </a:tcPr>
                </a:tc>
                <a:tc>
                  <a:txBody>
                    <a:bodyPr wrap="square"/>
                    <a:lstStyle/>
                    <a:p>
                      <a:pPr algn="r"/>
                      <a:r>
                        <a:rPr sz="1000" b="0">
                          <a:solidFill>
                            <a:srgbClr val="0F172A"/>
                          </a:solidFill>
                          <a:latin typeface="Inter"/>
                        </a:rPr>
                        <a:t>57</a:t>
                      </a:r>
                    </a:p>
                  </a:txBody>
                  <a:tcPr marL="54864" marR="54864" marT="27432" marB="27432" anchor="ctr">
                    <a:solidFill>
                      <a:srgbClr val="FFFFFF"/>
                    </a:solidFill>
                  </a:tcPr>
                </a:tc>
                <a:tc>
                  <a:txBody>
                    <a:bodyPr wrap="square"/>
                    <a:lstStyle/>
                    <a:p>
                      <a:pPr algn="r"/>
                      <a:r>
                        <a:rPr sz="1000" b="0">
                          <a:solidFill>
                            <a:srgbClr val="0F172A"/>
                          </a:solidFill>
                          <a:latin typeface="Inter"/>
                        </a:rPr>
                        <a:t>0</a:t>
                      </a:r>
                    </a:p>
                  </a:txBody>
                  <a:tcPr marL="54864" marR="54864" marT="27432" marB="27432" anchor="ctr">
                    <a:solidFill>
                      <a:srgbClr val="FFFFFF"/>
                    </a:solidFill>
                  </a:tcPr>
                </a:tc>
              </a:tr>
            </a:tbl>
          </a:graphicData>
        </a:graphic>
      </p:graphicFrame>
      <p:sp>
        <p:nvSpPr>
          <p:cNvPr id="27" name=""/>
          <p:cNvSpPr/>
          <p:nvPr/>
        </p:nvSpPr>
        <p:spPr>
          <a:xfrm>
            <a:off x="8001000" y="3063240"/>
            <a:ext cx="3639312" cy="3154680"/>
          </a:xfrm>
          <a:prstGeom prst="roundRect">
            <a:avLst>
              <a:gd name="" fmla="val 6000"/>
            </a:avLst>
          </a:prstGeom>
          <a:solidFill>
            <a:srgbClr val="FFFFFF"/>
          </a:solidFill>
          <a:ln w="9525">
            <a:solidFill>
              <a:srgbClr val="E5E0D6"/>
            </a:solidFill>
          </a:ln>
        </p:spPr>
      </p:sp>
      <p:sp>
        <p:nvSpPr>
          <p:cNvPr id="28" name=""/>
          <p:cNvSpPr txBox="1"/>
          <p:nvPr/>
        </p:nvSpPr>
        <p:spPr>
          <a:xfrm>
            <a:off x="8183879" y="3200400"/>
            <a:ext cx="327355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Next moves</a:t>
            </a:r>
          </a:p>
        </p:txBody>
      </p:sp>
      <p:sp>
        <p:nvSpPr>
          <p:cNvPr id="29" name=""/>
          <p:cNvSpPr txBox="1"/>
          <p:nvPr/>
        </p:nvSpPr>
        <p:spPr>
          <a:xfrm>
            <a:off x="8183879" y="3520440"/>
            <a:ext cx="3273552" cy="2606040"/>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Review the Streaming TV audience campaign for the Queen topper: C$897 this week and C$892 last week with no attributed sales.</a:t>
            </a:r>
          </a:p>
          <a:p>
            <a:pPr algn="l">
              <a:spcAft>
                <a:spcPts val="500"/>
              </a:spcAft>
            </a:pPr>
            <a:r>
              <a:rPr sz="1050" b="0">
                <a:solidFill>
                  <a:srgbClr val="334155"/>
                </a:solidFill>
                <a:latin typeface="Inter"/>
              </a:rPr>
              <a:t>Pause or negate “mattress +topper” (exact, C$76) and “sur matelas dormeo” (exact, C$46): clicks, no sales.</a:t>
            </a:r>
          </a:p>
          <a:p>
            <a:pPr algn="l">
              <a:spcAft>
                <a:spcPts val="500"/>
              </a:spcAft>
            </a:pPr>
            <a:r>
              <a:rPr sz="1050" b="0">
                <a:solidFill>
                  <a:srgbClr val="334155"/>
                </a:solidFill>
                <a:latin typeface="Inter"/>
              </a:rPr>
              <a:t>Lower the bid on “mattress +topper” (phrase): C$183 for 1 order.</a:t>
            </a:r>
          </a:p>
          <a:p>
            <a:pPr algn="l">
              <a:spcAft>
                <a:spcPts val="500"/>
              </a:spcAft>
            </a:pPr>
            <a:r>
              <a:rPr sz="1050" b="0">
                <a:solidFill>
                  <a:srgbClr val="334155"/>
                </a:solidFill>
                <a:latin typeface="Inter"/>
              </a:rPr>
              <a:t>Impression share and bid-change history are not in the Sellerise report, so they aren't tracked 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Brand keywords — top customer searches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8 / 17</a:t>
            </a:r>
          </a:p>
        </p:txBody>
      </p:sp>
      <p:sp>
        <p:nvSpPr>
          <p:cNvPr id="10" name=""/>
          <p:cNvSpPr/>
          <p:nvPr/>
        </p:nvSpPr>
        <p:spPr>
          <a:xfrm>
            <a:off x="548640" y="1371600"/>
            <a:ext cx="3566160" cy="1005840"/>
          </a:xfrm>
          <a:prstGeom prst="roundRect">
            <a:avLst>
              <a:gd name="" fmla="val 6000"/>
            </a:avLst>
          </a:prstGeom>
          <a:solidFill>
            <a:srgbClr val="F6F3EC"/>
          </a:solidFill>
          <a:ln>
            <a:noFill/>
          </a:ln>
        </p:spPr>
      </p:sp>
      <p:sp>
        <p:nvSpPr>
          <p:cNvPr id="11" name=""/>
          <p:cNvSpPr txBox="1"/>
          <p:nvPr/>
        </p:nvSpPr>
        <p:spPr>
          <a:xfrm>
            <a:off x="713232" y="1463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 SB</a:t>
            </a:r>
          </a:p>
        </p:txBody>
      </p:sp>
      <p:sp>
        <p:nvSpPr>
          <p:cNvPr id="12" name=""/>
          <p:cNvSpPr txBox="1"/>
          <p:nvPr/>
        </p:nvSpPr>
        <p:spPr>
          <a:xfrm>
            <a:off x="713232" y="1755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C$7,047</a:t>
            </a:r>
            <a:r>
              <a:rPr sz="1000" b="0">
                <a:solidFill>
                  <a:srgbClr val="6B6558"/>
                </a:solidFill>
                <a:latin typeface="Inter"/>
              </a:rPr>
              <a:t>   183 clicks · 13 orders · CVR 7.1%</a:t>
            </a:r>
          </a:p>
        </p:txBody>
      </p:sp>
      <p:sp>
        <p:nvSpPr>
          <p:cNvPr id="13" name=""/>
          <p:cNvSpPr/>
          <p:nvPr/>
        </p:nvSpPr>
        <p:spPr>
          <a:xfrm>
            <a:off x="4279392" y="1371600"/>
            <a:ext cx="3566160" cy="1005840"/>
          </a:xfrm>
          <a:prstGeom prst="roundRect">
            <a:avLst>
              <a:gd name="" fmla="val 6000"/>
            </a:avLst>
          </a:prstGeom>
          <a:solidFill>
            <a:srgbClr val="F6F3EC"/>
          </a:solidFill>
          <a:ln>
            <a:noFill/>
          </a:ln>
        </p:spPr>
      </p:sp>
      <p:sp>
        <p:nvSpPr>
          <p:cNvPr id="14" name=""/>
          <p:cNvSpPr txBox="1"/>
          <p:nvPr/>
        </p:nvSpPr>
        <p:spPr>
          <a:xfrm>
            <a:off x="4443983" y="1463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queen” · SP</a:t>
            </a:r>
          </a:p>
        </p:txBody>
      </p:sp>
      <p:sp>
        <p:nvSpPr>
          <p:cNvPr id="15" name=""/>
          <p:cNvSpPr txBox="1"/>
          <p:nvPr/>
        </p:nvSpPr>
        <p:spPr>
          <a:xfrm>
            <a:off x="4443983" y="1755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C$3,744</a:t>
            </a:r>
            <a:r>
              <a:rPr sz="1000" b="0">
                <a:solidFill>
                  <a:srgbClr val="6B6558"/>
                </a:solidFill>
                <a:latin typeface="Inter"/>
              </a:rPr>
              <a:t>   74 clicks · 9 orders · CVR 12.2%</a:t>
            </a:r>
          </a:p>
        </p:txBody>
      </p:sp>
      <p:sp>
        <p:nvSpPr>
          <p:cNvPr id="16" name=""/>
          <p:cNvSpPr/>
          <p:nvPr/>
        </p:nvSpPr>
        <p:spPr>
          <a:xfrm>
            <a:off x="8010144" y="1371600"/>
            <a:ext cx="3566160" cy="1005840"/>
          </a:xfrm>
          <a:prstGeom prst="roundRect">
            <a:avLst>
              <a:gd name="" fmla="val 6000"/>
            </a:avLst>
          </a:prstGeom>
          <a:solidFill>
            <a:srgbClr val="F6F3EC"/>
          </a:solidFill>
          <a:ln>
            <a:noFill/>
          </a:ln>
        </p:spPr>
      </p:sp>
      <p:sp>
        <p:nvSpPr>
          <p:cNvPr id="17" name=""/>
          <p:cNvSpPr txBox="1"/>
          <p:nvPr/>
        </p:nvSpPr>
        <p:spPr>
          <a:xfrm>
            <a:off x="8174736" y="1463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queen” · SB</a:t>
            </a:r>
          </a:p>
        </p:txBody>
      </p:sp>
      <p:sp>
        <p:nvSpPr>
          <p:cNvPr id="18" name=""/>
          <p:cNvSpPr txBox="1"/>
          <p:nvPr/>
        </p:nvSpPr>
        <p:spPr>
          <a:xfrm>
            <a:off x="8174736" y="1755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C$2,770</a:t>
            </a:r>
            <a:r>
              <a:rPr sz="1000" b="0">
                <a:solidFill>
                  <a:srgbClr val="6B6558"/>
                </a:solidFill>
                <a:latin typeface="Inter"/>
              </a:rPr>
              <a:t>   25 clicks · 5 orders · CVR 20.0%</a:t>
            </a:r>
          </a:p>
        </p:txBody>
      </p:sp>
      <p:sp>
        <p:nvSpPr>
          <p:cNvPr id="19" name=""/>
          <p:cNvSpPr/>
          <p:nvPr/>
        </p:nvSpPr>
        <p:spPr>
          <a:xfrm>
            <a:off x="548640" y="2514600"/>
            <a:ext cx="3566160" cy="1005840"/>
          </a:xfrm>
          <a:prstGeom prst="roundRect">
            <a:avLst>
              <a:gd name="" fmla="val 6000"/>
            </a:avLst>
          </a:prstGeom>
          <a:solidFill>
            <a:srgbClr val="F6F3EC"/>
          </a:solidFill>
          <a:ln>
            <a:noFill/>
          </a:ln>
        </p:spPr>
      </p:sp>
      <p:sp>
        <p:nvSpPr>
          <p:cNvPr id="20" name=""/>
          <p:cNvSpPr txBox="1"/>
          <p:nvPr/>
        </p:nvSpPr>
        <p:spPr>
          <a:xfrm>
            <a:off x="713232" y="2606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king size” · SP</a:t>
            </a:r>
          </a:p>
        </p:txBody>
      </p:sp>
      <p:sp>
        <p:nvSpPr>
          <p:cNvPr id="21" name=""/>
          <p:cNvSpPr txBox="1"/>
          <p:nvPr/>
        </p:nvSpPr>
        <p:spPr>
          <a:xfrm>
            <a:off x="713232" y="2898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C$1,199</a:t>
            </a:r>
            <a:r>
              <a:rPr sz="1000" b="0">
                <a:solidFill>
                  <a:srgbClr val="6B6558"/>
                </a:solidFill>
                <a:latin typeface="Inter"/>
              </a:rPr>
              <a:t>   11 clicks · 2 orders · CVR 18.2%</a:t>
            </a:r>
          </a:p>
        </p:txBody>
      </p:sp>
      <p:sp>
        <p:nvSpPr>
          <p:cNvPr id="22" name=""/>
          <p:cNvSpPr/>
          <p:nvPr/>
        </p:nvSpPr>
        <p:spPr>
          <a:xfrm>
            <a:off x="4279392" y="2514600"/>
            <a:ext cx="3566160" cy="1005840"/>
          </a:xfrm>
          <a:prstGeom prst="roundRect">
            <a:avLst>
              <a:gd name="" fmla="val 6000"/>
            </a:avLst>
          </a:prstGeom>
          <a:solidFill>
            <a:srgbClr val="F6F3EC"/>
          </a:solidFill>
          <a:ln>
            <a:noFill/>
          </a:ln>
        </p:spPr>
      </p:sp>
      <p:sp>
        <p:nvSpPr>
          <p:cNvPr id="23" name=""/>
          <p:cNvSpPr txBox="1"/>
          <p:nvPr/>
        </p:nvSpPr>
        <p:spPr>
          <a:xfrm>
            <a:off x="4443983" y="2606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topper canada” · SP</a:t>
            </a:r>
          </a:p>
        </p:txBody>
      </p:sp>
      <p:sp>
        <p:nvSpPr>
          <p:cNvPr id="24" name=""/>
          <p:cNvSpPr txBox="1"/>
          <p:nvPr/>
        </p:nvSpPr>
        <p:spPr>
          <a:xfrm>
            <a:off x="4443983" y="2898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C$1,108</a:t>
            </a:r>
            <a:r>
              <a:rPr sz="1000" b="0">
                <a:solidFill>
                  <a:srgbClr val="6B6558"/>
                </a:solidFill>
                <a:latin typeface="Inter"/>
              </a:rPr>
              <a:t>   12 clicks · 2 orders · CVR 16.7%</a:t>
            </a:r>
          </a:p>
        </p:txBody>
      </p:sp>
      <p:sp>
        <p:nvSpPr>
          <p:cNvPr id="25" name=""/>
          <p:cNvSpPr/>
          <p:nvPr/>
        </p:nvSpPr>
        <p:spPr>
          <a:xfrm>
            <a:off x="8010144" y="2514600"/>
            <a:ext cx="3566160" cy="1005840"/>
          </a:xfrm>
          <a:prstGeom prst="roundRect">
            <a:avLst>
              <a:gd name="" fmla="val 6000"/>
            </a:avLst>
          </a:prstGeom>
          <a:solidFill>
            <a:srgbClr val="F6F3EC"/>
          </a:solidFill>
          <a:ln>
            <a:noFill/>
          </a:ln>
        </p:spPr>
      </p:sp>
      <p:sp>
        <p:nvSpPr>
          <p:cNvPr id="26" name=""/>
          <p:cNvSpPr txBox="1"/>
          <p:nvPr/>
        </p:nvSpPr>
        <p:spPr>
          <a:xfrm>
            <a:off x="8174736" y="2606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king” · SP</a:t>
            </a:r>
          </a:p>
        </p:txBody>
      </p:sp>
      <p:sp>
        <p:nvSpPr>
          <p:cNvPr id="27" name=""/>
          <p:cNvSpPr txBox="1"/>
          <p:nvPr/>
        </p:nvSpPr>
        <p:spPr>
          <a:xfrm>
            <a:off x="8174736" y="2898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C$953</a:t>
            </a:r>
            <a:r>
              <a:rPr sz="1000" b="0">
                <a:solidFill>
                  <a:srgbClr val="6B6558"/>
                </a:solidFill>
                <a:latin typeface="Inter"/>
              </a:rPr>
              <a:t>   20 clicks · 3 orders · CVR 15.0%</a:t>
            </a:r>
          </a:p>
        </p:txBody>
      </p:sp>
      <p:graphicFrame>
        <p:nvGraphicFramePr>
          <p:cNvPr id="28" name=""/>
          <p:cNvGraphicFramePr>
            <a:graphicFrameLocks noGrp="1"/>
          </p:cNvGraphicFramePr>
          <p:nvPr/>
        </p:nvGraphicFramePr>
        <p:xfrm>
          <a:off x="548640" y="3749039"/>
          <a:ext cx="11091672" cy="2468880"/>
        </p:xfrm>
        <a:graphic>
          <a:graphicData uri="http://schemas.openxmlformats.org/drawingml/2006/table">
            <a:tbl>
              <a:tblPr firstRow="1" bandRow="1">
                <a:tableStyleId>{5C22544A-7EE6-4342-B048-85BDC9FD1C3A}</a:tableStyleId>
              </a:tblPr>
              <a:tblGrid>
                <a:gridCol w="3291840"/>
                <a:gridCol w="548640"/>
                <a:gridCol w="1143000"/>
                <a:gridCol w="822960"/>
                <a:gridCol w="822960"/>
                <a:gridCol w="822960"/>
                <a:gridCol w="1188720"/>
                <a:gridCol w="1188720"/>
                <a:gridCol w="1261872"/>
              </a:tblGrid>
              <a:tr h="274320">
                <a:tc>
                  <a:txBody>
                    <a:bodyPr wrap="square"/>
                    <a:lstStyle/>
                    <a:p>
                      <a:pPr algn="l"/>
                      <a:r>
                        <a:rPr sz="850" b="1">
                          <a:solidFill>
                            <a:srgbClr val="FFFFFF"/>
                          </a:solidFill>
                          <a:latin typeface="Inter"/>
                        </a:rPr>
                        <a:t>Search term</a:t>
                      </a:r>
                    </a:p>
                  </a:txBody>
                  <a:tcPr marL="54864" marR="54864" marT="27432" marB="27432" anchor="ctr">
                    <a:solidFill>
                      <a:srgbClr val="0F172A"/>
                    </a:solidFill>
                  </a:tcPr>
                </a:tc>
                <a:tc>
                  <a:txBody>
                    <a:bodyPr wrap="square"/>
                    <a:lstStyle/>
                    <a:p>
                      <a:pPr algn="r"/>
                      <a:r>
                        <a:rPr sz="850" b="1">
                          <a:solidFill>
                            <a:srgbClr val="FFFFFF"/>
                          </a:solidFill>
                          <a:latin typeface="Inter"/>
                        </a:rPr>
                        <a:t>Ad</a:t>
                      </a:r>
                    </a:p>
                  </a:txBody>
                  <a:tcPr marL="54864" marR="54864" marT="27432" marB="27432" anchor="ctr">
                    <a:solidFill>
                      <a:srgbClr val="0F172A"/>
                    </a:solidFill>
                  </a:tcPr>
                </a:tc>
                <a:tc>
                  <a:txBody>
                    <a:bodyPr wrap="square"/>
                    <a:lstStyle/>
                    <a:p>
                      <a:pPr algn="r"/>
                      <a:r>
                        <a:rPr sz="850" b="1">
                          <a:solidFill>
                            <a:srgbClr val="FFFFFF"/>
                          </a:solidFill>
                          <a:latin typeface="Inter"/>
                        </a:rPr>
                        <a:t>Impressions</a:t>
                      </a:r>
                    </a:p>
                  </a:txBody>
                  <a:tcPr marL="54864" marR="54864" marT="27432" marB="27432" anchor="ctr">
                    <a:solidFill>
                      <a:srgbClr val="0F172A"/>
                    </a:solidFill>
                  </a:tcPr>
                </a:tc>
                <a:tc>
                  <a:txBody>
                    <a:bodyPr wrap="square"/>
                    <a:lstStyle/>
                    <a:p>
                      <a:pPr algn="r"/>
                      <a:r>
                        <a:rPr sz="850" b="1">
                          <a:solidFill>
                            <a:srgbClr val="FFFFFF"/>
                          </a:solidFill>
                          <a:latin typeface="Inter"/>
                        </a:rPr>
                        <a:t>Clicks</a:t>
                      </a:r>
                    </a:p>
                  </a:txBody>
                  <a:tcPr marL="54864" marR="54864" marT="27432" marB="27432" anchor="ctr">
                    <a:solidFill>
                      <a:srgbClr val="0F172A"/>
                    </a:solidFill>
                  </a:tcPr>
                </a:tc>
                <a:tc>
                  <a:txBody>
                    <a:bodyPr wrap="square"/>
                    <a:lstStyle/>
                    <a:p>
                      <a:pPr algn="r"/>
                      <a:r>
                        <a:rPr sz="850" b="1">
                          <a:solidFill>
                            <a:srgbClr val="FFFFFF"/>
                          </a:solidFill>
                          <a:latin typeface="Inter"/>
                        </a:rPr>
                        <a:t>Orders</a:t>
                      </a:r>
                    </a:p>
                  </a:txBody>
                  <a:tcPr marL="54864" marR="54864" marT="27432" marB="27432" anchor="ctr">
                    <a:solidFill>
                      <a:srgbClr val="0F172A"/>
                    </a:solidFill>
                  </a:tcPr>
                </a:tc>
                <a:tc>
                  <a:txBody>
                    <a:bodyPr wrap="square"/>
                    <a:lstStyle/>
                    <a:p>
                      <a:pPr algn="r"/>
                      <a:r>
                        <a:rPr sz="850" b="1">
                          <a:solidFill>
                            <a:srgbClr val="FFFFFF"/>
                          </a:solidFill>
                          <a:latin typeface="Inter"/>
                        </a:rPr>
                        <a:t>CVR</a:t>
                      </a:r>
                    </a:p>
                  </a:txBody>
                  <a:tcPr marL="54864" marR="54864" marT="27432" marB="27432" anchor="ctr">
                    <a:solidFill>
                      <a:srgbClr val="0F172A"/>
                    </a:solidFill>
                  </a:tcPr>
                </a:tc>
                <a:tc>
                  <a:txBody>
                    <a:bodyPr wrap="square"/>
                    <a:lstStyle/>
                    <a:p>
                      <a:pPr algn="r"/>
                      <a:r>
                        <a:rPr sz="850" b="1">
                          <a:solidFill>
                            <a:srgbClr val="FFFFFF"/>
                          </a:solidFill>
                          <a:latin typeface="Inter"/>
                        </a:rPr>
                        <a:t>Spend</a:t>
                      </a:r>
                    </a:p>
                  </a:txBody>
                  <a:tcPr marL="54864" marR="54864" marT="27432" marB="27432" anchor="ctr">
                    <a:solidFill>
                      <a:srgbClr val="0F172A"/>
                    </a:solidFill>
                  </a:tcPr>
                </a:tc>
                <a:tc>
                  <a:txBody>
                    <a:bodyPr wrap="square"/>
                    <a:lstStyle/>
                    <a:p>
                      <a:pPr algn="r"/>
                      <a:r>
                        <a:rPr sz="850" b="1">
                          <a:solidFill>
                            <a:srgbClr val="FFFFFF"/>
                          </a:solidFill>
                          <a:latin typeface="Inter"/>
                        </a:rPr>
                        <a:t>Sales</a:t>
                      </a:r>
                    </a:p>
                  </a:txBody>
                  <a:tcPr marL="54864" marR="54864" marT="27432" marB="27432" anchor="ctr">
                    <a:solidFill>
                      <a:srgbClr val="0F172A"/>
                    </a:solidFill>
                  </a:tcPr>
                </a:tc>
                <a:tc>
                  <a:txBody>
                    <a:bodyPr wrap="square"/>
                    <a:lstStyle/>
                    <a:p>
                      <a:pPr algn="r"/>
                      <a:r>
                        <a:rPr sz="850" b="1">
                          <a:solidFill>
                            <a:srgbClr val="FFFFFF"/>
                          </a:solidFill>
                          <a:latin typeface="Inter"/>
                        </a:rPr>
                        <a:t>ACoS</a:t>
                      </a:r>
                    </a:p>
                  </a:txBody>
                  <a:tcPr marL="54864" marR="54864" marT="27432" marB="27432" anchor="ctr">
                    <a:solidFill>
                      <a:srgbClr val="0F172A"/>
                    </a:solidFill>
                  </a:tcPr>
                </a:tc>
              </a:tr>
              <a:tr h="274320">
                <a:tc>
                  <a:txBody>
                    <a:bodyPr wrap="square"/>
                    <a:lstStyle/>
                    <a:p>
                      <a:pPr algn="l"/>
                      <a:r>
                        <a:rPr sz="950" b="0">
                          <a:solidFill>
                            <a:srgbClr val="0F172A"/>
                          </a:solidFill>
                          <a:latin typeface="Inter"/>
                        </a:rPr>
                        <a:t>dormeo mattress topper</a:t>
                      </a:r>
                    </a:p>
                  </a:txBody>
                  <a:tcPr marL="54864" marR="54864" marT="27432" marB="27432" anchor="ctr">
                    <a:solidFill>
                      <a:srgbClr val="FFFFFF"/>
                    </a:solidFill>
                  </a:tcPr>
                </a:tc>
                <a:tc>
                  <a:txBody>
                    <a:bodyPr wrap="square"/>
                    <a:lstStyle/>
                    <a:p>
                      <a:pPr algn="r"/>
                      <a:r>
                        <a:rPr sz="950" b="0">
                          <a:solidFill>
                            <a:srgbClr val="0F172A"/>
                          </a:solidFill>
                          <a:latin typeface="Inter"/>
                        </a:rPr>
                        <a:t>SB</a:t>
                      </a:r>
                    </a:p>
                  </a:txBody>
                  <a:tcPr marL="54864" marR="54864" marT="27432" marB="27432" anchor="ctr">
                    <a:solidFill>
                      <a:srgbClr val="FFFFFF"/>
                    </a:solidFill>
                  </a:tcPr>
                </a:tc>
                <a:tc>
                  <a:txBody>
                    <a:bodyPr wrap="square"/>
                    <a:lstStyle/>
                    <a:p>
                      <a:pPr algn="r"/>
                      <a:r>
                        <a:rPr sz="950" b="0">
                          <a:solidFill>
                            <a:srgbClr val="0F172A"/>
                          </a:solidFill>
                          <a:latin typeface="Inter"/>
                        </a:rPr>
                        <a:t>5,058</a:t>
                      </a:r>
                    </a:p>
                  </a:txBody>
                  <a:tcPr marL="54864" marR="54864" marT="27432" marB="27432" anchor="ctr">
                    <a:solidFill>
                      <a:srgbClr val="FFFFFF"/>
                    </a:solidFill>
                  </a:tcPr>
                </a:tc>
                <a:tc>
                  <a:txBody>
                    <a:bodyPr wrap="square"/>
                    <a:lstStyle/>
                    <a:p>
                      <a:pPr algn="r"/>
                      <a:r>
                        <a:rPr sz="950" b="0">
                          <a:solidFill>
                            <a:srgbClr val="0F172A"/>
                          </a:solidFill>
                          <a:latin typeface="Inter"/>
                        </a:rPr>
                        <a:t>183</a:t>
                      </a:r>
                    </a:p>
                  </a:txBody>
                  <a:tcPr marL="54864" marR="54864" marT="27432" marB="27432" anchor="ctr">
                    <a:solidFill>
                      <a:srgbClr val="FFFFFF"/>
                    </a:solidFill>
                  </a:tcPr>
                </a:tc>
                <a:tc>
                  <a:txBody>
                    <a:bodyPr wrap="square"/>
                    <a:lstStyle/>
                    <a:p>
                      <a:pPr algn="r"/>
                      <a:r>
                        <a:rPr sz="950" b="0">
                          <a:solidFill>
                            <a:srgbClr val="0F172A"/>
                          </a:solidFill>
                          <a:latin typeface="Inter"/>
                        </a:rPr>
                        <a:t>13</a:t>
                      </a:r>
                    </a:p>
                  </a:txBody>
                  <a:tcPr marL="54864" marR="54864" marT="27432" marB="27432" anchor="ctr">
                    <a:solidFill>
                      <a:srgbClr val="FFFFFF"/>
                    </a:solidFill>
                  </a:tcPr>
                </a:tc>
                <a:tc>
                  <a:txBody>
                    <a:bodyPr wrap="square"/>
                    <a:lstStyle/>
                    <a:p>
                      <a:pPr algn="r"/>
                      <a:r>
                        <a:rPr sz="950" b="0">
                          <a:solidFill>
                            <a:srgbClr val="0F172A"/>
                          </a:solidFill>
                          <a:latin typeface="Inter"/>
                        </a:rPr>
                        <a:t>7.1%</a:t>
                      </a:r>
                    </a:p>
                  </a:txBody>
                  <a:tcPr marL="54864" marR="54864" marT="27432" marB="27432" anchor="ctr">
                    <a:solidFill>
                      <a:srgbClr val="FFFFFF"/>
                    </a:solidFill>
                  </a:tcPr>
                </a:tc>
                <a:tc>
                  <a:txBody>
                    <a:bodyPr wrap="square"/>
                    <a:lstStyle/>
                    <a:p>
                      <a:pPr algn="r"/>
                      <a:r>
                        <a:rPr sz="950" b="0">
                          <a:solidFill>
                            <a:srgbClr val="0F172A"/>
                          </a:solidFill>
                          <a:latin typeface="Inter"/>
                        </a:rPr>
                        <a:t>C$273</a:t>
                      </a:r>
                    </a:p>
                  </a:txBody>
                  <a:tcPr marL="54864" marR="54864" marT="27432" marB="27432" anchor="ctr">
                    <a:solidFill>
                      <a:srgbClr val="FFFFFF"/>
                    </a:solidFill>
                  </a:tcPr>
                </a:tc>
                <a:tc>
                  <a:txBody>
                    <a:bodyPr wrap="square"/>
                    <a:lstStyle/>
                    <a:p>
                      <a:pPr algn="r"/>
                      <a:r>
                        <a:rPr sz="950" b="0">
                          <a:solidFill>
                            <a:srgbClr val="0F172A"/>
                          </a:solidFill>
                          <a:latin typeface="Inter"/>
                        </a:rPr>
                        <a:t>C$7,047</a:t>
                      </a:r>
                    </a:p>
                  </a:txBody>
                  <a:tcPr marL="54864" marR="54864" marT="27432" marB="27432" anchor="ctr">
                    <a:solidFill>
                      <a:srgbClr val="FFFFFF"/>
                    </a:solidFill>
                  </a:tcPr>
                </a:tc>
                <a:tc>
                  <a:txBody>
                    <a:bodyPr wrap="square"/>
                    <a:lstStyle/>
                    <a:p>
                      <a:pPr algn="r"/>
                      <a:r>
                        <a:rPr sz="950" b="0">
                          <a:solidFill>
                            <a:srgbClr val="0F172A"/>
                          </a:solidFill>
                          <a:latin typeface="Inter"/>
                        </a:rPr>
                        <a:t>3.9%</a:t>
                      </a:r>
                    </a:p>
                  </a:txBody>
                  <a:tcPr marL="54864" marR="54864" marT="27432" marB="27432" anchor="ctr">
                    <a:solidFill>
                      <a:srgbClr val="FFFFFF"/>
                    </a:solidFill>
                  </a:tcPr>
                </a:tc>
              </a:tr>
              <a:tr h="274320">
                <a:tc>
                  <a:txBody>
                    <a:bodyPr wrap="square"/>
                    <a:lstStyle/>
                    <a:p>
                      <a:pPr algn="l"/>
                      <a:r>
                        <a:rPr sz="950" b="0">
                          <a:solidFill>
                            <a:srgbClr val="0F172A"/>
                          </a:solidFill>
                          <a:latin typeface="Inter"/>
                        </a:rPr>
                        <a:t>dormeo mattress topper queen</a:t>
                      </a:r>
                    </a:p>
                  </a:txBody>
                  <a:tcPr marL="54864" marR="54864" marT="27432" marB="27432" anchor="ctr">
                    <a:solidFill>
                      <a:srgbClr val="FBFAF7"/>
                    </a:solidFill>
                  </a:tcPr>
                </a:tc>
                <a:tc>
                  <a:txBody>
                    <a:bodyPr wrap="square"/>
                    <a:lstStyle/>
                    <a:p>
                      <a:pPr algn="r"/>
                      <a:r>
                        <a:rPr sz="950" b="0">
                          <a:solidFill>
                            <a:srgbClr val="0F172A"/>
                          </a:solidFill>
                          <a:latin typeface="Inter"/>
                        </a:rPr>
                        <a:t>SP</a:t>
                      </a:r>
                    </a:p>
                  </a:txBody>
                  <a:tcPr marL="54864" marR="54864" marT="27432" marB="27432" anchor="ctr">
                    <a:solidFill>
                      <a:srgbClr val="FBFAF7"/>
                    </a:solidFill>
                  </a:tcPr>
                </a:tc>
                <a:tc>
                  <a:txBody>
                    <a:bodyPr wrap="square"/>
                    <a:lstStyle/>
                    <a:p>
                      <a:pPr algn="r"/>
                      <a:r>
                        <a:rPr sz="950" b="0">
                          <a:solidFill>
                            <a:srgbClr val="0F172A"/>
                          </a:solidFill>
                          <a:latin typeface="Inter"/>
                        </a:rPr>
                        <a:t>4,811</a:t>
                      </a:r>
                    </a:p>
                  </a:txBody>
                  <a:tcPr marL="54864" marR="54864" marT="27432" marB="27432" anchor="ctr">
                    <a:solidFill>
                      <a:srgbClr val="FBFAF7"/>
                    </a:solidFill>
                  </a:tcPr>
                </a:tc>
                <a:tc>
                  <a:txBody>
                    <a:bodyPr wrap="square"/>
                    <a:lstStyle/>
                    <a:p>
                      <a:pPr algn="r"/>
                      <a:r>
                        <a:rPr sz="950" b="0">
                          <a:solidFill>
                            <a:srgbClr val="0F172A"/>
                          </a:solidFill>
                          <a:latin typeface="Inter"/>
                        </a:rPr>
                        <a:t>74</a:t>
                      </a:r>
                    </a:p>
                  </a:txBody>
                  <a:tcPr marL="54864" marR="54864" marT="27432" marB="27432" anchor="ctr">
                    <a:solidFill>
                      <a:srgbClr val="FBFAF7"/>
                    </a:solidFill>
                  </a:tcPr>
                </a:tc>
                <a:tc>
                  <a:txBody>
                    <a:bodyPr wrap="square"/>
                    <a:lstStyle/>
                    <a:p>
                      <a:pPr algn="r"/>
                      <a:r>
                        <a:rPr sz="950" b="0">
                          <a:solidFill>
                            <a:srgbClr val="0F172A"/>
                          </a:solidFill>
                          <a:latin typeface="Inter"/>
                        </a:rPr>
                        <a:t>9</a:t>
                      </a:r>
                    </a:p>
                  </a:txBody>
                  <a:tcPr marL="54864" marR="54864" marT="27432" marB="27432" anchor="ctr">
                    <a:solidFill>
                      <a:srgbClr val="FBFAF7"/>
                    </a:solidFill>
                  </a:tcPr>
                </a:tc>
                <a:tc>
                  <a:txBody>
                    <a:bodyPr wrap="square"/>
                    <a:lstStyle/>
                    <a:p>
                      <a:pPr algn="r"/>
                      <a:r>
                        <a:rPr sz="950" b="0">
                          <a:solidFill>
                            <a:srgbClr val="0F172A"/>
                          </a:solidFill>
                          <a:latin typeface="Inter"/>
                        </a:rPr>
                        <a:t>12.2%</a:t>
                      </a:r>
                    </a:p>
                  </a:txBody>
                  <a:tcPr marL="54864" marR="54864" marT="27432" marB="27432" anchor="ctr">
                    <a:solidFill>
                      <a:srgbClr val="FBFAF7"/>
                    </a:solidFill>
                  </a:tcPr>
                </a:tc>
                <a:tc>
                  <a:txBody>
                    <a:bodyPr wrap="square"/>
                    <a:lstStyle/>
                    <a:p>
                      <a:pPr algn="r"/>
                      <a:r>
                        <a:rPr sz="950" b="0">
                          <a:solidFill>
                            <a:srgbClr val="0F172A"/>
                          </a:solidFill>
                          <a:latin typeface="Inter"/>
                        </a:rPr>
                        <a:t>C$94</a:t>
                      </a:r>
                    </a:p>
                  </a:txBody>
                  <a:tcPr marL="54864" marR="54864" marT="27432" marB="27432" anchor="ctr">
                    <a:solidFill>
                      <a:srgbClr val="FBFAF7"/>
                    </a:solidFill>
                  </a:tcPr>
                </a:tc>
                <a:tc>
                  <a:txBody>
                    <a:bodyPr wrap="square"/>
                    <a:lstStyle/>
                    <a:p>
                      <a:pPr algn="r"/>
                      <a:r>
                        <a:rPr sz="950" b="0">
                          <a:solidFill>
                            <a:srgbClr val="0F172A"/>
                          </a:solidFill>
                          <a:latin typeface="Inter"/>
                        </a:rPr>
                        <a:t>C$3,744</a:t>
                      </a:r>
                    </a:p>
                  </a:txBody>
                  <a:tcPr marL="54864" marR="54864" marT="27432" marB="27432" anchor="ctr">
                    <a:solidFill>
                      <a:srgbClr val="FBFAF7"/>
                    </a:solidFill>
                  </a:tcPr>
                </a:tc>
                <a:tc>
                  <a:txBody>
                    <a:bodyPr wrap="square"/>
                    <a:lstStyle/>
                    <a:p>
                      <a:pPr algn="r"/>
                      <a:r>
                        <a:rPr sz="950" b="0">
                          <a:solidFill>
                            <a:srgbClr val="0F172A"/>
                          </a:solidFill>
                          <a:latin typeface="Inter"/>
                        </a:rPr>
                        <a:t>2.5%</a:t>
                      </a:r>
                    </a:p>
                  </a:txBody>
                  <a:tcPr marL="54864" marR="54864" marT="27432" marB="27432" anchor="ctr">
                    <a:solidFill>
                      <a:srgbClr val="FBFAF7"/>
                    </a:solidFill>
                  </a:tcPr>
                </a:tc>
              </a:tr>
              <a:tr h="274320">
                <a:tc>
                  <a:txBody>
                    <a:bodyPr wrap="square"/>
                    <a:lstStyle/>
                    <a:p>
                      <a:pPr algn="l"/>
                      <a:r>
                        <a:rPr sz="950" b="0">
                          <a:solidFill>
                            <a:srgbClr val="0F172A"/>
                          </a:solidFill>
                          <a:latin typeface="Inter"/>
                        </a:rPr>
                        <a:t>dormeo mattress topper queen</a:t>
                      </a:r>
                    </a:p>
                  </a:txBody>
                  <a:tcPr marL="54864" marR="54864" marT="27432" marB="27432" anchor="ctr">
                    <a:solidFill>
                      <a:srgbClr val="FFFFFF"/>
                    </a:solidFill>
                  </a:tcPr>
                </a:tc>
                <a:tc>
                  <a:txBody>
                    <a:bodyPr wrap="square"/>
                    <a:lstStyle/>
                    <a:p>
                      <a:pPr algn="r"/>
                      <a:r>
                        <a:rPr sz="950" b="0">
                          <a:solidFill>
                            <a:srgbClr val="0F172A"/>
                          </a:solidFill>
                          <a:latin typeface="Inter"/>
                        </a:rPr>
                        <a:t>SB</a:t>
                      </a:r>
                    </a:p>
                  </a:txBody>
                  <a:tcPr marL="54864" marR="54864" marT="27432" marB="27432" anchor="ctr">
                    <a:solidFill>
                      <a:srgbClr val="FFFFFF"/>
                    </a:solidFill>
                  </a:tcPr>
                </a:tc>
                <a:tc>
                  <a:txBody>
                    <a:bodyPr wrap="square"/>
                    <a:lstStyle/>
                    <a:p>
                      <a:pPr algn="r"/>
                      <a:r>
                        <a:rPr sz="950" b="0">
                          <a:solidFill>
                            <a:srgbClr val="0F172A"/>
                          </a:solidFill>
                          <a:latin typeface="Inter"/>
                        </a:rPr>
                        <a:t>426</a:t>
                      </a:r>
                    </a:p>
                  </a:txBody>
                  <a:tcPr marL="54864" marR="54864" marT="27432" marB="27432" anchor="ctr">
                    <a:solidFill>
                      <a:srgbClr val="FFFFFF"/>
                    </a:solidFill>
                  </a:tcPr>
                </a:tc>
                <a:tc>
                  <a:txBody>
                    <a:bodyPr wrap="square"/>
                    <a:lstStyle/>
                    <a:p>
                      <a:pPr algn="r"/>
                      <a:r>
                        <a:rPr sz="950" b="0">
                          <a:solidFill>
                            <a:srgbClr val="0F172A"/>
                          </a:solidFill>
                          <a:latin typeface="Inter"/>
                        </a:rPr>
                        <a:t>25</a:t>
                      </a:r>
                    </a:p>
                  </a:txBody>
                  <a:tcPr marL="54864" marR="54864" marT="27432" marB="27432" anchor="ctr">
                    <a:solidFill>
                      <a:srgbClr val="FFFFFF"/>
                    </a:solidFill>
                  </a:tcPr>
                </a:tc>
                <a:tc>
                  <a:txBody>
                    <a:bodyPr wrap="square"/>
                    <a:lstStyle/>
                    <a:p>
                      <a:pPr algn="r"/>
                      <a:r>
                        <a:rPr sz="950" b="0">
                          <a:solidFill>
                            <a:srgbClr val="0F172A"/>
                          </a:solidFill>
                          <a:latin typeface="Inter"/>
                        </a:rPr>
                        <a:t>5</a:t>
                      </a:r>
                    </a:p>
                  </a:txBody>
                  <a:tcPr marL="54864" marR="54864" marT="27432" marB="27432" anchor="ctr">
                    <a:solidFill>
                      <a:srgbClr val="FFFFFF"/>
                    </a:solidFill>
                  </a:tcPr>
                </a:tc>
                <a:tc>
                  <a:txBody>
                    <a:bodyPr wrap="square"/>
                    <a:lstStyle/>
                    <a:p>
                      <a:pPr algn="r"/>
                      <a:r>
                        <a:rPr sz="950" b="0">
                          <a:solidFill>
                            <a:srgbClr val="0F172A"/>
                          </a:solidFill>
                          <a:latin typeface="Inter"/>
                        </a:rPr>
                        <a:t>20.0%</a:t>
                      </a:r>
                    </a:p>
                  </a:txBody>
                  <a:tcPr marL="54864" marR="54864" marT="27432" marB="27432" anchor="ctr">
                    <a:solidFill>
                      <a:srgbClr val="FFFFFF"/>
                    </a:solidFill>
                  </a:tcPr>
                </a:tc>
                <a:tc>
                  <a:txBody>
                    <a:bodyPr wrap="square"/>
                    <a:lstStyle/>
                    <a:p>
                      <a:pPr algn="r"/>
                      <a:r>
                        <a:rPr sz="950" b="0">
                          <a:solidFill>
                            <a:srgbClr val="0F172A"/>
                          </a:solidFill>
                          <a:latin typeface="Inter"/>
                        </a:rPr>
                        <a:t>C$36</a:t>
                      </a:r>
                    </a:p>
                  </a:txBody>
                  <a:tcPr marL="54864" marR="54864" marT="27432" marB="27432" anchor="ctr">
                    <a:solidFill>
                      <a:srgbClr val="FFFFFF"/>
                    </a:solidFill>
                  </a:tcPr>
                </a:tc>
                <a:tc>
                  <a:txBody>
                    <a:bodyPr wrap="square"/>
                    <a:lstStyle/>
                    <a:p>
                      <a:pPr algn="r"/>
                      <a:r>
                        <a:rPr sz="950" b="0">
                          <a:solidFill>
                            <a:srgbClr val="0F172A"/>
                          </a:solidFill>
                          <a:latin typeface="Inter"/>
                        </a:rPr>
                        <a:t>C$2,770</a:t>
                      </a:r>
                    </a:p>
                  </a:txBody>
                  <a:tcPr marL="54864" marR="54864" marT="27432" marB="27432" anchor="ctr">
                    <a:solidFill>
                      <a:srgbClr val="FFFFFF"/>
                    </a:solidFill>
                  </a:tcPr>
                </a:tc>
                <a:tc>
                  <a:txBody>
                    <a:bodyPr wrap="square"/>
                    <a:lstStyle/>
                    <a:p>
                      <a:pPr algn="r"/>
                      <a:r>
                        <a:rPr sz="950" b="0">
                          <a:solidFill>
                            <a:srgbClr val="0F172A"/>
                          </a:solidFill>
                          <a:latin typeface="Inter"/>
                        </a:rPr>
                        <a:t>1.3%</a:t>
                      </a:r>
                    </a:p>
                  </a:txBody>
                  <a:tcPr marL="54864" marR="54864" marT="27432" marB="27432" anchor="ctr">
                    <a:solidFill>
                      <a:srgbClr val="FFFFFF"/>
                    </a:solidFill>
                  </a:tcPr>
                </a:tc>
              </a:tr>
              <a:tr h="274320">
                <a:tc>
                  <a:txBody>
                    <a:bodyPr wrap="square"/>
                    <a:lstStyle/>
                    <a:p>
                      <a:pPr algn="l"/>
                      <a:r>
                        <a:rPr sz="950" b="0">
                          <a:solidFill>
                            <a:srgbClr val="0F172A"/>
                          </a:solidFill>
                          <a:latin typeface="Inter"/>
                        </a:rPr>
                        <a:t>dormeo mattress topper king size</a:t>
                      </a:r>
                    </a:p>
                  </a:txBody>
                  <a:tcPr marL="54864" marR="54864" marT="27432" marB="27432" anchor="ctr">
                    <a:solidFill>
                      <a:srgbClr val="FBFAF7"/>
                    </a:solidFill>
                  </a:tcPr>
                </a:tc>
                <a:tc>
                  <a:txBody>
                    <a:bodyPr wrap="square"/>
                    <a:lstStyle/>
                    <a:p>
                      <a:pPr algn="r"/>
                      <a:r>
                        <a:rPr sz="950" b="0">
                          <a:solidFill>
                            <a:srgbClr val="0F172A"/>
                          </a:solidFill>
                          <a:latin typeface="Inter"/>
                        </a:rPr>
                        <a:t>SP</a:t>
                      </a:r>
                    </a:p>
                  </a:txBody>
                  <a:tcPr marL="54864" marR="54864" marT="27432" marB="27432" anchor="ctr">
                    <a:solidFill>
                      <a:srgbClr val="FBFAF7"/>
                    </a:solidFill>
                  </a:tcPr>
                </a:tc>
                <a:tc>
                  <a:txBody>
                    <a:bodyPr wrap="square"/>
                    <a:lstStyle/>
                    <a:p>
                      <a:pPr algn="r"/>
                      <a:r>
                        <a:rPr sz="950" b="0">
                          <a:solidFill>
                            <a:srgbClr val="0F172A"/>
                          </a:solidFill>
                          <a:latin typeface="Inter"/>
                        </a:rPr>
                        <a:t>295</a:t>
                      </a:r>
                    </a:p>
                  </a:txBody>
                  <a:tcPr marL="54864" marR="54864" marT="27432" marB="27432" anchor="ctr">
                    <a:solidFill>
                      <a:srgbClr val="FBFAF7"/>
                    </a:solidFill>
                  </a:tcPr>
                </a:tc>
                <a:tc>
                  <a:txBody>
                    <a:bodyPr wrap="square"/>
                    <a:lstStyle/>
                    <a:p>
                      <a:pPr algn="r"/>
                      <a:r>
                        <a:rPr sz="950" b="0">
                          <a:solidFill>
                            <a:srgbClr val="0F172A"/>
                          </a:solidFill>
                          <a:latin typeface="Inter"/>
                        </a:rPr>
                        <a:t>11</a:t>
                      </a:r>
                    </a:p>
                  </a:txBody>
                  <a:tcPr marL="54864" marR="54864" marT="27432" marB="27432" anchor="ctr">
                    <a:solidFill>
                      <a:srgbClr val="FBFAF7"/>
                    </a:solidFill>
                  </a:tcPr>
                </a:tc>
                <a:tc>
                  <a:txBody>
                    <a:bodyPr wrap="square"/>
                    <a:lstStyle/>
                    <a:p>
                      <a:pPr algn="r"/>
                      <a:r>
                        <a:rPr sz="950" b="0">
                          <a:solidFill>
                            <a:srgbClr val="0F172A"/>
                          </a:solidFill>
                          <a:latin typeface="Inter"/>
                        </a:rPr>
                        <a:t>2</a:t>
                      </a:r>
                    </a:p>
                  </a:txBody>
                  <a:tcPr marL="54864" marR="54864" marT="27432" marB="27432" anchor="ctr">
                    <a:solidFill>
                      <a:srgbClr val="FBFAF7"/>
                    </a:solidFill>
                  </a:tcPr>
                </a:tc>
                <a:tc>
                  <a:txBody>
                    <a:bodyPr wrap="square"/>
                    <a:lstStyle/>
                    <a:p>
                      <a:pPr algn="r"/>
                      <a:r>
                        <a:rPr sz="950" b="0">
                          <a:solidFill>
                            <a:srgbClr val="0F172A"/>
                          </a:solidFill>
                          <a:latin typeface="Inter"/>
                        </a:rPr>
                        <a:t>18.2%</a:t>
                      </a:r>
                    </a:p>
                  </a:txBody>
                  <a:tcPr marL="54864" marR="54864" marT="27432" marB="27432" anchor="ctr">
                    <a:solidFill>
                      <a:srgbClr val="FBFAF7"/>
                    </a:solidFill>
                  </a:tcPr>
                </a:tc>
                <a:tc>
                  <a:txBody>
                    <a:bodyPr wrap="square"/>
                    <a:lstStyle/>
                    <a:p>
                      <a:pPr algn="r"/>
                      <a:r>
                        <a:rPr sz="950" b="0">
                          <a:solidFill>
                            <a:srgbClr val="0F172A"/>
                          </a:solidFill>
                          <a:latin typeface="Inter"/>
                        </a:rPr>
                        <a:t>C$28</a:t>
                      </a:r>
                    </a:p>
                  </a:txBody>
                  <a:tcPr marL="54864" marR="54864" marT="27432" marB="27432" anchor="ctr">
                    <a:solidFill>
                      <a:srgbClr val="FBFAF7"/>
                    </a:solidFill>
                  </a:tcPr>
                </a:tc>
                <a:tc>
                  <a:txBody>
                    <a:bodyPr wrap="square"/>
                    <a:lstStyle/>
                    <a:p>
                      <a:pPr algn="r"/>
                      <a:r>
                        <a:rPr sz="950" b="0">
                          <a:solidFill>
                            <a:srgbClr val="0F172A"/>
                          </a:solidFill>
                          <a:latin typeface="Inter"/>
                        </a:rPr>
                        <a:t>C$1,199</a:t>
                      </a:r>
                    </a:p>
                  </a:txBody>
                  <a:tcPr marL="54864" marR="54864" marT="27432" marB="27432" anchor="ctr">
                    <a:solidFill>
                      <a:srgbClr val="FBFAF7"/>
                    </a:solidFill>
                  </a:tcPr>
                </a:tc>
                <a:tc>
                  <a:txBody>
                    <a:bodyPr wrap="square"/>
                    <a:lstStyle/>
                    <a:p>
                      <a:pPr algn="r"/>
                      <a:r>
                        <a:rPr sz="950" b="0">
                          <a:solidFill>
                            <a:srgbClr val="0F172A"/>
                          </a:solidFill>
                          <a:latin typeface="Inter"/>
                        </a:rPr>
                        <a:t>2.4%</a:t>
                      </a:r>
                    </a:p>
                  </a:txBody>
                  <a:tcPr marL="54864" marR="54864" marT="27432" marB="27432" anchor="ctr">
                    <a:solidFill>
                      <a:srgbClr val="FBFAF7"/>
                    </a:solidFill>
                  </a:tcPr>
                </a:tc>
              </a:tr>
              <a:tr h="274320">
                <a:tc>
                  <a:txBody>
                    <a:bodyPr wrap="square"/>
                    <a:lstStyle/>
                    <a:p>
                      <a:pPr algn="l"/>
                      <a:r>
                        <a:rPr sz="950" b="0">
                          <a:solidFill>
                            <a:srgbClr val="0F172A"/>
                          </a:solidFill>
                          <a:latin typeface="Inter"/>
                        </a:rPr>
                        <a:t>dormeo topper canada</a:t>
                      </a:r>
                    </a:p>
                  </a:txBody>
                  <a:tcPr marL="54864" marR="54864" marT="27432" marB="27432" anchor="ctr">
                    <a:solidFill>
                      <a:srgbClr val="FFFFFF"/>
                    </a:solidFill>
                  </a:tcPr>
                </a:tc>
                <a:tc>
                  <a:txBody>
                    <a:bodyPr wrap="square"/>
                    <a:lstStyle/>
                    <a:p>
                      <a:pPr algn="r"/>
                      <a:r>
                        <a:rPr sz="950" b="0">
                          <a:solidFill>
                            <a:srgbClr val="0F172A"/>
                          </a:solidFill>
                          <a:latin typeface="Inter"/>
                        </a:rPr>
                        <a:t>SP</a:t>
                      </a:r>
                    </a:p>
                  </a:txBody>
                  <a:tcPr marL="54864" marR="54864" marT="27432" marB="27432" anchor="ctr">
                    <a:solidFill>
                      <a:srgbClr val="FFFFFF"/>
                    </a:solidFill>
                  </a:tcPr>
                </a:tc>
                <a:tc>
                  <a:txBody>
                    <a:bodyPr wrap="square"/>
                    <a:lstStyle/>
                    <a:p>
                      <a:pPr algn="r"/>
                      <a:r>
                        <a:rPr sz="950" b="0">
                          <a:solidFill>
                            <a:srgbClr val="0F172A"/>
                          </a:solidFill>
                          <a:latin typeface="Inter"/>
                        </a:rPr>
                        <a:t>1,007</a:t>
                      </a:r>
                    </a:p>
                  </a:txBody>
                  <a:tcPr marL="54864" marR="54864" marT="27432" marB="27432" anchor="ctr">
                    <a:solidFill>
                      <a:srgbClr val="FFFFFF"/>
                    </a:solidFill>
                  </a:tcPr>
                </a:tc>
                <a:tc>
                  <a:txBody>
                    <a:bodyPr wrap="square"/>
                    <a:lstStyle/>
                    <a:p>
                      <a:pPr algn="r"/>
                      <a:r>
                        <a:rPr sz="950" b="0">
                          <a:solidFill>
                            <a:srgbClr val="0F172A"/>
                          </a:solidFill>
                          <a:latin typeface="Inter"/>
                        </a:rPr>
                        <a:t>12</a:t>
                      </a:r>
                    </a:p>
                  </a:txBody>
                  <a:tcPr marL="54864" marR="54864" marT="27432" marB="27432" anchor="ctr">
                    <a:solidFill>
                      <a:srgbClr val="FFFFFF"/>
                    </a:solidFill>
                  </a:tcPr>
                </a:tc>
                <a:tc>
                  <a:txBody>
                    <a:bodyPr wrap="square"/>
                    <a:lstStyle/>
                    <a:p>
                      <a:pPr algn="r"/>
                      <a:r>
                        <a:rPr sz="950" b="0">
                          <a:solidFill>
                            <a:srgbClr val="0F172A"/>
                          </a:solidFill>
                          <a:latin typeface="Inter"/>
                        </a:rPr>
                        <a:t>2</a:t>
                      </a:r>
                    </a:p>
                  </a:txBody>
                  <a:tcPr marL="54864" marR="54864" marT="27432" marB="27432" anchor="ctr">
                    <a:solidFill>
                      <a:srgbClr val="FFFFFF"/>
                    </a:solidFill>
                  </a:tcPr>
                </a:tc>
                <a:tc>
                  <a:txBody>
                    <a:bodyPr wrap="square"/>
                    <a:lstStyle/>
                    <a:p>
                      <a:pPr algn="r"/>
                      <a:r>
                        <a:rPr sz="950" b="0">
                          <a:solidFill>
                            <a:srgbClr val="0F172A"/>
                          </a:solidFill>
                          <a:latin typeface="Inter"/>
                        </a:rPr>
                        <a:t>16.7%</a:t>
                      </a:r>
                    </a:p>
                  </a:txBody>
                  <a:tcPr marL="54864" marR="54864" marT="27432" marB="27432" anchor="ctr">
                    <a:solidFill>
                      <a:srgbClr val="FFFFFF"/>
                    </a:solidFill>
                  </a:tcPr>
                </a:tc>
                <a:tc>
                  <a:txBody>
                    <a:bodyPr wrap="square"/>
                    <a:lstStyle/>
                    <a:p>
                      <a:pPr algn="r"/>
                      <a:r>
                        <a:rPr sz="950" b="0">
                          <a:solidFill>
                            <a:srgbClr val="0F172A"/>
                          </a:solidFill>
                          <a:latin typeface="Inter"/>
                        </a:rPr>
                        <a:t>C$24</a:t>
                      </a:r>
                    </a:p>
                  </a:txBody>
                  <a:tcPr marL="54864" marR="54864" marT="27432" marB="27432" anchor="ctr">
                    <a:solidFill>
                      <a:srgbClr val="FFFFFF"/>
                    </a:solidFill>
                  </a:tcPr>
                </a:tc>
                <a:tc>
                  <a:txBody>
                    <a:bodyPr wrap="square"/>
                    <a:lstStyle/>
                    <a:p>
                      <a:pPr algn="r"/>
                      <a:r>
                        <a:rPr sz="950" b="0">
                          <a:solidFill>
                            <a:srgbClr val="0F172A"/>
                          </a:solidFill>
                          <a:latin typeface="Inter"/>
                        </a:rPr>
                        <a:t>C$1,108</a:t>
                      </a:r>
                    </a:p>
                  </a:txBody>
                  <a:tcPr marL="54864" marR="54864" marT="27432" marB="27432" anchor="ctr">
                    <a:solidFill>
                      <a:srgbClr val="FFFFFF"/>
                    </a:solidFill>
                  </a:tcPr>
                </a:tc>
                <a:tc>
                  <a:txBody>
                    <a:bodyPr wrap="square"/>
                    <a:lstStyle/>
                    <a:p>
                      <a:pPr algn="r"/>
                      <a:r>
                        <a:rPr sz="950" b="0">
                          <a:solidFill>
                            <a:srgbClr val="0F172A"/>
                          </a:solidFill>
                          <a:latin typeface="Inter"/>
                        </a:rPr>
                        <a:t>2.2%</a:t>
                      </a:r>
                    </a:p>
                  </a:txBody>
                  <a:tcPr marL="54864" marR="54864" marT="27432" marB="27432" anchor="ctr">
                    <a:solidFill>
                      <a:srgbClr val="FFFFFF"/>
                    </a:solidFill>
                  </a:tcPr>
                </a:tc>
              </a:tr>
              <a:tr h="274320">
                <a:tc>
                  <a:txBody>
                    <a:bodyPr wrap="square"/>
                    <a:lstStyle/>
                    <a:p>
                      <a:pPr algn="l"/>
                      <a:r>
                        <a:rPr sz="950" b="0">
                          <a:solidFill>
                            <a:srgbClr val="0F172A"/>
                          </a:solidFill>
                          <a:latin typeface="Inter"/>
                        </a:rPr>
                        <a:t>dormeo mattress topper king</a:t>
                      </a:r>
                    </a:p>
                  </a:txBody>
                  <a:tcPr marL="54864" marR="54864" marT="27432" marB="27432" anchor="ctr">
                    <a:solidFill>
                      <a:srgbClr val="FBFAF7"/>
                    </a:solidFill>
                  </a:tcPr>
                </a:tc>
                <a:tc>
                  <a:txBody>
                    <a:bodyPr wrap="square"/>
                    <a:lstStyle/>
                    <a:p>
                      <a:pPr algn="r"/>
                      <a:r>
                        <a:rPr sz="950" b="0">
                          <a:solidFill>
                            <a:srgbClr val="0F172A"/>
                          </a:solidFill>
                          <a:latin typeface="Inter"/>
                        </a:rPr>
                        <a:t>SP</a:t>
                      </a:r>
                    </a:p>
                  </a:txBody>
                  <a:tcPr marL="54864" marR="54864" marT="27432" marB="27432" anchor="ctr">
                    <a:solidFill>
                      <a:srgbClr val="FBFAF7"/>
                    </a:solidFill>
                  </a:tcPr>
                </a:tc>
                <a:tc>
                  <a:txBody>
                    <a:bodyPr wrap="square"/>
                    <a:lstStyle/>
                    <a:p>
                      <a:pPr algn="r"/>
                      <a:r>
                        <a:rPr sz="950" b="0">
                          <a:solidFill>
                            <a:srgbClr val="0F172A"/>
                          </a:solidFill>
                          <a:latin typeface="Inter"/>
                        </a:rPr>
                        <a:t>906</a:t>
                      </a:r>
                    </a:p>
                  </a:txBody>
                  <a:tcPr marL="54864" marR="54864" marT="27432" marB="27432" anchor="ctr">
                    <a:solidFill>
                      <a:srgbClr val="FBFAF7"/>
                    </a:solidFill>
                  </a:tcPr>
                </a:tc>
                <a:tc>
                  <a:txBody>
                    <a:bodyPr wrap="square"/>
                    <a:lstStyle/>
                    <a:p>
                      <a:pPr algn="r"/>
                      <a:r>
                        <a:rPr sz="950" b="0">
                          <a:solidFill>
                            <a:srgbClr val="0F172A"/>
                          </a:solidFill>
                          <a:latin typeface="Inter"/>
                        </a:rPr>
                        <a:t>20</a:t>
                      </a:r>
                    </a:p>
                  </a:txBody>
                  <a:tcPr marL="54864" marR="54864" marT="27432" marB="27432" anchor="ctr">
                    <a:solidFill>
                      <a:srgbClr val="FBFAF7"/>
                    </a:solidFill>
                  </a:tcPr>
                </a:tc>
                <a:tc>
                  <a:txBody>
                    <a:bodyPr wrap="square"/>
                    <a:lstStyle/>
                    <a:p>
                      <a:pPr algn="r"/>
                      <a:r>
                        <a:rPr sz="950" b="0">
                          <a:solidFill>
                            <a:srgbClr val="0F172A"/>
                          </a:solidFill>
                          <a:latin typeface="Inter"/>
                        </a:rPr>
                        <a:t>3</a:t>
                      </a:r>
                    </a:p>
                  </a:txBody>
                  <a:tcPr marL="54864" marR="54864" marT="27432" marB="27432" anchor="ctr">
                    <a:solidFill>
                      <a:srgbClr val="FBFAF7"/>
                    </a:solidFill>
                  </a:tcPr>
                </a:tc>
                <a:tc>
                  <a:txBody>
                    <a:bodyPr wrap="square"/>
                    <a:lstStyle/>
                    <a:p>
                      <a:pPr algn="r"/>
                      <a:r>
                        <a:rPr sz="950" b="0">
                          <a:solidFill>
                            <a:srgbClr val="0F172A"/>
                          </a:solidFill>
                          <a:latin typeface="Inter"/>
                        </a:rPr>
                        <a:t>15.0%</a:t>
                      </a:r>
                    </a:p>
                  </a:txBody>
                  <a:tcPr marL="54864" marR="54864" marT="27432" marB="27432" anchor="ctr">
                    <a:solidFill>
                      <a:srgbClr val="FBFAF7"/>
                    </a:solidFill>
                  </a:tcPr>
                </a:tc>
                <a:tc>
                  <a:txBody>
                    <a:bodyPr wrap="square"/>
                    <a:lstStyle/>
                    <a:p>
                      <a:pPr algn="r"/>
                      <a:r>
                        <a:rPr sz="950" b="0">
                          <a:solidFill>
                            <a:srgbClr val="0F172A"/>
                          </a:solidFill>
                          <a:latin typeface="Inter"/>
                        </a:rPr>
                        <a:t>C$29</a:t>
                      </a:r>
                    </a:p>
                  </a:txBody>
                  <a:tcPr marL="54864" marR="54864" marT="27432" marB="27432" anchor="ctr">
                    <a:solidFill>
                      <a:srgbClr val="FBFAF7"/>
                    </a:solidFill>
                  </a:tcPr>
                </a:tc>
                <a:tc>
                  <a:txBody>
                    <a:bodyPr wrap="square"/>
                    <a:lstStyle/>
                    <a:p>
                      <a:pPr algn="r"/>
                      <a:r>
                        <a:rPr sz="950" b="0">
                          <a:solidFill>
                            <a:srgbClr val="0F172A"/>
                          </a:solidFill>
                          <a:latin typeface="Inter"/>
                        </a:rPr>
                        <a:t>C$953</a:t>
                      </a:r>
                    </a:p>
                  </a:txBody>
                  <a:tcPr marL="54864" marR="54864" marT="27432" marB="27432" anchor="ctr">
                    <a:solidFill>
                      <a:srgbClr val="FBFAF7"/>
                    </a:solidFill>
                  </a:tcPr>
                </a:tc>
                <a:tc>
                  <a:txBody>
                    <a:bodyPr wrap="square"/>
                    <a:lstStyle/>
                    <a:p>
                      <a:pPr algn="r"/>
                      <a:r>
                        <a:rPr sz="950" b="0">
                          <a:solidFill>
                            <a:srgbClr val="0F172A"/>
                          </a:solidFill>
                          <a:latin typeface="Inter"/>
                        </a:rPr>
                        <a:t>3.0%</a:t>
                      </a:r>
                    </a:p>
                  </a:txBody>
                  <a:tcPr marL="54864" marR="54864" marT="27432" marB="27432" anchor="ctr">
                    <a:solidFill>
                      <a:srgbClr val="FBFAF7"/>
                    </a:solidFill>
                  </a:tcPr>
                </a:tc>
              </a:tr>
              <a:tr h="274320">
                <a:tc>
                  <a:txBody>
                    <a:bodyPr wrap="square"/>
                    <a:lstStyle/>
                    <a:p>
                      <a:pPr algn="l"/>
                      <a:r>
                        <a:rPr sz="950" b="0">
                          <a:solidFill>
                            <a:srgbClr val="0F172A"/>
                          </a:solidFill>
                          <a:latin typeface="Inter"/>
                        </a:rPr>
                        <a:t>dormeo mattress topper</a:t>
                      </a:r>
                    </a:p>
                  </a:txBody>
                  <a:tcPr marL="54864" marR="54864" marT="27432" marB="27432" anchor="ctr">
                    <a:solidFill>
                      <a:srgbClr val="FFFFFF"/>
                    </a:solidFill>
                  </a:tcPr>
                </a:tc>
                <a:tc>
                  <a:txBody>
                    <a:bodyPr wrap="square"/>
                    <a:lstStyle/>
                    <a:p>
                      <a:pPr algn="r"/>
                      <a:r>
                        <a:rPr sz="950" b="0">
                          <a:solidFill>
                            <a:srgbClr val="0F172A"/>
                          </a:solidFill>
                          <a:latin typeface="Inter"/>
                        </a:rPr>
                        <a:t>SP</a:t>
                      </a:r>
                    </a:p>
                  </a:txBody>
                  <a:tcPr marL="54864" marR="54864" marT="27432" marB="27432" anchor="ctr">
                    <a:solidFill>
                      <a:srgbClr val="FFFFFF"/>
                    </a:solidFill>
                  </a:tcPr>
                </a:tc>
                <a:tc>
                  <a:txBody>
                    <a:bodyPr wrap="square"/>
                    <a:lstStyle/>
                    <a:p>
                      <a:pPr algn="r"/>
                      <a:r>
                        <a:rPr sz="950" b="0">
                          <a:solidFill>
                            <a:srgbClr val="0F172A"/>
                          </a:solidFill>
                          <a:latin typeface="Inter"/>
                        </a:rPr>
                        <a:t>12,349</a:t>
                      </a:r>
                    </a:p>
                  </a:txBody>
                  <a:tcPr marL="54864" marR="54864" marT="27432" marB="27432" anchor="ctr">
                    <a:solidFill>
                      <a:srgbClr val="FFFFFF"/>
                    </a:solidFill>
                  </a:tcPr>
                </a:tc>
                <a:tc>
                  <a:txBody>
                    <a:bodyPr wrap="square"/>
                    <a:lstStyle/>
                    <a:p>
                      <a:pPr algn="r"/>
                      <a:r>
                        <a:rPr sz="950" b="0">
                          <a:solidFill>
                            <a:srgbClr val="0F172A"/>
                          </a:solidFill>
                          <a:latin typeface="Inter"/>
                        </a:rPr>
                        <a:t>222</a:t>
                      </a:r>
                    </a:p>
                  </a:txBody>
                  <a:tcPr marL="54864" marR="54864" marT="27432" marB="27432" anchor="ctr">
                    <a:solidFill>
                      <a:srgbClr val="FFFFFF"/>
                    </a:solidFill>
                  </a:tcPr>
                </a:tc>
                <a:tc>
                  <a:txBody>
                    <a:bodyPr wrap="square"/>
                    <a:lstStyle/>
                    <a:p>
                      <a:pPr algn="r"/>
                      <a:r>
                        <a:rPr sz="950" b="0">
                          <a:solidFill>
                            <a:srgbClr val="0F172A"/>
                          </a:solidFill>
                          <a:latin typeface="Inter"/>
                        </a:rPr>
                        <a:t>2</a:t>
                      </a:r>
                    </a:p>
                  </a:txBody>
                  <a:tcPr marL="54864" marR="54864" marT="27432" marB="27432" anchor="ctr">
                    <a:solidFill>
                      <a:srgbClr val="FFFFFF"/>
                    </a:solidFill>
                  </a:tcPr>
                </a:tc>
                <a:tc>
                  <a:txBody>
                    <a:bodyPr wrap="square"/>
                    <a:lstStyle/>
                    <a:p>
                      <a:pPr algn="r"/>
                      <a:r>
                        <a:rPr sz="950" b="0">
                          <a:solidFill>
                            <a:srgbClr val="0F172A"/>
                          </a:solidFill>
                          <a:latin typeface="Inter"/>
                        </a:rPr>
                        <a:t>0.9%</a:t>
                      </a:r>
                    </a:p>
                  </a:txBody>
                  <a:tcPr marL="54864" marR="54864" marT="27432" marB="27432" anchor="ctr">
                    <a:solidFill>
                      <a:srgbClr val="FFFFFF"/>
                    </a:solidFill>
                  </a:tcPr>
                </a:tc>
                <a:tc>
                  <a:txBody>
                    <a:bodyPr wrap="square"/>
                    <a:lstStyle/>
                    <a:p>
                      <a:pPr algn="r"/>
                      <a:r>
                        <a:rPr sz="950" b="0">
                          <a:solidFill>
                            <a:srgbClr val="0F172A"/>
                          </a:solidFill>
                          <a:latin typeface="Inter"/>
                        </a:rPr>
                        <a:t>C$254</a:t>
                      </a:r>
                    </a:p>
                  </a:txBody>
                  <a:tcPr marL="54864" marR="54864" marT="27432" marB="27432" anchor="ctr">
                    <a:solidFill>
                      <a:srgbClr val="FFFFFF"/>
                    </a:solidFill>
                  </a:tcPr>
                </a:tc>
                <a:tc>
                  <a:txBody>
                    <a:bodyPr wrap="square"/>
                    <a:lstStyle/>
                    <a:p>
                      <a:pPr algn="r"/>
                      <a:r>
                        <a:rPr sz="950" b="0">
                          <a:solidFill>
                            <a:srgbClr val="0F172A"/>
                          </a:solidFill>
                          <a:latin typeface="Inter"/>
                        </a:rPr>
                        <a:t>C$953</a:t>
                      </a:r>
                    </a:p>
                  </a:txBody>
                  <a:tcPr marL="54864" marR="54864" marT="27432" marB="27432" anchor="ctr">
                    <a:solidFill>
                      <a:srgbClr val="FFFFFF"/>
                    </a:solidFill>
                  </a:tcPr>
                </a:tc>
                <a:tc>
                  <a:txBody>
                    <a:bodyPr wrap="square"/>
                    <a:lstStyle/>
                    <a:p>
                      <a:pPr algn="r"/>
                      <a:r>
                        <a:rPr sz="950" b="0">
                          <a:solidFill>
                            <a:srgbClr val="0F172A"/>
                          </a:solidFill>
                          <a:latin typeface="Inter"/>
                        </a:rPr>
                        <a:t>26.6%</a:t>
                      </a:r>
                    </a:p>
                  </a:txBody>
                  <a:tcPr marL="54864" marR="54864" marT="27432" marB="27432" anchor="ctr">
                    <a:solidFill>
                      <a:srgbClr val="FFFFFF"/>
                    </a:solidFill>
                  </a:tcPr>
                </a:tc>
              </a:tr>
              <a:tr h="274320">
                <a:tc>
                  <a:txBody>
                    <a:bodyPr wrap="square"/>
                    <a:lstStyle/>
                    <a:p>
                      <a:pPr algn="l"/>
                      <a:r>
                        <a:rPr sz="950" b="0">
                          <a:solidFill>
                            <a:srgbClr val="0F172A"/>
                          </a:solidFill>
                          <a:latin typeface="Inter"/>
                        </a:rPr>
                        <a:t>dormeo</a:t>
                      </a:r>
                    </a:p>
                  </a:txBody>
                  <a:tcPr marL="54864" marR="54864" marT="27432" marB="27432" anchor="ctr">
                    <a:solidFill>
                      <a:srgbClr val="FBFAF7"/>
                    </a:solidFill>
                  </a:tcPr>
                </a:tc>
                <a:tc>
                  <a:txBody>
                    <a:bodyPr wrap="square"/>
                    <a:lstStyle/>
                    <a:p>
                      <a:pPr algn="r"/>
                      <a:r>
                        <a:rPr sz="950" b="0">
                          <a:solidFill>
                            <a:srgbClr val="0F172A"/>
                          </a:solidFill>
                          <a:latin typeface="Inter"/>
                        </a:rPr>
                        <a:t>SP</a:t>
                      </a:r>
                    </a:p>
                  </a:txBody>
                  <a:tcPr marL="54864" marR="54864" marT="27432" marB="27432" anchor="ctr">
                    <a:solidFill>
                      <a:srgbClr val="FBFAF7"/>
                    </a:solidFill>
                  </a:tcPr>
                </a:tc>
                <a:tc>
                  <a:txBody>
                    <a:bodyPr wrap="square"/>
                    <a:lstStyle/>
                    <a:p>
                      <a:pPr algn="r"/>
                      <a:r>
                        <a:rPr sz="950" b="0">
                          <a:solidFill>
                            <a:srgbClr val="0F172A"/>
                          </a:solidFill>
                          <a:latin typeface="Inter"/>
                        </a:rPr>
                        <a:t>2,763</a:t>
                      </a:r>
                    </a:p>
                  </a:txBody>
                  <a:tcPr marL="54864" marR="54864" marT="27432" marB="27432" anchor="ctr">
                    <a:solidFill>
                      <a:srgbClr val="FBFAF7"/>
                    </a:solidFill>
                  </a:tcPr>
                </a:tc>
                <a:tc>
                  <a:txBody>
                    <a:bodyPr wrap="square"/>
                    <a:lstStyle/>
                    <a:p>
                      <a:pPr algn="r"/>
                      <a:r>
                        <a:rPr sz="950" b="0">
                          <a:solidFill>
                            <a:srgbClr val="0F172A"/>
                          </a:solidFill>
                          <a:latin typeface="Inter"/>
                        </a:rPr>
                        <a:t>57</a:t>
                      </a:r>
                    </a:p>
                  </a:txBody>
                  <a:tcPr marL="54864" marR="54864" marT="27432" marB="27432" anchor="ctr">
                    <a:solidFill>
                      <a:srgbClr val="FBFAF7"/>
                    </a:solidFill>
                  </a:tcPr>
                </a:tc>
                <a:tc>
                  <a:txBody>
                    <a:bodyPr wrap="square"/>
                    <a:lstStyle/>
                    <a:p>
                      <a:pPr algn="r"/>
                      <a:r>
                        <a:rPr sz="950" b="0">
                          <a:solidFill>
                            <a:srgbClr val="0F172A"/>
                          </a:solidFill>
                          <a:latin typeface="Inter"/>
                        </a:rPr>
                        <a:t>2</a:t>
                      </a:r>
                    </a:p>
                  </a:txBody>
                  <a:tcPr marL="54864" marR="54864" marT="27432" marB="27432" anchor="ctr">
                    <a:solidFill>
                      <a:srgbClr val="FBFAF7"/>
                    </a:solidFill>
                  </a:tcPr>
                </a:tc>
                <a:tc>
                  <a:txBody>
                    <a:bodyPr wrap="square"/>
                    <a:lstStyle/>
                    <a:p>
                      <a:pPr algn="r"/>
                      <a:r>
                        <a:rPr sz="950" b="0">
                          <a:solidFill>
                            <a:srgbClr val="0F172A"/>
                          </a:solidFill>
                          <a:latin typeface="Inter"/>
                        </a:rPr>
                        <a:t>3.5%</a:t>
                      </a:r>
                    </a:p>
                  </a:txBody>
                  <a:tcPr marL="54864" marR="54864" marT="27432" marB="27432" anchor="ctr">
                    <a:solidFill>
                      <a:srgbClr val="FBFAF7"/>
                    </a:solidFill>
                  </a:tcPr>
                </a:tc>
                <a:tc>
                  <a:txBody>
                    <a:bodyPr wrap="square"/>
                    <a:lstStyle/>
                    <a:p>
                      <a:pPr algn="r"/>
                      <a:r>
                        <a:rPr sz="950" b="0">
                          <a:solidFill>
                            <a:srgbClr val="0F172A"/>
                          </a:solidFill>
                          <a:latin typeface="Inter"/>
                        </a:rPr>
                        <a:t>C$54</a:t>
                      </a:r>
                    </a:p>
                  </a:txBody>
                  <a:tcPr marL="54864" marR="54864" marT="27432" marB="27432" anchor="ctr">
                    <a:solidFill>
                      <a:srgbClr val="FBFAF7"/>
                    </a:solidFill>
                  </a:tcPr>
                </a:tc>
                <a:tc>
                  <a:txBody>
                    <a:bodyPr wrap="square"/>
                    <a:lstStyle/>
                    <a:p>
                      <a:pPr algn="r"/>
                      <a:r>
                        <a:rPr sz="950" b="0">
                          <a:solidFill>
                            <a:srgbClr val="0F172A"/>
                          </a:solidFill>
                          <a:latin typeface="Inter"/>
                        </a:rPr>
                        <a:t>C$694</a:t>
                      </a:r>
                    </a:p>
                  </a:txBody>
                  <a:tcPr marL="54864" marR="54864" marT="27432" marB="27432" anchor="ctr">
                    <a:solidFill>
                      <a:srgbClr val="FBFAF7"/>
                    </a:solidFill>
                  </a:tcPr>
                </a:tc>
                <a:tc>
                  <a:txBody>
                    <a:bodyPr wrap="square"/>
                    <a:lstStyle/>
                    <a:p>
                      <a:pPr algn="r"/>
                      <a:r>
                        <a:rPr sz="950" b="0">
                          <a:solidFill>
                            <a:srgbClr val="0F172A"/>
                          </a:solidFill>
                          <a:latin typeface="Inter"/>
                        </a:rPr>
                        <a:t>7.8%</a:t>
                      </a:r>
                    </a:p>
                  </a:txBody>
                  <a:tcPr marL="54864" marR="54864" marT="27432" marB="27432" anchor="ctr">
                    <a:solidFill>
                      <a:srgbClr val="FBFAF7"/>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Category keywords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9 / 17</a:t>
            </a:r>
          </a:p>
        </p:txBody>
      </p:sp>
      <p:graphicFrame>
        <p:nvGraphicFramePr>
          <p:cNvPr id="10" name=""/>
          <p:cNvGraphicFramePr>
            <a:graphicFrameLocks noGrp="1"/>
          </p:cNvGraphicFramePr>
          <p:nvPr/>
        </p:nvGraphicFramePr>
        <p:xfrm>
          <a:off x="548640" y="1417320"/>
          <a:ext cx="11091672" cy="1536192"/>
        </p:xfrm>
        <a:graphic>
          <a:graphicData uri="http://schemas.openxmlformats.org/drawingml/2006/table">
            <a:tbl>
              <a:tblPr firstRow="1" bandRow="1">
                <a:tableStyleId>{5C22544A-7EE6-4342-B048-85BDC9FD1C3A}</a:tableStyleId>
              </a:tblPr>
              <a:tblGrid>
                <a:gridCol w="4325112"/>
                <a:gridCol w="914400"/>
                <a:gridCol w="1463040"/>
                <a:gridCol w="1097280"/>
                <a:gridCol w="1097280"/>
                <a:gridCol w="1097280"/>
                <a:gridCol w="1097280"/>
              </a:tblGrid>
              <a:tr h="384048">
                <a:tc>
                  <a:txBody>
                    <a:bodyPr wrap="square"/>
                    <a:lstStyle/>
                    <a:p>
                      <a:pPr algn="l"/>
                      <a:r>
                        <a:rPr sz="1000" b="1">
                          <a:solidFill>
                            <a:srgbClr val="FFFFFF"/>
                          </a:solidFill>
                          <a:latin typeface="Inter"/>
                        </a:rPr>
                        <a:t>Search term</a:t>
                      </a:r>
                    </a:p>
                  </a:txBody>
                  <a:tcPr marL="54864" marR="54864" marT="27432" marB="27432" anchor="ctr">
                    <a:solidFill>
                      <a:srgbClr val="0F172A"/>
                    </a:solidFill>
                  </a:tcPr>
                </a:tc>
                <a:tc>
                  <a:txBody>
                    <a:bodyPr wrap="square"/>
                    <a:lstStyle/>
                    <a:p>
                      <a:pPr algn="r"/>
                      <a:r>
                        <a:rPr sz="1000" b="1">
                          <a:solidFill>
                            <a:srgbClr val="FFFFFF"/>
                          </a:solidFill>
                          <a:latin typeface="Inter"/>
                        </a:rPr>
                        <a:t>Ad</a:t>
                      </a:r>
                    </a:p>
                  </a:txBody>
                  <a:tcPr marL="54864" marR="54864" marT="27432" marB="27432" anchor="ctr">
                    <a:solidFill>
                      <a:srgbClr val="0F172A"/>
                    </a:solidFill>
                  </a:tcPr>
                </a:tc>
                <a:tc>
                  <a:txBody>
                    <a:bodyPr wrap="square"/>
                    <a:lstStyle/>
                    <a:p>
                      <a:pPr algn="r"/>
                      <a:r>
                        <a:rPr sz="1000" b="1">
                          <a:solidFill>
                            <a:srgbClr val="FFFFFF"/>
                          </a:solidFill>
                          <a:latin typeface="Inter"/>
                        </a:rPr>
                        <a:t>Impressions</a:t>
                      </a:r>
                    </a:p>
                  </a:txBody>
                  <a:tcPr marL="54864" marR="54864" marT="27432" marB="27432" anchor="ctr">
                    <a:solidFill>
                      <a:srgbClr val="0F172A"/>
                    </a:solidFill>
                  </a:tcPr>
                </a:tc>
                <a:tc>
                  <a:txBody>
                    <a:bodyPr wrap="square"/>
                    <a:lstStyle/>
                    <a:p>
                      <a:pPr algn="r"/>
                      <a:r>
                        <a:rPr sz="1000" b="1">
                          <a:solidFill>
                            <a:srgbClr val="FFFFFF"/>
                          </a:solidFill>
                          <a:latin typeface="Inter"/>
                        </a:rPr>
                        <a:t>Clicks</a:t>
                      </a:r>
                    </a:p>
                  </a:txBody>
                  <a:tcPr marL="54864" marR="54864" marT="27432" marB="27432" anchor="ctr">
                    <a:solidFill>
                      <a:srgbClr val="0F172A"/>
                    </a:solidFill>
                  </a:tcPr>
                </a:tc>
                <a:tc>
                  <a:txBody>
                    <a:bodyPr wrap="square"/>
                    <a:lstStyle/>
                    <a:p>
                      <a:pPr algn="r"/>
                      <a:r>
                        <a:rPr sz="1000" b="1">
                          <a:solidFill>
                            <a:srgbClr val="FFFFFF"/>
                          </a:solidFill>
                          <a:latin typeface="Inter"/>
                        </a:rPr>
                        <a:t>Orders</a:t>
                      </a:r>
                    </a:p>
                  </a:txBody>
                  <a:tcPr marL="54864" marR="54864" marT="27432" marB="27432" anchor="ctr">
                    <a:solidFill>
                      <a:srgbClr val="0F172A"/>
                    </a:solidFill>
                  </a:tcPr>
                </a:tc>
                <a:tc>
                  <a:txBody>
                    <a:bodyPr wrap="square"/>
                    <a:lstStyle/>
                    <a:p>
                      <a:pPr algn="r"/>
                      <a:r>
                        <a:rPr sz="1000" b="1">
                          <a:solidFill>
                            <a:srgbClr val="FFFFFF"/>
                          </a:solidFill>
                          <a:latin typeface="Inter"/>
                        </a:rPr>
                        <a:t>Spend</a:t>
                      </a:r>
                    </a:p>
                  </a:txBody>
                  <a:tcPr marL="54864" marR="54864" marT="27432" marB="27432" anchor="ctr">
                    <a:solidFill>
                      <a:srgbClr val="0F172A"/>
                    </a:solidFill>
                  </a:tcPr>
                </a:tc>
                <a:tc>
                  <a:txBody>
                    <a:bodyPr wrap="square"/>
                    <a:lstStyle/>
                    <a:p>
                      <a:pPr algn="r"/>
                      <a:r>
                        <a:rPr sz="1000" b="1">
                          <a:solidFill>
                            <a:srgbClr val="FFFFFF"/>
                          </a:solidFill>
                          <a:latin typeface="Inter"/>
                        </a:rPr>
                        <a:t>Sales</a:t>
                      </a:r>
                    </a:p>
                  </a:txBody>
                  <a:tcPr marL="54864" marR="54864" marT="27432" marB="27432" anchor="ctr">
                    <a:solidFill>
                      <a:srgbClr val="0F172A"/>
                    </a:solidFill>
                  </a:tcPr>
                </a:tc>
              </a:tr>
              <a:tr h="384048">
                <a:tc>
                  <a:txBody>
                    <a:bodyPr wrap="square"/>
                    <a:lstStyle/>
                    <a:p>
                      <a:pPr algn="l"/>
                      <a:r>
                        <a:rPr sz="1100" b="0">
                          <a:solidFill>
                            <a:srgbClr val="0F172A"/>
                          </a:solidFill>
                          <a:latin typeface="Inter"/>
                        </a:rPr>
                        <a:t>octaspring mattress topper</a:t>
                      </a:r>
                    </a:p>
                  </a:txBody>
                  <a:tcPr marL="54864" marR="54864" marT="27432" marB="27432" anchor="ctr">
                    <a:solidFill>
                      <a:srgbClr val="FFFFFF"/>
                    </a:solidFill>
                  </a:tcPr>
                </a:tc>
                <a:tc>
                  <a:txBody>
                    <a:bodyPr wrap="square"/>
                    <a:lstStyle/>
                    <a:p>
                      <a:pPr algn="r"/>
                      <a:r>
                        <a:rPr sz="1100" b="0">
                          <a:solidFill>
                            <a:srgbClr val="0F172A"/>
                          </a:solidFill>
                          <a:latin typeface="Inter"/>
                        </a:rPr>
                        <a:t>SP</a:t>
                      </a:r>
                    </a:p>
                  </a:txBody>
                  <a:tcPr marL="54864" marR="54864" marT="27432" marB="27432" anchor="ctr">
                    <a:solidFill>
                      <a:srgbClr val="FFFFFF"/>
                    </a:solidFill>
                  </a:tcPr>
                </a:tc>
                <a:tc>
                  <a:txBody>
                    <a:bodyPr wrap="square"/>
                    <a:lstStyle/>
                    <a:p>
                      <a:pPr algn="r"/>
                      <a:r>
                        <a:rPr sz="1100" b="0">
                          <a:solidFill>
                            <a:srgbClr val="0F172A"/>
                          </a:solidFill>
                          <a:latin typeface="Inter"/>
                        </a:rPr>
                        <a:t>9</a:t>
                      </a:r>
                    </a:p>
                  </a:txBody>
                  <a:tcPr marL="54864" marR="54864" marT="27432" marB="27432" anchor="ctr">
                    <a:solidFill>
                      <a:srgbClr val="FFFFFF"/>
                    </a:solidFill>
                  </a:tcPr>
                </a:tc>
                <a:tc>
                  <a:txBody>
                    <a:bodyPr wrap="square"/>
                    <a:lstStyle/>
                    <a:p>
                      <a:pPr algn="r"/>
                      <a:r>
                        <a:rPr sz="1100" b="0">
                          <a:solidFill>
                            <a:srgbClr val="0F172A"/>
                          </a:solidFill>
                          <a:latin typeface="Inter"/>
                        </a:rPr>
                        <a:t>3</a:t>
                      </a:r>
                    </a:p>
                  </a:txBody>
                  <a:tcPr marL="54864" marR="54864" marT="27432" marB="27432" anchor="ctr">
                    <a:solidFill>
                      <a:srgbClr val="FFFFFF"/>
                    </a:solidFill>
                  </a:tcPr>
                </a:tc>
                <a:tc>
                  <a:txBody>
                    <a:bodyPr wrap="square"/>
                    <a:lstStyle/>
                    <a:p>
                      <a:pPr algn="r"/>
                      <a:r>
                        <a:rPr sz="1100" b="0">
                          <a:solidFill>
                            <a:srgbClr val="0F172A"/>
                          </a:solidFill>
                          <a:latin typeface="Inter"/>
                        </a:rPr>
                        <a:t>2</a:t>
                      </a:r>
                    </a:p>
                  </a:txBody>
                  <a:tcPr marL="54864" marR="54864" marT="27432" marB="27432" anchor="ctr">
                    <a:solidFill>
                      <a:srgbClr val="FFFFFF"/>
                    </a:solidFill>
                  </a:tcPr>
                </a:tc>
                <a:tc>
                  <a:txBody>
                    <a:bodyPr wrap="square"/>
                    <a:lstStyle/>
                    <a:p>
                      <a:pPr algn="r"/>
                      <a:r>
                        <a:rPr sz="1100" b="0">
                          <a:solidFill>
                            <a:srgbClr val="0F172A"/>
                          </a:solidFill>
                          <a:latin typeface="Inter"/>
                        </a:rPr>
                        <a:t>C$1</a:t>
                      </a:r>
                    </a:p>
                  </a:txBody>
                  <a:tcPr marL="54864" marR="54864" marT="27432" marB="27432" anchor="ctr">
                    <a:solidFill>
                      <a:srgbClr val="FFFFFF"/>
                    </a:solidFill>
                  </a:tcPr>
                </a:tc>
                <a:tc>
                  <a:txBody>
                    <a:bodyPr wrap="square"/>
                    <a:lstStyle/>
                    <a:p>
                      <a:pPr algn="r"/>
                      <a:r>
                        <a:rPr sz="1100" b="0">
                          <a:solidFill>
                            <a:srgbClr val="0F172A"/>
                          </a:solidFill>
                          <a:latin typeface="Inter"/>
                        </a:rPr>
                        <a:t>C$1,079</a:t>
                      </a:r>
                    </a:p>
                  </a:txBody>
                  <a:tcPr marL="54864" marR="54864" marT="27432" marB="27432" anchor="ctr">
                    <a:solidFill>
                      <a:srgbClr val="FFFFFF"/>
                    </a:solidFill>
                  </a:tcPr>
                </a:tc>
              </a:tr>
              <a:tr h="384048">
                <a:tc>
                  <a:txBody>
                    <a:bodyPr wrap="square"/>
                    <a:lstStyle/>
                    <a:p>
                      <a:pPr algn="l"/>
                      <a:r>
                        <a:rPr sz="1100" b="0">
                          <a:solidFill>
                            <a:srgbClr val="0F172A"/>
                          </a:solidFill>
                          <a:latin typeface="Inter"/>
                        </a:rPr>
                        <a:t>memory foam mattress topper</a:t>
                      </a:r>
                    </a:p>
                  </a:txBody>
                  <a:tcPr marL="54864" marR="54864" marT="27432" marB="27432" anchor="ctr">
                    <a:solidFill>
                      <a:srgbClr val="FBFAF7"/>
                    </a:solidFill>
                  </a:tcPr>
                </a:tc>
                <a:tc>
                  <a:txBody>
                    <a:bodyPr wrap="square"/>
                    <a:lstStyle/>
                    <a:p>
                      <a:pPr algn="r"/>
                      <a:r>
                        <a:rPr sz="1100" b="0">
                          <a:solidFill>
                            <a:srgbClr val="0F172A"/>
                          </a:solidFill>
                          <a:latin typeface="Inter"/>
                        </a:rPr>
                        <a:t>SB</a:t>
                      </a:r>
                    </a:p>
                  </a:txBody>
                  <a:tcPr marL="54864" marR="54864" marT="27432" marB="27432" anchor="ctr">
                    <a:solidFill>
                      <a:srgbClr val="FBFAF7"/>
                    </a:solidFill>
                  </a:tcPr>
                </a:tc>
                <a:tc>
                  <a:txBody>
                    <a:bodyPr wrap="square"/>
                    <a:lstStyle/>
                    <a:p>
                      <a:pPr algn="r"/>
                      <a:r>
                        <a:rPr sz="1100" b="0">
                          <a:solidFill>
                            <a:srgbClr val="0F172A"/>
                          </a:solidFill>
                          <a:latin typeface="Inter"/>
                        </a:rPr>
                        <a:t>439</a:t>
                      </a:r>
                    </a:p>
                  </a:txBody>
                  <a:tcPr marL="54864" marR="54864" marT="27432" marB="27432" anchor="ctr">
                    <a:solidFill>
                      <a:srgbClr val="FBFAF7"/>
                    </a:solidFill>
                  </a:tcPr>
                </a:tc>
                <a:tc>
                  <a:txBody>
                    <a:bodyPr wrap="square"/>
                    <a:lstStyle/>
                    <a:p>
                      <a:pPr algn="r"/>
                      <a:r>
                        <a:rPr sz="1100" b="0">
                          <a:solidFill>
                            <a:srgbClr val="0F172A"/>
                          </a:solidFill>
                          <a:latin typeface="Inter"/>
                        </a:rPr>
                        <a:t>2</a:t>
                      </a:r>
                    </a:p>
                  </a:txBody>
                  <a:tcPr marL="54864" marR="54864" marT="27432" marB="27432" anchor="ctr">
                    <a:solidFill>
                      <a:srgbClr val="FBFAF7"/>
                    </a:solidFill>
                  </a:tcPr>
                </a:tc>
                <a:tc>
                  <a:txBody>
                    <a:bodyPr wrap="square"/>
                    <a:lstStyle/>
                    <a:p>
                      <a:pPr algn="r"/>
                      <a:r>
                        <a:rPr sz="1100" b="0">
                          <a:solidFill>
                            <a:srgbClr val="0F172A"/>
                          </a:solidFill>
                          <a:latin typeface="Inter"/>
                        </a:rPr>
                        <a:t>1</a:t>
                      </a:r>
                    </a:p>
                  </a:txBody>
                  <a:tcPr marL="54864" marR="54864" marT="27432" marB="27432" anchor="ctr">
                    <a:solidFill>
                      <a:srgbClr val="FBFAF7"/>
                    </a:solidFill>
                  </a:tcPr>
                </a:tc>
                <a:tc>
                  <a:txBody>
                    <a:bodyPr wrap="square"/>
                    <a:lstStyle/>
                    <a:p>
                      <a:pPr algn="r"/>
                      <a:r>
                        <a:rPr sz="1100" b="0">
                          <a:solidFill>
                            <a:srgbClr val="0F172A"/>
                          </a:solidFill>
                          <a:latin typeface="Inter"/>
                        </a:rPr>
                        <a:t>C$0</a:t>
                      </a:r>
                    </a:p>
                  </a:txBody>
                  <a:tcPr marL="54864" marR="54864" marT="27432" marB="27432" anchor="ctr">
                    <a:solidFill>
                      <a:srgbClr val="FBFAF7"/>
                    </a:solidFill>
                  </a:tcPr>
                </a:tc>
                <a:tc>
                  <a:txBody>
                    <a:bodyPr wrap="square"/>
                    <a:lstStyle/>
                    <a:p>
                      <a:pPr algn="r"/>
                      <a:r>
                        <a:rPr sz="1100" b="0">
                          <a:solidFill>
                            <a:srgbClr val="0F172A"/>
                          </a:solidFill>
                          <a:latin typeface="Inter"/>
                        </a:rPr>
                        <a:t>C$554</a:t>
                      </a:r>
                    </a:p>
                  </a:txBody>
                  <a:tcPr marL="54864" marR="54864" marT="27432" marB="27432" anchor="ctr">
                    <a:solidFill>
                      <a:srgbClr val="FBFAF7"/>
                    </a:solidFill>
                  </a:tcPr>
                </a:tc>
              </a:tr>
              <a:tr h="384048">
                <a:tc>
                  <a:txBody>
                    <a:bodyPr wrap="square"/>
                    <a:lstStyle/>
                    <a:p>
                      <a:pPr algn="l"/>
                      <a:r>
                        <a:rPr sz="1100" b="0">
                          <a:solidFill>
                            <a:srgbClr val="0F172A"/>
                          </a:solidFill>
                          <a:latin typeface="Inter"/>
                        </a:rPr>
                        <a:t>topper for mattress</a:t>
                      </a:r>
                    </a:p>
                  </a:txBody>
                  <a:tcPr marL="54864" marR="54864" marT="27432" marB="27432" anchor="ctr">
                    <a:solidFill>
                      <a:srgbClr val="FFFFFF"/>
                    </a:solidFill>
                  </a:tcPr>
                </a:tc>
                <a:tc>
                  <a:txBody>
                    <a:bodyPr wrap="square"/>
                    <a:lstStyle/>
                    <a:p>
                      <a:pPr algn="r"/>
                      <a:r>
                        <a:rPr sz="1100" b="0">
                          <a:solidFill>
                            <a:srgbClr val="0F172A"/>
                          </a:solidFill>
                          <a:latin typeface="Inter"/>
                        </a:rPr>
                        <a:t>SB</a:t>
                      </a:r>
                    </a:p>
                  </a:txBody>
                  <a:tcPr marL="54864" marR="54864" marT="27432" marB="27432" anchor="ctr">
                    <a:solidFill>
                      <a:srgbClr val="FFFFFF"/>
                    </a:solidFill>
                  </a:tcPr>
                </a:tc>
                <a:tc>
                  <a:txBody>
                    <a:bodyPr wrap="square"/>
                    <a:lstStyle/>
                    <a:p>
                      <a:pPr algn="r"/>
                      <a:r>
                        <a:rPr sz="1100" b="0">
                          <a:solidFill>
                            <a:srgbClr val="0F172A"/>
                          </a:solidFill>
                          <a:latin typeface="Inter"/>
                        </a:rPr>
                        <a:t>2</a:t>
                      </a:r>
                    </a:p>
                  </a:txBody>
                  <a:tcPr marL="54864" marR="54864" marT="27432" marB="27432" anchor="ctr">
                    <a:solidFill>
                      <a:srgbClr val="FFFFFF"/>
                    </a:solidFill>
                  </a:tcPr>
                </a:tc>
                <a:tc>
                  <a:txBody>
                    <a:bodyPr wrap="square"/>
                    <a:lstStyle/>
                    <a:p>
                      <a:pPr algn="r"/>
                      <a:r>
                        <a:rPr sz="1100" b="0">
                          <a:solidFill>
                            <a:srgbClr val="0F172A"/>
                          </a:solidFill>
                          <a:latin typeface="Inter"/>
                        </a:rPr>
                        <a:t>1</a:t>
                      </a:r>
                    </a:p>
                  </a:txBody>
                  <a:tcPr marL="54864" marR="54864" marT="27432" marB="27432" anchor="ctr">
                    <a:solidFill>
                      <a:srgbClr val="FFFFFF"/>
                    </a:solidFill>
                  </a:tcPr>
                </a:tc>
                <a:tc>
                  <a:txBody>
                    <a:bodyPr wrap="square"/>
                    <a:lstStyle/>
                    <a:p>
                      <a:pPr algn="r"/>
                      <a:r>
                        <a:rPr sz="1100" b="0">
                          <a:solidFill>
                            <a:srgbClr val="0F172A"/>
                          </a:solidFill>
                          <a:latin typeface="Inter"/>
                        </a:rPr>
                        <a:t>1</a:t>
                      </a:r>
                    </a:p>
                  </a:txBody>
                  <a:tcPr marL="54864" marR="54864" marT="27432" marB="27432" anchor="ctr">
                    <a:solidFill>
                      <a:srgbClr val="FFFFFF"/>
                    </a:solidFill>
                  </a:tcPr>
                </a:tc>
                <a:tc>
                  <a:txBody>
                    <a:bodyPr wrap="square"/>
                    <a:lstStyle/>
                    <a:p>
                      <a:pPr algn="r"/>
                      <a:r>
                        <a:rPr sz="1100" b="0">
                          <a:solidFill>
                            <a:srgbClr val="0F172A"/>
                          </a:solidFill>
                          <a:latin typeface="Inter"/>
                        </a:rPr>
                        <a:t>C$0</a:t>
                      </a:r>
                    </a:p>
                  </a:txBody>
                  <a:tcPr marL="54864" marR="54864" marT="27432" marB="27432" anchor="ctr">
                    <a:solidFill>
                      <a:srgbClr val="FFFFFF"/>
                    </a:solidFill>
                  </a:tcPr>
                </a:tc>
                <a:tc>
                  <a:txBody>
                    <a:bodyPr wrap="square"/>
                    <a:lstStyle/>
                    <a:p>
                      <a:pPr algn="r"/>
                      <a:r>
                        <a:rPr sz="1100" b="0">
                          <a:solidFill>
                            <a:srgbClr val="0F172A"/>
                          </a:solidFill>
                          <a:latin typeface="Inter"/>
                        </a:rPr>
                        <a:t>C$554</a:t>
                      </a:r>
                    </a:p>
                  </a:txBody>
                  <a:tcPr marL="54864" marR="54864" marT="27432" marB="27432" anchor="ctr">
                    <a:solidFill>
                      <a:srgbClr val="FFFFFF"/>
                    </a:solidFill>
                  </a:tcPr>
                </a:tc>
              </a:tr>
            </a:tbl>
          </a:graphicData>
        </a:graphic>
      </p:graphicFrame>
      <p:sp>
        <p:nvSpPr>
          <p:cNvPr id="11" name=""/>
          <p:cNvSpPr txBox="1"/>
          <p:nvPr/>
        </p:nvSpPr>
        <p:spPr>
          <a:xfrm>
            <a:off x="548640" y="3090672"/>
            <a:ext cx="11091672" cy="457200"/>
          </a:xfrm>
          <a:prstGeom prst="rect">
            <a:avLst/>
          </a:prstGeom>
          <a:noFill/>
        </p:spPr>
        <p:txBody>
          <a:bodyPr wrap="square" lIns="36576" rIns="36576" tIns="18288" bIns="18288" anchor="t">
            <a:spAutoFit/>
          </a:bodyPr>
          <a:lstStyle/>
          <a:p>
            <a:pPr algn="l"/>
            <a:r>
              <a:rPr sz="900" b="0">
                <a:solidFill>
                  <a:srgbClr val="6B6558"/>
                </a:solidFill>
                <a:latin typeface="Inter"/>
              </a:rPr>
              <a:t>Top category searches by ad sales, Oct 18–24, 2026 (Sponsored Products and Brands search-term report; only searches with at least one click are reported).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Advertising performance — daily, last 2 weeks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10 / 17</a:t>
            </a:r>
          </a:p>
        </p:txBody>
      </p:sp>
      <p:graphicFrame>
        <p:nvGraphicFramePr>
          <p:cNvPr id="10" name=""/>
          <p:cNvGraphicFramePr>
            <a:graphicFrameLocks noGrp="1"/>
          </p:cNvGraphicFramePr>
          <p:nvPr/>
        </p:nvGraphicFramePr>
        <p:xfrm>
          <a:off x="548640" y="1325880"/>
          <a:ext cx="10360152" cy="4197096"/>
        </p:xfrm>
        <a:graphic>
          <a:graphicData uri="http://schemas.openxmlformats.org/drawingml/2006/table">
            <a:tbl>
              <a:tblPr firstRow="1" bandRow="1">
                <a:tableStyleId>{5C22544A-7EE6-4342-B048-85BDC9FD1C3A}</a:tableStyleId>
              </a:tblPr>
              <a:tblGrid>
                <a:gridCol w="1234440"/>
                <a:gridCol w="548640"/>
                <a:gridCol w="1051560"/>
                <a:gridCol w="960120"/>
                <a:gridCol w="960120"/>
                <a:gridCol w="731520"/>
                <a:gridCol w="731520"/>
                <a:gridCol w="731520"/>
                <a:gridCol w="731520"/>
                <a:gridCol w="822960"/>
                <a:gridCol w="1097280"/>
                <a:gridCol w="758952"/>
              </a:tblGrid>
              <a:tr h="246888">
                <a:tc>
                  <a:txBody>
                    <a:bodyPr wrap="square"/>
                    <a:lstStyle/>
                    <a:p>
                      <a:pPr algn="l"/>
                      <a:r>
                        <a:rPr sz="750" b="1">
                          <a:solidFill>
                            <a:srgbClr val="FFFFFF"/>
                          </a:solidFill>
                          <a:latin typeface="Inter"/>
                        </a:rPr>
                        <a:t>Date</a:t>
                      </a:r>
                    </a:p>
                  </a:txBody>
                  <a:tcPr marL="54864" marR="54864" marT="27432" marB="27432" anchor="ctr">
                    <a:solidFill>
                      <a:srgbClr val="0F172A"/>
                    </a:solidFill>
                  </a:tcPr>
                </a:tc>
                <a:tc>
                  <a:txBody>
                    <a:bodyPr wrap="square"/>
                    <a:lstStyle/>
                    <a:p>
                      <a:pPr algn="r"/>
                      <a:r>
                        <a:rPr sz="750" b="1">
                          <a:solidFill>
                            <a:srgbClr val="FFFFFF"/>
                          </a:solidFill>
                          <a:latin typeface="Inter"/>
                        </a:rPr>
                        <a:t>Day</a:t>
                      </a:r>
                    </a:p>
                  </a:txBody>
                  <a:tcPr marL="54864" marR="54864" marT="27432" marB="27432" anchor="ctr">
                    <a:solidFill>
                      <a:srgbClr val="0F172A"/>
                    </a:solidFill>
                  </a:tcPr>
                </a:tc>
                <a:tc>
                  <a:txBody>
                    <a:bodyPr wrap="square"/>
                    <a:lstStyle/>
                    <a:p>
                      <a:pPr algn="r"/>
                      <a:r>
                        <a:rPr sz="750" b="1">
                          <a:solidFill>
                            <a:srgbClr val="FFFFFF"/>
                          </a:solidFill>
                          <a:latin typeface="Inter"/>
                        </a:rPr>
                        <a:t>Total sales</a:t>
                      </a:r>
                    </a:p>
                  </a:txBody>
                  <a:tcPr marL="54864" marR="54864" marT="27432" marB="27432" anchor="ctr">
                    <a:solidFill>
                      <a:srgbClr val="0F172A"/>
                    </a:solidFill>
                  </a:tcPr>
                </a:tc>
                <a:tc>
                  <a:txBody>
                    <a:bodyPr wrap="square"/>
                    <a:lstStyle/>
                    <a:p>
                      <a:pPr algn="r"/>
                      <a:r>
                        <a:rPr sz="750" b="1">
                          <a:solidFill>
                            <a:srgbClr val="FFFFFF"/>
                          </a:solidFill>
                          <a:latin typeface="Inter"/>
                        </a:rPr>
                        <a:t>PPC spend</a:t>
                      </a:r>
                    </a:p>
                  </a:txBody>
                  <a:tcPr marL="54864" marR="54864" marT="27432" marB="27432" anchor="ctr">
                    <a:solidFill>
                      <a:srgbClr val="0F172A"/>
                    </a:solidFill>
                  </a:tcPr>
                </a:tc>
                <a:tc>
                  <a:txBody>
                    <a:bodyPr wrap="square"/>
                    <a:lstStyle/>
                    <a:p>
                      <a:pPr algn="r"/>
                      <a:r>
                        <a:rPr sz="750" b="1">
                          <a:solidFill>
                            <a:srgbClr val="FFFFFF"/>
                          </a:solidFill>
                          <a:latin typeface="Inter"/>
                        </a:rPr>
                        <a:t>PPC sales</a:t>
                      </a:r>
                    </a:p>
                  </a:txBody>
                  <a:tcPr marL="54864" marR="54864" marT="27432" marB="27432" anchor="ctr">
                    <a:solidFill>
                      <a:srgbClr val="0F172A"/>
                    </a:solidFill>
                  </a:tcPr>
                </a:tc>
                <a:tc>
                  <a:txBody>
                    <a:bodyPr wrap="square"/>
                    <a:lstStyle/>
                    <a:p>
                      <a:pPr algn="r"/>
                      <a:r>
                        <a:rPr sz="750" b="1">
                          <a:solidFill>
                            <a:srgbClr val="FFFFFF"/>
                          </a:solidFill>
                          <a:latin typeface="Inter"/>
                        </a:rPr>
                        <a:t>ROAS</a:t>
                      </a:r>
                    </a:p>
                  </a:txBody>
                  <a:tcPr marL="54864" marR="54864" marT="27432" marB="27432" anchor="ctr">
                    <a:solidFill>
                      <a:srgbClr val="0F172A"/>
                    </a:solidFill>
                  </a:tcPr>
                </a:tc>
                <a:tc>
                  <a:txBody>
                    <a:bodyPr wrap="square"/>
                    <a:lstStyle/>
                    <a:p>
                      <a:pPr algn="r"/>
                      <a:r>
                        <a:rPr sz="750" b="1">
                          <a:solidFill>
                            <a:srgbClr val="FFFFFF"/>
                          </a:solidFill>
                          <a:latin typeface="Inter"/>
                        </a:rPr>
                        <a:t>ACoS</a:t>
                      </a:r>
                    </a:p>
                  </a:txBody>
                  <a:tcPr marL="54864" marR="54864" marT="27432" marB="27432" anchor="ctr">
                    <a:solidFill>
                      <a:srgbClr val="0F172A"/>
                    </a:solidFill>
                  </a:tcPr>
                </a:tc>
                <a:tc>
                  <a:txBody>
                    <a:bodyPr wrap="square"/>
                    <a:lstStyle/>
                    <a:p>
                      <a:pPr algn="r"/>
                      <a:r>
                        <a:rPr sz="750" b="1">
                          <a:solidFill>
                            <a:srgbClr val="FFFFFF"/>
                          </a:solidFill>
                          <a:latin typeface="Inter"/>
                        </a:rPr>
                        <a:t>TACoS</a:t>
                      </a:r>
                    </a:p>
                  </a:txBody>
                  <a:tcPr marL="54864" marR="54864" marT="27432" marB="27432" anchor="ctr">
                    <a:solidFill>
                      <a:srgbClr val="0F172A"/>
                    </a:solidFill>
                  </a:tcPr>
                </a:tc>
                <a:tc>
                  <a:txBody>
                    <a:bodyPr wrap="square"/>
                    <a:lstStyle/>
                    <a:p>
                      <a:pPr algn="r"/>
                      <a:r>
                        <a:rPr sz="750" b="1">
                          <a:solidFill>
                            <a:srgbClr val="FFFFFF"/>
                          </a:solidFill>
                          <a:latin typeface="Inter"/>
                        </a:rPr>
                        <a:t>Orders</a:t>
                      </a:r>
                    </a:p>
                  </a:txBody>
                  <a:tcPr marL="54864" marR="54864" marT="27432" marB="27432" anchor="ctr">
                    <a:solidFill>
                      <a:srgbClr val="0F172A"/>
                    </a:solidFill>
                  </a:tcPr>
                </a:tc>
                <a:tc>
                  <a:txBody>
                    <a:bodyPr wrap="square"/>
                    <a:lstStyle/>
                    <a:p>
                      <a:pPr algn="r"/>
                      <a:r>
                        <a:rPr sz="750" b="1">
                          <a:solidFill>
                            <a:srgbClr val="FFFFFF"/>
                          </a:solidFill>
                          <a:latin typeface="Inter"/>
                        </a:rPr>
                        <a:t>Ad orders</a:t>
                      </a:r>
                    </a:p>
                  </a:txBody>
                  <a:tcPr marL="54864" marR="54864" marT="27432" marB="27432" anchor="ctr">
                    <a:solidFill>
                      <a:srgbClr val="0F172A"/>
                    </a:solidFill>
                  </a:tcPr>
                </a:tc>
                <a:tc>
                  <a:txBody>
                    <a:bodyPr wrap="square"/>
                    <a:lstStyle/>
                    <a:p>
                      <a:pPr algn="r"/>
                      <a:r>
                        <a:rPr sz="750" b="1">
                          <a:solidFill>
                            <a:srgbClr val="FFFFFF"/>
                          </a:solidFill>
                          <a:latin typeface="Inter"/>
                        </a:rPr>
                        <a:t>Organic sales</a:t>
                      </a:r>
                    </a:p>
                  </a:txBody>
                  <a:tcPr marL="54864" marR="54864" marT="27432" marB="27432" anchor="ctr">
                    <a:solidFill>
                      <a:srgbClr val="0F172A"/>
                    </a:solidFill>
                  </a:tcPr>
                </a:tc>
                <a:tc>
                  <a:txBody>
                    <a:bodyPr wrap="square"/>
                    <a:lstStyle/>
                    <a:p>
                      <a:pPr algn="r"/>
                      <a:r>
                        <a:rPr sz="750" b="1">
                          <a:solidFill>
                            <a:srgbClr val="FFFFFF"/>
                          </a:solidFill>
                          <a:latin typeface="Inter"/>
                        </a:rPr>
                        <a:t>Ad sales %</a:t>
                      </a:r>
                    </a:p>
                  </a:txBody>
                  <a:tcPr marL="54864" marR="54864" marT="27432" marB="27432" anchor="ctr">
                    <a:solidFill>
                      <a:srgbClr val="0F172A"/>
                    </a:solidFill>
                  </a:tcPr>
                </a:tc>
              </a:tr>
              <a:tr h="246888">
                <a:tc>
                  <a:txBody>
                    <a:bodyPr wrap="square"/>
                    <a:lstStyle/>
                    <a:p>
                      <a:pPr algn="l"/>
                      <a:r>
                        <a:rPr sz="850" b="0">
                          <a:solidFill>
                            <a:srgbClr val="0F172A"/>
                          </a:solidFill>
                          <a:latin typeface="Inter"/>
                        </a:rPr>
                        <a:t>Oct 11</a:t>
                      </a:r>
                    </a:p>
                  </a:txBody>
                  <a:tcPr marL="54864" marR="54864" marT="27432" marB="27432" anchor="ctr">
                    <a:solidFill>
                      <a:srgbClr val="FFFFFF"/>
                    </a:solidFill>
                  </a:tcPr>
                </a:tc>
                <a:tc>
                  <a:txBody>
                    <a:bodyPr wrap="square"/>
                    <a:lstStyle/>
                    <a:p>
                      <a:pPr algn="r"/>
                      <a:r>
                        <a:rPr sz="850" b="0">
                          <a:solidFill>
                            <a:srgbClr val="0F172A"/>
                          </a:solidFill>
                          <a:latin typeface="Inter"/>
                        </a:rPr>
                        <a:t>Sun</a:t>
                      </a:r>
                    </a:p>
                  </a:txBody>
                  <a:tcPr marL="54864" marR="54864" marT="27432" marB="27432" anchor="ctr">
                    <a:solidFill>
                      <a:srgbClr val="FFFFFF"/>
                    </a:solidFill>
                  </a:tcPr>
                </a:tc>
                <a:tc>
                  <a:txBody>
                    <a:bodyPr wrap="square"/>
                    <a:lstStyle/>
                    <a:p>
                      <a:pPr algn="r"/>
                      <a:r>
                        <a:rPr sz="850" b="0">
                          <a:solidFill>
                            <a:srgbClr val="0F172A"/>
                          </a:solidFill>
                          <a:latin typeface="Inter"/>
                        </a:rPr>
                        <a:t>C$6,656</a:t>
                      </a:r>
                    </a:p>
                  </a:txBody>
                  <a:tcPr marL="54864" marR="54864" marT="27432" marB="27432" anchor="ctr">
                    <a:solidFill>
                      <a:srgbClr val="FFFFFF"/>
                    </a:solidFill>
                  </a:tcPr>
                </a:tc>
                <a:tc>
                  <a:txBody>
                    <a:bodyPr wrap="square"/>
                    <a:lstStyle/>
                    <a:p>
                      <a:pPr algn="r"/>
                      <a:r>
                        <a:rPr sz="850" b="0">
                          <a:solidFill>
                            <a:srgbClr val="0F172A"/>
                          </a:solidFill>
                          <a:latin typeface="Inter"/>
                        </a:rPr>
                        <a:t>C$920</a:t>
                      </a:r>
                    </a:p>
                  </a:txBody>
                  <a:tcPr marL="54864" marR="54864" marT="27432" marB="27432" anchor="ctr">
                    <a:solidFill>
                      <a:srgbClr val="FFFFFF"/>
                    </a:solidFill>
                  </a:tcPr>
                </a:tc>
                <a:tc>
                  <a:txBody>
                    <a:bodyPr wrap="square"/>
                    <a:lstStyle/>
                    <a:p>
                      <a:pPr algn="r"/>
                      <a:r>
                        <a:rPr sz="850" b="0">
                          <a:solidFill>
                            <a:srgbClr val="0F172A"/>
                          </a:solidFill>
                          <a:latin typeface="Inter"/>
                        </a:rPr>
                        <a:t>C$3,607</a:t>
                      </a:r>
                    </a:p>
                  </a:txBody>
                  <a:tcPr marL="54864" marR="54864" marT="27432" marB="27432" anchor="ctr">
                    <a:solidFill>
                      <a:srgbClr val="FFFFFF"/>
                    </a:solidFill>
                  </a:tcPr>
                </a:tc>
                <a:tc>
                  <a:txBody>
                    <a:bodyPr wrap="square"/>
                    <a:lstStyle/>
                    <a:p>
                      <a:pPr algn="r"/>
                      <a:r>
                        <a:rPr sz="850" b="0">
                          <a:solidFill>
                            <a:srgbClr val="0F172A"/>
                          </a:solidFill>
                          <a:latin typeface="Inter"/>
                        </a:rPr>
                        <a:t>3.92x</a:t>
                      </a:r>
                    </a:p>
                  </a:txBody>
                  <a:tcPr marL="54864" marR="54864" marT="27432" marB="27432" anchor="ctr">
                    <a:solidFill>
                      <a:srgbClr val="FFFFFF"/>
                    </a:solidFill>
                  </a:tcPr>
                </a:tc>
                <a:tc>
                  <a:txBody>
                    <a:bodyPr wrap="square"/>
                    <a:lstStyle/>
                    <a:p>
                      <a:pPr algn="r"/>
                      <a:r>
                        <a:rPr sz="850" b="0">
                          <a:solidFill>
                            <a:srgbClr val="0F172A"/>
                          </a:solidFill>
                          <a:latin typeface="Inter"/>
                        </a:rPr>
                        <a:t>25.5%</a:t>
                      </a:r>
                    </a:p>
                  </a:txBody>
                  <a:tcPr marL="54864" marR="54864" marT="27432" marB="27432" anchor="ctr">
                    <a:solidFill>
                      <a:srgbClr val="FFFFFF"/>
                    </a:solidFill>
                  </a:tcPr>
                </a:tc>
                <a:tc>
                  <a:txBody>
                    <a:bodyPr wrap="square"/>
                    <a:lstStyle/>
                    <a:p>
                      <a:pPr algn="r"/>
                      <a:r>
                        <a:rPr sz="850" b="0">
                          <a:solidFill>
                            <a:srgbClr val="0F172A"/>
                          </a:solidFill>
                          <a:latin typeface="Inter"/>
                        </a:rPr>
                        <a:t>13.8%</a:t>
                      </a:r>
                    </a:p>
                  </a:txBody>
                  <a:tcPr marL="54864" marR="54864" marT="27432" marB="27432" anchor="ctr">
                    <a:solidFill>
                      <a:srgbClr val="FFFFFF"/>
                    </a:solidFill>
                  </a:tcPr>
                </a:tc>
                <a:tc>
                  <a:txBody>
                    <a:bodyPr wrap="square"/>
                    <a:lstStyle/>
                    <a:p>
                      <a:pPr algn="r"/>
                      <a:r>
                        <a:rPr sz="850" b="0">
                          <a:solidFill>
                            <a:srgbClr val="0F172A"/>
                          </a:solidFill>
                          <a:latin typeface="Inter"/>
                        </a:rPr>
                        <a:t>18</a:t>
                      </a:r>
                    </a:p>
                  </a:txBody>
                  <a:tcPr marL="54864" marR="54864" marT="27432" marB="27432" anchor="ctr">
                    <a:solidFill>
                      <a:srgbClr val="FFFFFF"/>
                    </a:solidFill>
                  </a:tcPr>
                </a:tc>
                <a:tc>
                  <a:txBody>
                    <a:bodyPr wrap="square"/>
                    <a:lstStyle/>
                    <a:p>
                      <a:pPr algn="r"/>
                      <a:r>
                        <a:rPr sz="850" b="0">
                          <a:solidFill>
                            <a:srgbClr val="0F172A"/>
                          </a:solidFill>
                          <a:latin typeface="Inter"/>
                        </a:rPr>
                        <a:t>12</a:t>
                      </a:r>
                    </a:p>
                  </a:txBody>
                  <a:tcPr marL="54864" marR="54864" marT="27432" marB="27432" anchor="ctr">
                    <a:solidFill>
                      <a:srgbClr val="FFFFFF"/>
                    </a:solidFill>
                  </a:tcPr>
                </a:tc>
                <a:tc>
                  <a:txBody>
                    <a:bodyPr wrap="square"/>
                    <a:lstStyle/>
                    <a:p>
                      <a:pPr algn="r"/>
                      <a:r>
                        <a:rPr sz="850" b="0">
                          <a:solidFill>
                            <a:srgbClr val="0F172A"/>
                          </a:solidFill>
                          <a:latin typeface="Inter"/>
                        </a:rPr>
                        <a:t>C$3,049</a:t>
                      </a:r>
                    </a:p>
                  </a:txBody>
                  <a:tcPr marL="54864" marR="54864" marT="27432" marB="27432" anchor="ctr">
                    <a:solidFill>
                      <a:srgbClr val="FFFFFF"/>
                    </a:solidFill>
                  </a:tcPr>
                </a:tc>
                <a:tc>
                  <a:txBody>
                    <a:bodyPr wrap="square"/>
                    <a:lstStyle/>
                    <a:p>
                      <a:pPr algn="r"/>
                      <a:r>
                        <a:rPr sz="850" b="0">
                          <a:solidFill>
                            <a:srgbClr val="0F172A"/>
                          </a:solidFill>
                          <a:latin typeface="Inter"/>
                        </a:rPr>
                        <a:t>54%</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12</a:t>
                      </a:r>
                    </a:p>
                  </a:txBody>
                  <a:tcPr marL="54864" marR="54864" marT="27432" marB="27432" anchor="ctr">
                    <a:solidFill>
                      <a:srgbClr val="FBFAF7"/>
                    </a:solidFill>
                  </a:tcPr>
                </a:tc>
                <a:tc>
                  <a:txBody>
                    <a:bodyPr wrap="square"/>
                    <a:lstStyle/>
                    <a:p>
                      <a:pPr algn="r"/>
                      <a:r>
                        <a:rPr sz="850" b="0">
                          <a:solidFill>
                            <a:srgbClr val="0F172A"/>
                          </a:solidFill>
                          <a:latin typeface="Inter"/>
                        </a:rPr>
                        <a:t>Mon</a:t>
                      </a:r>
                    </a:p>
                  </a:txBody>
                  <a:tcPr marL="54864" marR="54864" marT="27432" marB="27432" anchor="ctr">
                    <a:solidFill>
                      <a:srgbClr val="FBFAF7"/>
                    </a:solidFill>
                  </a:tcPr>
                </a:tc>
                <a:tc>
                  <a:txBody>
                    <a:bodyPr wrap="square"/>
                    <a:lstStyle/>
                    <a:p>
                      <a:pPr algn="r"/>
                      <a:r>
                        <a:rPr sz="850" b="0">
                          <a:solidFill>
                            <a:srgbClr val="0F172A"/>
                          </a:solidFill>
                          <a:latin typeface="Inter"/>
                        </a:rPr>
                        <a:t>C$6,329</a:t>
                      </a:r>
                    </a:p>
                  </a:txBody>
                  <a:tcPr marL="54864" marR="54864" marT="27432" marB="27432" anchor="ctr">
                    <a:solidFill>
                      <a:srgbClr val="FBFAF7"/>
                    </a:solidFill>
                  </a:tcPr>
                </a:tc>
                <a:tc>
                  <a:txBody>
                    <a:bodyPr wrap="square"/>
                    <a:lstStyle/>
                    <a:p>
                      <a:pPr algn="r"/>
                      <a:r>
                        <a:rPr sz="850" b="0">
                          <a:solidFill>
                            <a:srgbClr val="0F172A"/>
                          </a:solidFill>
                          <a:latin typeface="Inter"/>
                        </a:rPr>
                        <a:t>C$928</a:t>
                      </a:r>
                    </a:p>
                  </a:txBody>
                  <a:tcPr marL="54864" marR="54864" marT="27432" marB="27432" anchor="ctr">
                    <a:solidFill>
                      <a:srgbClr val="FBFAF7"/>
                    </a:solidFill>
                  </a:tcPr>
                </a:tc>
                <a:tc>
                  <a:txBody>
                    <a:bodyPr wrap="square"/>
                    <a:lstStyle/>
                    <a:p>
                      <a:pPr algn="r"/>
                      <a:r>
                        <a:rPr sz="850" b="0">
                          <a:solidFill>
                            <a:srgbClr val="0F172A"/>
                          </a:solidFill>
                          <a:latin typeface="Inter"/>
                        </a:rPr>
                        <a:t>C$3,341</a:t>
                      </a:r>
                    </a:p>
                  </a:txBody>
                  <a:tcPr marL="54864" marR="54864" marT="27432" marB="27432" anchor="ctr">
                    <a:solidFill>
                      <a:srgbClr val="FBFAF7"/>
                    </a:solidFill>
                  </a:tcPr>
                </a:tc>
                <a:tc>
                  <a:txBody>
                    <a:bodyPr wrap="square"/>
                    <a:lstStyle/>
                    <a:p>
                      <a:pPr algn="r"/>
                      <a:r>
                        <a:rPr sz="850" b="0">
                          <a:solidFill>
                            <a:srgbClr val="0F172A"/>
                          </a:solidFill>
                          <a:latin typeface="Inter"/>
                        </a:rPr>
                        <a:t>3.60x</a:t>
                      </a:r>
                    </a:p>
                  </a:txBody>
                  <a:tcPr marL="54864" marR="54864" marT="27432" marB="27432" anchor="ctr">
                    <a:solidFill>
                      <a:srgbClr val="FBFAF7"/>
                    </a:solidFill>
                  </a:tcPr>
                </a:tc>
                <a:tc>
                  <a:txBody>
                    <a:bodyPr wrap="square"/>
                    <a:lstStyle/>
                    <a:p>
                      <a:pPr algn="r"/>
                      <a:r>
                        <a:rPr sz="850" b="0">
                          <a:solidFill>
                            <a:srgbClr val="0F172A"/>
                          </a:solidFill>
                          <a:latin typeface="Inter"/>
                        </a:rPr>
                        <a:t>27.8%</a:t>
                      </a:r>
                    </a:p>
                  </a:txBody>
                  <a:tcPr marL="54864" marR="54864" marT="27432" marB="27432" anchor="ctr">
                    <a:solidFill>
                      <a:srgbClr val="FBFAF7"/>
                    </a:solidFill>
                  </a:tcPr>
                </a:tc>
                <a:tc>
                  <a:txBody>
                    <a:bodyPr wrap="square"/>
                    <a:lstStyle/>
                    <a:p>
                      <a:pPr algn="r"/>
                      <a:r>
                        <a:rPr sz="850" b="0">
                          <a:solidFill>
                            <a:srgbClr val="0F172A"/>
                          </a:solidFill>
                          <a:latin typeface="Inter"/>
                        </a:rPr>
                        <a:t>14.7%</a:t>
                      </a:r>
                    </a:p>
                  </a:txBody>
                  <a:tcPr marL="54864" marR="54864" marT="27432" marB="27432" anchor="ctr">
                    <a:solidFill>
                      <a:srgbClr val="FBFAF7"/>
                    </a:solidFill>
                  </a:tcPr>
                </a:tc>
                <a:tc>
                  <a:txBody>
                    <a:bodyPr wrap="square"/>
                    <a:lstStyle/>
                    <a:p>
                      <a:pPr algn="r"/>
                      <a:r>
                        <a:rPr sz="850" b="0">
                          <a:solidFill>
                            <a:srgbClr val="0F172A"/>
                          </a:solidFill>
                          <a:latin typeface="Inter"/>
                        </a:rPr>
                        <a:t>19</a:t>
                      </a:r>
                    </a:p>
                  </a:txBody>
                  <a:tcPr marL="54864" marR="54864" marT="27432" marB="27432" anchor="ctr">
                    <a:solidFill>
                      <a:srgbClr val="FBFAF7"/>
                    </a:solidFill>
                  </a:tcPr>
                </a:tc>
                <a:tc>
                  <a:txBody>
                    <a:bodyPr wrap="square"/>
                    <a:lstStyle/>
                    <a:p>
                      <a:pPr algn="r"/>
                      <a:r>
                        <a:rPr sz="850" b="0">
                          <a:solidFill>
                            <a:srgbClr val="0F172A"/>
                          </a:solidFill>
                          <a:latin typeface="Inter"/>
                        </a:rPr>
                        <a:t>13</a:t>
                      </a:r>
                    </a:p>
                  </a:txBody>
                  <a:tcPr marL="54864" marR="54864" marT="27432" marB="27432" anchor="ctr">
                    <a:solidFill>
                      <a:srgbClr val="FBFAF7"/>
                    </a:solidFill>
                  </a:tcPr>
                </a:tc>
                <a:tc>
                  <a:txBody>
                    <a:bodyPr wrap="square"/>
                    <a:lstStyle/>
                    <a:p>
                      <a:pPr algn="r"/>
                      <a:r>
                        <a:rPr sz="850" b="0">
                          <a:solidFill>
                            <a:srgbClr val="0F172A"/>
                          </a:solidFill>
                          <a:latin typeface="Inter"/>
                        </a:rPr>
                        <a:t>C$2,988</a:t>
                      </a:r>
                    </a:p>
                  </a:txBody>
                  <a:tcPr marL="54864" marR="54864" marT="27432" marB="27432" anchor="ctr">
                    <a:solidFill>
                      <a:srgbClr val="FBFAF7"/>
                    </a:solidFill>
                  </a:tcPr>
                </a:tc>
                <a:tc>
                  <a:txBody>
                    <a:bodyPr wrap="square"/>
                    <a:lstStyle/>
                    <a:p>
                      <a:pPr algn="r"/>
                      <a:r>
                        <a:rPr sz="850" b="0">
                          <a:solidFill>
                            <a:srgbClr val="0F172A"/>
                          </a:solidFill>
                          <a:latin typeface="Inter"/>
                        </a:rPr>
                        <a:t>53%</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13</a:t>
                      </a:r>
                    </a:p>
                  </a:txBody>
                  <a:tcPr marL="54864" marR="54864" marT="27432" marB="27432" anchor="ctr">
                    <a:solidFill>
                      <a:srgbClr val="FFFFFF"/>
                    </a:solidFill>
                  </a:tcPr>
                </a:tc>
                <a:tc>
                  <a:txBody>
                    <a:bodyPr wrap="square"/>
                    <a:lstStyle/>
                    <a:p>
                      <a:pPr algn="r"/>
                      <a:r>
                        <a:rPr sz="850" b="0">
                          <a:solidFill>
                            <a:srgbClr val="0F172A"/>
                          </a:solidFill>
                          <a:latin typeface="Inter"/>
                        </a:rPr>
                        <a:t>Tue</a:t>
                      </a:r>
                    </a:p>
                  </a:txBody>
                  <a:tcPr marL="54864" marR="54864" marT="27432" marB="27432" anchor="ctr">
                    <a:solidFill>
                      <a:srgbClr val="FFFFFF"/>
                    </a:solidFill>
                  </a:tcPr>
                </a:tc>
                <a:tc>
                  <a:txBody>
                    <a:bodyPr wrap="square"/>
                    <a:lstStyle/>
                    <a:p>
                      <a:pPr algn="r"/>
                      <a:r>
                        <a:rPr sz="850" b="0">
                          <a:solidFill>
                            <a:srgbClr val="0F172A"/>
                          </a:solidFill>
                          <a:latin typeface="Inter"/>
                        </a:rPr>
                        <a:t>C$4,135</a:t>
                      </a:r>
                    </a:p>
                  </a:txBody>
                  <a:tcPr marL="54864" marR="54864" marT="27432" marB="27432" anchor="ctr">
                    <a:solidFill>
                      <a:srgbClr val="FFFFFF"/>
                    </a:solidFill>
                  </a:tcPr>
                </a:tc>
                <a:tc>
                  <a:txBody>
                    <a:bodyPr wrap="square"/>
                    <a:lstStyle/>
                    <a:p>
                      <a:pPr algn="r"/>
                      <a:r>
                        <a:rPr sz="850" b="0">
                          <a:solidFill>
                            <a:srgbClr val="0F172A"/>
                          </a:solidFill>
                          <a:latin typeface="Inter"/>
                        </a:rPr>
                        <a:t>C$704</a:t>
                      </a:r>
                    </a:p>
                  </a:txBody>
                  <a:tcPr marL="54864" marR="54864" marT="27432" marB="27432" anchor="ctr">
                    <a:solidFill>
                      <a:srgbClr val="FFFFFF"/>
                    </a:solidFill>
                  </a:tcPr>
                </a:tc>
                <a:tc>
                  <a:txBody>
                    <a:bodyPr wrap="square"/>
                    <a:lstStyle/>
                    <a:p>
                      <a:pPr algn="r"/>
                      <a:r>
                        <a:rPr sz="850" b="0">
                          <a:solidFill>
                            <a:srgbClr val="0F172A"/>
                          </a:solidFill>
                          <a:latin typeface="Inter"/>
                        </a:rPr>
                        <a:t>C$3,125</a:t>
                      </a:r>
                    </a:p>
                  </a:txBody>
                  <a:tcPr marL="54864" marR="54864" marT="27432" marB="27432" anchor="ctr">
                    <a:solidFill>
                      <a:srgbClr val="FFFFFF"/>
                    </a:solidFill>
                  </a:tcPr>
                </a:tc>
                <a:tc>
                  <a:txBody>
                    <a:bodyPr wrap="square"/>
                    <a:lstStyle/>
                    <a:p>
                      <a:pPr algn="r"/>
                      <a:r>
                        <a:rPr sz="850" b="0">
                          <a:solidFill>
                            <a:srgbClr val="0F172A"/>
                          </a:solidFill>
                          <a:latin typeface="Inter"/>
                        </a:rPr>
                        <a:t>4.44x</a:t>
                      </a:r>
                    </a:p>
                  </a:txBody>
                  <a:tcPr marL="54864" marR="54864" marT="27432" marB="27432" anchor="ctr">
                    <a:solidFill>
                      <a:srgbClr val="FFFFFF"/>
                    </a:solidFill>
                  </a:tcPr>
                </a:tc>
                <a:tc>
                  <a:txBody>
                    <a:bodyPr wrap="square"/>
                    <a:lstStyle/>
                    <a:p>
                      <a:pPr algn="r"/>
                      <a:r>
                        <a:rPr sz="850" b="0">
                          <a:solidFill>
                            <a:srgbClr val="0F172A"/>
                          </a:solidFill>
                          <a:latin typeface="Inter"/>
                        </a:rPr>
                        <a:t>22.5%</a:t>
                      </a:r>
                    </a:p>
                  </a:txBody>
                  <a:tcPr marL="54864" marR="54864" marT="27432" marB="27432" anchor="ctr">
                    <a:solidFill>
                      <a:srgbClr val="FFFFFF"/>
                    </a:solidFill>
                  </a:tcPr>
                </a:tc>
                <a:tc>
                  <a:txBody>
                    <a:bodyPr wrap="square"/>
                    <a:lstStyle/>
                    <a:p>
                      <a:pPr algn="r"/>
                      <a:r>
                        <a:rPr sz="850" b="0">
                          <a:solidFill>
                            <a:srgbClr val="0F172A"/>
                          </a:solidFill>
                          <a:latin typeface="Inter"/>
                        </a:rPr>
                        <a:t>17.0%</a:t>
                      </a:r>
                    </a:p>
                  </a:txBody>
                  <a:tcPr marL="54864" marR="54864" marT="27432" marB="27432" anchor="ctr">
                    <a:solidFill>
                      <a:srgbClr val="FFFFFF"/>
                    </a:solidFill>
                  </a:tcPr>
                </a:tc>
                <a:tc>
                  <a:txBody>
                    <a:bodyPr wrap="square"/>
                    <a:lstStyle/>
                    <a:p>
                      <a:pPr algn="r"/>
                      <a:r>
                        <a:rPr sz="850" b="0">
                          <a:solidFill>
                            <a:srgbClr val="0F172A"/>
                          </a:solidFill>
                          <a:latin typeface="Inter"/>
                        </a:rPr>
                        <a:t>13</a:t>
                      </a:r>
                    </a:p>
                  </a:txBody>
                  <a:tcPr marL="54864" marR="54864" marT="27432" marB="27432" anchor="ctr">
                    <a:solidFill>
                      <a:srgbClr val="FFFFFF"/>
                    </a:solidFill>
                  </a:tcPr>
                </a:tc>
                <a:tc>
                  <a:txBody>
                    <a:bodyPr wrap="square"/>
                    <a:lstStyle/>
                    <a:p>
                      <a:pPr algn="r"/>
                      <a:r>
                        <a:rPr sz="850" b="0">
                          <a:solidFill>
                            <a:srgbClr val="0F172A"/>
                          </a:solidFill>
                          <a:latin typeface="Inter"/>
                        </a:rPr>
                        <a:t>12</a:t>
                      </a:r>
                    </a:p>
                  </a:txBody>
                  <a:tcPr marL="54864" marR="54864" marT="27432" marB="27432" anchor="ctr">
                    <a:solidFill>
                      <a:srgbClr val="FFFFFF"/>
                    </a:solidFill>
                  </a:tcPr>
                </a:tc>
                <a:tc>
                  <a:txBody>
                    <a:bodyPr wrap="square"/>
                    <a:lstStyle/>
                    <a:p>
                      <a:pPr algn="r"/>
                      <a:r>
                        <a:rPr sz="850" b="0">
                          <a:solidFill>
                            <a:srgbClr val="0F172A"/>
                          </a:solidFill>
                          <a:latin typeface="Inter"/>
                        </a:rPr>
                        <a:t>C$1,010</a:t>
                      </a:r>
                    </a:p>
                  </a:txBody>
                  <a:tcPr marL="54864" marR="54864" marT="27432" marB="27432" anchor="ctr">
                    <a:solidFill>
                      <a:srgbClr val="FFFFFF"/>
                    </a:solidFill>
                  </a:tcPr>
                </a:tc>
                <a:tc>
                  <a:txBody>
                    <a:bodyPr wrap="square"/>
                    <a:lstStyle/>
                    <a:p>
                      <a:pPr algn="r"/>
                      <a:r>
                        <a:rPr sz="850" b="0">
                          <a:solidFill>
                            <a:srgbClr val="0F172A"/>
                          </a:solidFill>
                          <a:latin typeface="Inter"/>
                        </a:rPr>
                        <a:t>76%</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14</a:t>
                      </a:r>
                    </a:p>
                  </a:txBody>
                  <a:tcPr marL="54864" marR="54864" marT="27432" marB="27432" anchor="ctr">
                    <a:solidFill>
                      <a:srgbClr val="FBFAF7"/>
                    </a:solidFill>
                  </a:tcPr>
                </a:tc>
                <a:tc>
                  <a:txBody>
                    <a:bodyPr wrap="square"/>
                    <a:lstStyle/>
                    <a:p>
                      <a:pPr algn="r"/>
                      <a:r>
                        <a:rPr sz="850" b="0">
                          <a:solidFill>
                            <a:srgbClr val="0F172A"/>
                          </a:solidFill>
                          <a:latin typeface="Inter"/>
                        </a:rPr>
                        <a:t>Wed</a:t>
                      </a:r>
                    </a:p>
                  </a:txBody>
                  <a:tcPr marL="54864" marR="54864" marT="27432" marB="27432" anchor="ctr">
                    <a:solidFill>
                      <a:srgbClr val="FBFAF7"/>
                    </a:solidFill>
                  </a:tcPr>
                </a:tc>
                <a:tc>
                  <a:txBody>
                    <a:bodyPr wrap="square"/>
                    <a:lstStyle/>
                    <a:p>
                      <a:pPr algn="r"/>
                      <a:r>
                        <a:rPr sz="850" b="0">
                          <a:solidFill>
                            <a:srgbClr val="0F172A"/>
                          </a:solidFill>
                          <a:latin typeface="Inter"/>
                        </a:rPr>
                        <a:t>C$8,377</a:t>
                      </a:r>
                    </a:p>
                  </a:txBody>
                  <a:tcPr marL="54864" marR="54864" marT="27432" marB="27432" anchor="ctr">
                    <a:solidFill>
                      <a:srgbClr val="FBFAF7"/>
                    </a:solidFill>
                  </a:tcPr>
                </a:tc>
                <a:tc>
                  <a:txBody>
                    <a:bodyPr wrap="square"/>
                    <a:lstStyle/>
                    <a:p>
                      <a:pPr algn="r"/>
                      <a:r>
                        <a:rPr sz="850" b="0">
                          <a:solidFill>
                            <a:srgbClr val="0F172A"/>
                          </a:solidFill>
                          <a:latin typeface="Inter"/>
                        </a:rPr>
                        <a:t>C$558</a:t>
                      </a:r>
                    </a:p>
                  </a:txBody>
                  <a:tcPr marL="54864" marR="54864" marT="27432" marB="27432" anchor="ctr">
                    <a:solidFill>
                      <a:srgbClr val="FBFAF7"/>
                    </a:solidFill>
                  </a:tcPr>
                </a:tc>
                <a:tc>
                  <a:txBody>
                    <a:bodyPr wrap="square"/>
                    <a:lstStyle/>
                    <a:p>
                      <a:pPr algn="r"/>
                      <a:r>
                        <a:rPr sz="850" b="0">
                          <a:solidFill>
                            <a:srgbClr val="0F172A"/>
                          </a:solidFill>
                          <a:latin typeface="Inter"/>
                        </a:rPr>
                        <a:t>C$6,124</a:t>
                      </a:r>
                    </a:p>
                  </a:txBody>
                  <a:tcPr marL="54864" marR="54864" marT="27432" marB="27432" anchor="ctr">
                    <a:solidFill>
                      <a:srgbClr val="FBFAF7"/>
                    </a:solidFill>
                  </a:tcPr>
                </a:tc>
                <a:tc>
                  <a:txBody>
                    <a:bodyPr wrap="square"/>
                    <a:lstStyle/>
                    <a:p>
                      <a:pPr algn="r"/>
                      <a:r>
                        <a:rPr sz="850" b="0">
                          <a:solidFill>
                            <a:srgbClr val="0F172A"/>
                          </a:solidFill>
                          <a:latin typeface="Inter"/>
                        </a:rPr>
                        <a:t>10.97x</a:t>
                      </a:r>
                    </a:p>
                  </a:txBody>
                  <a:tcPr marL="54864" marR="54864" marT="27432" marB="27432" anchor="ctr">
                    <a:solidFill>
                      <a:srgbClr val="FBFAF7"/>
                    </a:solidFill>
                  </a:tcPr>
                </a:tc>
                <a:tc>
                  <a:txBody>
                    <a:bodyPr wrap="square"/>
                    <a:lstStyle/>
                    <a:p>
                      <a:pPr algn="r"/>
                      <a:r>
                        <a:rPr sz="850" b="0">
                          <a:solidFill>
                            <a:srgbClr val="0F172A"/>
                          </a:solidFill>
                          <a:latin typeface="Inter"/>
                        </a:rPr>
                        <a:t>9.1%</a:t>
                      </a:r>
                    </a:p>
                  </a:txBody>
                  <a:tcPr marL="54864" marR="54864" marT="27432" marB="27432" anchor="ctr">
                    <a:solidFill>
                      <a:srgbClr val="FBFAF7"/>
                    </a:solidFill>
                  </a:tcPr>
                </a:tc>
                <a:tc>
                  <a:txBody>
                    <a:bodyPr wrap="square"/>
                    <a:lstStyle/>
                    <a:p>
                      <a:pPr algn="r"/>
                      <a:r>
                        <a:rPr sz="850" b="0">
                          <a:solidFill>
                            <a:srgbClr val="0F172A"/>
                          </a:solidFill>
                          <a:latin typeface="Inter"/>
                        </a:rPr>
                        <a:t>6.7%</a:t>
                      </a:r>
                    </a:p>
                  </a:txBody>
                  <a:tcPr marL="54864" marR="54864" marT="27432" marB="27432" anchor="ctr">
                    <a:solidFill>
                      <a:srgbClr val="FBFAF7"/>
                    </a:solidFill>
                  </a:tcPr>
                </a:tc>
                <a:tc>
                  <a:txBody>
                    <a:bodyPr wrap="square"/>
                    <a:lstStyle/>
                    <a:p>
                      <a:pPr algn="r"/>
                      <a:r>
                        <a:rPr sz="850" b="0">
                          <a:solidFill>
                            <a:srgbClr val="0F172A"/>
                          </a:solidFill>
                          <a:latin typeface="Inter"/>
                        </a:rPr>
                        <a:t>19</a:t>
                      </a:r>
                    </a:p>
                  </a:txBody>
                  <a:tcPr marL="54864" marR="54864" marT="27432" marB="27432" anchor="ctr">
                    <a:solidFill>
                      <a:srgbClr val="FBFAF7"/>
                    </a:solidFill>
                  </a:tcPr>
                </a:tc>
                <a:tc>
                  <a:txBody>
                    <a:bodyPr wrap="square"/>
                    <a:lstStyle/>
                    <a:p>
                      <a:pPr algn="r"/>
                      <a:r>
                        <a:rPr sz="850" b="0">
                          <a:solidFill>
                            <a:srgbClr val="0F172A"/>
                          </a:solidFill>
                          <a:latin typeface="Inter"/>
                        </a:rPr>
                        <a:t>15</a:t>
                      </a:r>
                    </a:p>
                  </a:txBody>
                  <a:tcPr marL="54864" marR="54864" marT="27432" marB="27432" anchor="ctr">
                    <a:solidFill>
                      <a:srgbClr val="FBFAF7"/>
                    </a:solidFill>
                  </a:tcPr>
                </a:tc>
                <a:tc>
                  <a:txBody>
                    <a:bodyPr wrap="square"/>
                    <a:lstStyle/>
                    <a:p>
                      <a:pPr algn="r"/>
                      <a:r>
                        <a:rPr sz="850" b="0">
                          <a:solidFill>
                            <a:srgbClr val="0F172A"/>
                          </a:solidFill>
                          <a:latin typeface="Inter"/>
                        </a:rPr>
                        <a:t>C$2,253</a:t>
                      </a:r>
                    </a:p>
                  </a:txBody>
                  <a:tcPr marL="54864" marR="54864" marT="27432" marB="27432" anchor="ctr">
                    <a:solidFill>
                      <a:srgbClr val="FBFAF7"/>
                    </a:solidFill>
                  </a:tcPr>
                </a:tc>
                <a:tc>
                  <a:txBody>
                    <a:bodyPr wrap="square"/>
                    <a:lstStyle/>
                    <a:p>
                      <a:pPr algn="r"/>
                      <a:r>
                        <a:rPr sz="850" b="0">
                          <a:solidFill>
                            <a:srgbClr val="0F172A"/>
                          </a:solidFill>
                          <a:latin typeface="Inter"/>
                        </a:rPr>
                        <a:t>73%</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15</a:t>
                      </a:r>
                    </a:p>
                  </a:txBody>
                  <a:tcPr marL="54864" marR="54864" marT="27432" marB="27432" anchor="ctr">
                    <a:solidFill>
                      <a:srgbClr val="FFFFFF"/>
                    </a:solidFill>
                  </a:tcPr>
                </a:tc>
                <a:tc>
                  <a:txBody>
                    <a:bodyPr wrap="square"/>
                    <a:lstStyle/>
                    <a:p>
                      <a:pPr algn="r"/>
                      <a:r>
                        <a:rPr sz="850" b="0">
                          <a:solidFill>
                            <a:srgbClr val="0F172A"/>
                          </a:solidFill>
                          <a:latin typeface="Inter"/>
                        </a:rPr>
                        <a:t>Thu</a:t>
                      </a:r>
                    </a:p>
                  </a:txBody>
                  <a:tcPr marL="54864" marR="54864" marT="27432" marB="27432" anchor="ctr">
                    <a:solidFill>
                      <a:srgbClr val="FFFFFF"/>
                    </a:solidFill>
                  </a:tcPr>
                </a:tc>
                <a:tc>
                  <a:txBody>
                    <a:bodyPr wrap="square"/>
                    <a:lstStyle/>
                    <a:p>
                      <a:pPr algn="r"/>
                      <a:r>
                        <a:rPr sz="850" b="0">
                          <a:solidFill>
                            <a:srgbClr val="0F172A"/>
                          </a:solidFill>
                          <a:latin typeface="Inter"/>
                        </a:rPr>
                        <a:t>C$6,160</a:t>
                      </a:r>
                    </a:p>
                  </a:txBody>
                  <a:tcPr marL="54864" marR="54864" marT="27432" marB="27432" anchor="ctr">
                    <a:solidFill>
                      <a:srgbClr val="FFFFFF"/>
                    </a:solidFill>
                  </a:tcPr>
                </a:tc>
                <a:tc>
                  <a:txBody>
                    <a:bodyPr wrap="square"/>
                    <a:lstStyle/>
                    <a:p>
                      <a:pPr algn="r"/>
                      <a:r>
                        <a:rPr sz="850" b="0">
                          <a:solidFill>
                            <a:srgbClr val="0F172A"/>
                          </a:solidFill>
                          <a:latin typeface="Inter"/>
                        </a:rPr>
                        <a:t>C$507</a:t>
                      </a:r>
                    </a:p>
                  </a:txBody>
                  <a:tcPr marL="54864" marR="54864" marT="27432" marB="27432" anchor="ctr">
                    <a:solidFill>
                      <a:srgbClr val="FFFFFF"/>
                    </a:solidFill>
                  </a:tcPr>
                </a:tc>
                <a:tc>
                  <a:txBody>
                    <a:bodyPr wrap="square"/>
                    <a:lstStyle/>
                    <a:p>
                      <a:pPr algn="r"/>
                      <a:r>
                        <a:rPr sz="850" b="0">
                          <a:solidFill>
                            <a:srgbClr val="0F172A"/>
                          </a:solidFill>
                          <a:latin typeface="Inter"/>
                        </a:rPr>
                        <a:t>C$3,203</a:t>
                      </a:r>
                    </a:p>
                  </a:txBody>
                  <a:tcPr marL="54864" marR="54864" marT="27432" marB="27432" anchor="ctr">
                    <a:solidFill>
                      <a:srgbClr val="FFFFFF"/>
                    </a:solidFill>
                  </a:tcPr>
                </a:tc>
                <a:tc>
                  <a:txBody>
                    <a:bodyPr wrap="square"/>
                    <a:lstStyle/>
                    <a:p>
                      <a:pPr algn="r"/>
                      <a:r>
                        <a:rPr sz="850" b="0">
                          <a:solidFill>
                            <a:srgbClr val="0F172A"/>
                          </a:solidFill>
                          <a:latin typeface="Inter"/>
                        </a:rPr>
                        <a:t>6.32x</a:t>
                      </a:r>
                    </a:p>
                  </a:txBody>
                  <a:tcPr marL="54864" marR="54864" marT="27432" marB="27432" anchor="ctr">
                    <a:solidFill>
                      <a:srgbClr val="FFFFFF"/>
                    </a:solidFill>
                  </a:tcPr>
                </a:tc>
                <a:tc>
                  <a:txBody>
                    <a:bodyPr wrap="square"/>
                    <a:lstStyle/>
                    <a:p>
                      <a:pPr algn="r"/>
                      <a:r>
                        <a:rPr sz="850" b="0">
                          <a:solidFill>
                            <a:srgbClr val="0F172A"/>
                          </a:solidFill>
                          <a:latin typeface="Inter"/>
                        </a:rPr>
                        <a:t>15.8%</a:t>
                      </a:r>
                    </a:p>
                  </a:txBody>
                  <a:tcPr marL="54864" marR="54864" marT="27432" marB="27432" anchor="ctr">
                    <a:solidFill>
                      <a:srgbClr val="FFFFFF"/>
                    </a:solidFill>
                  </a:tcPr>
                </a:tc>
                <a:tc>
                  <a:txBody>
                    <a:bodyPr wrap="square"/>
                    <a:lstStyle/>
                    <a:p>
                      <a:pPr algn="r"/>
                      <a:r>
                        <a:rPr sz="850" b="0">
                          <a:solidFill>
                            <a:srgbClr val="0F172A"/>
                          </a:solidFill>
                          <a:latin typeface="Inter"/>
                        </a:rPr>
                        <a:t>8.2%</a:t>
                      </a:r>
                    </a:p>
                  </a:txBody>
                  <a:tcPr marL="54864" marR="54864" marT="27432" marB="27432" anchor="ctr">
                    <a:solidFill>
                      <a:srgbClr val="FFFFFF"/>
                    </a:solidFill>
                  </a:tcPr>
                </a:tc>
                <a:tc>
                  <a:txBody>
                    <a:bodyPr wrap="square"/>
                    <a:lstStyle/>
                    <a:p>
                      <a:pPr algn="r"/>
                      <a:r>
                        <a:rPr sz="850" b="0">
                          <a:solidFill>
                            <a:srgbClr val="0F172A"/>
                          </a:solidFill>
                          <a:latin typeface="Inter"/>
                        </a:rPr>
                        <a:t>13</a:t>
                      </a:r>
                    </a:p>
                  </a:txBody>
                  <a:tcPr marL="54864" marR="54864" marT="27432" marB="27432" anchor="ctr">
                    <a:solidFill>
                      <a:srgbClr val="FFFFFF"/>
                    </a:solidFill>
                  </a:tcPr>
                </a:tc>
                <a:tc>
                  <a:txBody>
                    <a:bodyPr wrap="square"/>
                    <a:lstStyle/>
                    <a:p>
                      <a:pPr algn="r"/>
                      <a:r>
                        <a:rPr sz="850" b="0">
                          <a:solidFill>
                            <a:srgbClr val="0F172A"/>
                          </a:solidFill>
                          <a:latin typeface="Inter"/>
                        </a:rPr>
                        <a:t>7</a:t>
                      </a:r>
                    </a:p>
                  </a:txBody>
                  <a:tcPr marL="54864" marR="54864" marT="27432" marB="27432" anchor="ctr">
                    <a:solidFill>
                      <a:srgbClr val="FFFFFF"/>
                    </a:solidFill>
                  </a:tcPr>
                </a:tc>
                <a:tc>
                  <a:txBody>
                    <a:bodyPr wrap="square"/>
                    <a:lstStyle/>
                    <a:p>
                      <a:pPr algn="r"/>
                      <a:r>
                        <a:rPr sz="850" b="0">
                          <a:solidFill>
                            <a:srgbClr val="0F172A"/>
                          </a:solidFill>
                          <a:latin typeface="Inter"/>
                        </a:rPr>
                        <a:t>C$2,957</a:t>
                      </a:r>
                    </a:p>
                  </a:txBody>
                  <a:tcPr marL="54864" marR="54864" marT="27432" marB="27432" anchor="ctr">
                    <a:solidFill>
                      <a:srgbClr val="FFFFFF"/>
                    </a:solidFill>
                  </a:tcPr>
                </a:tc>
                <a:tc>
                  <a:txBody>
                    <a:bodyPr wrap="square"/>
                    <a:lstStyle/>
                    <a:p>
                      <a:pPr algn="r"/>
                      <a:r>
                        <a:rPr sz="850" b="0">
                          <a:solidFill>
                            <a:srgbClr val="0F172A"/>
                          </a:solidFill>
                          <a:latin typeface="Inter"/>
                        </a:rPr>
                        <a:t>52%</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16</a:t>
                      </a:r>
                    </a:p>
                  </a:txBody>
                  <a:tcPr marL="54864" marR="54864" marT="27432" marB="27432" anchor="ctr">
                    <a:solidFill>
                      <a:srgbClr val="FBFAF7"/>
                    </a:solidFill>
                  </a:tcPr>
                </a:tc>
                <a:tc>
                  <a:txBody>
                    <a:bodyPr wrap="square"/>
                    <a:lstStyle/>
                    <a:p>
                      <a:pPr algn="r"/>
                      <a:r>
                        <a:rPr sz="850" b="0">
                          <a:solidFill>
                            <a:srgbClr val="0F172A"/>
                          </a:solidFill>
                          <a:latin typeface="Inter"/>
                        </a:rPr>
                        <a:t>Fri</a:t>
                      </a:r>
                    </a:p>
                  </a:txBody>
                  <a:tcPr marL="54864" marR="54864" marT="27432" marB="27432" anchor="ctr">
                    <a:solidFill>
                      <a:srgbClr val="FBFAF7"/>
                    </a:solidFill>
                  </a:tcPr>
                </a:tc>
                <a:tc>
                  <a:txBody>
                    <a:bodyPr wrap="square"/>
                    <a:lstStyle/>
                    <a:p>
                      <a:pPr algn="r"/>
                      <a:r>
                        <a:rPr sz="850" b="0">
                          <a:solidFill>
                            <a:srgbClr val="0F172A"/>
                          </a:solidFill>
                          <a:latin typeface="Inter"/>
                        </a:rPr>
                        <a:t>C$3,225</a:t>
                      </a:r>
                    </a:p>
                  </a:txBody>
                  <a:tcPr marL="54864" marR="54864" marT="27432" marB="27432" anchor="ctr">
                    <a:solidFill>
                      <a:srgbClr val="FBFAF7"/>
                    </a:solidFill>
                  </a:tcPr>
                </a:tc>
                <a:tc>
                  <a:txBody>
                    <a:bodyPr wrap="square"/>
                    <a:lstStyle/>
                    <a:p>
                      <a:pPr algn="r"/>
                      <a:r>
                        <a:rPr sz="850" b="0">
                          <a:solidFill>
                            <a:srgbClr val="0F172A"/>
                          </a:solidFill>
                          <a:latin typeface="Inter"/>
                        </a:rPr>
                        <a:t>C$577</a:t>
                      </a:r>
                    </a:p>
                  </a:txBody>
                  <a:tcPr marL="54864" marR="54864" marT="27432" marB="27432" anchor="ctr">
                    <a:solidFill>
                      <a:srgbClr val="FBFAF7"/>
                    </a:solidFill>
                  </a:tcPr>
                </a:tc>
                <a:tc>
                  <a:txBody>
                    <a:bodyPr wrap="square"/>
                    <a:lstStyle/>
                    <a:p>
                      <a:pPr algn="r"/>
                      <a:r>
                        <a:rPr sz="850" b="0">
                          <a:solidFill>
                            <a:srgbClr val="0F172A"/>
                          </a:solidFill>
                          <a:latin typeface="Inter"/>
                        </a:rPr>
                        <a:t>C$1,912</a:t>
                      </a:r>
                    </a:p>
                  </a:txBody>
                  <a:tcPr marL="54864" marR="54864" marT="27432" marB="27432" anchor="ctr">
                    <a:solidFill>
                      <a:srgbClr val="FBFAF7"/>
                    </a:solidFill>
                  </a:tcPr>
                </a:tc>
                <a:tc>
                  <a:txBody>
                    <a:bodyPr wrap="square"/>
                    <a:lstStyle/>
                    <a:p>
                      <a:pPr algn="r"/>
                      <a:r>
                        <a:rPr sz="850" b="0">
                          <a:solidFill>
                            <a:srgbClr val="0F172A"/>
                          </a:solidFill>
                          <a:latin typeface="Inter"/>
                        </a:rPr>
                        <a:t>3.31x</a:t>
                      </a:r>
                    </a:p>
                  </a:txBody>
                  <a:tcPr marL="54864" marR="54864" marT="27432" marB="27432" anchor="ctr">
                    <a:solidFill>
                      <a:srgbClr val="FBFAF7"/>
                    </a:solidFill>
                  </a:tcPr>
                </a:tc>
                <a:tc>
                  <a:txBody>
                    <a:bodyPr wrap="square"/>
                    <a:lstStyle/>
                    <a:p>
                      <a:pPr algn="r"/>
                      <a:r>
                        <a:rPr sz="850" b="0">
                          <a:solidFill>
                            <a:srgbClr val="0F172A"/>
                          </a:solidFill>
                          <a:latin typeface="Inter"/>
                        </a:rPr>
                        <a:t>30.2%</a:t>
                      </a:r>
                    </a:p>
                  </a:txBody>
                  <a:tcPr marL="54864" marR="54864" marT="27432" marB="27432" anchor="ctr">
                    <a:solidFill>
                      <a:srgbClr val="FBFAF7"/>
                    </a:solidFill>
                  </a:tcPr>
                </a:tc>
                <a:tc>
                  <a:txBody>
                    <a:bodyPr wrap="square"/>
                    <a:lstStyle/>
                    <a:p>
                      <a:pPr algn="r"/>
                      <a:r>
                        <a:rPr sz="850" b="0">
                          <a:solidFill>
                            <a:srgbClr val="0F172A"/>
                          </a:solidFill>
                          <a:latin typeface="Inter"/>
                        </a:rPr>
                        <a:t>17.9%</a:t>
                      </a:r>
                    </a:p>
                  </a:txBody>
                  <a:tcPr marL="54864" marR="54864" marT="27432" marB="27432" anchor="ctr">
                    <a:solidFill>
                      <a:srgbClr val="FBFAF7"/>
                    </a:solidFill>
                  </a:tcPr>
                </a:tc>
                <a:tc>
                  <a:txBody>
                    <a:bodyPr wrap="square"/>
                    <a:lstStyle/>
                    <a:p>
                      <a:pPr algn="r"/>
                      <a:r>
                        <a:rPr sz="850" b="0">
                          <a:solidFill>
                            <a:srgbClr val="0F172A"/>
                          </a:solidFill>
                          <a:latin typeface="Inter"/>
                        </a:rPr>
                        <a:t>9</a:t>
                      </a:r>
                    </a:p>
                  </a:txBody>
                  <a:tcPr marL="54864" marR="54864" marT="27432" marB="27432" anchor="ctr">
                    <a:solidFill>
                      <a:srgbClr val="FBFAF7"/>
                    </a:solidFill>
                  </a:tcPr>
                </a:tc>
                <a:tc>
                  <a:txBody>
                    <a:bodyPr wrap="square"/>
                    <a:lstStyle/>
                    <a:p>
                      <a:pPr algn="r"/>
                      <a:r>
                        <a:rPr sz="850" b="0">
                          <a:solidFill>
                            <a:srgbClr val="0F172A"/>
                          </a:solidFill>
                          <a:latin typeface="Inter"/>
                        </a:rPr>
                        <a:t>6</a:t>
                      </a:r>
                    </a:p>
                  </a:txBody>
                  <a:tcPr marL="54864" marR="54864" marT="27432" marB="27432" anchor="ctr">
                    <a:solidFill>
                      <a:srgbClr val="FBFAF7"/>
                    </a:solidFill>
                  </a:tcPr>
                </a:tc>
                <a:tc>
                  <a:txBody>
                    <a:bodyPr wrap="square"/>
                    <a:lstStyle/>
                    <a:p>
                      <a:pPr algn="r"/>
                      <a:r>
                        <a:rPr sz="850" b="0">
                          <a:solidFill>
                            <a:srgbClr val="0F172A"/>
                          </a:solidFill>
                          <a:latin typeface="Inter"/>
                        </a:rPr>
                        <a:t>C$1,313</a:t>
                      </a:r>
                    </a:p>
                  </a:txBody>
                  <a:tcPr marL="54864" marR="54864" marT="27432" marB="27432" anchor="ctr">
                    <a:solidFill>
                      <a:srgbClr val="FBFAF7"/>
                    </a:solidFill>
                  </a:tcPr>
                </a:tc>
                <a:tc>
                  <a:txBody>
                    <a:bodyPr wrap="square"/>
                    <a:lstStyle/>
                    <a:p>
                      <a:pPr algn="r"/>
                      <a:r>
                        <a:rPr sz="850" b="0">
                          <a:solidFill>
                            <a:srgbClr val="0F172A"/>
                          </a:solidFill>
                          <a:latin typeface="Inter"/>
                        </a:rPr>
                        <a:t>59%</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17</a:t>
                      </a:r>
                    </a:p>
                  </a:txBody>
                  <a:tcPr marL="54864" marR="54864" marT="27432" marB="27432" anchor="ctr">
                    <a:solidFill>
                      <a:srgbClr val="FFFFFF"/>
                    </a:solidFill>
                  </a:tcPr>
                </a:tc>
                <a:tc>
                  <a:txBody>
                    <a:bodyPr wrap="square"/>
                    <a:lstStyle/>
                    <a:p>
                      <a:pPr algn="r"/>
                      <a:r>
                        <a:rPr sz="850" b="0">
                          <a:solidFill>
                            <a:srgbClr val="0F172A"/>
                          </a:solidFill>
                          <a:latin typeface="Inter"/>
                        </a:rPr>
                        <a:t>Sat</a:t>
                      </a:r>
                    </a:p>
                  </a:txBody>
                  <a:tcPr marL="54864" marR="54864" marT="27432" marB="27432" anchor="ctr">
                    <a:solidFill>
                      <a:srgbClr val="FFFFFF"/>
                    </a:solidFill>
                  </a:tcPr>
                </a:tc>
                <a:tc>
                  <a:txBody>
                    <a:bodyPr wrap="square"/>
                    <a:lstStyle/>
                    <a:p>
                      <a:pPr algn="r"/>
                      <a:r>
                        <a:rPr sz="850" b="0">
                          <a:solidFill>
                            <a:srgbClr val="0F172A"/>
                          </a:solidFill>
                          <a:latin typeface="Inter"/>
                        </a:rPr>
                        <a:t>C$12,682</a:t>
                      </a:r>
                    </a:p>
                  </a:txBody>
                  <a:tcPr marL="54864" marR="54864" marT="27432" marB="27432" anchor="ctr">
                    <a:solidFill>
                      <a:srgbClr val="FFFFFF"/>
                    </a:solidFill>
                  </a:tcPr>
                </a:tc>
                <a:tc>
                  <a:txBody>
                    <a:bodyPr wrap="square"/>
                    <a:lstStyle/>
                    <a:p>
                      <a:pPr algn="r"/>
                      <a:r>
                        <a:rPr sz="850" b="0">
                          <a:solidFill>
                            <a:srgbClr val="0F172A"/>
                          </a:solidFill>
                          <a:latin typeface="Inter"/>
                        </a:rPr>
                        <a:t>C$716</a:t>
                      </a:r>
                    </a:p>
                  </a:txBody>
                  <a:tcPr marL="54864" marR="54864" marT="27432" marB="27432" anchor="ctr">
                    <a:solidFill>
                      <a:srgbClr val="FFFFFF"/>
                    </a:solidFill>
                  </a:tcPr>
                </a:tc>
                <a:tc>
                  <a:txBody>
                    <a:bodyPr wrap="square"/>
                    <a:lstStyle/>
                    <a:p>
                      <a:pPr algn="r"/>
                      <a:r>
                        <a:rPr sz="850" b="0">
                          <a:solidFill>
                            <a:srgbClr val="0F172A"/>
                          </a:solidFill>
                          <a:latin typeface="Inter"/>
                        </a:rPr>
                        <a:t>C$7,800</a:t>
                      </a:r>
                    </a:p>
                  </a:txBody>
                  <a:tcPr marL="54864" marR="54864" marT="27432" marB="27432" anchor="ctr">
                    <a:solidFill>
                      <a:srgbClr val="FFFFFF"/>
                    </a:solidFill>
                  </a:tcPr>
                </a:tc>
                <a:tc>
                  <a:txBody>
                    <a:bodyPr wrap="square"/>
                    <a:lstStyle/>
                    <a:p>
                      <a:pPr algn="r"/>
                      <a:r>
                        <a:rPr sz="850" b="0">
                          <a:solidFill>
                            <a:srgbClr val="0F172A"/>
                          </a:solidFill>
                          <a:latin typeface="Inter"/>
                        </a:rPr>
                        <a:t>10.89x</a:t>
                      </a:r>
                    </a:p>
                  </a:txBody>
                  <a:tcPr marL="54864" marR="54864" marT="27432" marB="27432" anchor="ctr">
                    <a:solidFill>
                      <a:srgbClr val="FFFFFF"/>
                    </a:solidFill>
                  </a:tcPr>
                </a:tc>
                <a:tc>
                  <a:txBody>
                    <a:bodyPr wrap="square"/>
                    <a:lstStyle/>
                    <a:p>
                      <a:pPr algn="r"/>
                      <a:r>
                        <a:rPr sz="850" b="0">
                          <a:solidFill>
                            <a:srgbClr val="0F172A"/>
                          </a:solidFill>
                          <a:latin typeface="Inter"/>
                        </a:rPr>
                        <a:t>9.2%</a:t>
                      </a:r>
                    </a:p>
                  </a:txBody>
                  <a:tcPr marL="54864" marR="54864" marT="27432" marB="27432" anchor="ctr">
                    <a:solidFill>
                      <a:srgbClr val="FFFFFF"/>
                    </a:solidFill>
                  </a:tcPr>
                </a:tc>
                <a:tc>
                  <a:txBody>
                    <a:bodyPr wrap="square"/>
                    <a:lstStyle/>
                    <a:p>
                      <a:pPr algn="r"/>
                      <a:r>
                        <a:rPr sz="850" b="0">
                          <a:solidFill>
                            <a:srgbClr val="0F172A"/>
                          </a:solidFill>
                          <a:latin typeface="Inter"/>
                        </a:rPr>
                        <a:t>5.6%</a:t>
                      </a:r>
                    </a:p>
                  </a:txBody>
                  <a:tcPr marL="54864" marR="54864" marT="27432" marB="27432" anchor="ctr">
                    <a:solidFill>
                      <a:srgbClr val="FFFFFF"/>
                    </a:solidFill>
                  </a:tcPr>
                </a:tc>
                <a:tc>
                  <a:txBody>
                    <a:bodyPr wrap="square"/>
                    <a:lstStyle/>
                    <a:p>
                      <a:pPr algn="r"/>
                      <a:r>
                        <a:rPr sz="850" b="0">
                          <a:solidFill>
                            <a:srgbClr val="0F172A"/>
                          </a:solidFill>
                          <a:latin typeface="Inter"/>
                        </a:rPr>
                        <a:t>21</a:t>
                      </a:r>
                    </a:p>
                  </a:txBody>
                  <a:tcPr marL="54864" marR="54864" marT="27432" marB="27432" anchor="ctr">
                    <a:solidFill>
                      <a:srgbClr val="FFFFFF"/>
                    </a:solidFill>
                  </a:tcPr>
                </a:tc>
                <a:tc>
                  <a:txBody>
                    <a:bodyPr wrap="square"/>
                    <a:lstStyle/>
                    <a:p>
                      <a:pPr algn="r"/>
                      <a:r>
                        <a:rPr sz="850" b="0">
                          <a:solidFill>
                            <a:srgbClr val="0F172A"/>
                          </a:solidFill>
                          <a:latin typeface="Inter"/>
                        </a:rPr>
                        <a:t>15</a:t>
                      </a:r>
                    </a:p>
                  </a:txBody>
                  <a:tcPr marL="54864" marR="54864" marT="27432" marB="27432" anchor="ctr">
                    <a:solidFill>
                      <a:srgbClr val="FFFFFF"/>
                    </a:solidFill>
                  </a:tcPr>
                </a:tc>
                <a:tc>
                  <a:txBody>
                    <a:bodyPr wrap="square"/>
                    <a:lstStyle/>
                    <a:p>
                      <a:pPr algn="r"/>
                      <a:r>
                        <a:rPr sz="850" b="0">
                          <a:solidFill>
                            <a:srgbClr val="0F172A"/>
                          </a:solidFill>
                          <a:latin typeface="Inter"/>
                        </a:rPr>
                        <a:t>C$4,882</a:t>
                      </a:r>
                    </a:p>
                  </a:txBody>
                  <a:tcPr marL="54864" marR="54864" marT="27432" marB="27432" anchor="ctr">
                    <a:solidFill>
                      <a:srgbClr val="FFFFFF"/>
                    </a:solidFill>
                  </a:tcPr>
                </a:tc>
                <a:tc>
                  <a:txBody>
                    <a:bodyPr wrap="square"/>
                    <a:lstStyle/>
                    <a:p>
                      <a:pPr algn="r"/>
                      <a:r>
                        <a:rPr sz="850" b="0">
                          <a:solidFill>
                            <a:srgbClr val="0F172A"/>
                          </a:solidFill>
                          <a:latin typeface="Inter"/>
                        </a:rPr>
                        <a:t>62%</a:t>
                      </a:r>
                    </a:p>
                  </a:txBody>
                  <a:tcPr marL="54864" marR="54864" marT="27432" marB="27432" anchor="ctr">
                    <a:solidFill>
                      <a:srgbClr val="FFFFFF"/>
                    </a:solidFill>
                  </a:tcPr>
                </a:tc>
              </a:tr>
              <a:tr h="246888">
                <a:tc>
                  <a:txBody>
                    <a:bodyPr wrap="square"/>
                    <a:lstStyle/>
                    <a:p>
                      <a:pPr algn="l"/>
                      <a:r>
                        <a:rPr sz="850" b="1">
                          <a:solidFill>
                            <a:srgbClr val="0F172A"/>
                          </a:solidFill>
                          <a:latin typeface="Inter"/>
                        </a:rPr>
                        <a:t>Week Oct 11 – 17</a:t>
                      </a:r>
                    </a:p>
                  </a:txBody>
                  <a:tcPr marL="54864" marR="54864" marT="27432" marB="27432" anchor="ctr">
                    <a:solidFill>
                      <a:srgbClr val="F6F3EC"/>
                    </a:solidFill>
                  </a:tcPr>
                </a:tc>
                <a:tc>
                  <a:txBody>
                    <a:bodyPr wrap="square"/>
                    <a:lstStyle/>
                    <a:p>
                      <a:pPr algn="r"/>
                      <a:r>
                        <a:rPr sz="850" b="1">
                          <a:solidFill>
                            <a:srgbClr val="0F172A"/>
                          </a:solidFill>
                          <a:latin typeface="Inter"/>
                        </a:rPr>
                        <a:t/>
                      </a:r>
                    </a:p>
                  </a:txBody>
                  <a:tcPr marL="54864" marR="54864" marT="27432" marB="27432" anchor="ctr">
                    <a:solidFill>
                      <a:srgbClr val="F6F3EC"/>
                    </a:solidFill>
                  </a:tcPr>
                </a:tc>
                <a:tc>
                  <a:txBody>
                    <a:bodyPr wrap="square"/>
                    <a:lstStyle/>
                    <a:p>
                      <a:pPr algn="r"/>
                      <a:r>
                        <a:rPr sz="850" b="1">
                          <a:solidFill>
                            <a:srgbClr val="0F172A"/>
                          </a:solidFill>
                          <a:latin typeface="Inter"/>
                        </a:rPr>
                        <a:t>C$47,564</a:t>
                      </a:r>
                    </a:p>
                  </a:txBody>
                  <a:tcPr marL="54864" marR="54864" marT="27432" marB="27432" anchor="ctr">
                    <a:solidFill>
                      <a:srgbClr val="F6F3EC"/>
                    </a:solidFill>
                  </a:tcPr>
                </a:tc>
                <a:tc>
                  <a:txBody>
                    <a:bodyPr wrap="square"/>
                    <a:lstStyle/>
                    <a:p>
                      <a:pPr algn="r"/>
                      <a:r>
                        <a:rPr sz="850" b="1">
                          <a:solidFill>
                            <a:srgbClr val="0F172A"/>
                          </a:solidFill>
                          <a:latin typeface="Inter"/>
                        </a:rPr>
                        <a:t>C$4,911</a:t>
                      </a:r>
                    </a:p>
                  </a:txBody>
                  <a:tcPr marL="54864" marR="54864" marT="27432" marB="27432" anchor="ctr">
                    <a:solidFill>
                      <a:srgbClr val="F6F3EC"/>
                    </a:solidFill>
                  </a:tcPr>
                </a:tc>
                <a:tc>
                  <a:txBody>
                    <a:bodyPr wrap="square"/>
                    <a:lstStyle/>
                    <a:p>
                      <a:pPr algn="r"/>
                      <a:r>
                        <a:rPr sz="850" b="1">
                          <a:solidFill>
                            <a:srgbClr val="0F172A"/>
                          </a:solidFill>
                          <a:latin typeface="Inter"/>
                        </a:rPr>
                        <a:t>C$29,112</a:t>
                      </a:r>
                    </a:p>
                  </a:txBody>
                  <a:tcPr marL="54864" marR="54864" marT="27432" marB="27432" anchor="ctr">
                    <a:solidFill>
                      <a:srgbClr val="F6F3EC"/>
                    </a:solidFill>
                  </a:tcPr>
                </a:tc>
                <a:tc>
                  <a:txBody>
                    <a:bodyPr wrap="square"/>
                    <a:lstStyle/>
                    <a:p>
                      <a:pPr algn="r"/>
                      <a:r>
                        <a:rPr sz="850" b="1">
                          <a:solidFill>
                            <a:srgbClr val="0F172A"/>
                          </a:solidFill>
                          <a:latin typeface="Inter"/>
                        </a:rPr>
                        <a:t>5.93x</a:t>
                      </a:r>
                    </a:p>
                  </a:txBody>
                  <a:tcPr marL="54864" marR="54864" marT="27432" marB="27432" anchor="ctr">
                    <a:solidFill>
                      <a:srgbClr val="F6F3EC"/>
                    </a:solidFill>
                  </a:tcPr>
                </a:tc>
                <a:tc>
                  <a:txBody>
                    <a:bodyPr wrap="square"/>
                    <a:lstStyle/>
                    <a:p>
                      <a:pPr algn="r"/>
                      <a:r>
                        <a:rPr sz="850" b="1">
                          <a:solidFill>
                            <a:srgbClr val="0F172A"/>
                          </a:solidFill>
                          <a:latin typeface="Inter"/>
                        </a:rPr>
                        <a:t>16.9%</a:t>
                      </a:r>
                    </a:p>
                  </a:txBody>
                  <a:tcPr marL="54864" marR="54864" marT="27432" marB="27432" anchor="ctr">
                    <a:solidFill>
                      <a:srgbClr val="F6F3EC"/>
                    </a:solidFill>
                  </a:tcPr>
                </a:tc>
                <a:tc>
                  <a:txBody>
                    <a:bodyPr wrap="square"/>
                    <a:lstStyle/>
                    <a:p>
                      <a:pPr algn="r"/>
                      <a:r>
                        <a:rPr sz="850" b="1">
                          <a:solidFill>
                            <a:srgbClr val="0F172A"/>
                          </a:solidFill>
                          <a:latin typeface="Inter"/>
                        </a:rPr>
                        <a:t>10.3%</a:t>
                      </a:r>
                    </a:p>
                  </a:txBody>
                  <a:tcPr marL="54864" marR="54864" marT="27432" marB="27432" anchor="ctr">
                    <a:solidFill>
                      <a:srgbClr val="F6F3EC"/>
                    </a:solidFill>
                  </a:tcPr>
                </a:tc>
                <a:tc>
                  <a:txBody>
                    <a:bodyPr wrap="square"/>
                    <a:lstStyle/>
                    <a:p>
                      <a:pPr algn="r"/>
                      <a:r>
                        <a:rPr sz="850" b="1">
                          <a:solidFill>
                            <a:srgbClr val="0F172A"/>
                          </a:solidFill>
                          <a:latin typeface="Inter"/>
                        </a:rPr>
                        <a:t>112</a:t>
                      </a:r>
                    </a:p>
                  </a:txBody>
                  <a:tcPr marL="54864" marR="54864" marT="27432" marB="27432" anchor="ctr">
                    <a:solidFill>
                      <a:srgbClr val="F6F3EC"/>
                    </a:solidFill>
                  </a:tcPr>
                </a:tc>
                <a:tc>
                  <a:txBody>
                    <a:bodyPr wrap="square"/>
                    <a:lstStyle/>
                    <a:p>
                      <a:pPr algn="r"/>
                      <a:r>
                        <a:rPr sz="850" b="1">
                          <a:solidFill>
                            <a:srgbClr val="0F172A"/>
                          </a:solidFill>
                          <a:latin typeface="Inter"/>
                        </a:rPr>
                        <a:t>80</a:t>
                      </a:r>
                    </a:p>
                  </a:txBody>
                  <a:tcPr marL="54864" marR="54864" marT="27432" marB="27432" anchor="ctr">
                    <a:solidFill>
                      <a:srgbClr val="F6F3EC"/>
                    </a:solidFill>
                  </a:tcPr>
                </a:tc>
                <a:tc>
                  <a:txBody>
                    <a:bodyPr wrap="square"/>
                    <a:lstStyle/>
                    <a:p>
                      <a:pPr algn="r"/>
                      <a:r>
                        <a:rPr sz="850" b="1">
                          <a:solidFill>
                            <a:srgbClr val="0F172A"/>
                          </a:solidFill>
                          <a:latin typeface="Inter"/>
                        </a:rPr>
                        <a:t>C$18,452</a:t>
                      </a:r>
                    </a:p>
                  </a:txBody>
                  <a:tcPr marL="54864" marR="54864" marT="27432" marB="27432" anchor="ctr">
                    <a:solidFill>
                      <a:srgbClr val="F6F3EC"/>
                    </a:solidFill>
                  </a:tcPr>
                </a:tc>
                <a:tc>
                  <a:txBody>
                    <a:bodyPr wrap="square"/>
                    <a:lstStyle/>
                    <a:p>
                      <a:pPr algn="r"/>
                      <a:r>
                        <a:rPr sz="850" b="1">
                          <a:solidFill>
                            <a:srgbClr val="0F172A"/>
                          </a:solidFill>
                          <a:latin typeface="Inter"/>
                        </a:rPr>
                        <a:t>61%</a:t>
                      </a:r>
                    </a:p>
                  </a:txBody>
                  <a:tcPr marL="54864" marR="54864" marT="27432" marB="27432" anchor="ctr">
                    <a:solidFill>
                      <a:srgbClr val="F6F3EC"/>
                    </a:solidFill>
                  </a:tcPr>
                </a:tc>
              </a:tr>
              <a:tr h="246888">
                <a:tc>
                  <a:txBody>
                    <a:bodyPr wrap="square"/>
                    <a:lstStyle/>
                    <a:p>
                      <a:pPr algn="l"/>
                      <a:r>
                        <a:rPr sz="850" b="0">
                          <a:solidFill>
                            <a:srgbClr val="0F172A"/>
                          </a:solidFill>
                          <a:latin typeface="Inter"/>
                        </a:rPr>
                        <a:t>Oct 18</a:t>
                      </a:r>
                    </a:p>
                  </a:txBody>
                  <a:tcPr marL="54864" marR="54864" marT="27432" marB="27432" anchor="ctr">
                    <a:solidFill>
                      <a:srgbClr val="FFFFFF"/>
                    </a:solidFill>
                  </a:tcPr>
                </a:tc>
                <a:tc>
                  <a:txBody>
                    <a:bodyPr wrap="square"/>
                    <a:lstStyle/>
                    <a:p>
                      <a:pPr algn="r"/>
                      <a:r>
                        <a:rPr sz="850" b="0">
                          <a:solidFill>
                            <a:srgbClr val="0F172A"/>
                          </a:solidFill>
                          <a:latin typeface="Inter"/>
                        </a:rPr>
                        <a:t>Sun</a:t>
                      </a:r>
                    </a:p>
                  </a:txBody>
                  <a:tcPr marL="54864" marR="54864" marT="27432" marB="27432" anchor="ctr">
                    <a:solidFill>
                      <a:srgbClr val="FFFFFF"/>
                    </a:solidFill>
                  </a:tcPr>
                </a:tc>
                <a:tc>
                  <a:txBody>
                    <a:bodyPr wrap="square"/>
                    <a:lstStyle/>
                    <a:p>
                      <a:pPr algn="r"/>
                      <a:r>
                        <a:rPr sz="850" b="0">
                          <a:solidFill>
                            <a:srgbClr val="0F172A"/>
                          </a:solidFill>
                          <a:latin typeface="Inter"/>
                        </a:rPr>
                        <a:t>C$10,572</a:t>
                      </a:r>
                    </a:p>
                  </a:txBody>
                  <a:tcPr marL="54864" marR="54864" marT="27432" marB="27432" anchor="ctr">
                    <a:solidFill>
                      <a:srgbClr val="FFFFFF"/>
                    </a:solidFill>
                  </a:tcPr>
                </a:tc>
                <a:tc>
                  <a:txBody>
                    <a:bodyPr wrap="square"/>
                    <a:lstStyle/>
                    <a:p>
                      <a:pPr algn="r"/>
                      <a:r>
                        <a:rPr sz="850" b="0">
                          <a:solidFill>
                            <a:srgbClr val="0F172A"/>
                          </a:solidFill>
                          <a:latin typeface="Inter"/>
                        </a:rPr>
                        <a:t>C$691</a:t>
                      </a:r>
                    </a:p>
                  </a:txBody>
                  <a:tcPr marL="54864" marR="54864" marT="27432" marB="27432" anchor="ctr">
                    <a:solidFill>
                      <a:srgbClr val="FFFFFF"/>
                    </a:solidFill>
                  </a:tcPr>
                </a:tc>
                <a:tc>
                  <a:txBody>
                    <a:bodyPr wrap="square"/>
                    <a:lstStyle/>
                    <a:p>
                      <a:pPr algn="r"/>
                      <a:r>
                        <a:rPr sz="850" b="0">
                          <a:solidFill>
                            <a:srgbClr val="0F172A"/>
                          </a:solidFill>
                          <a:latin typeface="Inter"/>
                        </a:rPr>
                        <a:t>C$6,640</a:t>
                      </a:r>
                    </a:p>
                  </a:txBody>
                  <a:tcPr marL="54864" marR="54864" marT="27432" marB="27432" anchor="ctr">
                    <a:solidFill>
                      <a:srgbClr val="FFFFFF"/>
                    </a:solidFill>
                  </a:tcPr>
                </a:tc>
                <a:tc>
                  <a:txBody>
                    <a:bodyPr wrap="square"/>
                    <a:lstStyle/>
                    <a:p>
                      <a:pPr algn="r"/>
                      <a:r>
                        <a:rPr sz="850" b="0">
                          <a:solidFill>
                            <a:srgbClr val="0F172A"/>
                          </a:solidFill>
                          <a:latin typeface="Inter"/>
                        </a:rPr>
                        <a:t>9.61x</a:t>
                      </a:r>
                    </a:p>
                  </a:txBody>
                  <a:tcPr marL="54864" marR="54864" marT="27432" marB="27432" anchor="ctr">
                    <a:solidFill>
                      <a:srgbClr val="FFFFFF"/>
                    </a:solidFill>
                  </a:tcPr>
                </a:tc>
                <a:tc>
                  <a:txBody>
                    <a:bodyPr wrap="square"/>
                    <a:lstStyle/>
                    <a:p>
                      <a:pPr algn="r"/>
                      <a:r>
                        <a:rPr sz="850" b="0">
                          <a:solidFill>
                            <a:srgbClr val="0F172A"/>
                          </a:solidFill>
                          <a:latin typeface="Inter"/>
                        </a:rPr>
                        <a:t>10.4%</a:t>
                      </a:r>
                    </a:p>
                  </a:txBody>
                  <a:tcPr marL="54864" marR="54864" marT="27432" marB="27432" anchor="ctr">
                    <a:solidFill>
                      <a:srgbClr val="FFFFFF"/>
                    </a:solidFill>
                  </a:tcPr>
                </a:tc>
                <a:tc>
                  <a:txBody>
                    <a:bodyPr wrap="square"/>
                    <a:lstStyle/>
                    <a:p>
                      <a:pPr algn="r"/>
                      <a:r>
                        <a:rPr sz="850" b="0">
                          <a:solidFill>
                            <a:srgbClr val="0F172A"/>
                          </a:solidFill>
                          <a:latin typeface="Inter"/>
                        </a:rPr>
                        <a:t>6.5%</a:t>
                      </a:r>
                    </a:p>
                  </a:txBody>
                  <a:tcPr marL="54864" marR="54864" marT="27432" marB="27432" anchor="ctr">
                    <a:solidFill>
                      <a:srgbClr val="FFFFFF"/>
                    </a:solidFill>
                  </a:tcPr>
                </a:tc>
                <a:tc>
                  <a:txBody>
                    <a:bodyPr wrap="square"/>
                    <a:lstStyle/>
                    <a:p>
                      <a:pPr algn="r"/>
                      <a:r>
                        <a:rPr sz="850" b="0">
                          <a:solidFill>
                            <a:srgbClr val="0F172A"/>
                          </a:solidFill>
                          <a:latin typeface="Inter"/>
                        </a:rPr>
                        <a:t>24</a:t>
                      </a:r>
                    </a:p>
                  </a:txBody>
                  <a:tcPr marL="54864" marR="54864" marT="27432" marB="27432" anchor="ctr">
                    <a:solidFill>
                      <a:srgbClr val="FFFFFF"/>
                    </a:solidFill>
                  </a:tcPr>
                </a:tc>
                <a:tc>
                  <a:txBody>
                    <a:bodyPr wrap="square"/>
                    <a:lstStyle/>
                    <a:p>
                      <a:pPr algn="r"/>
                      <a:r>
                        <a:rPr sz="850" b="0">
                          <a:solidFill>
                            <a:srgbClr val="0F172A"/>
                          </a:solidFill>
                          <a:latin typeface="Inter"/>
                        </a:rPr>
                        <a:t>17</a:t>
                      </a:r>
                    </a:p>
                  </a:txBody>
                  <a:tcPr marL="54864" marR="54864" marT="27432" marB="27432" anchor="ctr">
                    <a:solidFill>
                      <a:srgbClr val="FFFFFF"/>
                    </a:solidFill>
                  </a:tcPr>
                </a:tc>
                <a:tc>
                  <a:txBody>
                    <a:bodyPr wrap="square"/>
                    <a:lstStyle/>
                    <a:p>
                      <a:pPr algn="r"/>
                      <a:r>
                        <a:rPr sz="850" b="0">
                          <a:solidFill>
                            <a:srgbClr val="0F172A"/>
                          </a:solidFill>
                          <a:latin typeface="Inter"/>
                        </a:rPr>
                        <a:t>C$3,932</a:t>
                      </a:r>
                    </a:p>
                  </a:txBody>
                  <a:tcPr marL="54864" marR="54864" marT="27432" marB="27432" anchor="ctr">
                    <a:solidFill>
                      <a:srgbClr val="FFFFFF"/>
                    </a:solidFill>
                  </a:tcPr>
                </a:tc>
                <a:tc>
                  <a:txBody>
                    <a:bodyPr wrap="square"/>
                    <a:lstStyle/>
                    <a:p>
                      <a:pPr algn="r"/>
                      <a:r>
                        <a:rPr sz="850" b="0">
                          <a:solidFill>
                            <a:srgbClr val="0F172A"/>
                          </a:solidFill>
                          <a:latin typeface="Inter"/>
                        </a:rPr>
                        <a:t>63%</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19</a:t>
                      </a:r>
                    </a:p>
                  </a:txBody>
                  <a:tcPr marL="54864" marR="54864" marT="27432" marB="27432" anchor="ctr">
                    <a:solidFill>
                      <a:srgbClr val="FBFAF7"/>
                    </a:solidFill>
                  </a:tcPr>
                </a:tc>
                <a:tc>
                  <a:txBody>
                    <a:bodyPr wrap="square"/>
                    <a:lstStyle/>
                    <a:p>
                      <a:pPr algn="r"/>
                      <a:r>
                        <a:rPr sz="850" b="0">
                          <a:solidFill>
                            <a:srgbClr val="0F172A"/>
                          </a:solidFill>
                          <a:latin typeface="Inter"/>
                        </a:rPr>
                        <a:t>Mon</a:t>
                      </a:r>
                    </a:p>
                  </a:txBody>
                  <a:tcPr marL="54864" marR="54864" marT="27432" marB="27432" anchor="ctr">
                    <a:solidFill>
                      <a:srgbClr val="FBFAF7"/>
                    </a:solidFill>
                  </a:tcPr>
                </a:tc>
                <a:tc>
                  <a:txBody>
                    <a:bodyPr wrap="square"/>
                    <a:lstStyle/>
                    <a:p>
                      <a:pPr algn="r"/>
                      <a:r>
                        <a:rPr sz="850" b="0">
                          <a:solidFill>
                            <a:srgbClr val="0F172A"/>
                          </a:solidFill>
                          <a:latin typeface="Inter"/>
                        </a:rPr>
                        <a:t>C$7,654</a:t>
                      </a:r>
                    </a:p>
                  </a:txBody>
                  <a:tcPr marL="54864" marR="54864" marT="27432" marB="27432" anchor="ctr">
                    <a:solidFill>
                      <a:srgbClr val="FBFAF7"/>
                    </a:solidFill>
                  </a:tcPr>
                </a:tc>
                <a:tc>
                  <a:txBody>
                    <a:bodyPr wrap="square"/>
                    <a:lstStyle/>
                    <a:p>
                      <a:pPr algn="r"/>
                      <a:r>
                        <a:rPr sz="850" b="0">
                          <a:solidFill>
                            <a:srgbClr val="0F172A"/>
                          </a:solidFill>
                          <a:latin typeface="Inter"/>
                        </a:rPr>
                        <a:t>C$474</a:t>
                      </a:r>
                    </a:p>
                  </a:txBody>
                  <a:tcPr marL="54864" marR="54864" marT="27432" marB="27432" anchor="ctr">
                    <a:solidFill>
                      <a:srgbClr val="FBFAF7"/>
                    </a:solidFill>
                  </a:tcPr>
                </a:tc>
                <a:tc>
                  <a:txBody>
                    <a:bodyPr wrap="square"/>
                    <a:lstStyle/>
                    <a:p>
                      <a:pPr algn="r"/>
                      <a:r>
                        <a:rPr sz="850" b="0">
                          <a:solidFill>
                            <a:srgbClr val="0F172A"/>
                          </a:solidFill>
                          <a:latin typeface="Inter"/>
                        </a:rPr>
                        <a:t>C$5,395</a:t>
                      </a:r>
                    </a:p>
                  </a:txBody>
                  <a:tcPr marL="54864" marR="54864" marT="27432" marB="27432" anchor="ctr">
                    <a:solidFill>
                      <a:srgbClr val="FBFAF7"/>
                    </a:solidFill>
                  </a:tcPr>
                </a:tc>
                <a:tc>
                  <a:txBody>
                    <a:bodyPr wrap="square"/>
                    <a:lstStyle/>
                    <a:p>
                      <a:pPr algn="r"/>
                      <a:r>
                        <a:rPr sz="850" b="0">
                          <a:solidFill>
                            <a:srgbClr val="0F172A"/>
                          </a:solidFill>
                          <a:latin typeface="Inter"/>
                        </a:rPr>
                        <a:t>11.39x</a:t>
                      </a:r>
                    </a:p>
                  </a:txBody>
                  <a:tcPr marL="54864" marR="54864" marT="27432" marB="27432" anchor="ctr">
                    <a:solidFill>
                      <a:srgbClr val="FBFAF7"/>
                    </a:solidFill>
                  </a:tcPr>
                </a:tc>
                <a:tc>
                  <a:txBody>
                    <a:bodyPr wrap="square"/>
                    <a:lstStyle/>
                    <a:p>
                      <a:pPr algn="r"/>
                      <a:r>
                        <a:rPr sz="850" b="0">
                          <a:solidFill>
                            <a:srgbClr val="0F172A"/>
                          </a:solidFill>
                          <a:latin typeface="Inter"/>
                        </a:rPr>
                        <a:t>8.8%</a:t>
                      </a:r>
                    </a:p>
                  </a:txBody>
                  <a:tcPr marL="54864" marR="54864" marT="27432" marB="27432" anchor="ctr">
                    <a:solidFill>
                      <a:srgbClr val="FBFAF7"/>
                    </a:solidFill>
                  </a:tcPr>
                </a:tc>
                <a:tc>
                  <a:txBody>
                    <a:bodyPr wrap="square"/>
                    <a:lstStyle/>
                    <a:p>
                      <a:pPr algn="r"/>
                      <a:r>
                        <a:rPr sz="850" b="0">
                          <a:solidFill>
                            <a:srgbClr val="0F172A"/>
                          </a:solidFill>
                          <a:latin typeface="Inter"/>
                        </a:rPr>
                        <a:t>6.2%</a:t>
                      </a:r>
                    </a:p>
                  </a:txBody>
                  <a:tcPr marL="54864" marR="54864" marT="27432" marB="27432" anchor="ctr">
                    <a:solidFill>
                      <a:srgbClr val="FBFAF7"/>
                    </a:solidFill>
                  </a:tcPr>
                </a:tc>
                <a:tc>
                  <a:txBody>
                    <a:bodyPr wrap="square"/>
                    <a:lstStyle/>
                    <a:p>
                      <a:pPr algn="r"/>
                      <a:r>
                        <a:rPr sz="850" b="0">
                          <a:solidFill>
                            <a:srgbClr val="0F172A"/>
                          </a:solidFill>
                          <a:latin typeface="Inter"/>
                        </a:rPr>
                        <a:t>15</a:t>
                      </a:r>
                    </a:p>
                  </a:txBody>
                  <a:tcPr marL="54864" marR="54864" marT="27432" marB="27432" anchor="ctr">
                    <a:solidFill>
                      <a:srgbClr val="FBFAF7"/>
                    </a:solidFill>
                  </a:tcPr>
                </a:tc>
                <a:tc>
                  <a:txBody>
                    <a:bodyPr wrap="square"/>
                    <a:lstStyle/>
                    <a:p>
                      <a:pPr algn="r"/>
                      <a:r>
                        <a:rPr sz="850" b="0">
                          <a:solidFill>
                            <a:srgbClr val="0F172A"/>
                          </a:solidFill>
                          <a:latin typeface="Inter"/>
                        </a:rPr>
                        <a:t>13</a:t>
                      </a:r>
                    </a:p>
                  </a:txBody>
                  <a:tcPr marL="54864" marR="54864" marT="27432" marB="27432" anchor="ctr">
                    <a:solidFill>
                      <a:srgbClr val="FBFAF7"/>
                    </a:solidFill>
                  </a:tcPr>
                </a:tc>
                <a:tc>
                  <a:txBody>
                    <a:bodyPr wrap="square"/>
                    <a:lstStyle/>
                    <a:p>
                      <a:pPr algn="r"/>
                      <a:r>
                        <a:rPr sz="850" b="0">
                          <a:solidFill>
                            <a:srgbClr val="0F172A"/>
                          </a:solidFill>
                          <a:latin typeface="Inter"/>
                        </a:rPr>
                        <a:t>C$2,260</a:t>
                      </a:r>
                    </a:p>
                  </a:txBody>
                  <a:tcPr marL="54864" marR="54864" marT="27432" marB="27432" anchor="ctr">
                    <a:solidFill>
                      <a:srgbClr val="FBFAF7"/>
                    </a:solidFill>
                  </a:tcPr>
                </a:tc>
                <a:tc>
                  <a:txBody>
                    <a:bodyPr wrap="square"/>
                    <a:lstStyle/>
                    <a:p>
                      <a:pPr algn="r"/>
                      <a:r>
                        <a:rPr sz="850" b="0">
                          <a:solidFill>
                            <a:srgbClr val="0F172A"/>
                          </a:solidFill>
                          <a:latin typeface="Inter"/>
                        </a:rPr>
                        <a:t>70%</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20</a:t>
                      </a:r>
                    </a:p>
                  </a:txBody>
                  <a:tcPr marL="54864" marR="54864" marT="27432" marB="27432" anchor="ctr">
                    <a:solidFill>
                      <a:srgbClr val="FFFFFF"/>
                    </a:solidFill>
                  </a:tcPr>
                </a:tc>
                <a:tc>
                  <a:txBody>
                    <a:bodyPr wrap="square"/>
                    <a:lstStyle/>
                    <a:p>
                      <a:pPr algn="r"/>
                      <a:r>
                        <a:rPr sz="850" b="0">
                          <a:solidFill>
                            <a:srgbClr val="0F172A"/>
                          </a:solidFill>
                          <a:latin typeface="Inter"/>
                        </a:rPr>
                        <a:t>Tue</a:t>
                      </a:r>
                    </a:p>
                  </a:txBody>
                  <a:tcPr marL="54864" marR="54864" marT="27432" marB="27432" anchor="ctr">
                    <a:solidFill>
                      <a:srgbClr val="FFFFFF"/>
                    </a:solidFill>
                  </a:tcPr>
                </a:tc>
                <a:tc>
                  <a:txBody>
                    <a:bodyPr wrap="square"/>
                    <a:lstStyle/>
                    <a:p>
                      <a:pPr algn="r"/>
                      <a:r>
                        <a:rPr sz="850" b="0">
                          <a:solidFill>
                            <a:srgbClr val="0F172A"/>
                          </a:solidFill>
                          <a:latin typeface="Inter"/>
                        </a:rPr>
                        <a:t>C$8,864</a:t>
                      </a:r>
                    </a:p>
                  </a:txBody>
                  <a:tcPr marL="54864" marR="54864" marT="27432" marB="27432" anchor="ctr">
                    <a:solidFill>
                      <a:srgbClr val="FFFFFF"/>
                    </a:solidFill>
                  </a:tcPr>
                </a:tc>
                <a:tc>
                  <a:txBody>
                    <a:bodyPr wrap="square"/>
                    <a:lstStyle/>
                    <a:p>
                      <a:pPr algn="r"/>
                      <a:r>
                        <a:rPr sz="850" b="0">
                          <a:solidFill>
                            <a:srgbClr val="0F172A"/>
                          </a:solidFill>
                          <a:latin typeface="Inter"/>
                        </a:rPr>
                        <a:t>C$458</a:t>
                      </a:r>
                    </a:p>
                  </a:txBody>
                  <a:tcPr marL="54864" marR="54864" marT="27432" marB="27432" anchor="ctr">
                    <a:solidFill>
                      <a:srgbClr val="FFFFFF"/>
                    </a:solidFill>
                  </a:tcPr>
                </a:tc>
                <a:tc>
                  <a:txBody>
                    <a:bodyPr wrap="square"/>
                    <a:lstStyle/>
                    <a:p>
                      <a:pPr algn="r"/>
                      <a:r>
                        <a:rPr sz="850" b="0">
                          <a:solidFill>
                            <a:srgbClr val="0F172A"/>
                          </a:solidFill>
                          <a:latin typeface="Inter"/>
                        </a:rPr>
                        <a:t>C$5,446</a:t>
                      </a:r>
                    </a:p>
                  </a:txBody>
                  <a:tcPr marL="54864" marR="54864" marT="27432" marB="27432" anchor="ctr">
                    <a:solidFill>
                      <a:srgbClr val="FFFFFF"/>
                    </a:solidFill>
                  </a:tcPr>
                </a:tc>
                <a:tc>
                  <a:txBody>
                    <a:bodyPr wrap="square"/>
                    <a:lstStyle/>
                    <a:p>
                      <a:pPr algn="r"/>
                      <a:r>
                        <a:rPr sz="850" b="0">
                          <a:solidFill>
                            <a:srgbClr val="0F172A"/>
                          </a:solidFill>
                          <a:latin typeface="Inter"/>
                        </a:rPr>
                        <a:t>11.88x</a:t>
                      </a:r>
                    </a:p>
                  </a:txBody>
                  <a:tcPr marL="54864" marR="54864" marT="27432" marB="27432" anchor="ctr">
                    <a:solidFill>
                      <a:srgbClr val="FFFFFF"/>
                    </a:solidFill>
                  </a:tcPr>
                </a:tc>
                <a:tc>
                  <a:txBody>
                    <a:bodyPr wrap="square"/>
                    <a:lstStyle/>
                    <a:p>
                      <a:pPr algn="r"/>
                      <a:r>
                        <a:rPr sz="850" b="0">
                          <a:solidFill>
                            <a:srgbClr val="0F172A"/>
                          </a:solidFill>
                          <a:latin typeface="Inter"/>
                        </a:rPr>
                        <a:t>8.4%</a:t>
                      </a:r>
                    </a:p>
                  </a:txBody>
                  <a:tcPr marL="54864" marR="54864" marT="27432" marB="27432" anchor="ctr">
                    <a:solidFill>
                      <a:srgbClr val="FFFFFF"/>
                    </a:solidFill>
                  </a:tcPr>
                </a:tc>
                <a:tc>
                  <a:txBody>
                    <a:bodyPr wrap="square"/>
                    <a:lstStyle/>
                    <a:p>
                      <a:pPr algn="r"/>
                      <a:r>
                        <a:rPr sz="850" b="0">
                          <a:solidFill>
                            <a:srgbClr val="0F172A"/>
                          </a:solidFill>
                          <a:latin typeface="Inter"/>
                        </a:rPr>
                        <a:t>5.2%</a:t>
                      </a:r>
                    </a:p>
                  </a:txBody>
                  <a:tcPr marL="54864" marR="54864" marT="27432" marB="27432" anchor="ctr">
                    <a:solidFill>
                      <a:srgbClr val="FFFFFF"/>
                    </a:solidFill>
                  </a:tcPr>
                </a:tc>
                <a:tc>
                  <a:txBody>
                    <a:bodyPr wrap="square"/>
                    <a:lstStyle/>
                    <a:p>
                      <a:pPr algn="r"/>
                      <a:r>
                        <a:rPr sz="850" b="0">
                          <a:solidFill>
                            <a:srgbClr val="0F172A"/>
                          </a:solidFill>
                          <a:latin typeface="Inter"/>
                        </a:rPr>
                        <a:t>17</a:t>
                      </a:r>
                    </a:p>
                  </a:txBody>
                  <a:tcPr marL="54864" marR="54864" marT="27432" marB="27432" anchor="ctr">
                    <a:solidFill>
                      <a:srgbClr val="FFFFFF"/>
                    </a:solidFill>
                  </a:tcPr>
                </a:tc>
                <a:tc>
                  <a:txBody>
                    <a:bodyPr wrap="square"/>
                    <a:lstStyle/>
                    <a:p>
                      <a:pPr algn="r"/>
                      <a:r>
                        <a:rPr sz="850" b="0">
                          <a:solidFill>
                            <a:srgbClr val="0F172A"/>
                          </a:solidFill>
                          <a:latin typeface="Inter"/>
                        </a:rPr>
                        <a:t>10</a:t>
                      </a:r>
                    </a:p>
                  </a:txBody>
                  <a:tcPr marL="54864" marR="54864" marT="27432" marB="27432" anchor="ctr">
                    <a:solidFill>
                      <a:srgbClr val="FFFFFF"/>
                    </a:solidFill>
                  </a:tcPr>
                </a:tc>
                <a:tc>
                  <a:txBody>
                    <a:bodyPr wrap="square"/>
                    <a:lstStyle/>
                    <a:p>
                      <a:pPr algn="r"/>
                      <a:r>
                        <a:rPr sz="850" b="0">
                          <a:solidFill>
                            <a:srgbClr val="0F172A"/>
                          </a:solidFill>
                          <a:latin typeface="Inter"/>
                        </a:rPr>
                        <a:t>C$3,418</a:t>
                      </a:r>
                    </a:p>
                  </a:txBody>
                  <a:tcPr marL="54864" marR="54864" marT="27432" marB="27432" anchor="ctr">
                    <a:solidFill>
                      <a:srgbClr val="FFFFFF"/>
                    </a:solidFill>
                  </a:tcPr>
                </a:tc>
                <a:tc>
                  <a:txBody>
                    <a:bodyPr wrap="square"/>
                    <a:lstStyle/>
                    <a:p>
                      <a:pPr algn="r"/>
                      <a:r>
                        <a:rPr sz="850" b="0">
                          <a:solidFill>
                            <a:srgbClr val="0F172A"/>
                          </a:solidFill>
                          <a:latin typeface="Inter"/>
                        </a:rPr>
                        <a:t>61%</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21</a:t>
                      </a:r>
                    </a:p>
                  </a:txBody>
                  <a:tcPr marL="54864" marR="54864" marT="27432" marB="27432" anchor="ctr">
                    <a:solidFill>
                      <a:srgbClr val="FBFAF7"/>
                    </a:solidFill>
                  </a:tcPr>
                </a:tc>
                <a:tc>
                  <a:txBody>
                    <a:bodyPr wrap="square"/>
                    <a:lstStyle/>
                    <a:p>
                      <a:pPr algn="r"/>
                      <a:r>
                        <a:rPr sz="850" b="0">
                          <a:solidFill>
                            <a:srgbClr val="0F172A"/>
                          </a:solidFill>
                          <a:latin typeface="Inter"/>
                        </a:rPr>
                        <a:t>Wed</a:t>
                      </a:r>
                    </a:p>
                  </a:txBody>
                  <a:tcPr marL="54864" marR="54864" marT="27432" marB="27432" anchor="ctr">
                    <a:solidFill>
                      <a:srgbClr val="FBFAF7"/>
                    </a:solidFill>
                  </a:tcPr>
                </a:tc>
                <a:tc>
                  <a:txBody>
                    <a:bodyPr wrap="square"/>
                    <a:lstStyle/>
                    <a:p>
                      <a:pPr algn="r"/>
                      <a:r>
                        <a:rPr sz="850" b="0">
                          <a:solidFill>
                            <a:srgbClr val="0F172A"/>
                          </a:solidFill>
                          <a:latin typeface="Inter"/>
                        </a:rPr>
                        <a:t>C$8,931</a:t>
                      </a:r>
                    </a:p>
                  </a:txBody>
                  <a:tcPr marL="54864" marR="54864" marT="27432" marB="27432" anchor="ctr">
                    <a:solidFill>
                      <a:srgbClr val="FBFAF7"/>
                    </a:solidFill>
                  </a:tcPr>
                </a:tc>
                <a:tc>
                  <a:txBody>
                    <a:bodyPr wrap="square"/>
                    <a:lstStyle/>
                    <a:p>
                      <a:pPr algn="r"/>
                      <a:r>
                        <a:rPr sz="850" b="0">
                          <a:solidFill>
                            <a:srgbClr val="0F172A"/>
                          </a:solidFill>
                          <a:latin typeface="Inter"/>
                        </a:rPr>
                        <a:t>C$399</a:t>
                      </a:r>
                    </a:p>
                  </a:txBody>
                  <a:tcPr marL="54864" marR="54864" marT="27432" marB="27432" anchor="ctr">
                    <a:solidFill>
                      <a:srgbClr val="FBFAF7"/>
                    </a:solidFill>
                  </a:tcPr>
                </a:tc>
                <a:tc>
                  <a:txBody>
                    <a:bodyPr wrap="square"/>
                    <a:lstStyle/>
                    <a:p>
                      <a:pPr algn="r"/>
                      <a:r>
                        <a:rPr sz="850" b="0">
                          <a:solidFill>
                            <a:srgbClr val="0F172A"/>
                          </a:solidFill>
                          <a:latin typeface="Inter"/>
                        </a:rPr>
                        <a:t>C$3,987</a:t>
                      </a:r>
                    </a:p>
                  </a:txBody>
                  <a:tcPr marL="54864" marR="54864" marT="27432" marB="27432" anchor="ctr">
                    <a:solidFill>
                      <a:srgbClr val="FBFAF7"/>
                    </a:solidFill>
                  </a:tcPr>
                </a:tc>
                <a:tc>
                  <a:txBody>
                    <a:bodyPr wrap="square"/>
                    <a:lstStyle/>
                    <a:p>
                      <a:pPr algn="r"/>
                      <a:r>
                        <a:rPr sz="850" b="0">
                          <a:solidFill>
                            <a:srgbClr val="0F172A"/>
                          </a:solidFill>
                          <a:latin typeface="Inter"/>
                        </a:rPr>
                        <a:t>9.99x</a:t>
                      </a:r>
                    </a:p>
                  </a:txBody>
                  <a:tcPr marL="54864" marR="54864" marT="27432" marB="27432" anchor="ctr">
                    <a:solidFill>
                      <a:srgbClr val="FBFAF7"/>
                    </a:solidFill>
                  </a:tcPr>
                </a:tc>
                <a:tc>
                  <a:txBody>
                    <a:bodyPr wrap="square"/>
                    <a:lstStyle/>
                    <a:p>
                      <a:pPr algn="r"/>
                      <a:r>
                        <a:rPr sz="850" b="0">
                          <a:solidFill>
                            <a:srgbClr val="0F172A"/>
                          </a:solidFill>
                          <a:latin typeface="Inter"/>
                        </a:rPr>
                        <a:t>10.0%</a:t>
                      </a:r>
                    </a:p>
                  </a:txBody>
                  <a:tcPr marL="54864" marR="54864" marT="27432" marB="27432" anchor="ctr">
                    <a:solidFill>
                      <a:srgbClr val="FBFAF7"/>
                    </a:solidFill>
                  </a:tcPr>
                </a:tc>
                <a:tc>
                  <a:txBody>
                    <a:bodyPr wrap="square"/>
                    <a:lstStyle/>
                    <a:p>
                      <a:pPr algn="r"/>
                      <a:r>
                        <a:rPr sz="850" b="0">
                          <a:solidFill>
                            <a:srgbClr val="0F172A"/>
                          </a:solidFill>
                          <a:latin typeface="Inter"/>
                        </a:rPr>
                        <a:t>4.5%</a:t>
                      </a:r>
                    </a:p>
                  </a:txBody>
                  <a:tcPr marL="54864" marR="54864" marT="27432" marB="27432" anchor="ctr">
                    <a:solidFill>
                      <a:srgbClr val="FBFAF7"/>
                    </a:solidFill>
                  </a:tcPr>
                </a:tc>
                <a:tc>
                  <a:txBody>
                    <a:bodyPr wrap="square"/>
                    <a:lstStyle/>
                    <a:p>
                      <a:pPr algn="r"/>
                      <a:r>
                        <a:rPr sz="850" b="0">
                          <a:solidFill>
                            <a:srgbClr val="0F172A"/>
                          </a:solidFill>
                          <a:latin typeface="Inter"/>
                        </a:rPr>
                        <a:t>18</a:t>
                      </a:r>
                    </a:p>
                  </a:txBody>
                  <a:tcPr marL="54864" marR="54864" marT="27432" marB="27432" anchor="ctr">
                    <a:solidFill>
                      <a:srgbClr val="FBFAF7"/>
                    </a:solidFill>
                  </a:tcPr>
                </a:tc>
                <a:tc>
                  <a:txBody>
                    <a:bodyPr wrap="square"/>
                    <a:lstStyle/>
                    <a:p>
                      <a:pPr algn="r"/>
                      <a:r>
                        <a:rPr sz="850" b="0">
                          <a:solidFill>
                            <a:srgbClr val="0F172A"/>
                          </a:solidFill>
                          <a:latin typeface="Inter"/>
                        </a:rPr>
                        <a:t>9</a:t>
                      </a:r>
                    </a:p>
                  </a:txBody>
                  <a:tcPr marL="54864" marR="54864" marT="27432" marB="27432" anchor="ctr">
                    <a:solidFill>
                      <a:srgbClr val="FBFAF7"/>
                    </a:solidFill>
                  </a:tcPr>
                </a:tc>
                <a:tc>
                  <a:txBody>
                    <a:bodyPr wrap="square"/>
                    <a:lstStyle/>
                    <a:p>
                      <a:pPr algn="r"/>
                      <a:r>
                        <a:rPr sz="850" b="0">
                          <a:solidFill>
                            <a:srgbClr val="0F172A"/>
                          </a:solidFill>
                          <a:latin typeface="Inter"/>
                        </a:rPr>
                        <a:t>C$4,944</a:t>
                      </a:r>
                    </a:p>
                  </a:txBody>
                  <a:tcPr marL="54864" marR="54864" marT="27432" marB="27432" anchor="ctr">
                    <a:solidFill>
                      <a:srgbClr val="FBFAF7"/>
                    </a:solidFill>
                  </a:tcPr>
                </a:tc>
                <a:tc>
                  <a:txBody>
                    <a:bodyPr wrap="square"/>
                    <a:lstStyle/>
                    <a:p>
                      <a:pPr algn="r"/>
                      <a:r>
                        <a:rPr sz="850" b="0">
                          <a:solidFill>
                            <a:srgbClr val="0F172A"/>
                          </a:solidFill>
                          <a:latin typeface="Inter"/>
                        </a:rPr>
                        <a:t>45%</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22</a:t>
                      </a:r>
                    </a:p>
                  </a:txBody>
                  <a:tcPr marL="54864" marR="54864" marT="27432" marB="27432" anchor="ctr">
                    <a:solidFill>
                      <a:srgbClr val="FFFFFF"/>
                    </a:solidFill>
                  </a:tcPr>
                </a:tc>
                <a:tc>
                  <a:txBody>
                    <a:bodyPr wrap="square"/>
                    <a:lstStyle/>
                    <a:p>
                      <a:pPr algn="r"/>
                      <a:r>
                        <a:rPr sz="850" b="0">
                          <a:solidFill>
                            <a:srgbClr val="0F172A"/>
                          </a:solidFill>
                          <a:latin typeface="Inter"/>
                        </a:rPr>
                        <a:t>Thu</a:t>
                      </a:r>
                    </a:p>
                  </a:txBody>
                  <a:tcPr marL="54864" marR="54864" marT="27432" marB="27432" anchor="ctr">
                    <a:solidFill>
                      <a:srgbClr val="FFFFFF"/>
                    </a:solidFill>
                  </a:tcPr>
                </a:tc>
                <a:tc>
                  <a:txBody>
                    <a:bodyPr wrap="square"/>
                    <a:lstStyle/>
                    <a:p>
                      <a:pPr algn="r"/>
                      <a:r>
                        <a:rPr sz="850" b="0">
                          <a:solidFill>
                            <a:srgbClr val="0F172A"/>
                          </a:solidFill>
                          <a:latin typeface="Inter"/>
                        </a:rPr>
                        <a:t>C$4,779</a:t>
                      </a:r>
                    </a:p>
                  </a:txBody>
                  <a:tcPr marL="54864" marR="54864" marT="27432" marB="27432" anchor="ctr">
                    <a:solidFill>
                      <a:srgbClr val="FFFFFF"/>
                    </a:solidFill>
                  </a:tcPr>
                </a:tc>
                <a:tc>
                  <a:txBody>
                    <a:bodyPr wrap="square"/>
                    <a:lstStyle/>
                    <a:p>
                      <a:pPr algn="r"/>
                      <a:r>
                        <a:rPr sz="850" b="0">
                          <a:solidFill>
                            <a:srgbClr val="0F172A"/>
                          </a:solidFill>
                          <a:latin typeface="Inter"/>
                        </a:rPr>
                        <a:t>C$503</a:t>
                      </a:r>
                    </a:p>
                  </a:txBody>
                  <a:tcPr marL="54864" marR="54864" marT="27432" marB="27432" anchor="ctr">
                    <a:solidFill>
                      <a:srgbClr val="FFFFFF"/>
                    </a:solidFill>
                  </a:tcPr>
                </a:tc>
                <a:tc>
                  <a:txBody>
                    <a:bodyPr wrap="square"/>
                    <a:lstStyle/>
                    <a:p>
                      <a:pPr algn="r"/>
                      <a:r>
                        <a:rPr sz="850" b="0">
                          <a:solidFill>
                            <a:srgbClr val="0F172A"/>
                          </a:solidFill>
                          <a:latin typeface="Inter"/>
                        </a:rPr>
                        <a:t>C$3,662</a:t>
                      </a:r>
                    </a:p>
                  </a:txBody>
                  <a:tcPr marL="54864" marR="54864" marT="27432" marB="27432" anchor="ctr">
                    <a:solidFill>
                      <a:srgbClr val="FFFFFF"/>
                    </a:solidFill>
                  </a:tcPr>
                </a:tc>
                <a:tc>
                  <a:txBody>
                    <a:bodyPr wrap="square"/>
                    <a:lstStyle/>
                    <a:p>
                      <a:pPr algn="r"/>
                      <a:r>
                        <a:rPr sz="850" b="0">
                          <a:solidFill>
                            <a:srgbClr val="0F172A"/>
                          </a:solidFill>
                          <a:latin typeface="Inter"/>
                        </a:rPr>
                        <a:t>7.28x</a:t>
                      </a:r>
                    </a:p>
                  </a:txBody>
                  <a:tcPr marL="54864" marR="54864" marT="27432" marB="27432" anchor="ctr">
                    <a:solidFill>
                      <a:srgbClr val="FFFFFF"/>
                    </a:solidFill>
                  </a:tcPr>
                </a:tc>
                <a:tc>
                  <a:txBody>
                    <a:bodyPr wrap="square"/>
                    <a:lstStyle/>
                    <a:p>
                      <a:pPr algn="r"/>
                      <a:r>
                        <a:rPr sz="850" b="0">
                          <a:solidFill>
                            <a:srgbClr val="0F172A"/>
                          </a:solidFill>
                          <a:latin typeface="Inter"/>
                        </a:rPr>
                        <a:t>13.7%</a:t>
                      </a:r>
                    </a:p>
                  </a:txBody>
                  <a:tcPr marL="54864" marR="54864" marT="27432" marB="27432" anchor="ctr">
                    <a:solidFill>
                      <a:srgbClr val="FFFFFF"/>
                    </a:solidFill>
                  </a:tcPr>
                </a:tc>
                <a:tc>
                  <a:txBody>
                    <a:bodyPr wrap="square"/>
                    <a:lstStyle/>
                    <a:p>
                      <a:pPr algn="r"/>
                      <a:r>
                        <a:rPr sz="850" b="0">
                          <a:solidFill>
                            <a:srgbClr val="0F172A"/>
                          </a:solidFill>
                          <a:latin typeface="Inter"/>
                        </a:rPr>
                        <a:t>10.5%</a:t>
                      </a:r>
                    </a:p>
                  </a:txBody>
                  <a:tcPr marL="54864" marR="54864" marT="27432" marB="27432" anchor="ctr">
                    <a:solidFill>
                      <a:srgbClr val="FFFFFF"/>
                    </a:solidFill>
                  </a:tcPr>
                </a:tc>
                <a:tc>
                  <a:txBody>
                    <a:bodyPr wrap="square"/>
                    <a:lstStyle/>
                    <a:p>
                      <a:pPr algn="r"/>
                      <a:r>
                        <a:rPr sz="850" b="0">
                          <a:solidFill>
                            <a:srgbClr val="0F172A"/>
                          </a:solidFill>
                          <a:latin typeface="Inter"/>
                        </a:rPr>
                        <a:t>10</a:t>
                      </a:r>
                    </a:p>
                  </a:txBody>
                  <a:tcPr marL="54864" marR="54864" marT="27432" marB="27432" anchor="ctr">
                    <a:solidFill>
                      <a:srgbClr val="FFFFFF"/>
                    </a:solidFill>
                  </a:tcPr>
                </a:tc>
                <a:tc>
                  <a:txBody>
                    <a:bodyPr wrap="square"/>
                    <a:lstStyle/>
                    <a:p>
                      <a:pPr algn="r"/>
                      <a:r>
                        <a:rPr sz="850" b="0">
                          <a:solidFill>
                            <a:srgbClr val="0F172A"/>
                          </a:solidFill>
                          <a:latin typeface="Inter"/>
                        </a:rPr>
                        <a:t>9</a:t>
                      </a:r>
                    </a:p>
                  </a:txBody>
                  <a:tcPr marL="54864" marR="54864" marT="27432" marB="27432" anchor="ctr">
                    <a:solidFill>
                      <a:srgbClr val="FFFFFF"/>
                    </a:solidFill>
                  </a:tcPr>
                </a:tc>
                <a:tc>
                  <a:txBody>
                    <a:bodyPr wrap="square"/>
                    <a:lstStyle/>
                    <a:p>
                      <a:pPr algn="r"/>
                      <a:r>
                        <a:rPr sz="850" b="0">
                          <a:solidFill>
                            <a:srgbClr val="0F172A"/>
                          </a:solidFill>
                          <a:latin typeface="Inter"/>
                        </a:rPr>
                        <a:t>C$1,117</a:t>
                      </a:r>
                    </a:p>
                  </a:txBody>
                  <a:tcPr marL="54864" marR="54864" marT="27432" marB="27432" anchor="ctr">
                    <a:solidFill>
                      <a:srgbClr val="FFFFFF"/>
                    </a:solidFill>
                  </a:tcPr>
                </a:tc>
                <a:tc>
                  <a:txBody>
                    <a:bodyPr wrap="square"/>
                    <a:lstStyle/>
                    <a:p>
                      <a:pPr algn="r"/>
                      <a:r>
                        <a:rPr sz="850" b="0">
                          <a:solidFill>
                            <a:srgbClr val="0F172A"/>
                          </a:solidFill>
                          <a:latin typeface="Inter"/>
                        </a:rPr>
                        <a:t>77%</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23</a:t>
                      </a:r>
                    </a:p>
                  </a:txBody>
                  <a:tcPr marL="54864" marR="54864" marT="27432" marB="27432" anchor="ctr">
                    <a:solidFill>
                      <a:srgbClr val="FBFAF7"/>
                    </a:solidFill>
                  </a:tcPr>
                </a:tc>
                <a:tc>
                  <a:txBody>
                    <a:bodyPr wrap="square"/>
                    <a:lstStyle/>
                    <a:p>
                      <a:pPr algn="r"/>
                      <a:r>
                        <a:rPr sz="850" b="0">
                          <a:solidFill>
                            <a:srgbClr val="0F172A"/>
                          </a:solidFill>
                          <a:latin typeface="Inter"/>
                        </a:rPr>
                        <a:t>Fri</a:t>
                      </a:r>
                    </a:p>
                  </a:txBody>
                  <a:tcPr marL="54864" marR="54864" marT="27432" marB="27432" anchor="ctr">
                    <a:solidFill>
                      <a:srgbClr val="FBFAF7"/>
                    </a:solidFill>
                  </a:tcPr>
                </a:tc>
                <a:tc>
                  <a:txBody>
                    <a:bodyPr wrap="square"/>
                    <a:lstStyle/>
                    <a:p>
                      <a:pPr algn="r"/>
                      <a:r>
                        <a:rPr sz="850" b="0">
                          <a:solidFill>
                            <a:srgbClr val="0F172A"/>
                          </a:solidFill>
                          <a:latin typeface="Inter"/>
                        </a:rPr>
                        <a:t>C$6,997</a:t>
                      </a:r>
                    </a:p>
                  </a:txBody>
                  <a:tcPr marL="54864" marR="54864" marT="27432" marB="27432" anchor="ctr">
                    <a:solidFill>
                      <a:srgbClr val="FBFAF7"/>
                    </a:solidFill>
                  </a:tcPr>
                </a:tc>
                <a:tc>
                  <a:txBody>
                    <a:bodyPr wrap="square"/>
                    <a:lstStyle/>
                    <a:p>
                      <a:pPr algn="r"/>
                      <a:r>
                        <a:rPr sz="850" b="0">
                          <a:solidFill>
                            <a:srgbClr val="0F172A"/>
                          </a:solidFill>
                          <a:latin typeface="Inter"/>
                        </a:rPr>
                        <a:t>C$443</a:t>
                      </a:r>
                    </a:p>
                  </a:txBody>
                  <a:tcPr marL="54864" marR="54864" marT="27432" marB="27432" anchor="ctr">
                    <a:solidFill>
                      <a:srgbClr val="FBFAF7"/>
                    </a:solidFill>
                  </a:tcPr>
                </a:tc>
                <a:tc>
                  <a:txBody>
                    <a:bodyPr wrap="square"/>
                    <a:lstStyle/>
                    <a:p>
                      <a:pPr algn="r"/>
                      <a:r>
                        <a:rPr sz="850" b="0">
                          <a:solidFill>
                            <a:srgbClr val="0F172A"/>
                          </a:solidFill>
                          <a:latin typeface="Inter"/>
                        </a:rPr>
                        <a:t>C$4,588</a:t>
                      </a:r>
                    </a:p>
                  </a:txBody>
                  <a:tcPr marL="54864" marR="54864" marT="27432" marB="27432" anchor="ctr">
                    <a:solidFill>
                      <a:srgbClr val="FBFAF7"/>
                    </a:solidFill>
                  </a:tcPr>
                </a:tc>
                <a:tc>
                  <a:txBody>
                    <a:bodyPr wrap="square"/>
                    <a:lstStyle/>
                    <a:p>
                      <a:pPr algn="r"/>
                      <a:r>
                        <a:rPr sz="850" b="0">
                          <a:solidFill>
                            <a:srgbClr val="0F172A"/>
                          </a:solidFill>
                          <a:latin typeface="Inter"/>
                        </a:rPr>
                        <a:t>10.36x</a:t>
                      </a:r>
                    </a:p>
                  </a:txBody>
                  <a:tcPr marL="54864" marR="54864" marT="27432" marB="27432" anchor="ctr">
                    <a:solidFill>
                      <a:srgbClr val="FBFAF7"/>
                    </a:solidFill>
                  </a:tcPr>
                </a:tc>
                <a:tc>
                  <a:txBody>
                    <a:bodyPr wrap="square"/>
                    <a:lstStyle/>
                    <a:p>
                      <a:pPr algn="r"/>
                      <a:r>
                        <a:rPr sz="850" b="0">
                          <a:solidFill>
                            <a:srgbClr val="0F172A"/>
                          </a:solidFill>
                          <a:latin typeface="Inter"/>
                        </a:rPr>
                        <a:t>9.6%</a:t>
                      </a:r>
                    </a:p>
                  </a:txBody>
                  <a:tcPr marL="54864" marR="54864" marT="27432" marB="27432" anchor="ctr">
                    <a:solidFill>
                      <a:srgbClr val="FBFAF7"/>
                    </a:solidFill>
                  </a:tcPr>
                </a:tc>
                <a:tc>
                  <a:txBody>
                    <a:bodyPr wrap="square"/>
                    <a:lstStyle/>
                    <a:p>
                      <a:pPr algn="r"/>
                      <a:r>
                        <a:rPr sz="850" b="0">
                          <a:solidFill>
                            <a:srgbClr val="0F172A"/>
                          </a:solidFill>
                          <a:latin typeface="Inter"/>
                        </a:rPr>
                        <a:t>6.3%</a:t>
                      </a:r>
                    </a:p>
                  </a:txBody>
                  <a:tcPr marL="54864" marR="54864" marT="27432" marB="27432" anchor="ctr">
                    <a:solidFill>
                      <a:srgbClr val="FBFAF7"/>
                    </a:solidFill>
                  </a:tcPr>
                </a:tc>
                <a:tc>
                  <a:txBody>
                    <a:bodyPr wrap="square"/>
                    <a:lstStyle/>
                    <a:p>
                      <a:pPr algn="r"/>
                      <a:r>
                        <a:rPr sz="850" b="0">
                          <a:solidFill>
                            <a:srgbClr val="0F172A"/>
                          </a:solidFill>
                          <a:latin typeface="Inter"/>
                        </a:rPr>
                        <a:t>13</a:t>
                      </a:r>
                    </a:p>
                  </a:txBody>
                  <a:tcPr marL="54864" marR="54864" marT="27432" marB="27432" anchor="ctr">
                    <a:solidFill>
                      <a:srgbClr val="FBFAF7"/>
                    </a:solidFill>
                  </a:tcPr>
                </a:tc>
                <a:tc>
                  <a:txBody>
                    <a:bodyPr wrap="square"/>
                    <a:lstStyle/>
                    <a:p>
                      <a:pPr algn="r"/>
                      <a:r>
                        <a:rPr sz="850" b="0">
                          <a:solidFill>
                            <a:srgbClr val="0F172A"/>
                          </a:solidFill>
                          <a:latin typeface="Inter"/>
                        </a:rPr>
                        <a:t>9</a:t>
                      </a:r>
                    </a:p>
                  </a:txBody>
                  <a:tcPr marL="54864" marR="54864" marT="27432" marB="27432" anchor="ctr">
                    <a:solidFill>
                      <a:srgbClr val="FBFAF7"/>
                    </a:solidFill>
                  </a:tcPr>
                </a:tc>
                <a:tc>
                  <a:txBody>
                    <a:bodyPr wrap="square"/>
                    <a:lstStyle/>
                    <a:p>
                      <a:pPr algn="r"/>
                      <a:r>
                        <a:rPr sz="850" b="0">
                          <a:solidFill>
                            <a:srgbClr val="0F172A"/>
                          </a:solidFill>
                          <a:latin typeface="Inter"/>
                        </a:rPr>
                        <a:t>C$2,410</a:t>
                      </a:r>
                    </a:p>
                  </a:txBody>
                  <a:tcPr marL="54864" marR="54864" marT="27432" marB="27432" anchor="ctr">
                    <a:solidFill>
                      <a:srgbClr val="FBFAF7"/>
                    </a:solidFill>
                  </a:tcPr>
                </a:tc>
                <a:tc>
                  <a:txBody>
                    <a:bodyPr wrap="square"/>
                    <a:lstStyle/>
                    <a:p>
                      <a:pPr algn="r"/>
                      <a:r>
                        <a:rPr sz="850" b="0">
                          <a:solidFill>
                            <a:srgbClr val="0F172A"/>
                          </a:solidFill>
                          <a:latin typeface="Inter"/>
                        </a:rPr>
                        <a:t>66%</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24</a:t>
                      </a:r>
                    </a:p>
                  </a:txBody>
                  <a:tcPr marL="54864" marR="54864" marT="27432" marB="27432" anchor="ctr">
                    <a:solidFill>
                      <a:srgbClr val="FFFFFF"/>
                    </a:solidFill>
                  </a:tcPr>
                </a:tc>
                <a:tc>
                  <a:txBody>
                    <a:bodyPr wrap="square"/>
                    <a:lstStyle/>
                    <a:p>
                      <a:pPr algn="r"/>
                      <a:r>
                        <a:rPr sz="850" b="0">
                          <a:solidFill>
                            <a:srgbClr val="0F172A"/>
                          </a:solidFill>
                          <a:latin typeface="Inter"/>
                        </a:rPr>
                        <a:t>Sat</a:t>
                      </a:r>
                    </a:p>
                  </a:txBody>
                  <a:tcPr marL="54864" marR="54864" marT="27432" marB="27432" anchor="ctr">
                    <a:solidFill>
                      <a:srgbClr val="FFFFFF"/>
                    </a:solidFill>
                  </a:tcPr>
                </a:tc>
                <a:tc>
                  <a:txBody>
                    <a:bodyPr wrap="square"/>
                    <a:lstStyle/>
                    <a:p>
                      <a:pPr algn="r"/>
                      <a:r>
                        <a:rPr sz="850" b="0">
                          <a:solidFill>
                            <a:srgbClr val="0F172A"/>
                          </a:solidFill>
                          <a:latin typeface="Inter"/>
                        </a:rPr>
                        <a:t>C$9,865</a:t>
                      </a:r>
                    </a:p>
                  </a:txBody>
                  <a:tcPr marL="54864" marR="54864" marT="27432" marB="27432" anchor="ctr">
                    <a:solidFill>
                      <a:srgbClr val="FFFFFF"/>
                    </a:solidFill>
                  </a:tcPr>
                </a:tc>
                <a:tc>
                  <a:txBody>
                    <a:bodyPr wrap="square"/>
                    <a:lstStyle/>
                    <a:p>
                      <a:pPr algn="r"/>
                      <a:r>
                        <a:rPr sz="850" b="0">
                          <a:solidFill>
                            <a:srgbClr val="0F172A"/>
                          </a:solidFill>
                          <a:latin typeface="Inter"/>
                        </a:rPr>
                        <a:t>C$644</a:t>
                      </a:r>
                    </a:p>
                  </a:txBody>
                  <a:tcPr marL="54864" marR="54864" marT="27432" marB="27432" anchor="ctr">
                    <a:solidFill>
                      <a:srgbClr val="FFFFFF"/>
                    </a:solidFill>
                  </a:tcPr>
                </a:tc>
                <a:tc>
                  <a:txBody>
                    <a:bodyPr wrap="square"/>
                    <a:lstStyle/>
                    <a:p>
                      <a:pPr algn="r"/>
                      <a:r>
                        <a:rPr sz="850" b="0">
                          <a:solidFill>
                            <a:srgbClr val="0F172A"/>
                          </a:solidFill>
                          <a:latin typeface="Inter"/>
                        </a:rPr>
                        <a:t>C$4,978</a:t>
                      </a:r>
                    </a:p>
                  </a:txBody>
                  <a:tcPr marL="54864" marR="54864" marT="27432" marB="27432" anchor="ctr">
                    <a:solidFill>
                      <a:srgbClr val="FFFFFF"/>
                    </a:solidFill>
                  </a:tcPr>
                </a:tc>
                <a:tc>
                  <a:txBody>
                    <a:bodyPr wrap="square"/>
                    <a:lstStyle/>
                    <a:p>
                      <a:pPr algn="r"/>
                      <a:r>
                        <a:rPr sz="850" b="0">
                          <a:solidFill>
                            <a:srgbClr val="0F172A"/>
                          </a:solidFill>
                          <a:latin typeface="Inter"/>
                        </a:rPr>
                        <a:t>7.73x</a:t>
                      </a:r>
                    </a:p>
                  </a:txBody>
                  <a:tcPr marL="54864" marR="54864" marT="27432" marB="27432" anchor="ctr">
                    <a:solidFill>
                      <a:srgbClr val="FFFFFF"/>
                    </a:solidFill>
                  </a:tcPr>
                </a:tc>
                <a:tc>
                  <a:txBody>
                    <a:bodyPr wrap="square"/>
                    <a:lstStyle/>
                    <a:p>
                      <a:pPr algn="r"/>
                      <a:r>
                        <a:rPr sz="850" b="0">
                          <a:solidFill>
                            <a:srgbClr val="0F172A"/>
                          </a:solidFill>
                          <a:latin typeface="Inter"/>
                        </a:rPr>
                        <a:t>12.9%</a:t>
                      </a:r>
                    </a:p>
                  </a:txBody>
                  <a:tcPr marL="54864" marR="54864" marT="27432" marB="27432" anchor="ctr">
                    <a:solidFill>
                      <a:srgbClr val="FFFFFF"/>
                    </a:solidFill>
                  </a:tcPr>
                </a:tc>
                <a:tc>
                  <a:txBody>
                    <a:bodyPr wrap="square"/>
                    <a:lstStyle/>
                    <a:p>
                      <a:pPr algn="r"/>
                      <a:r>
                        <a:rPr sz="850" b="0">
                          <a:solidFill>
                            <a:srgbClr val="0F172A"/>
                          </a:solidFill>
                          <a:latin typeface="Inter"/>
                        </a:rPr>
                        <a:t>6.5%</a:t>
                      </a:r>
                    </a:p>
                  </a:txBody>
                  <a:tcPr marL="54864" marR="54864" marT="27432" marB="27432" anchor="ctr">
                    <a:solidFill>
                      <a:srgbClr val="FFFFFF"/>
                    </a:solidFill>
                  </a:tcPr>
                </a:tc>
                <a:tc>
                  <a:txBody>
                    <a:bodyPr wrap="square"/>
                    <a:lstStyle/>
                    <a:p>
                      <a:pPr algn="r"/>
                      <a:r>
                        <a:rPr sz="850" b="0">
                          <a:solidFill>
                            <a:srgbClr val="0F172A"/>
                          </a:solidFill>
                          <a:latin typeface="Inter"/>
                        </a:rPr>
                        <a:t>18</a:t>
                      </a:r>
                    </a:p>
                  </a:txBody>
                  <a:tcPr marL="54864" marR="54864" marT="27432" marB="27432" anchor="ctr">
                    <a:solidFill>
                      <a:srgbClr val="FFFFFF"/>
                    </a:solidFill>
                  </a:tcPr>
                </a:tc>
                <a:tc>
                  <a:txBody>
                    <a:bodyPr wrap="square"/>
                    <a:lstStyle/>
                    <a:p>
                      <a:pPr algn="r"/>
                      <a:r>
                        <a:rPr sz="850" b="0">
                          <a:solidFill>
                            <a:srgbClr val="0F172A"/>
                          </a:solidFill>
                          <a:latin typeface="Inter"/>
                        </a:rPr>
                        <a:t>11</a:t>
                      </a:r>
                    </a:p>
                  </a:txBody>
                  <a:tcPr marL="54864" marR="54864" marT="27432" marB="27432" anchor="ctr">
                    <a:solidFill>
                      <a:srgbClr val="FFFFFF"/>
                    </a:solidFill>
                  </a:tcPr>
                </a:tc>
                <a:tc>
                  <a:txBody>
                    <a:bodyPr wrap="square"/>
                    <a:lstStyle/>
                    <a:p>
                      <a:pPr algn="r"/>
                      <a:r>
                        <a:rPr sz="850" b="0">
                          <a:solidFill>
                            <a:srgbClr val="0F172A"/>
                          </a:solidFill>
                          <a:latin typeface="Inter"/>
                        </a:rPr>
                        <a:t>C$4,887</a:t>
                      </a:r>
                    </a:p>
                  </a:txBody>
                  <a:tcPr marL="54864" marR="54864" marT="27432" marB="27432" anchor="ctr">
                    <a:solidFill>
                      <a:srgbClr val="FFFFFF"/>
                    </a:solidFill>
                  </a:tcPr>
                </a:tc>
                <a:tc>
                  <a:txBody>
                    <a:bodyPr wrap="square"/>
                    <a:lstStyle/>
                    <a:p>
                      <a:pPr algn="r"/>
                      <a:r>
                        <a:rPr sz="850" b="0">
                          <a:solidFill>
                            <a:srgbClr val="0F172A"/>
                          </a:solidFill>
                          <a:latin typeface="Inter"/>
                        </a:rPr>
                        <a:t>50%</a:t>
                      </a:r>
                    </a:p>
                  </a:txBody>
                  <a:tcPr marL="54864" marR="54864" marT="27432" marB="27432" anchor="ctr">
                    <a:solidFill>
                      <a:srgbClr val="FFFFFF"/>
                    </a:solidFill>
                  </a:tcPr>
                </a:tc>
              </a:tr>
              <a:tr h="246888">
                <a:tc>
                  <a:txBody>
                    <a:bodyPr wrap="square"/>
                    <a:lstStyle/>
                    <a:p>
                      <a:pPr algn="l"/>
                      <a:r>
                        <a:rPr sz="850" b="1">
                          <a:solidFill>
                            <a:srgbClr val="0F172A"/>
                          </a:solidFill>
                          <a:latin typeface="Inter"/>
                        </a:rPr>
                        <a:t>Week Oct 18 – 24</a:t>
                      </a:r>
                    </a:p>
                  </a:txBody>
                  <a:tcPr marL="54864" marR="54864" marT="27432" marB="27432" anchor="ctr">
                    <a:solidFill>
                      <a:srgbClr val="F6F3EC"/>
                    </a:solidFill>
                  </a:tcPr>
                </a:tc>
                <a:tc>
                  <a:txBody>
                    <a:bodyPr wrap="square"/>
                    <a:lstStyle/>
                    <a:p>
                      <a:pPr algn="r"/>
                      <a:r>
                        <a:rPr sz="850" b="1">
                          <a:solidFill>
                            <a:srgbClr val="0F172A"/>
                          </a:solidFill>
                          <a:latin typeface="Inter"/>
                        </a:rPr>
                        <a:t/>
                      </a:r>
                    </a:p>
                  </a:txBody>
                  <a:tcPr marL="54864" marR="54864" marT="27432" marB="27432" anchor="ctr">
                    <a:solidFill>
                      <a:srgbClr val="F6F3EC"/>
                    </a:solidFill>
                  </a:tcPr>
                </a:tc>
                <a:tc>
                  <a:txBody>
                    <a:bodyPr wrap="square"/>
                    <a:lstStyle/>
                    <a:p>
                      <a:pPr algn="r"/>
                      <a:r>
                        <a:rPr sz="850" b="1">
                          <a:solidFill>
                            <a:srgbClr val="0F172A"/>
                          </a:solidFill>
                          <a:latin typeface="Inter"/>
                        </a:rPr>
                        <a:t>C$57,663</a:t>
                      </a:r>
                    </a:p>
                  </a:txBody>
                  <a:tcPr marL="54864" marR="54864" marT="27432" marB="27432" anchor="ctr">
                    <a:solidFill>
                      <a:srgbClr val="F6F3EC"/>
                    </a:solidFill>
                  </a:tcPr>
                </a:tc>
                <a:tc>
                  <a:txBody>
                    <a:bodyPr wrap="square"/>
                    <a:lstStyle/>
                    <a:p>
                      <a:pPr algn="r"/>
                      <a:r>
                        <a:rPr sz="850" b="1">
                          <a:solidFill>
                            <a:srgbClr val="0F172A"/>
                          </a:solidFill>
                          <a:latin typeface="Inter"/>
                        </a:rPr>
                        <a:t>C$3,612</a:t>
                      </a:r>
                    </a:p>
                  </a:txBody>
                  <a:tcPr marL="54864" marR="54864" marT="27432" marB="27432" anchor="ctr">
                    <a:solidFill>
                      <a:srgbClr val="F6F3EC"/>
                    </a:solidFill>
                  </a:tcPr>
                </a:tc>
                <a:tc>
                  <a:txBody>
                    <a:bodyPr wrap="square"/>
                    <a:lstStyle/>
                    <a:p>
                      <a:pPr algn="r"/>
                      <a:r>
                        <a:rPr sz="850" b="1">
                          <a:solidFill>
                            <a:srgbClr val="0F172A"/>
                          </a:solidFill>
                          <a:latin typeface="Inter"/>
                        </a:rPr>
                        <a:t>C$34,696</a:t>
                      </a:r>
                    </a:p>
                  </a:txBody>
                  <a:tcPr marL="54864" marR="54864" marT="27432" marB="27432" anchor="ctr">
                    <a:solidFill>
                      <a:srgbClr val="F6F3EC"/>
                    </a:solidFill>
                  </a:tcPr>
                </a:tc>
                <a:tc>
                  <a:txBody>
                    <a:bodyPr wrap="square"/>
                    <a:lstStyle/>
                    <a:p>
                      <a:pPr algn="r"/>
                      <a:r>
                        <a:rPr sz="850" b="1">
                          <a:solidFill>
                            <a:srgbClr val="0F172A"/>
                          </a:solidFill>
                          <a:latin typeface="Inter"/>
                        </a:rPr>
                        <a:t>9.61x</a:t>
                      </a:r>
                    </a:p>
                  </a:txBody>
                  <a:tcPr marL="54864" marR="54864" marT="27432" marB="27432" anchor="ctr">
                    <a:solidFill>
                      <a:srgbClr val="F6F3EC"/>
                    </a:solidFill>
                  </a:tcPr>
                </a:tc>
                <a:tc>
                  <a:txBody>
                    <a:bodyPr wrap="square"/>
                    <a:lstStyle/>
                    <a:p>
                      <a:pPr algn="r"/>
                      <a:r>
                        <a:rPr sz="850" b="1">
                          <a:solidFill>
                            <a:srgbClr val="0F172A"/>
                          </a:solidFill>
                          <a:latin typeface="Inter"/>
                        </a:rPr>
                        <a:t>10.4%</a:t>
                      </a:r>
                    </a:p>
                  </a:txBody>
                  <a:tcPr marL="54864" marR="54864" marT="27432" marB="27432" anchor="ctr">
                    <a:solidFill>
                      <a:srgbClr val="F6F3EC"/>
                    </a:solidFill>
                  </a:tcPr>
                </a:tc>
                <a:tc>
                  <a:txBody>
                    <a:bodyPr wrap="square"/>
                    <a:lstStyle/>
                    <a:p>
                      <a:pPr algn="r"/>
                      <a:r>
                        <a:rPr sz="850" b="1">
                          <a:solidFill>
                            <a:srgbClr val="0F172A"/>
                          </a:solidFill>
                          <a:latin typeface="Inter"/>
                        </a:rPr>
                        <a:t>6.3%</a:t>
                      </a:r>
                    </a:p>
                  </a:txBody>
                  <a:tcPr marL="54864" marR="54864" marT="27432" marB="27432" anchor="ctr">
                    <a:solidFill>
                      <a:srgbClr val="F6F3EC"/>
                    </a:solidFill>
                  </a:tcPr>
                </a:tc>
                <a:tc>
                  <a:txBody>
                    <a:bodyPr wrap="square"/>
                    <a:lstStyle/>
                    <a:p>
                      <a:pPr algn="r"/>
                      <a:r>
                        <a:rPr sz="850" b="1">
                          <a:solidFill>
                            <a:srgbClr val="0F172A"/>
                          </a:solidFill>
                          <a:latin typeface="Inter"/>
                        </a:rPr>
                        <a:t>115</a:t>
                      </a:r>
                    </a:p>
                  </a:txBody>
                  <a:tcPr marL="54864" marR="54864" marT="27432" marB="27432" anchor="ctr">
                    <a:solidFill>
                      <a:srgbClr val="F6F3EC"/>
                    </a:solidFill>
                  </a:tcPr>
                </a:tc>
                <a:tc>
                  <a:txBody>
                    <a:bodyPr wrap="square"/>
                    <a:lstStyle/>
                    <a:p>
                      <a:pPr algn="r"/>
                      <a:r>
                        <a:rPr sz="850" b="1">
                          <a:solidFill>
                            <a:srgbClr val="0F172A"/>
                          </a:solidFill>
                          <a:latin typeface="Inter"/>
                        </a:rPr>
                        <a:t>78</a:t>
                      </a:r>
                    </a:p>
                  </a:txBody>
                  <a:tcPr marL="54864" marR="54864" marT="27432" marB="27432" anchor="ctr">
                    <a:solidFill>
                      <a:srgbClr val="F6F3EC"/>
                    </a:solidFill>
                  </a:tcPr>
                </a:tc>
                <a:tc>
                  <a:txBody>
                    <a:bodyPr wrap="square"/>
                    <a:lstStyle/>
                    <a:p>
                      <a:pPr algn="r"/>
                      <a:r>
                        <a:rPr sz="850" b="1">
                          <a:solidFill>
                            <a:srgbClr val="0F172A"/>
                          </a:solidFill>
                          <a:latin typeface="Inter"/>
                        </a:rPr>
                        <a:t>C$22,968</a:t>
                      </a:r>
                    </a:p>
                  </a:txBody>
                  <a:tcPr marL="54864" marR="54864" marT="27432" marB="27432" anchor="ctr">
                    <a:solidFill>
                      <a:srgbClr val="F6F3EC"/>
                    </a:solidFill>
                  </a:tcPr>
                </a:tc>
                <a:tc>
                  <a:txBody>
                    <a:bodyPr wrap="square"/>
                    <a:lstStyle/>
                    <a:p>
                      <a:pPr algn="r"/>
                      <a:r>
                        <a:rPr sz="850" b="1">
                          <a:solidFill>
                            <a:srgbClr val="0F172A"/>
                          </a:solidFill>
                          <a:latin typeface="Inter"/>
                        </a:rPr>
                        <a:t>60%</a:t>
                      </a:r>
                    </a:p>
                  </a:txBody>
                  <a:tcPr marL="54864" marR="54864" marT="27432" marB="27432" anchor="ctr">
                    <a:solidFill>
                      <a:srgbClr val="F6F3EC"/>
                    </a:solidFill>
                  </a:tcPr>
                </a:tc>
              </a:tr>
            </a:tbl>
          </a:graphicData>
        </a:graphic>
      </p:graphicFrame>
      <p:sp>
        <p:nvSpPr>
          <p:cNvPr id="11" name=""/>
          <p:cNvSpPr txBox="1"/>
          <p:nvPr/>
        </p:nvSpPr>
        <p:spPr>
          <a:xfrm>
            <a:off x="548640" y="5943600"/>
            <a:ext cx="11091672" cy="411480"/>
          </a:xfrm>
          <a:prstGeom prst="rect">
            <a:avLst/>
          </a:prstGeom>
          <a:noFill/>
        </p:spPr>
        <p:txBody>
          <a:bodyPr wrap="square" lIns="36576" rIns="36576" tIns="18288" bIns="18288" anchor="t">
            <a:spAutoFit/>
          </a:bodyPr>
          <a:lstStyle/>
          <a:p>
            <a:pPr algn="l"/>
            <a:r>
              <a:rPr sz="900" b="0">
                <a:solidFill>
                  <a:srgbClr val="6B6558"/>
                </a:solidFill>
                <a:latin typeface="Inter"/>
              </a:rPr>
              <a:t>Organic sales = total sales minus ad-attributed sales (floored at C$0). Daily clicks and impressions aren't in the Sellerise daily feed; weekly totals: 2,521 clicks / 559,135 impressions this week vs 3,202 / 682,497.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MARKETING</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Coupons, promotions &amp; upcoming events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11 / 17</a:t>
            </a:r>
          </a:p>
        </p:txBody>
      </p:sp>
      <p:sp>
        <p:nvSpPr>
          <p:cNvPr id="10" name=""/>
          <p:cNvSpPr/>
          <p:nvPr/>
        </p:nvSpPr>
        <p:spPr>
          <a:xfrm>
            <a:off x="548640" y="1371600"/>
            <a:ext cx="11091672" cy="502920"/>
          </a:xfrm>
          <a:prstGeom prst="roundRect">
            <a:avLst>
              <a:gd name="" fmla="val 6000"/>
            </a:avLst>
          </a:prstGeom>
          <a:solidFill>
            <a:srgbClr val="EEF2FF"/>
          </a:solidFill>
          <a:ln>
            <a:noFill/>
          </a:ln>
        </p:spPr>
      </p:sp>
      <p:sp>
        <p:nvSpPr>
          <p:cNvPr id="11" name=""/>
          <p:cNvSpPr txBox="1"/>
          <p:nvPr/>
        </p:nvSpPr>
        <p:spPr>
          <a:xfrm>
            <a:off x="731520" y="1371600"/>
            <a:ext cx="10789920" cy="502920"/>
          </a:xfrm>
          <a:prstGeom prst="rect">
            <a:avLst/>
          </a:prstGeom>
          <a:noFill/>
        </p:spPr>
        <p:txBody>
          <a:bodyPr wrap="square" lIns="36576" rIns="36576" tIns="18288" bIns="18288" anchor="ctr">
            <a:spAutoFit/>
          </a:bodyPr>
          <a:lstStyle/>
          <a:p>
            <a:pPr algn="l"/>
            <a:r>
              <a:rPr sz="1050" b="0">
                <a:solidFill>
                  <a:srgbClr val="2447FF"/>
                </a:solidFill>
                <a:latin typeface="Inter"/>
              </a:rPr>
              <a:t>Data source: Sellerise promotion totals. Coupon and deal names aren't in the feed, so set-up details come from the account team.</a:t>
            </a:r>
          </a:p>
        </p:txBody>
      </p:sp>
      <p:sp>
        <p:nvSpPr>
          <p:cNvPr id="12" name=""/>
          <p:cNvSpPr/>
          <p:nvPr/>
        </p:nvSpPr>
        <p:spPr>
          <a:xfrm>
            <a:off x="548640" y="2057400"/>
            <a:ext cx="3611880" cy="4160520"/>
          </a:xfrm>
          <a:prstGeom prst="roundRect">
            <a:avLst>
              <a:gd name="" fmla="val 6000"/>
            </a:avLst>
          </a:prstGeom>
          <a:solidFill>
            <a:srgbClr val="FFFFFF"/>
          </a:solidFill>
          <a:ln w="9525">
            <a:solidFill>
              <a:srgbClr val="E5E0D6"/>
            </a:solidFill>
          </a:ln>
        </p:spPr>
      </p:sp>
      <p:sp>
        <p:nvSpPr>
          <p:cNvPr id="13" name=""/>
          <p:cNvSpPr txBox="1"/>
          <p:nvPr/>
        </p:nvSpPr>
        <p:spPr>
          <a:xfrm>
            <a:off x="731520" y="2194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Coupons</a:t>
            </a:r>
          </a:p>
        </p:txBody>
      </p:sp>
      <p:sp>
        <p:nvSpPr>
          <p:cNvPr id="14" name=""/>
          <p:cNvSpPr txBox="1"/>
          <p:nvPr/>
        </p:nvSpPr>
        <p:spPr>
          <a:xfrm>
            <a:off x="731520" y="2514600"/>
            <a:ext cx="3246120" cy="36118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This week: no coupon redemptions.</a:t>
            </a:r>
          </a:p>
          <a:p>
            <a:pPr algn="l">
              <a:spcAft>
                <a:spcPts val="500"/>
              </a:spcAft>
            </a:pPr>
            <a:r>
              <a:rPr sz="1050" b="0">
                <a:solidFill>
                  <a:srgbClr val="334155"/>
                </a:solidFill>
                <a:latin typeface="Inter"/>
              </a:rPr>
              <a:t>Last week: 9 coupon redemptions.</a:t>
            </a:r>
          </a:p>
          <a:p>
            <a:pPr algn="l">
              <a:spcAft>
                <a:spcPts val="500"/>
              </a:spcAft>
            </a:pPr>
            <a:r>
              <a:rPr sz="1050" b="0">
                <a:solidFill>
                  <a:srgbClr val="334155"/>
                </a:solidFill>
                <a:latin typeface="Inter"/>
              </a:rPr>
              <a:t>October to date: 83 coupon redemptions, mostly during Prime Big Deal Days.</a:t>
            </a:r>
          </a:p>
        </p:txBody>
      </p:sp>
      <p:sp>
        <p:nvSpPr>
          <p:cNvPr id="15" name=""/>
          <p:cNvSpPr/>
          <p:nvPr/>
        </p:nvSpPr>
        <p:spPr>
          <a:xfrm>
            <a:off x="4288536" y="2057400"/>
            <a:ext cx="3611880" cy="4160520"/>
          </a:xfrm>
          <a:prstGeom prst="roundRect">
            <a:avLst>
              <a:gd name="" fmla="val 6000"/>
            </a:avLst>
          </a:prstGeom>
          <a:solidFill>
            <a:srgbClr val="FFFFFF"/>
          </a:solidFill>
          <a:ln w="9525">
            <a:solidFill>
              <a:srgbClr val="E5E0D6"/>
            </a:solidFill>
          </a:ln>
        </p:spPr>
      </p:sp>
      <p:sp>
        <p:nvSpPr>
          <p:cNvPr id="16" name=""/>
          <p:cNvSpPr txBox="1"/>
          <p:nvPr/>
        </p:nvSpPr>
        <p:spPr>
          <a:xfrm>
            <a:off x="4471416" y="2194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Promotions</a:t>
            </a:r>
          </a:p>
        </p:txBody>
      </p:sp>
      <p:sp>
        <p:nvSpPr>
          <p:cNvPr id="17" name=""/>
          <p:cNvSpPr txBox="1"/>
          <p:nvPr/>
        </p:nvSpPr>
        <p:spPr>
          <a:xfrm>
            <a:off x="4471416" y="2514600"/>
            <a:ext cx="3246120" cy="36118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This week: 16 promotion orders, C$82 in promotional discounts (vs C$541 last week).</a:t>
            </a:r>
          </a:p>
          <a:p>
            <a:pPr algn="l">
              <a:spcAft>
                <a:spcPts val="500"/>
              </a:spcAft>
            </a:pPr>
            <a:r>
              <a:rPr sz="1050" b="0">
                <a:solidFill>
                  <a:srgbClr val="334155"/>
                </a:solidFill>
                <a:latin typeface="Inter"/>
              </a:rPr>
              <a:t>October to date: 59 promotion orders, C$4,243 in discounts.</a:t>
            </a:r>
          </a:p>
        </p:txBody>
      </p:sp>
      <p:sp>
        <p:nvSpPr>
          <p:cNvPr id="18" name=""/>
          <p:cNvSpPr/>
          <p:nvPr/>
        </p:nvSpPr>
        <p:spPr>
          <a:xfrm>
            <a:off x="8028431" y="2057400"/>
            <a:ext cx="3611880" cy="4160520"/>
          </a:xfrm>
          <a:prstGeom prst="roundRect">
            <a:avLst>
              <a:gd name="" fmla="val 6000"/>
            </a:avLst>
          </a:prstGeom>
          <a:solidFill>
            <a:srgbClr val="FFFFFF"/>
          </a:solidFill>
          <a:ln w="9525">
            <a:solidFill>
              <a:srgbClr val="E5E0D6"/>
            </a:solidFill>
          </a:ln>
        </p:spPr>
      </p:sp>
      <p:sp>
        <p:nvSpPr>
          <p:cNvPr id="19" name=""/>
          <p:cNvSpPr txBox="1"/>
          <p:nvPr/>
        </p:nvSpPr>
        <p:spPr>
          <a:xfrm>
            <a:off x="8211311" y="2194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Upcoming events</a:t>
            </a:r>
          </a:p>
        </p:txBody>
      </p:sp>
      <p:sp>
        <p:nvSpPr>
          <p:cNvPr id="20" name=""/>
          <p:cNvSpPr txBox="1"/>
          <p:nvPr/>
        </p:nvSpPr>
        <p:spPr>
          <a:xfrm>
            <a:off x="8211311" y="2514600"/>
            <a:ext cx="3246120" cy="36118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Black Friday / Cyber Monday: Nov 27 – Nov 30.</a:t>
            </a:r>
          </a:p>
          <a:p>
            <a:pPr algn="l">
              <a:spcAft>
                <a:spcPts val="500"/>
              </a:spcAft>
            </a:pPr>
            <a:r>
              <a:rPr sz="1050" b="0">
                <a:solidFill>
                  <a:srgbClr val="334155"/>
                </a:solidFill>
                <a:latin typeface="Inter"/>
              </a:rPr>
              <a:t>Boxing Day / Boxing Week: Dec 26.</a:t>
            </a:r>
          </a:p>
          <a:p>
            <a:pPr algn="l">
              <a:spcAft>
                <a:spcPts val="500"/>
              </a:spcAft>
            </a:pPr>
            <a:r>
              <a:rPr sz="1050" b="0">
                <a:solidFill>
                  <a:srgbClr val="334155"/>
                </a:solidFill>
                <a:latin typeface="Inter"/>
              </a:rPr>
              <a:t>Deal and coupon set-up deadlines: to confirm with the account team.</a:t>
            </a:r>
          </a:p>
          <a:p>
            <a:pPr algn="l">
              <a:spcAft>
                <a:spcPts val="500"/>
              </a:spcAft>
            </a:pPr>
            <a:r>
              <a:rPr sz="1050" b="0">
                <a:solidFill>
                  <a:srgbClr val="334155"/>
                </a:solidFill>
                <a:latin typeface="Inter"/>
              </a:rPr>
              <a:t>Priority: Queen topper and the SnowTek line in stock at FBA before Nov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INVENTORY</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Stock position — week 44 inventory update (10/26/2026)</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12 / 17</a:t>
            </a:r>
          </a:p>
        </p:txBody>
      </p:sp>
      <p:sp>
        <p:nvSpPr>
          <p:cNvPr id="10" name=""/>
          <p:cNvSpPr/>
          <p:nvPr/>
        </p:nvSpPr>
        <p:spPr>
          <a:xfrm>
            <a:off x="548640" y="1371600"/>
            <a:ext cx="2651760" cy="1417320"/>
          </a:xfrm>
          <a:prstGeom prst="roundRect">
            <a:avLst>
              <a:gd name="" fmla="val 6000"/>
            </a:avLst>
          </a:prstGeom>
          <a:solidFill>
            <a:srgbClr val="F6F3EC"/>
          </a:solidFill>
          <a:ln>
            <a:noFill/>
          </a:ln>
        </p:spPr>
      </p:sp>
      <p:sp>
        <p:nvSpPr>
          <p:cNvPr id="11" name=""/>
          <p:cNvSpPr txBox="1"/>
          <p:nvPr/>
        </p:nvSpPr>
        <p:spPr>
          <a:xfrm>
            <a:off x="713232"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OUT OF STOCK</a:t>
            </a:r>
          </a:p>
        </p:txBody>
      </p:sp>
      <p:sp>
        <p:nvSpPr>
          <p:cNvPr id="12" name=""/>
          <p:cNvSpPr txBox="1"/>
          <p:nvPr/>
        </p:nvSpPr>
        <p:spPr>
          <a:xfrm>
            <a:off x="713232" y="1755648"/>
            <a:ext cx="2377440" cy="548640"/>
          </a:xfrm>
          <a:prstGeom prst="rect">
            <a:avLst/>
          </a:prstGeom>
          <a:noFill/>
        </p:spPr>
        <p:txBody>
          <a:bodyPr wrap="square" lIns="36576" rIns="36576" tIns="18288" bIns="18288" anchor="t">
            <a:spAutoFit/>
          </a:bodyPr>
          <a:lstStyle/>
          <a:p>
            <a:pPr algn="l"/>
            <a:r>
              <a:rPr sz="2600" b="1">
                <a:solidFill>
                  <a:srgbClr val="DC2626"/>
                </a:solidFill>
                <a:latin typeface="Space Grotesk"/>
              </a:rPr>
              <a:t>4</a:t>
            </a:r>
          </a:p>
        </p:txBody>
      </p:sp>
      <p:sp>
        <p:nvSpPr>
          <p:cNvPr id="13" name=""/>
          <p:cNvSpPr txBox="1"/>
          <p:nvPr/>
        </p:nvSpPr>
        <p:spPr>
          <a:xfrm>
            <a:off x="713232" y="2377439"/>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of 15 selling SKUs, 0 at FBA</a:t>
            </a:r>
          </a:p>
        </p:txBody>
      </p:sp>
      <p:sp>
        <p:nvSpPr>
          <p:cNvPr id="14" name=""/>
          <p:cNvSpPr/>
          <p:nvPr/>
        </p:nvSpPr>
        <p:spPr>
          <a:xfrm>
            <a:off x="548640" y="2926080"/>
            <a:ext cx="2651760" cy="1417320"/>
          </a:xfrm>
          <a:prstGeom prst="roundRect">
            <a:avLst>
              <a:gd name="" fmla="val 6000"/>
            </a:avLst>
          </a:prstGeom>
          <a:solidFill>
            <a:srgbClr val="F6F3EC"/>
          </a:solidFill>
          <a:ln>
            <a:noFill/>
          </a:ln>
        </p:spPr>
      </p:sp>
      <p:sp>
        <p:nvSpPr>
          <p:cNvPr id="15" name=""/>
          <p:cNvSpPr txBox="1"/>
          <p:nvPr/>
        </p:nvSpPr>
        <p:spPr>
          <a:xfrm>
            <a:off x="713232" y="305409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LOW STOCK</a:t>
            </a:r>
          </a:p>
        </p:txBody>
      </p:sp>
      <p:sp>
        <p:nvSpPr>
          <p:cNvPr id="16" name=""/>
          <p:cNvSpPr txBox="1"/>
          <p:nvPr/>
        </p:nvSpPr>
        <p:spPr>
          <a:xfrm>
            <a:off x="713232" y="3310128"/>
            <a:ext cx="2377440" cy="548640"/>
          </a:xfrm>
          <a:prstGeom prst="rect">
            <a:avLst/>
          </a:prstGeom>
          <a:noFill/>
        </p:spPr>
        <p:txBody>
          <a:bodyPr wrap="square" lIns="36576" rIns="36576" tIns="18288" bIns="18288" anchor="t">
            <a:spAutoFit/>
          </a:bodyPr>
          <a:lstStyle/>
          <a:p>
            <a:pPr algn="l"/>
            <a:r>
              <a:rPr sz="2600" b="1">
                <a:solidFill>
                  <a:srgbClr val="D97706"/>
                </a:solidFill>
                <a:latin typeface="Space Grotesk"/>
              </a:rPr>
              <a:t>1</a:t>
            </a:r>
          </a:p>
        </p:txBody>
      </p:sp>
      <p:sp>
        <p:nvSpPr>
          <p:cNvPr id="17" name=""/>
          <p:cNvSpPr txBox="1"/>
          <p:nvPr/>
        </p:nvSpPr>
        <p:spPr>
          <a:xfrm>
            <a:off x="713232" y="39319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4 weeks of stock or less</a:t>
            </a:r>
          </a:p>
        </p:txBody>
      </p:sp>
      <p:sp>
        <p:nvSpPr>
          <p:cNvPr id="18" name=""/>
          <p:cNvSpPr/>
          <p:nvPr/>
        </p:nvSpPr>
        <p:spPr>
          <a:xfrm>
            <a:off x="548640" y="4480560"/>
            <a:ext cx="2651760" cy="1737360"/>
          </a:xfrm>
          <a:prstGeom prst="roundRect">
            <a:avLst>
              <a:gd name="" fmla="val 6000"/>
            </a:avLst>
          </a:prstGeom>
          <a:solidFill>
            <a:srgbClr val="F6F3EC"/>
          </a:solidFill>
          <a:ln>
            <a:noFill/>
          </a:ln>
        </p:spPr>
      </p:sp>
      <p:sp>
        <p:nvSpPr>
          <p:cNvPr id="19" name=""/>
          <p:cNvSpPr txBox="1"/>
          <p:nvPr/>
        </p:nvSpPr>
        <p:spPr>
          <a:xfrm>
            <a:off x="713232" y="460857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UNITS INBOUND</a:t>
            </a:r>
          </a:p>
        </p:txBody>
      </p:sp>
      <p:sp>
        <p:nvSpPr>
          <p:cNvPr id="20" name=""/>
          <p:cNvSpPr txBox="1"/>
          <p:nvPr/>
        </p:nvSpPr>
        <p:spPr>
          <a:xfrm>
            <a:off x="713232" y="486460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440</a:t>
            </a:r>
          </a:p>
        </p:txBody>
      </p:sp>
      <p:sp>
        <p:nvSpPr>
          <p:cNvPr id="21" name=""/>
          <p:cNvSpPr txBox="1"/>
          <p:nvPr/>
        </p:nvSpPr>
        <p:spPr>
          <a:xfrm>
            <a:off x="713232" y="580644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on the way to FBA</a:t>
            </a:r>
          </a:p>
        </p:txBody>
      </p:sp>
      <p:sp>
        <p:nvSpPr>
          <p:cNvPr id="22" name=""/>
          <p:cNvSpPr txBox="1"/>
          <p:nvPr/>
        </p:nvSpPr>
        <p:spPr>
          <a:xfrm>
            <a:off x="3429000" y="1371600"/>
            <a:ext cx="8211312" cy="274320"/>
          </a:xfrm>
          <a:prstGeom prst="rect">
            <a:avLst/>
          </a:prstGeom>
          <a:noFill/>
        </p:spPr>
        <p:txBody>
          <a:bodyPr wrap="square" lIns="36576" rIns="36576" tIns="18288" bIns="18288" anchor="t">
            <a:spAutoFit/>
          </a:bodyPr>
          <a:lstStyle/>
          <a:p>
            <a:pPr algn="l"/>
            <a:r>
              <a:rPr sz="1100" b="1">
                <a:solidFill>
                  <a:srgbClr val="0F172A"/>
                </a:solidFill>
                <a:latin typeface="Inter"/>
              </a:rPr>
              <a:t>Weeks of supply at FBA (available ÷ weekly sales)</a:t>
            </a:r>
          </a:p>
        </p:txBody>
      </p:sp>
      <p:sp>
        <p:nvSpPr>
          <p:cNvPr id="23" name=""/>
          <p:cNvSpPr txBox="1"/>
          <p:nvPr/>
        </p:nvSpPr>
        <p:spPr>
          <a:xfrm>
            <a:off x="3429000" y="169164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Queen</a:t>
            </a:r>
          </a:p>
        </p:txBody>
      </p:sp>
      <p:sp>
        <p:nvSpPr>
          <p:cNvPr id="24" name=""/>
          <p:cNvSpPr/>
          <p:nvPr/>
        </p:nvSpPr>
        <p:spPr>
          <a:xfrm>
            <a:off x="5257800" y="1814855"/>
            <a:ext cx="349351" cy="313639"/>
          </a:xfrm>
          <a:prstGeom prst="rect">
            <a:avLst/>
          </a:prstGeom>
          <a:solidFill>
            <a:srgbClr val="DC2626"/>
          </a:solidFill>
          <a:ln>
            <a:noFill/>
          </a:ln>
        </p:spPr>
      </p:sp>
      <p:sp>
        <p:nvSpPr>
          <p:cNvPr id="25" name=""/>
          <p:cNvSpPr txBox="1"/>
          <p:nvPr/>
        </p:nvSpPr>
        <p:spPr>
          <a:xfrm>
            <a:off x="5662015" y="169164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0.8 wk</a:t>
            </a:r>
          </a:p>
        </p:txBody>
      </p:sp>
      <p:sp>
        <p:nvSpPr>
          <p:cNvPr id="26" name=""/>
          <p:cNvSpPr txBox="1"/>
          <p:nvPr/>
        </p:nvSpPr>
        <p:spPr>
          <a:xfrm>
            <a:off x="3429000" y="225171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King</a:t>
            </a:r>
          </a:p>
        </p:txBody>
      </p:sp>
      <p:sp>
        <p:nvSpPr>
          <p:cNvPr id="27" name=""/>
          <p:cNvSpPr/>
          <p:nvPr/>
        </p:nvSpPr>
        <p:spPr>
          <a:xfrm>
            <a:off x="5257800" y="2374925"/>
            <a:ext cx="4511192" cy="313639"/>
          </a:xfrm>
          <a:prstGeom prst="rect">
            <a:avLst/>
          </a:prstGeom>
          <a:solidFill>
            <a:srgbClr val="2447FF"/>
          </a:solidFill>
          <a:ln>
            <a:noFill/>
          </a:ln>
        </p:spPr>
      </p:sp>
      <p:sp>
        <p:nvSpPr>
          <p:cNvPr id="28" name=""/>
          <p:cNvSpPr txBox="1"/>
          <p:nvPr/>
        </p:nvSpPr>
        <p:spPr>
          <a:xfrm>
            <a:off x="9823856" y="225171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9.9 wk</a:t>
            </a:r>
          </a:p>
        </p:txBody>
      </p:sp>
      <p:sp>
        <p:nvSpPr>
          <p:cNvPr id="29" name=""/>
          <p:cNvSpPr txBox="1"/>
          <p:nvPr/>
        </p:nvSpPr>
        <p:spPr>
          <a:xfrm>
            <a:off x="3429000" y="281178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Full</a:t>
            </a:r>
          </a:p>
        </p:txBody>
      </p:sp>
      <p:sp>
        <p:nvSpPr>
          <p:cNvPr id="30" name=""/>
          <p:cNvSpPr/>
          <p:nvPr/>
        </p:nvSpPr>
        <p:spPr>
          <a:xfrm>
            <a:off x="5257800" y="2934995"/>
            <a:ext cx="5468112" cy="313639"/>
          </a:xfrm>
          <a:prstGeom prst="rect">
            <a:avLst/>
          </a:prstGeom>
          <a:solidFill>
            <a:srgbClr val="2447FF"/>
          </a:solidFill>
          <a:ln>
            <a:noFill/>
          </a:ln>
        </p:spPr>
      </p:sp>
      <p:sp>
        <p:nvSpPr>
          <p:cNvPr id="31" name=""/>
          <p:cNvSpPr txBox="1"/>
          <p:nvPr/>
        </p:nvSpPr>
        <p:spPr>
          <a:xfrm>
            <a:off x="10780776" y="281178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12+ wk</a:t>
            </a:r>
          </a:p>
        </p:txBody>
      </p:sp>
      <p:sp>
        <p:nvSpPr>
          <p:cNvPr id="32" name=""/>
          <p:cNvSpPr txBox="1"/>
          <p:nvPr/>
        </p:nvSpPr>
        <p:spPr>
          <a:xfrm>
            <a:off x="3429000" y="337185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Twin &amp; XL</a:t>
            </a:r>
          </a:p>
        </p:txBody>
      </p:sp>
      <p:sp>
        <p:nvSpPr>
          <p:cNvPr id="33" name=""/>
          <p:cNvSpPr/>
          <p:nvPr/>
        </p:nvSpPr>
        <p:spPr>
          <a:xfrm>
            <a:off x="5257800" y="3495065"/>
            <a:ext cx="3018853" cy="313639"/>
          </a:xfrm>
          <a:prstGeom prst="rect">
            <a:avLst/>
          </a:prstGeom>
          <a:solidFill>
            <a:srgbClr val="2447FF"/>
          </a:solidFill>
          <a:ln>
            <a:noFill/>
          </a:ln>
        </p:spPr>
      </p:sp>
      <p:sp>
        <p:nvSpPr>
          <p:cNvPr id="34" name=""/>
          <p:cNvSpPr txBox="1"/>
          <p:nvPr/>
        </p:nvSpPr>
        <p:spPr>
          <a:xfrm>
            <a:off x="8331517" y="337185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6.6 wk</a:t>
            </a:r>
          </a:p>
        </p:txBody>
      </p:sp>
      <p:sp>
        <p:nvSpPr>
          <p:cNvPr id="35" name=""/>
          <p:cNvSpPr txBox="1"/>
          <p:nvPr/>
        </p:nvSpPr>
        <p:spPr>
          <a:xfrm>
            <a:off x="3429000" y="393192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Cal/Split/RV</a:t>
            </a:r>
          </a:p>
        </p:txBody>
      </p:sp>
      <p:sp>
        <p:nvSpPr>
          <p:cNvPr id="36" name=""/>
          <p:cNvSpPr/>
          <p:nvPr/>
        </p:nvSpPr>
        <p:spPr>
          <a:xfrm>
            <a:off x="5257800" y="4055135"/>
            <a:ext cx="4404868" cy="313639"/>
          </a:xfrm>
          <a:prstGeom prst="rect">
            <a:avLst/>
          </a:prstGeom>
          <a:solidFill>
            <a:srgbClr val="2447FF"/>
          </a:solidFill>
          <a:ln>
            <a:noFill/>
          </a:ln>
        </p:spPr>
      </p:sp>
      <p:sp>
        <p:nvSpPr>
          <p:cNvPr id="37" name=""/>
          <p:cNvSpPr txBox="1"/>
          <p:nvPr/>
        </p:nvSpPr>
        <p:spPr>
          <a:xfrm>
            <a:off x="9717532" y="393192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9.7 wk</a:t>
            </a:r>
          </a:p>
        </p:txBody>
      </p:sp>
      <p:sp>
        <p:nvSpPr>
          <p:cNvPr id="38" name=""/>
          <p:cNvSpPr txBox="1"/>
          <p:nvPr/>
        </p:nvSpPr>
        <p:spPr>
          <a:xfrm>
            <a:off x="3429000" y="449199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SnowTek &amp; Essentials</a:t>
            </a:r>
          </a:p>
        </p:txBody>
      </p:sp>
      <p:sp>
        <p:nvSpPr>
          <p:cNvPr id="39" name=""/>
          <p:cNvSpPr/>
          <p:nvPr/>
        </p:nvSpPr>
        <p:spPr>
          <a:xfrm>
            <a:off x="5257800" y="4615205"/>
            <a:ext cx="1686001" cy="313639"/>
          </a:xfrm>
          <a:prstGeom prst="rect">
            <a:avLst/>
          </a:prstGeom>
          <a:solidFill>
            <a:srgbClr val="2447FF"/>
          </a:solidFill>
          <a:ln>
            <a:noFill/>
          </a:ln>
        </p:spPr>
      </p:sp>
      <p:sp>
        <p:nvSpPr>
          <p:cNvPr id="40" name=""/>
          <p:cNvSpPr txBox="1"/>
          <p:nvPr/>
        </p:nvSpPr>
        <p:spPr>
          <a:xfrm>
            <a:off x="6998665" y="449199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3.7 wk</a:t>
            </a:r>
          </a:p>
        </p:txBody>
      </p:sp>
      <p:sp>
        <p:nvSpPr>
          <p:cNvPr id="41" name=""/>
          <p:cNvSpPr txBox="1"/>
          <p:nvPr/>
        </p:nvSpPr>
        <p:spPr>
          <a:xfrm>
            <a:off x="3429000" y="505206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Pillows</a:t>
            </a:r>
          </a:p>
        </p:txBody>
      </p:sp>
      <p:sp>
        <p:nvSpPr>
          <p:cNvPr id="42" name=""/>
          <p:cNvSpPr/>
          <p:nvPr/>
        </p:nvSpPr>
        <p:spPr>
          <a:xfrm>
            <a:off x="5257800" y="5175275"/>
            <a:ext cx="5126355" cy="313639"/>
          </a:xfrm>
          <a:prstGeom prst="rect">
            <a:avLst/>
          </a:prstGeom>
          <a:solidFill>
            <a:srgbClr val="2447FF"/>
          </a:solidFill>
          <a:ln>
            <a:noFill/>
          </a:ln>
        </p:spPr>
      </p:sp>
      <p:sp>
        <p:nvSpPr>
          <p:cNvPr id="43" name=""/>
          <p:cNvSpPr txBox="1"/>
          <p:nvPr/>
        </p:nvSpPr>
        <p:spPr>
          <a:xfrm>
            <a:off x="10439019" y="505206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11.2 wk</a:t>
            </a:r>
          </a:p>
        </p:txBody>
      </p:sp>
      <p:sp>
        <p:nvSpPr>
          <p:cNvPr id="44" name=""/>
          <p:cNvSpPr txBox="1"/>
          <p:nvPr/>
        </p:nvSpPr>
        <p:spPr>
          <a:xfrm>
            <a:off x="3429000" y="561213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Protectors &amp; Sheets</a:t>
            </a:r>
          </a:p>
        </p:txBody>
      </p:sp>
      <p:sp>
        <p:nvSpPr>
          <p:cNvPr id="45" name=""/>
          <p:cNvSpPr/>
          <p:nvPr/>
        </p:nvSpPr>
        <p:spPr>
          <a:xfrm>
            <a:off x="5257800" y="5735345"/>
            <a:ext cx="5468112" cy="313639"/>
          </a:xfrm>
          <a:prstGeom prst="rect">
            <a:avLst/>
          </a:prstGeom>
          <a:solidFill>
            <a:srgbClr val="2447FF"/>
          </a:solidFill>
          <a:ln>
            <a:noFill/>
          </a:ln>
        </p:spPr>
      </p:sp>
      <p:sp>
        <p:nvSpPr>
          <p:cNvPr id="46" name=""/>
          <p:cNvSpPr txBox="1"/>
          <p:nvPr/>
        </p:nvSpPr>
        <p:spPr>
          <a:xfrm>
            <a:off x="10780776" y="561213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12+ wk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REVIEWS &amp; ACCOUNT HEALTH</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Rating &amp; review trend</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13 / 17</a:t>
            </a:r>
          </a:p>
        </p:txBody>
      </p:sp>
      <p:sp>
        <p:nvSpPr>
          <p:cNvPr id="10" name=""/>
          <p:cNvSpPr/>
          <p:nvPr/>
        </p:nvSpPr>
        <p:spPr>
          <a:xfrm>
            <a:off x="548640" y="1417320"/>
            <a:ext cx="5486400" cy="4800600"/>
          </a:xfrm>
          <a:prstGeom prst="roundRect">
            <a:avLst>
              <a:gd name="" fmla="val 6000"/>
            </a:avLst>
          </a:prstGeom>
          <a:solidFill>
            <a:srgbClr val="F6F3EC"/>
          </a:solidFill>
          <a:ln>
            <a:noFill/>
          </a:ln>
        </p:spPr>
      </p:sp>
      <p:sp>
        <p:nvSpPr>
          <p:cNvPr id="11" name=""/>
          <p:cNvSpPr txBox="1"/>
          <p:nvPr/>
        </p:nvSpPr>
        <p:spPr>
          <a:xfrm>
            <a:off x="777240" y="1645920"/>
            <a:ext cx="5029200" cy="365760"/>
          </a:xfrm>
          <a:prstGeom prst="rect">
            <a:avLst/>
          </a:prstGeom>
          <a:noFill/>
        </p:spPr>
        <p:txBody>
          <a:bodyPr wrap="square" lIns="36576" rIns="36576" tIns="18288" bIns="18288" anchor="t">
            <a:spAutoFit/>
          </a:bodyPr>
          <a:lstStyle/>
          <a:p>
            <a:pPr algn="l"/>
            <a:r>
              <a:rPr sz="1100" b="1">
                <a:solidFill>
                  <a:srgbClr val="D97706"/>
                </a:solidFill>
                <a:latin typeface="Inter"/>
              </a:rPr>
              <a:t>LAST 90 DAYS</a:t>
            </a:r>
          </a:p>
        </p:txBody>
      </p:sp>
      <p:sp>
        <p:nvSpPr>
          <p:cNvPr id="12" name=""/>
          <p:cNvSpPr txBox="1"/>
          <p:nvPr/>
        </p:nvSpPr>
        <p:spPr>
          <a:xfrm>
            <a:off x="777240" y="2011680"/>
            <a:ext cx="5029200" cy="731520"/>
          </a:xfrm>
          <a:prstGeom prst="rect">
            <a:avLst/>
          </a:prstGeom>
          <a:noFill/>
        </p:spPr>
        <p:txBody>
          <a:bodyPr wrap="square" lIns="36576" rIns="36576" tIns="18288" bIns="18288" anchor="t">
            <a:spAutoFit/>
          </a:bodyPr>
          <a:lstStyle/>
          <a:p>
            <a:pPr algn="l"/>
            <a:r>
              <a:rPr sz="2400" b="1">
                <a:solidFill>
                  <a:srgbClr val="0F172A"/>
                </a:solidFill>
                <a:latin typeface="Space Grotesk"/>
              </a:rPr>
              <a:t>No review data in Sellerise</a:t>
            </a:r>
          </a:p>
        </p:txBody>
      </p:sp>
      <p:sp>
        <p:nvSpPr>
          <p:cNvPr id="13" name=""/>
          <p:cNvSpPr txBox="1"/>
          <p:nvPr/>
        </p:nvSpPr>
        <p:spPr>
          <a:xfrm>
            <a:off x="777240" y="2926080"/>
            <a:ext cx="5029200" cy="3108960"/>
          </a:xfrm>
          <a:prstGeom prst="rect">
            <a:avLst/>
          </a:prstGeom>
          <a:noFill/>
        </p:spPr>
        <p:txBody>
          <a:bodyPr wrap="square" lIns="36576" rIns="36576" tIns="18288" bIns="18288" anchor="t">
            <a:spAutoFit/>
          </a:bodyPr>
          <a:lstStyle/>
          <a:p>
            <a:pPr algn="l">
              <a:spcAft>
                <a:spcPts val="800"/>
              </a:spcAft>
            </a:pPr>
            <a:r>
              <a:rPr sz="1150" b="0">
                <a:solidFill>
                  <a:srgbClr val="334155"/>
                </a:solidFill>
                <a:latin typeface="Inter"/>
              </a:rPr>
              <a:t>Sellerise returned no review records, rating trend or negative reviews for the 30 Dormeo Canada products over the last 90 days.</a:t>
            </a:r>
          </a:p>
          <a:p>
            <a:pPr algn="l">
              <a:spcAft>
                <a:spcPts val="800"/>
              </a:spcAft>
            </a:pPr>
            <a:r>
              <a:rPr sz="1150" b="0">
                <a:solidFill>
                  <a:srgbClr val="334155"/>
                </a:solidFill>
                <a:latin typeface="Inter"/>
              </a:rPr>
              <a:t>That means the review tracker isn't pulling for this marketplace, not that there were no reviews.</a:t>
            </a:r>
          </a:p>
        </p:txBody>
      </p:sp>
      <p:sp>
        <p:nvSpPr>
          <p:cNvPr id="14" name=""/>
          <p:cNvSpPr/>
          <p:nvPr/>
        </p:nvSpPr>
        <p:spPr>
          <a:xfrm>
            <a:off x="6263640" y="1417320"/>
            <a:ext cx="5376672" cy="4800600"/>
          </a:xfrm>
          <a:prstGeom prst="roundRect">
            <a:avLst>
              <a:gd name="" fmla="val 6000"/>
            </a:avLst>
          </a:prstGeom>
          <a:solidFill>
            <a:srgbClr val="FFFFFF"/>
          </a:solidFill>
          <a:ln w="9525">
            <a:solidFill>
              <a:srgbClr val="E5E0D6"/>
            </a:solidFill>
          </a:ln>
        </p:spPr>
      </p:sp>
      <p:sp>
        <p:nvSpPr>
          <p:cNvPr id="15" name=""/>
          <p:cNvSpPr txBox="1"/>
          <p:nvPr/>
        </p:nvSpPr>
        <p:spPr>
          <a:xfrm>
            <a:off x="6446520" y="1554480"/>
            <a:ext cx="501091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Recommendation</a:t>
            </a:r>
          </a:p>
        </p:txBody>
      </p:sp>
      <p:sp>
        <p:nvSpPr>
          <p:cNvPr id="16" name=""/>
          <p:cNvSpPr txBox="1"/>
          <p:nvPr/>
        </p:nvSpPr>
        <p:spPr>
          <a:xfrm>
            <a:off x="6446520" y="1874519"/>
            <a:ext cx="5010912" cy="4251960"/>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Turn on review tracking for Dormeo Canada in Sellerise (or pull Amazon's Customer Reviews report) so next week's deck shows star rating and review count per line.</a:t>
            </a:r>
          </a:p>
          <a:p>
            <a:pPr algn="l">
              <a:spcAft>
                <a:spcPts val="500"/>
              </a:spcAft>
            </a:pPr>
            <a:r>
              <a:rPr sz="1100" b="0">
                <a:solidFill>
                  <a:srgbClr val="334155"/>
                </a:solidFill>
                <a:latin typeface="Inter"/>
              </a:rPr>
              <a:t>Read the newest 1–3 star reviews for the Queen and Twin XL toppers to see whether the returns share a cause.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REVIEWS &amp; ACCOUNT HEALTH</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Alerts &amp; Buy Box — last 30 days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14 / 17</a:t>
            </a:r>
          </a:p>
        </p:txBody>
      </p:sp>
      <p:sp>
        <p:nvSpPr>
          <p:cNvPr id="10" name=""/>
          <p:cNvSpPr/>
          <p:nvPr/>
        </p:nvSpPr>
        <p:spPr>
          <a:xfrm>
            <a:off x="548640" y="1371600"/>
            <a:ext cx="2651760" cy="1417320"/>
          </a:xfrm>
          <a:prstGeom prst="roundRect">
            <a:avLst>
              <a:gd name="" fmla="val 6000"/>
            </a:avLst>
          </a:prstGeom>
          <a:solidFill>
            <a:srgbClr val="F6F3EC"/>
          </a:solidFill>
          <a:ln>
            <a:noFill/>
          </a:ln>
        </p:spPr>
      </p:sp>
      <p:sp>
        <p:nvSpPr>
          <p:cNvPr id="11" name=""/>
          <p:cNvSpPr txBox="1"/>
          <p:nvPr/>
        </p:nvSpPr>
        <p:spPr>
          <a:xfrm>
            <a:off x="713232"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TOTAL ALERTS</a:t>
            </a:r>
          </a:p>
        </p:txBody>
      </p:sp>
      <p:sp>
        <p:nvSpPr>
          <p:cNvPr id="12" name=""/>
          <p:cNvSpPr txBox="1"/>
          <p:nvPr/>
        </p:nvSpPr>
        <p:spPr>
          <a:xfrm>
            <a:off x="713232" y="175564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107</a:t>
            </a:r>
          </a:p>
        </p:txBody>
      </p:sp>
      <p:sp>
        <p:nvSpPr>
          <p:cNvPr id="13" name=""/>
          <p:cNvSpPr txBox="1"/>
          <p:nvPr/>
        </p:nvSpPr>
        <p:spPr>
          <a:xfrm>
            <a:off x="713232" y="2377439"/>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open, incl. log events</a:t>
            </a:r>
          </a:p>
        </p:txBody>
      </p:sp>
      <p:sp>
        <p:nvSpPr>
          <p:cNvPr id="14" name=""/>
          <p:cNvSpPr/>
          <p:nvPr/>
        </p:nvSpPr>
        <p:spPr>
          <a:xfrm>
            <a:off x="548640" y="2926080"/>
            <a:ext cx="2651760" cy="1417320"/>
          </a:xfrm>
          <a:prstGeom prst="roundRect">
            <a:avLst>
              <a:gd name="" fmla="val 6000"/>
            </a:avLst>
          </a:prstGeom>
          <a:solidFill>
            <a:srgbClr val="F6F3EC"/>
          </a:solidFill>
          <a:ln>
            <a:noFill/>
          </a:ln>
        </p:spPr>
      </p:sp>
      <p:sp>
        <p:nvSpPr>
          <p:cNvPr id="15" name=""/>
          <p:cNvSpPr txBox="1"/>
          <p:nvPr/>
        </p:nvSpPr>
        <p:spPr>
          <a:xfrm>
            <a:off x="713232" y="305409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ACTIONABLE</a:t>
            </a:r>
          </a:p>
        </p:txBody>
      </p:sp>
      <p:sp>
        <p:nvSpPr>
          <p:cNvPr id="16" name=""/>
          <p:cNvSpPr txBox="1"/>
          <p:nvPr/>
        </p:nvSpPr>
        <p:spPr>
          <a:xfrm>
            <a:off x="713232" y="3310128"/>
            <a:ext cx="2377440" cy="548640"/>
          </a:xfrm>
          <a:prstGeom prst="rect">
            <a:avLst/>
          </a:prstGeom>
          <a:noFill/>
        </p:spPr>
        <p:txBody>
          <a:bodyPr wrap="square" lIns="36576" rIns="36576" tIns="18288" bIns="18288" anchor="t">
            <a:spAutoFit/>
          </a:bodyPr>
          <a:lstStyle/>
          <a:p>
            <a:pPr algn="l"/>
            <a:r>
              <a:rPr sz="2600" b="1">
                <a:solidFill>
                  <a:srgbClr val="D97706"/>
                </a:solidFill>
                <a:latin typeface="Space Grotesk"/>
              </a:rPr>
              <a:t>23</a:t>
            </a:r>
          </a:p>
        </p:txBody>
      </p:sp>
      <p:sp>
        <p:nvSpPr>
          <p:cNvPr id="17" name=""/>
          <p:cNvSpPr txBox="1"/>
          <p:nvPr/>
        </p:nvSpPr>
        <p:spPr>
          <a:xfrm>
            <a:off x="713232" y="39319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warnings + critical</a:t>
            </a:r>
          </a:p>
        </p:txBody>
      </p:sp>
      <p:sp>
        <p:nvSpPr>
          <p:cNvPr id="18" name=""/>
          <p:cNvSpPr/>
          <p:nvPr/>
        </p:nvSpPr>
        <p:spPr>
          <a:xfrm>
            <a:off x="548640" y="4480560"/>
            <a:ext cx="2651760" cy="1737360"/>
          </a:xfrm>
          <a:prstGeom prst="roundRect">
            <a:avLst>
              <a:gd name="" fmla="val 6000"/>
            </a:avLst>
          </a:prstGeom>
          <a:solidFill>
            <a:srgbClr val="F6F3EC"/>
          </a:solidFill>
          <a:ln>
            <a:noFill/>
          </a:ln>
        </p:spPr>
      </p:sp>
      <p:sp>
        <p:nvSpPr>
          <p:cNvPr id="19" name=""/>
          <p:cNvSpPr txBox="1"/>
          <p:nvPr/>
        </p:nvSpPr>
        <p:spPr>
          <a:xfrm>
            <a:off x="713232" y="460857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CRITICAL</a:t>
            </a:r>
          </a:p>
        </p:txBody>
      </p:sp>
      <p:sp>
        <p:nvSpPr>
          <p:cNvPr id="20" name=""/>
          <p:cNvSpPr txBox="1"/>
          <p:nvPr/>
        </p:nvSpPr>
        <p:spPr>
          <a:xfrm>
            <a:off x="713232" y="4864608"/>
            <a:ext cx="2377440" cy="548640"/>
          </a:xfrm>
          <a:prstGeom prst="rect">
            <a:avLst/>
          </a:prstGeom>
          <a:noFill/>
        </p:spPr>
        <p:txBody>
          <a:bodyPr wrap="square" lIns="36576" rIns="36576" tIns="18288" bIns="18288" anchor="t">
            <a:spAutoFit/>
          </a:bodyPr>
          <a:lstStyle/>
          <a:p>
            <a:pPr algn="l"/>
            <a:r>
              <a:rPr sz="2600" b="1">
                <a:solidFill>
                  <a:srgbClr val="DC2626"/>
                </a:solidFill>
                <a:latin typeface="Space Grotesk"/>
              </a:rPr>
              <a:t>15</a:t>
            </a:r>
          </a:p>
        </p:txBody>
      </p:sp>
      <p:sp>
        <p:nvSpPr>
          <p:cNvPr id="21" name=""/>
          <p:cNvSpPr txBox="1"/>
          <p:nvPr/>
        </p:nvSpPr>
        <p:spPr>
          <a:xfrm>
            <a:off x="713232" y="580644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Buy Box, stock, inactive</a:t>
            </a:r>
          </a:p>
        </p:txBody>
      </p:sp>
      <p:sp>
        <p:nvSpPr>
          <p:cNvPr id="22" name=""/>
          <p:cNvSpPr txBox="1"/>
          <p:nvPr/>
        </p:nvSpPr>
        <p:spPr>
          <a:xfrm>
            <a:off x="3429000" y="1371600"/>
            <a:ext cx="8211312" cy="274320"/>
          </a:xfrm>
          <a:prstGeom prst="rect">
            <a:avLst/>
          </a:prstGeom>
          <a:noFill/>
        </p:spPr>
        <p:txBody>
          <a:bodyPr wrap="square" lIns="36576" rIns="36576" tIns="18288" bIns="18288" anchor="t">
            <a:spAutoFit/>
          </a:bodyPr>
          <a:lstStyle/>
          <a:p>
            <a:pPr algn="l"/>
            <a:r>
              <a:rPr sz="1100" b="1">
                <a:solidFill>
                  <a:srgbClr val="0F172A"/>
                </a:solidFill>
                <a:latin typeface="Inter"/>
              </a:rPr>
              <a:t>Alerts by type</a:t>
            </a:r>
          </a:p>
        </p:txBody>
      </p:sp>
      <p:sp>
        <p:nvSpPr>
          <p:cNvPr id="23" name=""/>
          <p:cNvSpPr txBox="1"/>
          <p:nvPr/>
        </p:nvSpPr>
        <p:spPr>
          <a:xfrm>
            <a:off x="3429000" y="1691640"/>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Title</a:t>
            </a:r>
          </a:p>
        </p:txBody>
      </p:sp>
      <p:sp>
        <p:nvSpPr>
          <p:cNvPr id="24" name=""/>
          <p:cNvSpPr/>
          <p:nvPr/>
        </p:nvSpPr>
        <p:spPr>
          <a:xfrm>
            <a:off x="5257800" y="1790212"/>
            <a:ext cx="5468112" cy="250911"/>
          </a:xfrm>
          <a:prstGeom prst="rect">
            <a:avLst/>
          </a:prstGeom>
          <a:solidFill>
            <a:srgbClr val="2447FF"/>
          </a:solidFill>
          <a:ln>
            <a:noFill/>
          </a:ln>
        </p:spPr>
      </p:sp>
      <p:sp>
        <p:nvSpPr>
          <p:cNvPr id="25" name=""/>
          <p:cNvSpPr txBox="1"/>
          <p:nvPr/>
        </p:nvSpPr>
        <p:spPr>
          <a:xfrm>
            <a:off x="10780776" y="1691640"/>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26</a:t>
            </a:r>
          </a:p>
        </p:txBody>
      </p:sp>
      <p:sp>
        <p:nvSpPr>
          <p:cNvPr id="26" name=""/>
          <p:cNvSpPr txBox="1"/>
          <p:nvPr/>
        </p:nvSpPr>
        <p:spPr>
          <a:xfrm>
            <a:off x="3429000" y="2139696"/>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Listing price</a:t>
            </a:r>
          </a:p>
        </p:txBody>
      </p:sp>
      <p:sp>
        <p:nvSpPr>
          <p:cNvPr id="27" name=""/>
          <p:cNvSpPr/>
          <p:nvPr/>
        </p:nvSpPr>
        <p:spPr>
          <a:xfrm>
            <a:off x="5257800" y="2238268"/>
            <a:ext cx="4626864" cy="250911"/>
          </a:xfrm>
          <a:prstGeom prst="rect">
            <a:avLst/>
          </a:prstGeom>
          <a:solidFill>
            <a:srgbClr val="2447FF"/>
          </a:solidFill>
          <a:ln>
            <a:noFill/>
          </a:ln>
        </p:spPr>
      </p:sp>
      <p:sp>
        <p:nvSpPr>
          <p:cNvPr id="28" name=""/>
          <p:cNvSpPr txBox="1"/>
          <p:nvPr/>
        </p:nvSpPr>
        <p:spPr>
          <a:xfrm>
            <a:off x="9939528" y="2139696"/>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22</a:t>
            </a:r>
          </a:p>
        </p:txBody>
      </p:sp>
      <p:sp>
        <p:nvSpPr>
          <p:cNvPr id="29" name=""/>
          <p:cNvSpPr txBox="1"/>
          <p:nvPr/>
        </p:nvSpPr>
        <p:spPr>
          <a:xfrm>
            <a:off x="3429000" y="2587752"/>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Inactive</a:t>
            </a:r>
          </a:p>
        </p:txBody>
      </p:sp>
      <p:sp>
        <p:nvSpPr>
          <p:cNvPr id="30" name=""/>
          <p:cNvSpPr/>
          <p:nvPr/>
        </p:nvSpPr>
        <p:spPr>
          <a:xfrm>
            <a:off x="5257800" y="2686324"/>
            <a:ext cx="2734056" cy="250911"/>
          </a:xfrm>
          <a:prstGeom prst="rect">
            <a:avLst/>
          </a:prstGeom>
          <a:solidFill>
            <a:srgbClr val="DC2626"/>
          </a:solidFill>
          <a:ln>
            <a:noFill/>
          </a:ln>
        </p:spPr>
      </p:sp>
      <p:sp>
        <p:nvSpPr>
          <p:cNvPr id="31" name=""/>
          <p:cNvSpPr txBox="1"/>
          <p:nvPr/>
        </p:nvSpPr>
        <p:spPr>
          <a:xfrm>
            <a:off x="8046720" y="2587752"/>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13</a:t>
            </a:r>
          </a:p>
        </p:txBody>
      </p:sp>
      <p:sp>
        <p:nvSpPr>
          <p:cNvPr id="32" name=""/>
          <p:cNvSpPr txBox="1"/>
          <p:nvPr/>
        </p:nvSpPr>
        <p:spPr>
          <a:xfrm>
            <a:off x="3429000" y="3035808"/>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Listing images</a:t>
            </a:r>
          </a:p>
        </p:txBody>
      </p:sp>
      <p:sp>
        <p:nvSpPr>
          <p:cNvPr id="33" name=""/>
          <p:cNvSpPr/>
          <p:nvPr/>
        </p:nvSpPr>
        <p:spPr>
          <a:xfrm>
            <a:off x="5257800" y="3134380"/>
            <a:ext cx="2103120" cy="250911"/>
          </a:xfrm>
          <a:prstGeom prst="rect">
            <a:avLst/>
          </a:prstGeom>
          <a:solidFill>
            <a:srgbClr val="2447FF"/>
          </a:solidFill>
          <a:ln>
            <a:noFill/>
          </a:ln>
        </p:spPr>
      </p:sp>
      <p:sp>
        <p:nvSpPr>
          <p:cNvPr id="34" name=""/>
          <p:cNvSpPr txBox="1"/>
          <p:nvPr/>
        </p:nvSpPr>
        <p:spPr>
          <a:xfrm>
            <a:off x="7415784" y="3035808"/>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10</a:t>
            </a:r>
          </a:p>
        </p:txBody>
      </p:sp>
      <p:sp>
        <p:nvSpPr>
          <p:cNvPr id="35" name=""/>
          <p:cNvSpPr txBox="1"/>
          <p:nvPr/>
        </p:nvSpPr>
        <p:spPr>
          <a:xfrm>
            <a:off x="3429000" y="3483864"/>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Buy Box gained</a:t>
            </a:r>
          </a:p>
        </p:txBody>
      </p:sp>
      <p:sp>
        <p:nvSpPr>
          <p:cNvPr id="36" name=""/>
          <p:cNvSpPr/>
          <p:nvPr/>
        </p:nvSpPr>
        <p:spPr>
          <a:xfrm>
            <a:off x="5257800" y="3582436"/>
            <a:ext cx="1892808" cy="250911"/>
          </a:xfrm>
          <a:prstGeom prst="rect">
            <a:avLst/>
          </a:prstGeom>
          <a:solidFill>
            <a:srgbClr val="2447FF"/>
          </a:solidFill>
          <a:ln>
            <a:noFill/>
          </a:ln>
        </p:spPr>
      </p:sp>
      <p:sp>
        <p:nvSpPr>
          <p:cNvPr id="37" name=""/>
          <p:cNvSpPr txBox="1"/>
          <p:nvPr/>
        </p:nvSpPr>
        <p:spPr>
          <a:xfrm>
            <a:off x="7205472" y="3483864"/>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9</a:t>
            </a:r>
          </a:p>
        </p:txBody>
      </p:sp>
      <p:sp>
        <p:nvSpPr>
          <p:cNvPr id="38" name=""/>
          <p:cNvSpPr txBox="1"/>
          <p:nvPr/>
        </p:nvSpPr>
        <p:spPr>
          <a:xfrm>
            <a:off x="3429000" y="3931920"/>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Buy Box lost</a:t>
            </a:r>
          </a:p>
        </p:txBody>
      </p:sp>
      <p:sp>
        <p:nvSpPr>
          <p:cNvPr id="39" name=""/>
          <p:cNvSpPr/>
          <p:nvPr/>
        </p:nvSpPr>
        <p:spPr>
          <a:xfrm>
            <a:off x="5257800" y="4030492"/>
            <a:ext cx="1892808" cy="250911"/>
          </a:xfrm>
          <a:prstGeom prst="rect">
            <a:avLst/>
          </a:prstGeom>
          <a:solidFill>
            <a:srgbClr val="DC2626"/>
          </a:solidFill>
          <a:ln>
            <a:noFill/>
          </a:ln>
        </p:spPr>
      </p:sp>
      <p:sp>
        <p:nvSpPr>
          <p:cNvPr id="40" name=""/>
          <p:cNvSpPr txBox="1"/>
          <p:nvPr/>
        </p:nvSpPr>
        <p:spPr>
          <a:xfrm>
            <a:off x="7205472" y="3931920"/>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9</a:t>
            </a:r>
          </a:p>
        </p:txBody>
      </p:sp>
      <p:sp>
        <p:nvSpPr>
          <p:cNvPr id="41" name=""/>
          <p:cNvSpPr txBox="1"/>
          <p:nvPr/>
        </p:nvSpPr>
        <p:spPr>
          <a:xfrm>
            <a:off x="3429000" y="4379976"/>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Out of stock</a:t>
            </a:r>
          </a:p>
        </p:txBody>
      </p:sp>
      <p:sp>
        <p:nvSpPr>
          <p:cNvPr id="42" name=""/>
          <p:cNvSpPr/>
          <p:nvPr/>
        </p:nvSpPr>
        <p:spPr>
          <a:xfrm>
            <a:off x="5257800" y="4478548"/>
            <a:ext cx="1261872" cy="250911"/>
          </a:xfrm>
          <a:prstGeom prst="rect">
            <a:avLst/>
          </a:prstGeom>
          <a:solidFill>
            <a:srgbClr val="DC2626"/>
          </a:solidFill>
          <a:ln>
            <a:noFill/>
          </a:ln>
        </p:spPr>
      </p:sp>
      <p:sp>
        <p:nvSpPr>
          <p:cNvPr id="43" name=""/>
          <p:cNvSpPr txBox="1"/>
          <p:nvPr/>
        </p:nvSpPr>
        <p:spPr>
          <a:xfrm>
            <a:off x="6574536" y="4379976"/>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6</a:t>
            </a:r>
          </a:p>
        </p:txBody>
      </p:sp>
      <p:sp>
        <p:nvSpPr>
          <p:cNvPr id="44" name=""/>
          <p:cNvSpPr txBox="1"/>
          <p:nvPr/>
        </p:nvSpPr>
        <p:spPr>
          <a:xfrm>
            <a:off x="3429000" y="4828032"/>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Hijacker</a:t>
            </a:r>
          </a:p>
        </p:txBody>
      </p:sp>
      <p:sp>
        <p:nvSpPr>
          <p:cNvPr id="45" name=""/>
          <p:cNvSpPr/>
          <p:nvPr/>
        </p:nvSpPr>
        <p:spPr>
          <a:xfrm>
            <a:off x="5257800" y="4926604"/>
            <a:ext cx="630936" cy="250911"/>
          </a:xfrm>
          <a:prstGeom prst="rect">
            <a:avLst/>
          </a:prstGeom>
          <a:solidFill>
            <a:srgbClr val="2447FF"/>
          </a:solidFill>
          <a:ln>
            <a:noFill/>
          </a:ln>
        </p:spPr>
      </p:sp>
      <p:sp>
        <p:nvSpPr>
          <p:cNvPr id="46" name=""/>
          <p:cNvSpPr txBox="1"/>
          <p:nvPr/>
        </p:nvSpPr>
        <p:spPr>
          <a:xfrm>
            <a:off x="5943600" y="4828032"/>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3</a:t>
            </a:r>
          </a:p>
        </p:txBody>
      </p:sp>
      <p:sp>
        <p:nvSpPr>
          <p:cNvPr id="47" name=""/>
          <p:cNvSpPr txBox="1"/>
          <p:nvPr/>
        </p:nvSpPr>
        <p:spPr>
          <a:xfrm>
            <a:off x="3429000" y="5276088"/>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Hijacker liquidation</a:t>
            </a:r>
          </a:p>
        </p:txBody>
      </p:sp>
      <p:sp>
        <p:nvSpPr>
          <p:cNvPr id="48" name=""/>
          <p:cNvSpPr/>
          <p:nvPr/>
        </p:nvSpPr>
        <p:spPr>
          <a:xfrm>
            <a:off x="5257800" y="5374660"/>
            <a:ext cx="420624" cy="250911"/>
          </a:xfrm>
          <a:prstGeom prst="rect">
            <a:avLst/>
          </a:prstGeom>
          <a:solidFill>
            <a:srgbClr val="2447FF"/>
          </a:solidFill>
          <a:ln>
            <a:noFill/>
          </a:ln>
        </p:spPr>
      </p:sp>
      <p:sp>
        <p:nvSpPr>
          <p:cNvPr id="49" name=""/>
          <p:cNvSpPr txBox="1"/>
          <p:nvPr/>
        </p:nvSpPr>
        <p:spPr>
          <a:xfrm>
            <a:off x="5733288" y="5276088"/>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2</a:t>
            </a:r>
          </a:p>
        </p:txBody>
      </p:sp>
      <p:sp>
        <p:nvSpPr>
          <p:cNvPr id="50" name=""/>
          <p:cNvSpPr txBox="1"/>
          <p:nvPr/>
        </p:nvSpPr>
        <p:spPr>
          <a:xfrm>
            <a:off x="3429000" y="5724144"/>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Low stock</a:t>
            </a:r>
          </a:p>
        </p:txBody>
      </p:sp>
      <p:sp>
        <p:nvSpPr>
          <p:cNvPr id="51" name=""/>
          <p:cNvSpPr/>
          <p:nvPr/>
        </p:nvSpPr>
        <p:spPr>
          <a:xfrm>
            <a:off x="5257800" y="5822716"/>
            <a:ext cx="420624" cy="250911"/>
          </a:xfrm>
          <a:prstGeom prst="rect">
            <a:avLst/>
          </a:prstGeom>
          <a:solidFill>
            <a:srgbClr val="2447FF"/>
          </a:solidFill>
          <a:ln>
            <a:noFill/>
          </a:ln>
        </p:spPr>
      </p:sp>
      <p:sp>
        <p:nvSpPr>
          <p:cNvPr id="52" name=""/>
          <p:cNvSpPr txBox="1"/>
          <p:nvPr/>
        </p:nvSpPr>
        <p:spPr>
          <a:xfrm>
            <a:off x="5733288" y="5724144"/>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NEXT STEPS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This week's recommendations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15 / 17</a:t>
            </a:r>
          </a:p>
        </p:txBody>
      </p:sp>
      <p:graphicFrame>
        <p:nvGraphicFramePr>
          <p:cNvPr id="10" name=""/>
          <p:cNvGraphicFramePr>
            <a:graphicFrameLocks noGrp="1"/>
          </p:cNvGraphicFramePr>
          <p:nvPr/>
        </p:nvGraphicFramePr>
        <p:xfrm>
          <a:off x="548640" y="1371600"/>
          <a:ext cx="11091672" cy="4535424"/>
        </p:xfrm>
        <a:graphic>
          <a:graphicData uri="http://schemas.openxmlformats.org/drawingml/2006/table">
            <a:tbl>
              <a:tblPr firstRow="1" bandRow="1">
                <a:tableStyleId>{5C22544A-7EE6-4342-B048-85BDC9FD1C3A}</a:tableStyleId>
              </a:tblPr>
              <a:tblGrid>
                <a:gridCol w="1463040"/>
                <a:gridCol w="7068312"/>
                <a:gridCol w="1371600"/>
                <a:gridCol w="1188720"/>
              </a:tblGrid>
              <a:tr h="566928">
                <a:tc>
                  <a:txBody>
                    <a:bodyPr wrap="square"/>
                    <a:lstStyle/>
                    <a:p>
                      <a:pPr algn="l"/>
                      <a:r>
                        <a:rPr sz="1000" b="1">
                          <a:solidFill>
                            <a:srgbClr val="FFFFFF"/>
                          </a:solidFill>
                          <a:latin typeface="Inter"/>
                        </a:rPr>
                        <a:t>Area</a:t>
                      </a:r>
                    </a:p>
                  </a:txBody>
                  <a:tcPr marL="54864" marR="54864" marT="27432" marB="27432" anchor="ctr">
                    <a:solidFill>
                      <a:srgbClr val="0F172A"/>
                    </a:solidFill>
                  </a:tcPr>
                </a:tc>
                <a:tc>
                  <a:txBody>
                    <a:bodyPr wrap="square"/>
                    <a:lstStyle/>
                    <a:p>
                      <a:pPr algn="l"/>
                      <a:r>
                        <a:rPr sz="1000" b="1">
                          <a:solidFill>
                            <a:srgbClr val="FFFFFF"/>
                          </a:solidFill>
                          <a:latin typeface="Inter"/>
                        </a:rPr>
                        <a:t>Recommendation</a:t>
                      </a:r>
                    </a:p>
                  </a:txBody>
                  <a:tcPr marL="54864" marR="54864" marT="27432" marB="27432" anchor="ctr">
                    <a:solidFill>
                      <a:srgbClr val="0F172A"/>
                    </a:solidFill>
                  </a:tcPr>
                </a:tc>
                <a:tc>
                  <a:txBody>
                    <a:bodyPr wrap="square"/>
                    <a:lstStyle/>
                    <a:p>
                      <a:pPr algn="l"/>
                      <a:r>
                        <a:rPr sz="1000" b="1">
                          <a:solidFill>
                            <a:srgbClr val="FFFFFF"/>
                          </a:solidFill>
                          <a:latin typeface="Inter"/>
                        </a:rPr>
                        <a:t>Owner</a:t>
                      </a:r>
                    </a:p>
                  </a:txBody>
                  <a:tcPr marL="54864" marR="54864" marT="27432" marB="27432" anchor="ctr">
                    <a:solidFill>
                      <a:srgbClr val="0F172A"/>
                    </a:solidFill>
                  </a:tcPr>
                </a:tc>
                <a:tc>
                  <a:txBody>
                    <a:bodyPr wrap="square"/>
                    <a:lstStyle/>
                    <a:p>
                      <a:pPr algn="l"/>
                      <a:r>
                        <a:rPr sz="1000" b="1">
                          <a:solidFill>
                            <a:srgbClr val="FFFFFF"/>
                          </a:solidFill>
                          <a:latin typeface="Inter"/>
                        </a:rPr>
                        <a:t>Timing</a:t>
                      </a:r>
                    </a:p>
                  </a:txBody>
                  <a:tcPr marL="54864" marR="54864" marT="27432" marB="27432" anchor="ctr">
                    <a:solidFill>
                      <a:srgbClr val="0F172A"/>
                    </a:solidFill>
                  </a:tcPr>
                </a:tc>
              </a:tr>
              <a:tr h="566928">
                <a:tc>
                  <a:txBody>
                    <a:bodyPr wrap="square"/>
                    <a:lstStyle/>
                    <a:p>
                      <a:pPr algn="l"/>
                      <a:r>
                        <a:rPr sz="1100" b="0">
                          <a:solidFill>
                            <a:srgbClr val="0F172A"/>
                          </a:solidFill>
                          <a:latin typeface="Inter"/>
                        </a:rPr>
                        <a:t>Inventory</a:t>
                      </a:r>
                    </a:p>
                  </a:txBody>
                  <a:tcPr marL="54864" marR="54864" marT="27432" marB="27432" anchor="ctr">
                    <a:solidFill>
                      <a:srgbClr val="FFFFFF"/>
                    </a:solidFill>
                  </a:tcPr>
                </a:tc>
                <a:tc>
                  <a:txBody>
                    <a:bodyPr wrap="square"/>
                    <a:lstStyle/>
                    <a:p>
                      <a:pPr algn="l"/>
                      <a:r>
                        <a:rPr sz="1100" b="0">
                          <a:solidFill>
                            <a:srgbClr val="0F172A"/>
                          </a:solidFill>
                          <a:latin typeface="Inter"/>
                        </a:rPr>
                        <a:t>Get the 170 inbound Queen toppers checked in at FBA; only 23 are available (under a week of sales).</a:t>
                      </a:r>
                    </a:p>
                  </a:txBody>
                  <a:tcPr marL="54864" marR="54864" marT="27432" marB="27432" anchor="ctr">
                    <a:solidFill>
                      <a:srgbClr val="FFFFFF"/>
                    </a:solidFill>
                  </a:tcPr>
                </a:tc>
                <a:tc>
                  <a:txBody>
                    <a:bodyPr wrap="square"/>
                    <a:lstStyle/>
                    <a:p>
                      <a:pPr algn="l"/>
                      <a:r>
                        <a:rPr sz="1100" b="0">
                          <a:solidFill>
                            <a:srgbClr val="0F172A"/>
                          </a:solidFill>
                          <a:latin typeface="Inter"/>
                        </a:rPr>
                        <a:t>Account team</a:t>
                      </a:r>
                    </a:p>
                  </a:txBody>
                  <a:tcPr marL="54864" marR="54864" marT="27432" marB="27432" anchor="ctr">
                    <a:solidFill>
                      <a:srgbClr val="FFFFFF"/>
                    </a:solidFill>
                  </a:tcPr>
                </a:tc>
                <a:tc>
                  <a:txBody>
                    <a:bodyPr wrap="square"/>
                    <a:lstStyle/>
                    <a:p>
                      <a:pPr algn="l"/>
                      <a:r>
                        <a:rPr sz="1100" b="0">
                          <a:solidFill>
                            <a:srgbClr val="0F172A"/>
                          </a:solidFill>
                          <a:latin typeface="Inter"/>
                        </a:rPr>
                        <a:t>This week</a:t>
                      </a:r>
                    </a:p>
                  </a:txBody>
                  <a:tcPr marL="54864" marR="54864" marT="27432" marB="27432" anchor="ctr">
                    <a:solidFill>
                      <a:srgbClr val="FFFFFF"/>
                    </a:solidFill>
                  </a:tcPr>
                </a:tc>
              </a:tr>
              <a:tr h="566928">
                <a:tc>
                  <a:txBody>
                    <a:bodyPr wrap="square"/>
                    <a:lstStyle/>
                    <a:p>
                      <a:pPr algn="l"/>
                      <a:r>
                        <a:rPr sz="1100" b="0">
                          <a:solidFill>
                            <a:srgbClr val="0F172A"/>
                          </a:solidFill>
                          <a:latin typeface="Inter"/>
                        </a:rPr>
                        <a:t>Inventory</a:t>
                      </a:r>
                    </a:p>
                  </a:txBody>
                  <a:tcPr marL="54864" marR="54864" marT="27432" marB="27432" anchor="ctr">
                    <a:solidFill>
                      <a:srgbClr val="FBFAF7"/>
                    </a:solidFill>
                  </a:tcPr>
                </a:tc>
                <a:tc>
                  <a:txBody>
                    <a:bodyPr wrap="square"/>
                    <a:lstStyle/>
                    <a:p>
                      <a:pPr algn="l"/>
                      <a:r>
                        <a:rPr sz="1100" b="0">
                          <a:solidFill>
                            <a:srgbClr val="0F172A"/>
                          </a:solidFill>
                          <a:latin typeface="Inter"/>
                        </a:rPr>
                        <a:t>Restock SnowTek (Full and Twin out, King at 9 units) and Essentials Queen (out); none has stock inbound.</a:t>
                      </a:r>
                    </a:p>
                  </a:txBody>
                  <a:tcPr marL="54864" marR="54864" marT="27432" marB="27432" anchor="ctr">
                    <a:solidFill>
                      <a:srgbClr val="FBFAF7"/>
                    </a:solidFill>
                  </a:tcPr>
                </a:tc>
                <a:tc>
                  <a:txBody>
                    <a:bodyPr wrap="square"/>
                    <a:lstStyle/>
                    <a:p>
                      <a:pPr algn="l"/>
                      <a:r>
                        <a:rPr sz="1100" b="0">
                          <a:solidFill>
                            <a:srgbClr val="0F172A"/>
                          </a:solidFill>
                          <a:latin typeface="Inter"/>
                        </a:rPr>
                        <a:t>Account team</a:t>
                      </a:r>
                    </a:p>
                  </a:txBody>
                  <a:tcPr marL="54864" marR="54864" marT="27432" marB="27432" anchor="ctr">
                    <a:solidFill>
                      <a:srgbClr val="FBFAF7"/>
                    </a:solidFill>
                  </a:tcPr>
                </a:tc>
                <a:tc>
                  <a:txBody>
                    <a:bodyPr wrap="square"/>
                    <a:lstStyle/>
                    <a:p>
                      <a:pPr algn="l"/>
                      <a:r>
                        <a:rPr sz="1100" b="0">
                          <a:solidFill>
                            <a:srgbClr val="0F172A"/>
                          </a:solidFill>
                          <a:latin typeface="Inter"/>
                        </a:rPr>
                        <a:t>By Nov 6</a:t>
                      </a:r>
                    </a:p>
                  </a:txBody>
                  <a:tcPr marL="54864" marR="54864" marT="27432" marB="27432" anchor="ctr">
                    <a:solidFill>
                      <a:srgbClr val="FBFAF7"/>
                    </a:solidFill>
                  </a:tcPr>
                </a:tc>
              </a:tr>
              <a:tr h="566928">
                <a:tc>
                  <a:txBody>
                    <a:bodyPr wrap="square"/>
                    <a:lstStyle/>
                    <a:p>
                      <a:pPr algn="l"/>
                      <a:r>
                        <a:rPr sz="1100" b="0">
                          <a:solidFill>
                            <a:srgbClr val="0F172A"/>
                          </a:solidFill>
                          <a:latin typeface="Inter"/>
                        </a:rPr>
                        <a:t>Ads</a:t>
                      </a:r>
                    </a:p>
                  </a:txBody>
                  <a:tcPr marL="54864" marR="54864" marT="27432" marB="27432" anchor="ctr">
                    <a:solidFill>
                      <a:srgbClr val="FFFFFF"/>
                    </a:solidFill>
                  </a:tcPr>
                </a:tc>
                <a:tc>
                  <a:txBody>
                    <a:bodyPr wrap="square"/>
                    <a:lstStyle/>
                    <a:p>
                      <a:pPr algn="l"/>
                      <a:r>
                        <a:rPr sz="1100" b="0">
                          <a:solidFill>
                            <a:srgbClr val="0F172A"/>
                          </a:solidFill>
                          <a:latin typeface="Inter"/>
                        </a:rPr>
                        <a:t>Review the Streaming TV audience campaign: C$1,789 over two weeks with no attributed sales.</a:t>
                      </a:r>
                    </a:p>
                  </a:txBody>
                  <a:tcPr marL="54864" marR="54864" marT="27432" marB="27432" anchor="ctr">
                    <a:solidFill>
                      <a:srgbClr val="FFFFFF"/>
                    </a:solidFill>
                  </a:tcPr>
                </a:tc>
                <a:tc>
                  <a:txBody>
                    <a:bodyPr wrap="square"/>
                    <a:lstStyle/>
                    <a:p>
                      <a:pPr algn="l"/>
                      <a:r>
                        <a:rPr sz="1100" b="0">
                          <a:solidFill>
                            <a:srgbClr val="0F172A"/>
                          </a:solidFill>
                          <a:latin typeface="Inter"/>
                        </a:rPr>
                        <a:t>Ads team</a:t>
                      </a:r>
                    </a:p>
                  </a:txBody>
                  <a:tcPr marL="54864" marR="54864" marT="27432" marB="27432" anchor="ctr">
                    <a:solidFill>
                      <a:srgbClr val="FFFFFF"/>
                    </a:solidFill>
                  </a:tcPr>
                </a:tc>
                <a:tc>
                  <a:txBody>
                    <a:bodyPr wrap="square"/>
                    <a:lstStyle/>
                    <a:p>
                      <a:pPr algn="l"/>
                      <a:r>
                        <a:rPr sz="1100" b="0">
                          <a:solidFill>
                            <a:srgbClr val="0F172A"/>
                          </a:solidFill>
                          <a:latin typeface="Inter"/>
                        </a:rPr>
                        <a:t>This week</a:t>
                      </a:r>
                    </a:p>
                  </a:txBody>
                  <a:tcPr marL="54864" marR="54864" marT="27432" marB="27432" anchor="ctr">
                    <a:solidFill>
                      <a:srgbClr val="FFFFFF"/>
                    </a:solidFill>
                  </a:tcPr>
                </a:tc>
              </a:tr>
              <a:tr h="566928">
                <a:tc>
                  <a:txBody>
                    <a:bodyPr wrap="square"/>
                    <a:lstStyle/>
                    <a:p>
                      <a:pPr algn="l"/>
                      <a:r>
                        <a:rPr sz="1100" b="0">
                          <a:solidFill>
                            <a:srgbClr val="0F172A"/>
                          </a:solidFill>
                          <a:latin typeface="Inter"/>
                        </a:rPr>
                        <a:t>Ads</a:t>
                      </a:r>
                    </a:p>
                  </a:txBody>
                  <a:tcPr marL="54864" marR="54864" marT="27432" marB="27432" anchor="ctr">
                    <a:solidFill>
                      <a:srgbClr val="FBFAF7"/>
                    </a:solidFill>
                  </a:tcPr>
                </a:tc>
                <a:tc>
                  <a:txBody>
                    <a:bodyPr wrap="square"/>
                    <a:lstStyle/>
                    <a:p>
                      <a:pPr algn="l"/>
                      <a:r>
                        <a:rPr sz="1100" b="0">
                          <a:solidFill>
                            <a:srgbClr val="0F172A"/>
                          </a:solidFill>
                          <a:latin typeface="Inter"/>
                        </a:rPr>
                        <a:t>Negate or pause no-sale targets (“mattress +topper” exact, “sur matelas dormeo” exact) and lower the “mattress +topper” phrase bid.</a:t>
                      </a:r>
                    </a:p>
                  </a:txBody>
                  <a:tcPr marL="54864" marR="54864" marT="27432" marB="27432" anchor="ctr">
                    <a:solidFill>
                      <a:srgbClr val="FBFAF7"/>
                    </a:solidFill>
                  </a:tcPr>
                </a:tc>
                <a:tc>
                  <a:txBody>
                    <a:bodyPr wrap="square"/>
                    <a:lstStyle/>
                    <a:p>
                      <a:pPr algn="l"/>
                      <a:r>
                        <a:rPr sz="1100" b="0">
                          <a:solidFill>
                            <a:srgbClr val="0F172A"/>
                          </a:solidFill>
                          <a:latin typeface="Inter"/>
                        </a:rPr>
                        <a:t>Ads team</a:t>
                      </a:r>
                    </a:p>
                  </a:txBody>
                  <a:tcPr marL="54864" marR="54864" marT="27432" marB="27432" anchor="ctr">
                    <a:solidFill>
                      <a:srgbClr val="FBFAF7"/>
                    </a:solidFill>
                  </a:tcPr>
                </a:tc>
                <a:tc>
                  <a:txBody>
                    <a:bodyPr wrap="square"/>
                    <a:lstStyle/>
                    <a:p>
                      <a:pPr algn="l"/>
                      <a:r>
                        <a:rPr sz="1100" b="0">
                          <a:solidFill>
                            <a:srgbClr val="0F172A"/>
                          </a:solidFill>
                          <a:latin typeface="Inter"/>
                        </a:rPr>
                        <a:t>This week</a:t>
                      </a:r>
                    </a:p>
                  </a:txBody>
                  <a:tcPr marL="54864" marR="54864" marT="27432" marB="27432" anchor="ctr">
                    <a:solidFill>
                      <a:srgbClr val="FBFAF7"/>
                    </a:solidFill>
                  </a:tcPr>
                </a:tc>
              </a:tr>
              <a:tr h="566928">
                <a:tc>
                  <a:txBody>
                    <a:bodyPr wrap="square"/>
                    <a:lstStyle/>
                    <a:p>
                      <a:pPr algn="l"/>
                      <a:r>
                        <a:rPr sz="1100" b="0">
                          <a:solidFill>
                            <a:srgbClr val="0F172A"/>
                          </a:solidFill>
                          <a:latin typeface="Inter"/>
                        </a:rPr>
                        <a:t>Ads</a:t>
                      </a:r>
                    </a:p>
                  </a:txBody>
                  <a:tcPr marL="54864" marR="54864" marT="27432" marB="27432" anchor="ctr">
                    <a:solidFill>
                      <a:srgbClr val="FFFFFF"/>
                    </a:solidFill>
                  </a:tcPr>
                </a:tc>
                <a:tc>
                  <a:txBody>
                    <a:bodyPr wrap="square"/>
                    <a:lstStyle/>
                    <a:p>
                      <a:pPr algn="l"/>
                      <a:r>
                        <a:rPr sz="1100" b="0">
                          <a:solidFill>
                            <a:srgbClr val="0F172A"/>
                          </a:solidFill>
                          <a:latin typeface="Inter"/>
                        </a:rPr>
                        <a:t>Add “dormeo mattress topper queen” (SB) and “octaspring mattress topper” as exact keywords; review the 11 no-sale search terms.</a:t>
                      </a:r>
                    </a:p>
                  </a:txBody>
                  <a:tcPr marL="54864" marR="54864" marT="27432" marB="27432" anchor="ctr">
                    <a:solidFill>
                      <a:srgbClr val="FFFFFF"/>
                    </a:solidFill>
                  </a:tcPr>
                </a:tc>
                <a:tc>
                  <a:txBody>
                    <a:bodyPr wrap="square"/>
                    <a:lstStyle/>
                    <a:p>
                      <a:pPr algn="l"/>
                      <a:r>
                        <a:rPr sz="1100" b="0">
                          <a:solidFill>
                            <a:srgbClr val="0F172A"/>
                          </a:solidFill>
                          <a:latin typeface="Inter"/>
                        </a:rPr>
                        <a:t>Ads team</a:t>
                      </a:r>
                    </a:p>
                  </a:txBody>
                  <a:tcPr marL="54864" marR="54864" marT="27432" marB="27432" anchor="ctr">
                    <a:solidFill>
                      <a:srgbClr val="FFFFFF"/>
                    </a:solidFill>
                  </a:tcPr>
                </a:tc>
                <a:tc>
                  <a:txBody>
                    <a:bodyPr wrap="square"/>
                    <a:lstStyle/>
                    <a:p>
                      <a:pPr algn="l"/>
                      <a:r>
                        <a:rPr sz="1100" b="0">
                          <a:solidFill>
                            <a:srgbClr val="0F172A"/>
                          </a:solidFill>
                          <a:latin typeface="Inter"/>
                        </a:rPr>
                        <a:t>This week</a:t>
                      </a:r>
                    </a:p>
                  </a:txBody>
                  <a:tcPr marL="54864" marR="54864" marT="27432" marB="27432" anchor="ctr">
                    <a:solidFill>
                      <a:srgbClr val="FFFFFF"/>
                    </a:solidFill>
                  </a:tcPr>
                </a:tc>
              </a:tr>
              <a:tr h="566928">
                <a:tc>
                  <a:txBody>
                    <a:bodyPr wrap="square"/>
                    <a:lstStyle/>
                    <a:p>
                      <a:pPr algn="l"/>
                      <a:r>
                        <a:rPr sz="1100" b="0">
                          <a:solidFill>
                            <a:srgbClr val="0F172A"/>
                          </a:solidFill>
                          <a:latin typeface="Inter"/>
                        </a:rPr>
                        <a:t>Marketing</a:t>
                      </a:r>
                    </a:p>
                  </a:txBody>
                  <a:tcPr marL="54864" marR="54864" marT="27432" marB="27432" anchor="ctr">
                    <a:solidFill>
                      <a:srgbClr val="FBFAF7"/>
                    </a:solidFill>
                  </a:tcPr>
                </a:tc>
                <a:tc>
                  <a:txBody>
                    <a:bodyPr wrap="square"/>
                    <a:lstStyle/>
                    <a:p>
                      <a:pPr algn="l"/>
                      <a:r>
                        <a:rPr sz="1100" b="0">
                          <a:solidFill>
                            <a:srgbClr val="0F172A"/>
                          </a:solidFill>
                          <a:latin typeface="Inter"/>
                        </a:rPr>
                        <a:t>Plan BF/CM and Boxing Day coupons and deals for the toppers and confirm submission deadlines.</a:t>
                      </a:r>
                    </a:p>
                  </a:txBody>
                  <a:tcPr marL="54864" marR="54864" marT="27432" marB="27432" anchor="ctr">
                    <a:solidFill>
                      <a:srgbClr val="FBFAF7"/>
                    </a:solidFill>
                  </a:tcPr>
                </a:tc>
                <a:tc>
                  <a:txBody>
                    <a:bodyPr wrap="square"/>
                    <a:lstStyle/>
                    <a:p>
                      <a:pPr algn="l"/>
                      <a:r>
                        <a:rPr sz="1100" b="0">
                          <a:solidFill>
                            <a:srgbClr val="0F172A"/>
                          </a:solidFill>
                          <a:latin typeface="Inter"/>
                        </a:rPr>
                        <a:t>Account team</a:t>
                      </a:r>
                    </a:p>
                  </a:txBody>
                  <a:tcPr marL="54864" marR="54864" marT="27432" marB="27432" anchor="ctr">
                    <a:solidFill>
                      <a:srgbClr val="FBFAF7"/>
                    </a:solidFill>
                  </a:tcPr>
                </a:tc>
                <a:tc>
                  <a:txBody>
                    <a:bodyPr wrap="square"/>
                    <a:lstStyle/>
                    <a:p>
                      <a:pPr algn="l"/>
                      <a:r>
                        <a:rPr sz="1100" b="0">
                          <a:solidFill>
                            <a:srgbClr val="0F172A"/>
                          </a:solidFill>
                          <a:latin typeface="Inter"/>
                        </a:rPr>
                        <a:t>By Nov 6</a:t>
                      </a:r>
                    </a:p>
                  </a:txBody>
                  <a:tcPr marL="54864" marR="54864" marT="27432" marB="27432" anchor="ctr">
                    <a:solidFill>
                      <a:srgbClr val="FBFAF7"/>
                    </a:solidFill>
                  </a:tcPr>
                </a:tc>
              </a:tr>
              <a:tr h="566928">
                <a:tc>
                  <a:txBody>
                    <a:bodyPr wrap="square"/>
                    <a:lstStyle/>
                    <a:p>
                      <a:pPr algn="l"/>
                      <a:r>
                        <a:rPr sz="1100" b="0">
                          <a:solidFill>
                            <a:srgbClr val="0F172A"/>
                          </a:solidFill>
                          <a:latin typeface="Inter"/>
                        </a:rPr>
                        <a:t>Account health</a:t>
                      </a:r>
                    </a:p>
                  </a:txBody>
                  <a:tcPr marL="54864" marR="54864" marT="27432" marB="27432" anchor="ctr">
                    <a:solidFill>
                      <a:srgbClr val="FFFFFF"/>
                    </a:solidFill>
                  </a:tcPr>
                </a:tc>
                <a:tc>
                  <a:txBody>
                    <a:bodyPr wrap="square"/>
                    <a:lstStyle/>
                    <a:p>
                      <a:pPr algn="l"/>
                      <a:r>
                        <a:rPr sz="1100" b="0">
                          <a:solidFill>
                            <a:srgbClr val="0F172A"/>
                          </a:solidFill>
                          <a:latin typeface="Inter"/>
                        </a:rPr>
                        <a:t>Check the 9 Buy Box losses and 3 hijacker alerts from the last 30 days; turn on review tracking.</a:t>
                      </a:r>
                    </a:p>
                  </a:txBody>
                  <a:tcPr marL="54864" marR="54864" marT="27432" marB="27432" anchor="ctr">
                    <a:solidFill>
                      <a:srgbClr val="FFFFFF"/>
                    </a:solidFill>
                  </a:tcPr>
                </a:tc>
                <a:tc>
                  <a:txBody>
                    <a:bodyPr wrap="square"/>
                    <a:lstStyle/>
                    <a:p>
                      <a:pPr algn="l"/>
                      <a:r>
                        <a:rPr sz="1100" b="0">
                          <a:solidFill>
                            <a:srgbClr val="0F172A"/>
                          </a:solidFill>
                          <a:latin typeface="Inter"/>
                        </a:rPr>
                        <a:t>Account team</a:t>
                      </a:r>
                    </a:p>
                  </a:txBody>
                  <a:tcPr marL="54864" marR="54864" marT="27432" marB="27432" anchor="ctr">
                    <a:solidFill>
                      <a:srgbClr val="FFFFFF"/>
                    </a:solidFill>
                  </a:tcPr>
                </a:tc>
                <a:tc>
                  <a:txBody>
                    <a:bodyPr wrap="square"/>
                    <a:lstStyle/>
                    <a:p>
                      <a:pPr algn="l"/>
                      <a:r>
                        <a:rPr sz="1100" b="0">
                          <a:solidFill>
                            <a:srgbClr val="0F172A"/>
                          </a:solidFill>
                          <a:latin typeface="Inter"/>
                        </a:rPr>
                        <a:t>Next week</a:t>
                      </a:r>
                    </a:p>
                  </a:txBody>
                  <a:tcPr marL="54864" marR="54864" marT="27432" marB="27432"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6F3EC"/>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2296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Ad spend performance — this week vs last</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1417320"/>
            <a:ext cx="2651760" cy="1554480"/>
          </a:xfrm>
          <a:prstGeom prst="roundRect">
            <a:avLst>
              <a:gd name="" fmla="val 6000"/>
            </a:avLst>
          </a:prstGeom>
          <a:solidFill>
            <a:srgbClr val="FFFFFF"/>
          </a:solidFill>
          <a:ln>
            <a:noFill/>
          </a:ln>
        </p:spPr>
      </p:sp>
      <p:sp>
        <p:nvSpPr>
          <p:cNvPr id="8" name=""/>
          <p:cNvSpPr txBox="1"/>
          <p:nvPr/>
        </p:nvSpPr>
        <p:spPr>
          <a:xfrm>
            <a:off x="713232"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AD SPEND</a:t>
            </a:r>
          </a:p>
        </p:txBody>
      </p:sp>
      <p:sp>
        <p:nvSpPr>
          <p:cNvPr id="9" name=""/>
          <p:cNvSpPr txBox="1"/>
          <p:nvPr/>
        </p:nvSpPr>
        <p:spPr>
          <a:xfrm>
            <a:off x="713232"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C$3,612</a:t>
            </a:r>
          </a:p>
        </p:txBody>
      </p:sp>
      <p:sp>
        <p:nvSpPr>
          <p:cNvPr id="10" name=""/>
          <p:cNvSpPr txBox="1"/>
          <p:nvPr/>
        </p:nvSpPr>
        <p:spPr>
          <a:xfrm>
            <a:off x="713232" y="2560320"/>
            <a:ext cx="2377440" cy="320040"/>
          </a:xfrm>
          <a:prstGeom prst="rect">
            <a:avLst/>
          </a:prstGeom>
          <a:noFill/>
        </p:spPr>
        <p:txBody>
          <a:bodyPr wrap="square" lIns="36576" rIns="36576" tIns="18288" bIns="18288" anchor="t">
            <a:spAutoFit/>
          </a:bodyPr>
          <a:lstStyle/>
          <a:p>
            <a:pPr algn="l"/>
            <a:r>
              <a:rPr sz="1000" b="0">
                <a:solidFill>
                  <a:srgbClr val="16A34A"/>
                </a:solidFill>
                <a:latin typeface="Inter"/>
              </a:rPr>
              <a:t>-26% vs C$4,911</a:t>
            </a:r>
          </a:p>
        </p:txBody>
      </p:sp>
      <p:sp>
        <p:nvSpPr>
          <p:cNvPr id="11" name=""/>
          <p:cNvSpPr/>
          <p:nvPr/>
        </p:nvSpPr>
        <p:spPr>
          <a:xfrm>
            <a:off x="3364992" y="1417320"/>
            <a:ext cx="2651760" cy="1554480"/>
          </a:xfrm>
          <a:prstGeom prst="roundRect">
            <a:avLst>
              <a:gd name="" fmla="val 6000"/>
            </a:avLst>
          </a:prstGeom>
          <a:solidFill>
            <a:srgbClr val="FFFFFF"/>
          </a:solidFill>
          <a:ln>
            <a:noFill/>
          </a:ln>
        </p:spPr>
      </p:sp>
      <p:sp>
        <p:nvSpPr>
          <p:cNvPr id="12" name=""/>
          <p:cNvSpPr txBox="1"/>
          <p:nvPr/>
        </p:nvSpPr>
        <p:spPr>
          <a:xfrm>
            <a:off x="3529584"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AD SALES</a:t>
            </a:r>
          </a:p>
        </p:txBody>
      </p:sp>
      <p:sp>
        <p:nvSpPr>
          <p:cNvPr id="13" name=""/>
          <p:cNvSpPr txBox="1"/>
          <p:nvPr/>
        </p:nvSpPr>
        <p:spPr>
          <a:xfrm>
            <a:off x="3529584"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C$34,696</a:t>
            </a:r>
          </a:p>
        </p:txBody>
      </p:sp>
      <p:sp>
        <p:nvSpPr>
          <p:cNvPr id="14" name=""/>
          <p:cNvSpPr txBox="1"/>
          <p:nvPr/>
        </p:nvSpPr>
        <p:spPr>
          <a:xfrm>
            <a:off x="3529584" y="2560320"/>
            <a:ext cx="2377440" cy="320040"/>
          </a:xfrm>
          <a:prstGeom prst="rect">
            <a:avLst/>
          </a:prstGeom>
          <a:noFill/>
        </p:spPr>
        <p:txBody>
          <a:bodyPr wrap="square" lIns="36576" rIns="36576" tIns="18288" bIns="18288" anchor="t">
            <a:spAutoFit/>
          </a:bodyPr>
          <a:lstStyle/>
          <a:p>
            <a:pPr algn="l"/>
            <a:r>
              <a:rPr sz="1000" b="0">
                <a:solidFill>
                  <a:srgbClr val="16A34A"/>
                </a:solidFill>
                <a:latin typeface="Inter"/>
              </a:rPr>
              <a:t>+19% vs C$29,112</a:t>
            </a:r>
          </a:p>
        </p:txBody>
      </p:sp>
      <p:sp>
        <p:nvSpPr>
          <p:cNvPr id="15" name=""/>
          <p:cNvSpPr/>
          <p:nvPr/>
        </p:nvSpPr>
        <p:spPr>
          <a:xfrm>
            <a:off x="6181344" y="1417320"/>
            <a:ext cx="2651760" cy="1554480"/>
          </a:xfrm>
          <a:prstGeom prst="roundRect">
            <a:avLst>
              <a:gd name="" fmla="val 6000"/>
            </a:avLst>
          </a:prstGeom>
          <a:solidFill>
            <a:srgbClr val="FFFFFF"/>
          </a:solidFill>
          <a:ln>
            <a:noFill/>
          </a:ln>
        </p:spPr>
      </p:sp>
      <p:sp>
        <p:nvSpPr>
          <p:cNvPr id="16" name=""/>
          <p:cNvSpPr txBox="1"/>
          <p:nvPr/>
        </p:nvSpPr>
        <p:spPr>
          <a:xfrm>
            <a:off x="6345936"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ACOS</a:t>
            </a:r>
          </a:p>
        </p:txBody>
      </p:sp>
      <p:sp>
        <p:nvSpPr>
          <p:cNvPr id="17" name=""/>
          <p:cNvSpPr txBox="1"/>
          <p:nvPr/>
        </p:nvSpPr>
        <p:spPr>
          <a:xfrm>
            <a:off x="6345936"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10.4%</a:t>
            </a:r>
          </a:p>
        </p:txBody>
      </p:sp>
      <p:sp>
        <p:nvSpPr>
          <p:cNvPr id="18" name=""/>
          <p:cNvSpPr txBox="1"/>
          <p:nvPr/>
        </p:nvSpPr>
        <p:spPr>
          <a:xfrm>
            <a:off x="6345936" y="2560320"/>
            <a:ext cx="2377440" cy="320040"/>
          </a:xfrm>
          <a:prstGeom prst="rect">
            <a:avLst/>
          </a:prstGeom>
          <a:noFill/>
        </p:spPr>
        <p:txBody>
          <a:bodyPr wrap="square" lIns="36576" rIns="36576" tIns="18288" bIns="18288" anchor="t">
            <a:spAutoFit/>
          </a:bodyPr>
          <a:lstStyle/>
          <a:p>
            <a:pPr algn="l"/>
            <a:r>
              <a:rPr sz="1000" b="0">
                <a:solidFill>
                  <a:srgbClr val="16A34A"/>
                </a:solidFill>
                <a:latin typeface="Inter"/>
              </a:rPr>
              <a:t>-6.5 pts vs 16.9%</a:t>
            </a:r>
          </a:p>
        </p:txBody>
      </p:sp>
      <p:sp>
        <p:nvSpPr>
          <p:cNvPr id="19" name=""/>
          <p:cNvSpPr/>
          <p:nvPr/>
        </p:nvSpPr>
        <p:spPr>
          <a:xfrm>
            <a:off x="8997696" y="1417320"/>
            <a:ext cx="2651760" cy="1554480"/>
          </a:xfrm>
          <a:prstGeom prst="roundRect">
            <a:avLst>
              <a:gd name="" fmla="val 6000"/>
            </a:avLst>
          </a:prstGeom>
          <a:solidFill>
            <a:srgbClr val="FFFFFF"/>
          </a:solidFill>
          <a:ln>
            <a:noFill/>
          </a:ln>
        </p:spPr>
      </p:sp>
      <p:sp>
        <p:nvSpPr>
          <p:cNvPr id="20" name=""/>
          <p:cNvSpPr txBox="1"/>
          <p:nvPr/>
        </p:nvSpPr>
        <p:spPr>
          <a:xfrm>
            <a:off x="9162288"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TACOS</a:t>
            </a:r>
          </a:p>
        </p:txBody>
      </p:sp>
      <p:sp>
        <p:nvSpPr>
          <p:cNvPr id="21" name=""/>
          <p:cNvSpPr txBox="1"/>
          <p:nvPr/>
        </p:nvSpPr>
        <p:spPr>
          <a:xfrm>
            <a:off x="9162288"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6.3%</a:t>
            </a:r>
          </a:p>
        </p:txBody>
      </p:sp>
      <p:sp>
        <p:nvSpPr>
          <p:cNvPr id="22" name=""/>
          <p:cNvSpPr txBox="1"/>
          <p:nvPr/>
        </p:nvSpPr>
        <p:spPr>
          <a:xfrm>
            <a:off x="9162288" y="2560320"/>
            <a:ext cx="2377440" cy="320040"/>
          </a:xfrm>
          <a:prstGeom prst="rect">
            <a:avLst/>
          </a:prstGeom>
          <a:noFill/>
        </p:spPr>
        <p:txBody>
          <a:bodyPr wrap="square" lIns="36576" rIns="36576" tIns="18288" bIns="18288" anchor="t">
            <a:spAutoFit/>
          </a:bodyPr>
          <a:lstStyle/>
          <a:p>
            <a:pPr algn="l"/>
            <a:r>
              <a:rPr sz="1000" b="0">
                <a:solidFill>
                  <a:srgbClr val="16A34A"/>
                </a:solidFill>
                <a:latin typeface="Inter"/>
              </a:rPr>
              <a:t>-4.1 pts vs 10.3%</a:t>
            </a:r>
          </a:p>
        </p:txBody>
      </p:sp>
      <p:sp>
        <p:nvSpPr>
          <p:cNvPr id="23" name=""/>
          <p:cNvSpPr txBox="1"/>
          <p:nvPr/>
        </p:nvSpPr>
        <p:spPr>
          <a:xfrm>
            <a:off x="548640" y="3154680"/>
            <a:ext cx="34747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Ad spend</a:t>
            </a:r>
          </a:p>
        </p:txBody>
      </p:sp>
      <p:sp>
        <p:nvSpPr>
          <p:cNvPr id="24" name=""/>
          <p:cNvSpPr/>
          <p:nvPr/>
        </p:nvSpPr>
        <p:spPr>
          <a:xfrm>
            <a:off x="914400" y="3840479"/>
            <a:ext cx="1005840" cy="2148840"/>
          </a:xfrm>
          <a:prstGeom prst="rect">
            <a:avLst/>
          </a:prstGeom>
          <a:solidFill>
            <a:srgbClr val="C7D2FE"/>
          </a:solidFill>
          <a:ln>
            <a:noFill/>
          </a:ln>
        </p:spPr>
      </p:sp>
      <p:sp>
        <p:nvSpPr>
          <p:cNvPr id="25" name=""/>
          <p:cNvSpPr txBox="1"/>
          <p:nvPr/>
        </p:nvSpPr>
        <p:spPr>
          <a:xfrm>
            <a:off x="731520" y="3566159"/>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C$4.9K</a:t>
            </a:r>
          </a:p>
        </p:txBody>
      </p:sp>
      <p:sp>
        <p:nvSpPr>
          <p:cNvPr id="26" name=""/>
          <p:cNvSpPr txBox="1"/>
          <p:nvPr/>
        </p:nvSpPr>
        <p:spPr>
          <a:xfrm>
            <a:off x="731520"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11 – 17</a:t>
            </a:r>
          </a:p>
        </p:txBody>
      </p:sp>
      <p:sp>
        <p:nvSpPr>
          <p:cNvPr id="27" name=""/>
          <p:cNvSpPr/>
          <p:nvPr/>
        </p:nvSpPr>
        <p:spPr>
          <a:xfrm>
            <a:off x="2286000" y="4408947"/>
            <a:ext cx="1005840" cy="1580372"/>
          </a:xfrm>
          <a:prstGeom prst="rect">
            <a:avLst/>
          </a:prstGeom>
          <a:solidFill>
            <a:srgbClr val="2447FF"/>
          </a:solidFill>
          <a:ln>
            <a:noFill/>
          </a:ln>
        </p:spPr>
      </p:sp>
      <p:sp>
        <p:nvSpPr>
          <p:cNvPr id="28" name=""/>
          <p:cNvSpPr txBox="1"/>
          <p:nvPr/>
        </p:nvSpPr>
        <p:spPr>
          <a:xfrm>
            <a:off x="2103120" y="4134627"/>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C$3.6K</a:t>
            </a:r>
          </a:p>
        </p:txBody>
      </p:sp>
      <p:sp>
        <p:nvSpPr>
          <p:cNvPr id="29" name=""/>
          <p:cNvSpPr txBox="1"/>
          <p:nvPr/>
        </p:nvSpPr>
        <p:spPr>
          <a:xfrm>
            <a:off x="2103120"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18 – 24</a:t>
            </a:r>
          </a:p>
        </p:txBody>
      </p:sp>
      <p:sp>
        <p:nvSpPr>
          <p:cNvPr id="30" name=""/>
          <p:cNvSpPr txBox="1"/>
          <p:nvPr/>
        </p:nvSpPr>
        <p:spPr>
          <a:xfrm>
            <a:off x="4297679" y="3154680"/>
            <a:ext cx="34747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Ad sales</a:t>
            </a:r>
          </a:p>
        </p:txBody>
      </p:sp>
      <p:sp>
        <p:nvSpPr>
          <p:cNvPr id="31" name=""/>
          <p:cNvSpPr/>
          <p:nvPr/>
        </p:nvSpPr>
        <p:spPr>
          <a:xfrm>
            <a:off x="4663440" y="4186315"/>
            <a:ext cx="1005840" cy="1803004"/>
          </a:xfrm>
          <a:prstGeom prst="rect">
            <a:avLst/>
          </a:prstGeom>
          <a:solidFill>
            <a:srgbClr val="C7D2FE"/>
          </a:solidFill>
          <a:ln>
            <a:noFill/>
          </a:ln>
        </p:spPr>
      </p:sp>
      <p:sp>
        <p:nvSpPr>
          <p:cNvPr id="32" name=""/>
          <p:cNvSpPr txBox="1"/>
          <p:nvPr/>
        </p:nvSpPr>
        <p:spPr>
          <a:xfrm>
            <a:off x="4480559" y="3911995"/>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C$29.1K</a:t>
            </a:r>
          </a:p>
        </p:txBody>
      </p:sp>
      <p:sp>
        <p:nvSpPr>
          <p:cNvPr id="33" name=""/>
          <p:cNvSpPr txBox="1"/>
          <p:nvPr/>
        </p:nvSpPr>
        <p:spPr>
          <a:xfrm>
            <a:off x="4480559"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11 – 17</a:t>
            </a:r>
          </a:p>
        </p:txBody>
      </p:sp>
      <p:sp>
        <p:nvSpPr>
          <p:cNvPr id="34" name=""/>
          <p:cNvSpPr/>
          <p:nvPr/>
        </p:nvSpPr>
        <p:spPr>
          <a:xfrm>
            <a:off x="6035040" y="3840479"/>
            <a:ext cx="1005840" cy="2148840"/>
          </a:xfrm>
          <a:prstGeom prst="rect">
            <a:avLst/>
          </a:prstGeom>
          <a:solidFill>
            <a:srgbClr val="2447FF"/>
          </a:solidFill>
          <a:ln>
            <a:noFill/>
          </a:ln>
        </p:spPr>
      </p:sp>
      <p:sp>
        <p:nvSpPr>
          <p:cNvPr id="35" name=""/>
          <p:cNvSpPr txBox="1"/>
          <p:nvPr/>
        </p:nvSpPr>
        <p:spPr>
          <a:xfrm>
            <a:off x="5852159" y="3566159"/>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C$34.7K</a:t>
            </a:r>
          </a:p>
        </p:txBody>
      </p:sp>
      <p:sp>
        <p:nvSpPr>
          <p:cNvPr id="36" name=""/>
          <p:cNvSpPr txBox="1"/>
          <p:nvPr/>
        </p:nvSpPr>
        <p:spPr>
          <a:xfrm>
            <a:off x="5852159"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18 – 24</a:t>
            </a:r>
          </a:p>
        </p:txBody>
      </p:sp>
      <p:sp>
        <p:nvSpPr>
          <p:cNvPr id="37" name=""/>
          <p:cNvSpPr txBox="1"/>
          <p:nvPr/>
        </p:nvSpPr>
        <p:spPr>
          <a:xfrm>
            <a:off x="8046719" y="3154680"/>
            <a:ext cx="34747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Total sales</a:t>
            </a:r>
          </a:p>
        </p:txBody>
      </p:sp>
      <p:sp>
        <p:nvSpPr>
          <p:cNvPr id="38" name=""/>
          <p:cNvSpPr/>
          <p:nvPr/>
        </p:nvSpPr>
        <p:spPr>
          <a:xfrm>
            <a:off x="8412480" y="4216843"/>
            <a:ext cx="1005840" cy="1772476"/>
          </a:xfrm>
          <a:prstGeom prst="rect">
            <a:avLst/>
          </a:prstGeom>
          <a:solidFill>
            <a:srgbClr val="C7D2FE"/>
          </a:solidFill>
          <a:ln>
            <a:noFill/>
          </a:ln>
        </p:spPr>
      </p:sp>
      <p:sp>
        <p:nvSpPr>
          <p:cNvPr id="39" name=""/>
          <p:cNvSpPr txBox="1"/>
          <p:nvPr/>
        </p:nvSpPr>
        <p:spPr>
          <a:xfrm>
            <a:off x="8229600" y="3942523"/>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C$47.6K</a:t>
            </a:r>
          </a:p>
        </p:txBody>
      </p:sp>
      <p:sp>
        <p:nvSpPr>
          <p:cNvPr id="40" name=""/>
          <p:cNvSpPr txBox="1"/>
          <p:nvPr/>
        </p:nvSpPr>
        <p:spPr>
          <a:xfrm>
            <a:off x="8229600"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11 – 17</a:t>
            </a:r>
          </a:p>
        </p:txBody>
      </p:sp>
      <p:sp>
        <p:nvSpPr>
          <p:cNvPr id="41" name=""/>
          <p:cNvSpPr/>
          <p:nvPr/>
        </p:nvSpPr>
        <p:spPr>
          <a:xfrm>
            <a:off x="9784080" y="3840479"/>
            <a:ext cx="1005840" cy="2148840"/>
          </a:xfrm>
          <a:prstGeom prst="rect">
            <a:avLst/>
          </a:prstGeom>
          <a:solidFill>
            <a:srgbClr val="2447FF"/>
          </a:solidFill>
          <a:ln>
            <a:noFill/>
          </a:ln>
        </p:spPr>
      </p:sp>
      <p:sp>
        <p:nvSpPr>
          <p:cNvPr id="42" name=""/>
          <p:cNvSpPr txBox="1"/>
          <p:nvPr/>
        </p:nvSpPr>
        <p:spPr>
          <a:xfrm>
            <a:off x="9601200" y="3566159"/>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C$57.7K</a:t>
            </a:r>
          </a:p>
        </p:txBody>
      </p:sp>
      <p:sp>
        <p:nvSpPr>
          <p:cNvPr id="43" name=""/>
          <p:cNvSpPr txBox="1"/>
          <p:nvPr/>
        </p:nvSpPr>
        <p:spPr>
          <a:xfrm>
            <a:off x="9601200"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18 – 24</a:t>
            </a:r>
          </a:p>
        </p:txBody>
      </p:sp>
      <p:sp>
        <p:nvSpPr>
          <p:cNvPr id="44"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45"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PATH FORWARD</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Where we stand and what's next</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Canada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17 / 17</a:t>
            </a:r>
          </a:p>
        </p:txBody>
      </p:sp>
      <p:sp>
        <p:nvSpPr>
          <p:cNvPr id="10" name=""/>
          <p:cNvSpPr/>
          <p:nvPr/>
        </p:nvSpPr>
        <p:spPr>
          <a:xfrm>
            <a:off x="548640" y="1371600"/>
            <a:ext cx="2651760" cy="1417320"/>
          </a:xfrm>
          <a:prstGeom prst="roundRect">
            <a:avLst>
              <a:gd name="" fmla="val 6000"/>
            </a:avLst>
          </a:prstGeom>
          <a:solidFill>
            <a:srgbClr val="F6F3EC"/>
          </a:solidFill>
          <a:ln>
            <a:noFill/>
          </a:ln>
        </p:spPr>
      </p:sp>
      <p:sp>
        <p:nvSpPr>
          <p:cNvPr id="11" name=""/>
          <p:cNvSpPr txBox="1"/>
          <p:nvPr/>
        </p:nvSpPr>
        <p:spPr>
          <a:xfrm>
            <a:off x="713232"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AD SPEND</a:t>
            </a:r>
          </a:p>
        </p:txBody>
      </p:sp>
      <p:sp>
        <p:nvSpPr>
          <p:cNvPr id="12" name=""/>
          <p:cNvSpPr txBox="1"/>
          <p:nvPr/>
        </p:nvSpPr>
        <p:spPr>
          <a:xfrm>
            <a:off x="713232" y="175564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C$18.4K</a:t>
            </a:r>
          </a:p>
        </p:txBody>
      </p:sp>
      <p:sp>
        <p:nvSpPr>
          <p:cNvPr id="13" name=""/>
          <p:cNvSpPr/>
          <p:nvPr/>
        </p:nvSpPr>
        <p:spPr>
          <a:xfrm>
            <a:off x="3364992" y="1371600"/>
            <a:ext cx="2651760" cy="1417320"/>
          </a:xfrm>
          <a:prstGeom prst="roundRect">
            <a:avLst>
              <a:gd name="" fmla="val 6000"/>
            </a:avLst>
          </a:prstGeom>
          <a:solidFill>
            <a:srgbClr val="F6F3EC"/>
          </a:solidFill>
          <a:ln>
            <a:noFill/>
          </a:ln>
        </p:spPr>
      </p:sp>
      <p:sp>
        <p:nvSpPr>
          <p:cNvPr id="14" name=""/>
          <p:cNvSpPr txBox="1"/>
          <p:nvPr/>
        </p:nvSpPr>
        <p:spPr>
          <a:xfrm>
            <a:off x="3529584"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PROJECTED SPEND</a:t>
            </a:r>
          </a:p>
        </p:txBody>
      </p:sp>
      <p:sp>
        <p:nvSpPr>
          <p:cNvPr id="15" name=""/>
          <p:cNvSpPr txBox="1"/>
          <p:nvPr/>
        </p:nvSpPr>
        <p:spPr>
          <a:xfrm>
            <a:off x="3529584" y="175564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C$22.8K</a:t>
            </a:r>
          </a:p>
        </p:txBody>
      </p:sp>
      <p:sp>
        <p:nvSpPr>
          <p:cNvPr id="16" name=""/>
          <p:cNvSpPr/>
          <p:nvPr/>
        </p:nvSpPr>
        <p:spPr>
          <a:xfrm>
            <a:off x="6181344" y="1371600"/>
            <a:ext cx="2651760" cy="1417320"/>
          </a:xfrm>
          <a:prstGeom prst="roundRect">
            <a:avLst>
              <a:gd name="" fmla="val 6000"/>
            </a:avLst>
          </a:prstGeom>
          <a:solidFill>
            <a:srgbClr val="F6F3EC"/>
          </a:solidFill>
          <a:ln>
            <a:noFill/>
          </a:ln>
        </p:spPr>
      </p:sp>
      <p:sp>
        <p:nvSpPr>
          <p:cNvPr id="17" name=""/>
          <p:cNvSpPr txBox="1"/>
          <p:nvPr/>
        </p:nvSpPr>
        <p:spPr>
          <a:xfrm>
            <a:off x="6345936"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ACOS</a:t>
            </a:r>
          </a:p>
        </p:txBody>
      </p:sp>
      <p:sp>
        <p:nvSpPr>
          <p:cNvPr id="18" name=""/>
          <p:cNvSpPr txBox="1"/>
          <p:nvPr/>
        </p:nvSpPr>
        <p:spPr>
          <a:xfrm>
            <a:off x="6345936" y="175564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10.9%</a:t>
            </a:r>
          </a:p>
        </p:txBody>
      </p:sp>
      <p:sp>
        <p:nvSpPr>
          <p:cNvPr id="19" name=""/>
          <p:cNvSpPr/>
          <p:nvPr/>
        </p:nvSpPr>
        <p:spPr>
          <a:xfrm>
            <a:off x="8997696" y="1371600"/>
            <a:ext cx="2642616" cy="1417320"/>
          </a:xfrm>
          <a:prstGeom prst="roundRect">
            <a:avLst>
              <a:gd name="" fmla="val 6000"/>
            </a:avLst>
          </a:prstGeom>
          <a:solidFill>
            <a:srgbClr val="F6F3EC"/>
          </a:solidFill>
          <a:ln>
            <a:noFill/>
          </a:ln>
        </p:spPr>
      </p:sp>
      <p:sp>
        <p:nvSpPr>
          <p:cNvPr id="20" name=""/>
          <p:cNvSpPr txBox="1"/>
          <p:nvPr/>
        </p:nvSpPr>
        <p:spPr>
          <a:xfrm>
            <a:off x="9162288" y="1499616"/>
            <a:ext cx="2368296" cy="274320"/>
          </a:xfrm>
          <a:prstGeom prst="rect">
            <a:avLst/>
          </a:prstGeom>
          <a:noFill/>
        </p:spPr>
        <p:txBody>
          <a:bodyPr wrap="square" lIns="36576" rIns="36576" tIns="18288" bIns="18288" anchor="t">
            <a:spAutoFit/>
          </a:bodyPr>
          <a:lstStyle/>
          <a:p>
            <a:pPr algn="l"/>
            <a:r>
              <a:rPr sz="900" b="1">
                <a:solidFill>
                  <a:srgbClr val="6B6558"/>
                </a:solidFill>
                <a:latin typeface="Inter"/>
              </a:rPr>
              <a:t>DAYS LEFT IN OCT</a:t>
            </a:r>
          </a:p>
        </p:txBody>
      </p:sp>
      <p:sp>
        <p:nvSpPr>
          <p:cNvPr id="21" name=""/>
          <p:cNvSpPr txBox="1"/>
          <p:nvPr/>
        </p:nvSpPr>
        <p:spPr>
          <a:xfrm>
            <a:off x="9162288" y="1755648"/>
            <a:ext cx="2368296" cy="548640"/>
          </a:xfrm>
          <a:prstGeom prst="rect">
            <a:avLst/>
          </a:prstGeom>
          <a:noFill/>
        </p:spPr>
        <p:txBody>
          <a:bodyPr wrap="square" lIns="36576" rIns="36576" tIns="18288" bIns="18288" anchor="t">
            <a:spAutoFit/>
          </a:bodyPr>
          <a:lstStyle/>
          <a:p>
            <a:pPr algn="l"/>
            <a:r>
              <a:rPr sz="2600" b="1">
                <a:solidFill>
                  <a:srgbClr val="2447FF"/>
                </a:solidFill>
                <a:latin typeface="Space Grotesk"/>
              </a:rPr>
              <a:t>6</a:t>
            </a:r>
          </a:p>
        </p:txBody>
      </p:sp>
      <p:sp>
        <p:nvSpPr>
          <p:cNvPr id="22" name=""/>
          <p:cNvSpPr/>
          <p:nvPr/>
        </p:nvSpPr>
        <p:spPr>
          <a:xfrm>
            <a:off x="548640" y="2971800"/>
            <a:ext cx="3611880" cy="3246120"/>
          </a:xfrm>
          <a:prstGeom prst="roundRect">
            <a:avLst>
              <a:gd name="" fmla="val 6000"/>
            </a:avLst>
          </a:prstGeom>
          <a:solidFill>
            <a:srgbClr val="FFFFFF"/>
          </a:solidFill>
          <a:ln w="9525">
            <a:solidFill>
              <a:srgbClr val="E5E0D6"/>
            </a:solidFill>
          </a:ln>
        </p:spPr>
      </p:sp>
      <p:sp>
        <p:nvSpPr>
          <p:cNvPr id="23" name=""/>
          <p:cNvSpPr txBox="1"/>
          <p:nvPr/>
        </p:nvSpPr>
        <p:spPr>
          <a:xfrm>
            <a:off x="731520" y="31089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Position</a:t>
            </a:r>
          </a:p>
        </p:txBody>
      </p:sp>
      <p:sp>
        <p:nvSpPr>
          <p:cNvPr id="24" name=""/>
          <p:cNvSpPr txBox="1"/>
          <p:nvPr/>
        </p:nvSpPr>
        <p:spPr>
          <a:xfrm>
            <a:off x="731520" y="3429000"/>
            <a:ext cx="3246120" cy="26974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October is 16% behind last year to date and pacing to about C$309.6K (last October: C$350.6K).</a:t>
            </a:r>
          </a:p>
          <a:p>
            <a:pPr algn="l">
              <a:spcAft>
                <a:spcPts val="500"/>
              </a:spcAft>
            </a:pPr>
            <a:r>
              <a:rPr sz="1050" b="0">
                <a:solidFill>
                  <a:srgbClr val="334155"/>
                </a:solidFill>
                <a:latin typeface="Inter"/>
              </a:rPr>
              <a:t>This week grew 21% to C$57.7K, led by the Queen topper.</a:t>
            </a:r>
          </a:p>
        </p:txBody>
      </p:sp>
      <p:sp>
        <p:nvSpPr>
          <p:cNvPr id="25" name=""/>
          <p:cNvSpPr/>
          <p:nvPr/>
        </p:nvSpPr>
        <p:spPr>
          <a:xfrm>
            <a:off x="4288536" y="2971800"/>
            <a:ext cx="3611880" cy="3246120"/>
          </a:xfrm>
          <a:prstGeom prst="roundRect">
            <a:avLst>
              <a:gd name="" fmla="val 6000"/>
            </a:avLst>
          </a:prstGeom>
          <a:solidFill>
            <a:srgbClr val="FFFFFF"/>
          </a:solidFill>
          <a:ln w="9525">
            <a:solidFill>
              <a:srgbClr val="E5E0D6"/>
            </a:solidFill>
          </a:ln>
        </p:spPr>
      </p:sp>
      <p:sp>
        <p:nvSpPr>
          <p:cNvPr id="26" name=""/>
          <p:cNvSpPr txBox="1"/>
          <p:nvPr/>
        </p:nvSpPr>
        <p:spPr>
          <a:xfrm>
            <a:off x="4471416" y="31089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Next steps</a:t>
            </a:r>
          </a:p>
        </p:txBody>
      </p:sp>
      <p:sp>
        <p:nvSpPr>
          <p:cNvPr id="27" name=""/>
          <p:cNvSpPr txBox="1"/>
          <p:nvPr/>
        </p:nvSpPr>
        <p:spPr>
          <a:xfrm>
            <a:off x="4471416" y="3429000"/>
            <a:ext cx="3246120" cy="26974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1. Restock Queen at FBA; restock SnowTek and Essentials.</a:t>
            </a:r>
          </a:p>
          <a:p>
            <a:pPr algn="l">
              <a:spcAft>
                <a:spcPts val="500"/>
              </a:spcAft>
            </a:pPr>
            <a:r>
              <a:rPr sz="1050" b="0">
                <a:solidFill>
                  <a:srgbClr val="334155"/>
                </a:solidFill>
                <a:latin typeface="Inter"/>
              </a:rPr>
              <a:t>2. Review Streaming TV and no-sale targets.</a:t>
            </a:r>
          </a:p>
          <a:p>
            <a:pPr algn="l">
              <a:spcAft>
                <a:spcPts val="500"/>
              </a:spcAft>
            </a:pPr>
            <a:r>
              <a:rPr sz="1050" b="0">
                <a:solidFill>
                  <a:srgbClr val="334155"/>
                </a:solidFill>
                <a:latin typeface="Inter"/>
              </a:rPr>
              <a:t>3. Lock BF/CM and Boxing Day deals.</a:t>
            </a:r>
          </a:p>
          <a:p>
            <a:pPr algn="l">
              <a:spcAft>
                <a:spcPts val="500"/>
              </a:spcAft>
            </a:pPr>
            <a:r>
              <a:rPr sz="1050" b="0">
                <a:solidFill>
                  <a:srgbClr val="334155"/>
                </a:solidFill>
                <a:latin typeface="Inter"/>
              </a:rPr>
              <a:t>4. Fix Buy Box and hijacker alerts.</a:t>
            </a:r>
          </a:p>
        </p:txBody>
      </p:sp>
      <p:sp>
        <p:nvSpPr>
          <p:cNvPr id="28" name=""/>
          <p:cNvSpPr/>
          <p:nvPr/>
        </p:nvSpPr>
        <p:spPr>
          <a:xfrm>
            <a:off x="8028431" y="2971800"/>
            <a:ext cx="3611880" cy="3246120"/>
          </a:xfrm>
          <a:prstGeom prst="roundRect">
            <a:avLst>
              <a:gd name="" fmla="val 6000"/>
            </a:avLst>
          </a:prstGeom>
          <a:solidFill>
            <a:srgbClr val="FFFFFF"/>
          </a:solidFill>
          <a:ln w="9525">
            <a:solidFill>
              <a:srgbClr val="E5E0D6"/>
            </a:solidFill>
          </a:ln>
        </p:spPr>
      </p:sp>
      <p:sp>
        <p:nvSpPr>
          <p:cNvPr id="29" name=""/>
          <p:cNvSpPr txBox="1"/>
          <p:nvPr/>
        </p:nvSpPr>
        <p:spPr>
          <a:xfrm>
            <a:off x="8211311" y="31089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Data ask</a:t>
            </a:r>
          </a:p>
        </p:txBody>
      </p:sp>
      <p:sp>
        <p:nvSpPr>
          <p:cNvPr id="30" name=""/>
          <p:cNvSpPr txBox="1"/>
          <p:nvPr/>
        </p:nvSpPr>
        <p:spPr>
          <a:xfrm>
            <a:off x="8211311" y="3429000"/>
            <a:ext cx="3246120" cy="26974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Queen inbound ETA and PO dates.</a:t>
            </a:r>
          </a:p>
          <a:p>
            <a:pPr algn="l">
              <a:spcAft>
                <a:spcPts val="500"/>
              </a:spcAft>
            </a:pPr>
            <a:r>
              <a:rPr sz="1050" b="0">
                <a:solidFill>
                  <a:srgbClr val="334155"/>
                </a:solidFill>
                <a:latin typeface="Inter"/>
              </a:rPr>
              <a:t>SnowTek and Essentials replenishment plan.</a:t>
            </a:r>
          </a:p>
          <a:p>
            <a:pPr algn="l">
              <a:spcAft>
                <a:spcPts val="500"/>
              </a:spcAft>
            </a:pPr>
            <a:r>
              <a:rPr sz="1050" b="0">
                <a:solidFill>
                  <a:srgbClr val="334155"/>
                </a:solidFill>
                <a:latin typeface="Inter"/>
              </a:rPr>
              <a:t>BF/CM and Boxing Day deal and coupon plan.</a:t>
            </a:r>
          </a:p>
          <a:p>
            <a:pPr algn="l">
              <a:spcAft>
                <a:spcPts val="500"/>
              </a:spcAft>
            </a:pPr>
            <a:r>
              <a:rPr sz="1050" b="0">
                <a:solidFill>
                  <a:srgbClr val="334155"/>
                </a:solidFill>
                <a:latin typeface="Inter"/>
              </a:rPr>
              <a:t>Review tracking turned on in Sellerise.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